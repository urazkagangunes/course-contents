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18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sci_fi_tech_illustration_a_concep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519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Zekaya Giriş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8368" y="4983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Bölüm 1 • What is AI? / Foundations / History / State of the Art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B84A"/>
                </a:solidFill>
              </a:rPr>
              <a:t>Ders 1 • Uraz Kağan Güneş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Dersin işleyişi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Notlandırma, katılım ve beklentiler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F9F"/>
                </a:solidFill>
              </a:rPr>
              <a:t>Notlandırma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6"/>
                </a:solidFill>
              </a:rPr>
              <a:t>30 puan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Proje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630168" y="2011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6"/>
                </a:solidFill>
              </a:rPr>
              <a:t>30 puan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0168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Vize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19088" y="2011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6"/>
                </a:solidFill>
              </a:rPr>
              <a:t>30 puan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19088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Final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187452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208008" y="2011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6"/>
                </a:solidFill>
              </a:rPr>
              <a:t>10 puan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08008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Proje sunumu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10789920" cy="822960"/>
          </a:xfrm>
          <a:prstGeom prst="roundRect">
            <a:avLst>
              <a:gd name="adj" fmla="val 8889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50392" y="3575304"/>
            <a:ext cx="10460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Derslere katılım zorunludur. Bu dersin amacı yalnızca terim ezberletmek değil; yapay zekanın neyi çözdüğünü, nasıl düşündüğünü ve hangi sınırlarla karşılaştığını anlamaktır.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Derste kavramlar örneklerle anlatılacak.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Proje süreci dönem içinde adım adım takip edilecek.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Soru sormak, tartışmak ve örnek üretmek dersin parçasıdır.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Dersin hocası hakkında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Kısa akademik ve araştırma arka planı</a:t>
            </a:r>
            <a:endParaRPr lang="en-US" sz="1250" dirty="0"/>
          </a:p>
        </p:txBody>
      </p:sp>
      <p:pic>
        <p:nvPicPr>
          <p:cNvPr id="4" name="Image 0" descr="/mnt/data/wide_futuristic_sci_fi_tech_illustration_a_concep_batch_1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62179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D2136"/>
                </a:solidFill>
              </a:rPr>
              <a:t>Uraz Kağan Güneş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630936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İstanbul 29 Mayıs Üniversitesi • Yapay Zeka Bölümü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Yazılım Mühendisliği lisans, Bilgisayar Mühendisliği yüksek lisans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Bilgisayar Bilimi doktora öğrencisi • NLP odaklı çalışmalar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Araştırma ilgi alanları: doğal dil işleme, makine öğrenmesi, derin öğrenme ve Türkçe dil teknolojileri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61772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896112" y="4764024"/>
            <a:ext cx="5888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Bu derste hedefimiz: birinci sınıf seviyesinde sağlam kavramsal temel kurmak ve sonraki teknik derslere hazırlık yapmak.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Bugünkü dersin yol haritası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Dört bölüm, farklı derinliklerde işlenecek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AF7EF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96112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F9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136"/>
                </a:solidFill>
              </a:rPr>
              <a:t>What is AI?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B7B"/>
                </a:solidFill>
              </a:rPr>
              <a:t>Ayrıntılı: temel kavramlar ve rasyonel ajan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565392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F9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2376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136"/>
                </a:solidFill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23760" y="2039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B7B"/>
                </a:solidFill>
              </a:rPr>
              <a:t>Yüzeysel: AI hangi alanlardan beslenir?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96112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F9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136"/>
                </a:solidFill>
              </a:rPr>
              <a:t>History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B7B"/>
                </a:solidFill>
              </a:rPr>
              <a:t>Özet: beklenti, kriz, dönüşüm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338328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565392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F9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2136"/>
                </a:solidFill>
              </a:rPr>
              <a:t>State of the Art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22376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B7B"/>
                </a:solidFill>
              </a:rPr>
              <a:t>Örnekler: AI nerelerde kullanılır?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10424160" cy="548640"/>
          </a:xfrm>
          <a:prstGeom prst="roundRect">
            <a:avLst>
              <a:gd name="adj" fmla="val 13333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87552" y="5724144"/>
            <a:ext cx="10094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Öncelik: “Yapay zeka nedir?” sorusunu yüzeysel değil, sınıfta tartışılabilecek düzeyde anlamak.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sci_fi_tech_illustration_a_concep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84A"/>
                </a:solidFill>
              </a:rPr>
              <a:t>Bölüm 1.1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 Nedir?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CEBFA"/>
                </a:solidFill>
              </a:rPr>
              <a:t>Bu bölüm, dersin kavramsal temelidir. Tanım ezberi değil; yaklaşımları ayırt etme becerisi kazanacağız.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 fikri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Zekayı anlamak ve zeki sistemler inşa etmek</a:t>
            </a:r>
            <a:endParaRPr lang="en-US" sz="1250" dirty="0"/>
          </a:p>
        </p:txBody>
      </p:sp>
      <p:pic>
        <p:nvPicPr>
          <p:cNvPr id="4" name="Image 0" descr="/mnt/data/wide_futuristic_sci_fi_tech_illustration_a_concep_batch_1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17320"/>
            <a:ext cx="621792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82230"/>
                </a:solidFill>
              </a:rPr>
              <a:t>• AI yalnızca “hızlı hesaplama” değildir.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82230"/>
                </a:solidFill>
              </a:rPr>
              <a:t>• Algılama, öğrenme, akıl yürütme, dil kullanma ve karar verme gibi yeteneklerle ilgilenir.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82230"/>
                </a:solidFill>
              </a:rPr>
              <a:t>• Amaç bazen insanı modellemek, bazen de hedefe en uygun davranan sistemi tasarlamaktır.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4297680"/>
            <a:ext cx="6126480" cy="731520"/>
          </a:xfrm>
          <a:prstGeom prst="roundRect">
            <a:avLst>
              <a:gd name="adj" fmla="val 10000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941832" y="4443984"/>
            <a:ext cx="5797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Soru: Bir sistem insan gibi düşünmeden de zeki sayılabilir mi?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neden “evrensel” bir alan?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Çünkü zekâ gerektiren hemen her görevle ilişkilidir.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50392" y="1572768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Satranç oynamak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5087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39312" y="1572768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Hastalık teşhisi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28232" y="1572768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Araç sürmek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0" y="15087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217152" y="1572768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Şiir yazmak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67919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50392" y="2743200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Matematiksel ispat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267919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39312" y="2743200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Konuşmayı anlamak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67919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28232" y="2743200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Görüntü algılamak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267919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217152" y="2743200"/>
            <a:ext cx="2093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136"/>
                </a:solidFill>
              </a:rPr>
              <a:t>Plan yapmak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10332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D2136"/>
                </a:solidFill>
              </a:rPr>
              <a:t>Bu yüzden yapay zeka tek bir teknikten ibaret değildir; farklı problemlerde farklı yöntemler kullanılır.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9966960" cy="640080"/>
          </a:xfrm>
          <a:prstGeom prst="roundRect">
            <a:avLst>
              <a:gd name="adj" fmla="val 11429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078992" y="5312664"/>
            <a:ext cx="9637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Ders boyunca temel soru: “Bu problemde zeki davranış ne anlama geliyor?”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tanımlarını düzenleyen iki eksen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Düşünme/davranış ve insan/rasyonellik ayrımı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74520" y="1444752"/>
            <a:ext cx="8321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011680" y="1207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F9F"/>
                </a:solidFill>
              </a:rPr>
              <a:t>İnsana benzer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F9F"/>
                </a:solidFill>
              </a:rPr>
              <a:t>Rasyonel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F9F"/>
                </a:solidFill>
              </a:rPr>
              <a:t>Düşünme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F9F"/>
                </a:solidFill>
              </a:rPr>
              <a:t>Davranış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1719072"/>
            <a:ext cx="3291840" cy="1325880"/>
          </a:xfrm>
          <a:prstGeom prst="roundRect">
            <a:avLst>
              <a:gd name="adj" fmla="val 4828"/>
            </a:avLst>
          </a:prstGeom>
          <a:solidFill>
            <a:srgbClr val="EAF4FB"/>
          </a:solidFill>
          <a:ln w="12700">
            <a:solidFill>
              <a:srgbClr val="C8DD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313432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136"/>
                </a:solidFill>
              </a:rPr>
              <a:t>İnsan gibi düşünmek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13432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B7B"/>
                </a:solidFill>
              </a:rPr>
              <a:t>Bilişsel modelleme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309360" y="1719072"/>
            <a:ext cx="3291840" cy="1325880"/>
          </a:xfrm>
          <a:prstGeom prst="roundRect">
            <a:avLst>
              <a:gd name="adj" fmla="val 4828"/>
            </a:avLst>
          </a:prstGeom>
          <a:solidFill>
            <a:srgbClr val="EAF4FB"/>
          </a:solidFill>
          <a:ln w="12700">
            <a:solidFill>
              <a:srgbClr val="C8DD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73952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136"/>
                </a:solidFill>
              </a:rPr>
              <a:t>Rasyonel düşünmek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B7B"/>
                </a:solidFill>
              </a:rPr>
              <a:t>Mantık ve doğru çıkarım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2148840" y="3794760"/>
            <a:ext cx="3291840" cy="1325880"/>
          </a:xfrm>
          <a:prstGeom prst="roundRect">
            <a:avLst>
              <a:gd name="adj" fmla="val 4828"/>
            </a:avLst>
          </a:prstGeom>
          <a:solidFill>
            <a:srgbClr val="EAF4FB"/>
          </a:solidFill>
          <a:ln w="12700">
            <a:solidFill>
              <a:srgbClr val="C8DD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313432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136"/>
                </a:solidFill>
              </a:rPr>
              <a:t>İnsan gibi davranmak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313432" y="4507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B7B"/>
                </a:solidFill>
              </a:rPr>
              <a:t>Turing Testi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309360" y="3794760"/>
            <a:ext cx="3291840" cy="1325880"/>
          </a:xfrm>
          <a:prstGeom prst="roundRect">
            <a:avLst>
              <a:gd name="adj" fmla="val 4828"/>
            </a:avLst>
          </a:prstGeom>
          <a:solidFill>
            <a:srgbClr val="EAF7EF"/>
          </a:solidFill>
          <a:ln w="12700">
            <a:solidFill>
              <a:srgbClr val="C8DD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73952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136"/>
                </a:solidFill>
              </a:rPr>
              <a:t>Rasyonel davranmak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4507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5E6B7B"/>
                </a:solidFill>
              </a:rPr>
              <a:t>Rasyonel ajan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İnsana benzemek ≠ rasyonel olmak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Bu ayrım AI dersinin en kritik noktalarından biridir.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5F9F"/>
                </a:solidFill>
              </a:rPr>
              <a:t>İnsan merkezli yaklaşım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84632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Başarı insan davranışına veya düşüncesine benzerlikle ölçülür.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Psikoloji ve bilişsel bilimle yakından ilişkilidir.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Amaç: insanı modellemek veya insana benzer çıktı üretmek.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5F9F"/>
                </a:solidFill>
              </a:rPr>
              <a:t>Rasyonel yaklaşım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1874520"/>
            <a:ext cx="484632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Başarı hedefe uygun davranışla ölçülür.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Matematik, mantık ve mühendislik temellidir.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82230"/>
                </a:solidFill>
              </a:rPr>
              <a:t>• Amaç: mevcut bilgiyle “doğru/uygun” eylemi seçmek.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489204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216152" y="5038344"/>
            <a:ext cx="9729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Örnek: Satranç programı insan gibi düşünmeyebilir; ama daha iyi hamle seçiyorsa rasyonel davranış sergileyebilir.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İnsan gibi davranmak: Turing Testi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Zekayı davranış üzerinden değerlendirme girişimi</a:t>
            </a:r>
            <a:endParaRPr lang="en-US" sz="1250" dirty="0"/>
          </a:p>
        </p:txBody>
      </p:sp>
      <p:pic>
        <p:nvPicPr>
          <p:cNvPr id="4" name="Image 0" descr="/mnt/data/wide_clean_modern_illustration_3d_rendered_scene_batch_2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89788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Sorgulayıcı yalnızca yazılı iletişim kurar.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Eğer cevapların insandan mı bilgisayardan mı geldiğini ayırt edemezse bilgisayar testi geçmiş sayılır.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Bu yaklaşım sistemin iç süreçlerinden çok dış davranışına bakar.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251960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941832" y="4398264"/>
            <a:ext cx="5477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Turing Testi, “Makine gerçekten düşünüyor mu?” sorusunu doğrudan çözmez; ama zeki davranış için işlemsel bir ölçüt önerir.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Turing Testi için gereken yetenekler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Test basit görünür; gereken AI bileşenleri oldukça geniştir.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41832" y="16733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NLP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41832" y="202082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Dil ile iletişim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690872" y="16733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Bilgi gösterimi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90872" y="202082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Bilgiyi saklama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439912" y="16733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Akıl yürütme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39912" y="202082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Sonuç çıkarma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41832" y="3182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Makine öğrenmesi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41832" y="352958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Uyum sağlama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301752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6DF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690872" y="3182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Bilgisayarlı görü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90872" y="352958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Nesne algılama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301752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6DF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439912" y="3182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2136"/>
                </a:solidFill>
              </a:rPr>
              <a:t>Robotik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39912" y="352958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B7B"/>
                </a:solidFill>
              </a:rPr>
              <a:t>Fiziksel eylem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987552" y="5449824"/>
            <a:ext cx="10094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İlk dört yetenek klasik Turing Testi için; son ikisi Toplam Turing Testi için gereklidir.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Toplam Turing Testi ve Wright kardeşler benzetmesi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Taklit etmek mi, ilkeleri anlamak mı?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57784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Toplam Turing Testi fiziksel algı ve nesne manipülasyonunu da ister.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Fakat AI araştırmacıları genellikle Turing Testini geçmeye değil, zekanın temel ilkelerine odaklanır.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Uçaklar kuşları birebir taklit ederek değil, aerodinamik ilkeler anlaşılarak gelişti.</a:t>
            </a:r>
            <a:endParaRPr lang="en-US" sz="1800" dirty="0"/>
          </a:p>
        </p:txBody>
      </p:sp>
      <p:pic>
        <p:nvPicPr>
          <p:cNvPr id="5" name="Image 0" descr="/mnt/data/a_clean_vector_illustration_infographic_scene_a_c_batch_3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544068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1033272" y="5586984"/>
            <a:ext cx="9912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Ders sorusu: İnsan gibi görünmek mi daha önemli, görevi iyi yapmak mı?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İnsan gibi düşünmek: bilişsel modelleme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Sadece sonuç değil, sonuca giden süreç de önemlidir.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39496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İç gözlem: kendi düşünce sürecini gözlemlemek.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Psikolojik deneyler: insan davranışını kontrollü biçimde ölçmek.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Beyin görüntüleme: bilişsel süreçlerle beyin etkinliğini ilişkilendirmek.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7208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5F9F"/>
                </a:solidFill>
              </a:rPr>
              <a:t>Örnek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20840" y="1874520"/>
            <a:ext cx="41605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Bir program matematik problemini doğru çözüyor olabilir. Bilişsel modelleme şunu sorar: Bu program problemi insanın kullandığı adımlara benzer biçimde mi çözdü?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498348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24712" y="5129784"/>
            <a:ext cx="9820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Aynı cevaba farklı yollarla ulaşılabilir. Bu yüzden “doğru cevap” ile “insan gibi düşünme” aynı şey değildir.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 düşünmek: düşünce yasaları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Mantıksal çıkarım, yapay zekanın temel taşlarından biridir.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5F9F"/>
                </a:solidFill>
              </a:rPr>
              <a:t>Klasik kıyas örneği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49377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82230"/>
                </a:solidFill>
              </a:rPr>
              <a:t>• Bütün insanlar ölümlüdür.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30"/>
                </a:solidFill>
              </a:rPr>
              <a:t>• Sokrates bir insandır.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82230"/>
                </a:solidFill>
              </a:rPr>
              <a:t>• O halde Sokrates ölümlüdür.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63640" y="1572768"/>
            <a:ext cx="4846320" cy="1874520"/>
          </a:xfrm>
          <a:prstGeom prst="roundRect">
            <a:avLst>
              <a:gd name="adj" fmla="val 3902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28232" y="1719072"/>
            <a:ext cx="4517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Mantık doğru öncüllerden doğru sonuçlar çıkarabilir; ancak gerçek dünyada bilgi eksik, belirsiz ve hesaplama maliyeti yüksek olabilir.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5F9F"/>
                </a:solidFill>
              </a:rPr>
              <a:t>Sınırlamalar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416552"/>
            <a:ext cx="98755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Her bilgi yüzde yüz kesin değildir.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Her problem pratik sürede çözülemez.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230"/>
                </a:solidFill>
              </a:rPr>
              <a:t>• Eylem için bazen kesin ispat değil, zamanında karar gerekir.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 davranmak: rasyonel ajan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Kitabın ana yaklaşımı</a:t>
            </a:r>
            <a:endParaRPr lang="en-US" sz="1250" dirty="0"/>
          </a:p>
        </p:txBody>
      </p:sp>
      <p:pic>
        <p:nvPicPr>
          <p:cNvPr id="4" name="Image 0" descr="/mnt/data/a_clean_vector_illustration_infographic_scene_a_c_batch_3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71500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Ajan: çevresini algılayan ve eylemde bulunan sistem.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Rasyonel ajan: hedeflerine göre en iyi veya beklenen en iyi eylemi seçmeye çalışan sistem.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Önemli olan yalnızca düşünmek değil, uygun zamanda uygun eylemi seçmektir.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38912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941832" y="4535424"/>
            <a:ext cx="5294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Sıcak ocağa dokununca elini çekmek uzun mantıksal ispat gerektirmez; ama hedef açısından rasyonel davranıştır.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Ajan döngüsü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Algılama → karar → eylem → yeni algı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920240" y="209397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6"/>
                </a:solidFill>
              </a:rPr>
              <a:t>Çevre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0" y="209397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6"/>
                </a:solidFill>
              </a:rPr>
              <a:t>Algı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0" y="1920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6DF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589520" y="209397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6"/>
                </a:solidFill>
              </a:rPr>
              <a:t>Karar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4343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54880" y="45171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6"/>
                </a:solidFill>
              </a:rPr>
              <a:t>Eylem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94760" y="2057400"/>
            <a:ext cx="685800" cy="411480"/>
          </a:xfrm>
          <a:prstGeom prst="rightArrow">
            <a:avLst/>
          </a:prstGeom>
          <a:solidFill>
            <a:srgbClr val="1F5F9F"/>
          </a:solidFill>
          <a:ln w="12700">
            <a:solidFill>
              <a:srgbClr val="1F5F9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629400" y="2057400"/>
            <a:ext cx="685800" cy="411480"/>
          </a:xfrm>
          <a:prstGeom prst="rightArrow">
            <a:avLst/>
          </a:prstGeom>
          <a:solidFill>
            <a:srgbClr val="1F5F9F"/>
          </a:solidFill>
          <a:ln w="12700">
            <a:solidFill>
              <a:srgbClr val="1F5F9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092440" y="2743200"/>
            <a:ext cx="411480" cy="1325880"/>
          </a:xfrm>
          <a:prstGeom prst="downArrow">
            <a:avLst/>
          </a:prstGeom>
          <a:solidFill>
            <a:srgbClr val="1F5F9F"/>
          </a:solidFill>
          <a:ln w="12700">
            <a:solidFill>
              <a:srgbClr val="1F5F9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108960" y="4480560"/>
            <a:ext cx="1188720" cy="411480"/>
          </a:xfrm>
          <a:prstGeom prst="leftArrow">
            <a:avLst/>
          </a:prstGeom>
          <a:solidFill>
            <a:srgbClr val="1F5F9F"/>
          </a:solidFill>
          <a:ln w="12700">
            <a:solidFill>
              <a:srgbClr val="1F5F9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914400" y="548640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078992" y="5632704"/>
            <a:ext cx="100035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Robot süpürge örneği: sensörlerle duvarı algılar, çarpışmayı önlemek için yön değiştirir, hareket ettikten sonra yeni durumunu tekrar algılar.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Rasyonellik hedefe bağlıdır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Aynı durum, farklı hedeflerde farklı eylem gerektirebilir.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10312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95528" y="149047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Sistem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417320"/>
            <a:ext cx="274320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898648" y="14904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Hedef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589788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641848" y="1490472"/>
            <a:ext cx="576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Rasyonel eylem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1984248"/>
            <a:ext cx="210312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95528" y="20574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Navigasyon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984248"/>
            <a:ext cx="274320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898648" y="20574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En hızlı rota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984248"/>
            <a:ext cx="589788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641848" y="2057400"/>
            <a:ext cx="576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Trafik yoğun olsa bile otoyol seçilebilir.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51176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95528" y="262432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Navigasyon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5511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898648" y="262432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En ucuz rota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551176"/>
            <a:ext cx="5897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641848" y="2624328"/>
            <a:ext cx="576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Ücretli yoldan kaçınabilir.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118104"/>
            <a:ext cx="210312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95528" y="3191256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Robot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3118104"/>
            <a:ext cx="274320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898648" y="319125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En güvenli davranış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118104"/>
            <a:ext cx="589788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641848" y="3191256"/>
            <a:ext cx="576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Hedefe geç ulaşsa bile engelden uzak durur.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685032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95528" y="3758184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Spam filtresi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6850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898648" y="3758184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Hatalı engellemeyi azaltmak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685032"/>
            <a:ext cx="5897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641848" y="3758184"/>
            <a:ext cx="576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82230"/>
                </a:solidFill>
              </a:rPr>
              <a:t>Şüpheli ama önemli e-postayı gelen kutusunda bırakabilir.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512064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078992" y="5266944"/>
            <a:ext cx="9820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Rasyonel davranış: “her zaman aynı şeyi yapmak” değil, bilgi ve hedeflere göre uygun eylemi seçmektir.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Sınırlı rasyonellik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Mükemmel karar her zaman pratik değildir.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5F9F"/>
                </a:solidFill>
              </a:rPr>
              <a:t>Gerçek dünyada kısıtlar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75488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Zaman sınırlıdır.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Bilgi eksik veya gürültülüdür.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Hesaplama gücü sınırlıdır.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Ortam değişebilir.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5F9F"/>
                </a:solidFill>
              </a:rPr>
              <a:t>Sonuç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92240" y="1874520"/>
            <a:ext cx="475488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Sistem çoğu zaman kusursuz kararı değil, yeterince iyi ve güvenli kararı arar.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Arama, sezgisel yöntemler ve yaklaşık çözümler önem kazanır.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78992" y="5221224"/>
            <a:ext cx="9912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Örnek: Otonom araç önüne engel çıktığında bütün evreni hesaplayamaz; hızlı ve güvenli bir karar üretmelidir.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 için çalışma özeti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Dört yaklaşımı karıştırmamak yeterli değildir; örnekle açıklayabilmeliyiz.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37744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49808" y="149047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Yaklaşım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417320"/>
            <a:ext cx="438912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127248" y="149047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Temel soru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52360" y="1417320"/>
            <a:ext cx="4069080" cy="566928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516368" y="1490472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Örnek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984248"/>
            <a:ext cx="237744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49808" y="2057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İnsan gibi düşünmek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1984248"/>
            <a:ext cx="438912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27248" y="205740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İnsan zihni nasıl çalışır?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984248"/>
            <a:ext cx="406908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516368" y="2057400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Bilişsel modelleme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551176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9808" y="26243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İnsan gibi davranmak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63240" y="2551176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127248" y="262432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İnsan gibi görünüyor mu?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551176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516368" y="2624328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Turing Testi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118104"/>
            <a:ext cx="237744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49808" y="319125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Rasyonel düşünmek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63240" y="3118104"/>
            <a:ext cx="438912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127248" y="319125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Doğru çıkarım yapıyor mu?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118104"/>
            <a:ext cx="4069080" cy="566928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516368" y="3191256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Mantık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3685032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49808" y="375818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Rasyonel davranmak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63240" y="3685032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127248" y="37581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Hedefe uygun eylem seçiyor mu?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52360" y="3685032"/>
            <a:ext cx="4069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516368" y="3758184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230"/>
                </a:solidFill>
              </a:rPr>
              <a:t>Rasyonel ajan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8680" y="507492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033272" y="5221224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Kitabın ana tercihi: rasyonel ajan yaklaşımı. Çünkü genel, ölçülebilir ve mühendislik açısından uygulanabilir bir çerçeve sunar.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collage_illustration_high_detail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84A"/>
                </a:solidFill>
              </a:rPr>
              <a:t>Bölüm 1.2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Zekanın Temelleri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CEBFA"/>
                </a:solidFill>
              </a:rPr>
              <a:t>Bu kısmı tarih ezberi olarak değil, AI’ın hangi disiplinlerden beslendiğini gösteren bir harita olarak okuyacağız.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Temelleri kısa kısa bağlayalım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Yüzeysel ama kavramsal özet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2926080" cy="457200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49808" y="13716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</a:rPr>
              <a:t>Alan</a:t>
            </a:r>
            <a:endParaRPr lang="en-US" sz="1110" dirty="0"/>
          </a:p>
        </p:txBody>
      </p:sp>
      <p:sp>
        <p:nvSpPr>
          <p:cNvPr id="6" name="Shape 4"/>
          <p:cNvSpPr/>
          <p:nvPr/>
        </p:nvSpPr>
        <p:spPr>
          <a:xfrm>
            <a:off x="3611880" y="1298448"/>
            <a:ext cx="7909560" cy="457200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75888" y="13716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FFFFFF"/>
                </a:solidFill>
              </a:rPr>
              <a:t>AI’a katkı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Felsefe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611880" y="1755648"/>
            <a:ext cx="79095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75888" y="18288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Rasyonellik, bilgi, mantık, eylem.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85800" y="221284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49808" y="22860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Matematik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611880" y="2212848"/>
            <a:ext cx="7909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75888" y="22860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Mantık, algoritma, hesaplama sınırları, olasılık.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85800" y="267004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9808" y="27432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Ekonomi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3611880" y="2670048"/>
            <a:ext cx="79095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75888" y="27432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Fayda, karar teorisi, oyun teorisi.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85800" y="312724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49808" y="32004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Sinirbilim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3611880" y="3127248"/>
            <a:ext cx="7909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75888" y="32004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Nöron, öğrenme ve beyin esinli modeller.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85800" y="358444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49808" y="36576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Psikoloji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3611880" y="3584448"/>
            <a:ext cx="79095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675888" y="36576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Biliş, davranış, bilgi işleme modeli.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85800" y="404164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49808" y="41148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Bilgisayar müh.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3611880" y="4041648"/>
            <a:ext cx="7909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675888" y="41148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Donanım, yazılım ve programlama altyapısı.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685800" y="4498848"/>
            <a:ext cx="29260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49808" y="45720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Kontrol teorisi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3611880" y="4498848"/>
            <a:ext cx="79095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675888" y="45720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Geri bildirim ve hedefe yönelik davranış.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685800" y="495604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49808" y="5029200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Dilbilim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3611880" y="4956048"/>
            <a:ext cx="7909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675888" y="5029200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230"/>
                </a:solidFill>
              </a:rPr>
              <a:t>Dil, anlam ve doğal dil işleme.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68680" y="57150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EAF7E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1033272" y="5861304"/>
            <a:ext cx="10094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AI dersinde bu alanların hepsi karşımıza çıkar: problem temsil ederiz, algoritma kurarız, belirsizlikle başa çıkarız ve eylem seçeriz.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fographic_style_illustration_batch_5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84A"/>
                </a:solidFill>
              </a:rPr>
              <a:t>Bölüm 1.3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Zekanın Tarihi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CEBFA"/>
                </a:solidFill>
              </a:rPr>
              <a:t>Bu kısımda detaylı tarih ezberi yok: Büyük fikirsel dönüşümleri göreceğiz.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Tarihçeyi üç dalga olarak düşünün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Semboller → bilgi → veri</a:t>
            </a:r>
            <a:endParaRPr lang="en-US" sz="1250" dirty="0"/>
          </a:p>
        </p:txBody>
      </p:sp>
      <p:pic>
        <p:nvPicPr>
          <p:cNvPr id="4" name="Image 0" descr="/mnt/data/a_wide_cinematic_infographic_style_illustration_batch_5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580644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İlk dönem: mantık, semboller, arama ve problem çözme.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Orta dönem: uzman sistemler ve alan bilgisi.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82230"/>
                </a:solidFill>
              </a:rPr>
              <a:t>• Yeni dönem: öğrenme, istatistiksel yöntemler, sinir ağları ve büyük veri.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5262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2700">
            <a:solidFill>
              <a:srgbClr val="D9E7F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941832" y="4672584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D2136"/>
                </a:solidFill>
              </a:rPr>
              <a:t>Ders için yeterli özet: AI sürekli aynı soruya döner - bilgiyi nasıl temsil edeceğiz, nasıl öğreneceğiz ve nasıl eyleme dönüştüreceğiz?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Kısa tarih çizelgesi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Detaya girmeden ana kırılmalar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3898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1943-55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Yapay nöronlar, Turing, öğrenme fikri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663440" y="13898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1956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0872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Dartmouth: AI adı ve alanın doğuşu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8366760" y="123444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503920" y="13898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1952-69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31352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İlk başarılar ve büyük beklentiler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1966-73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Ölçeklenme sorunları ve gerçeklerle yüzleşme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526280" y="278892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663440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1969-79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90872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Bilgi tabanlı sistemler ve uzman sistemler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366760" y="278892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503920" y="29443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1980ler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31352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Ticari yükseliş ve AI Winter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22960" y="44988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1986+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" y="4818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Sinir ağlarının dönüşü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526280" y="434340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EAF4FB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663440" y="44988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1990+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90872" y="4818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Bilimsel yöntem, olasılık ve deneysel değerlendirme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8366760" y="434340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FFF6DF"/>
          </a:solidFill>
          <a:ln w="12700">
            <a:solidFill>
              <a:srgbClr val="D1E2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503920" y="44988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9F"/>
                </a:solidFill>
              </a:rPr>
              <a:t>2001+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31352" y="4818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82230"/>
                </a:solidFill>
              </a:rPr>
              <a:t>Büyük veri ve veriden öğrenme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collage_infographic_style_image_sh_batch_6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84A"/>
                </a:solidFill>
              </a:rPr>
              <a:t>Bölüm 1.4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Yapay Zekada Gelinen Nokta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CEBFA"/>
                </a:solidFill>
              </a:rPr>
              <a:t>Kitap 2010 civarı örnekleri verir. Amacımız güncellik değil, uygulama türlerini anlamak.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Uygulama örnekleri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AI burada hangi işi çözüyor?</a:t>
            </a:r>
            <a:endParaRPr lang="en-US" sz="1250" dirty="0"/>
          </a:p>
        </p:txBody>
      </p:sp>
      <p:pic>
        <p:nvPicPr>
          <p:cNvPr id="4" name="Image 0" descr="/mnt/data/a_clean_modern_collage_infographic_style_image_sh_batch_6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7818120" y="1417320"/>
            <a:ext cx="3749040" cy="210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34440"/>
            <a:ext cx="598932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Otonom araçlar: algılama + planlama + kontrol.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Konuşma tanıma: sesi anlamlı komutlara dönüştürme.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Uzay görevleri: otonom planlama ve hata toparlama.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Satranç: arama ve stratejik karar.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Spam filtreleme: sınıflandırma ve öğrenme.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Lojistik: büyük ölçekli planlama.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Robotik: fiziksel dünyada eylem.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82230"/>
                </a:solidFill>
              </a:rPr>
              <a:t>• Makine çevirisi: diller arası anlam aktarımı.</a:t>
            </a:r>
            <a:endParaRPr lang="en-US" sz="153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1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Örnekleri yeteneklere çevirelim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86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B7B"/>
                </a:solidFill>
              </a:rPr>
              <a:t>Ezber yerine sınıflandırma yapalım.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023360" cy="457200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49808" y="13990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Örnek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325880"/>
            <a:ext cx="6812280" cy="457200"/>
          </a:xfrm>
          <a:prstGeom prst="rect">
            <a:avLst/>
          </a:prstGeom>
          <a:solidFill>
            <a:srgbClr val="0D2136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73168" y="13990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Temel AI yeteneği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0233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49808" y="18562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STANLEY / BOSS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6812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73168" y="18562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Algılama, hareket planlama, kontrol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49808" y="23134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Uçuş rezervasyon sistemi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240280"/>
            <a:ext cx="6812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73168" y="23134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Konuşma tanıma, diyalog yönetimi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2697480"/>
            <a:ext cx="40233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49808" y="27706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NASA Remote 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6812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773168" y="27706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Otonom planlama ve zamanlama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1546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49808" y="32278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Deep Blue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6812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73168" y="32278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Arama, değerlendirme, oyun oynama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611880"/>
            <a:ext cx="40233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49808" y="36850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Spam filtresi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6812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773168" y="36850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Makine öğrenmesiyle sınıflandırma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0690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49808" y="41422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DART lojistik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4069080"/>
            <a:ext cx="6812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73168" y="41422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Optimizasyon ve planlama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4526280"/>
            <a:ext cx="402336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49808" y="45994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Roomba / PackBot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4526280"/>
            <a:ext cx="6812280" cy="457200"/>
          </a:xfrm>
          <a:prstGeom prst="rect">
            <a:avLst/>
          </a:prstGeom>
          <a:solidFill>
            <a:srgbClr val="F8FBFD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773168" y="45994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Robotik algılama ve eylem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" y="49834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49808" y="505663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Makine çevirisi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4983480"/>
            <a:ext cx="6812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773168" y="5056632"/>
            <a:ext cx="6684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230"/>
                </a:solidFill>
              </a:rPr>
              <a:t>Doğal dil işleme ve istatistiksel öğrenme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B7B"/>
                </a:solidFill>
              </a:rPr>
              <a:t>Yapay Zekaya Giriş • Bölüm 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6B7B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1879</Words>
  <Application>Microsoft Office PowerPoint</Application>
  <PresentationFormat>Geniş ekran</PresentationFormat>
  <Paragraphs>360</Paragraphs>
  <Slides>27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0" baseType="lpstr">
      <vt:lpstr>Aptos Display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İstanbul 29 Mayıs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Zekaya Giriş - Bölüm 1</dc:title>
  <dc:subject>Yapay Zekaya Giriş - Bölüm 1</dc:subject>
  <dc:creator>OpenAI</dc:creator>
  <cp:lastModifiedBy>Uraz Kagan GUNES (233721263)</cp:lastModifiedBy>
  <cp:revision>2</cp:revision>
  <dcterms:created xsi:type="dcterms:W3CDTF">2026-09-22T11:16:39Z</dcterms:created>
  <dcterms:modified xsi:type="dcterms:W3CDTF">2026-09-22T11:24:07Z</dcterms:modified>
</cp:coreProperties>
</file>