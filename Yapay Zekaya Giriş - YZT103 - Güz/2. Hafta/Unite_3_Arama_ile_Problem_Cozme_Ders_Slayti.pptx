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Başlık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EB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Ünite 3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Arama ile Problem Çözme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21792" y="20299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çözen ajanlar · Arama ağaçları · Bilgisiz arama · Sezgisel arama · A* · Heuristic tasarımı</a:t>
            </a:r>
            <a:endParaRPr lang="en-US" sz="2000" dirty="0"/>
          </a:p>
        </p:txBody>
      </p:sp>
      <p:pic>
        <p:nvPicPr>
          <p:cNvPr id="7" name="Image 0" descr="/mnt/data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0965" y="2788920"/>
            <a:ext cx="497451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080760"/>
            <a:ext cx="5029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slaytı · Yapay Zekaya Giriş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 hedefleri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ünitede ne öğreneceğiz?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Öğrenci ilk kez görüyorsa hedef: önce kavramı, sonra algoritmayı, sonra tabloyu anlamak.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4008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 problemi başlangıç, eylem, geçiş modeli, hedef testi ve maliyetle tanımlamak.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Arama ağacı, frontier, explored set, node-state ayrımı gibi temel kavramları kurmak.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BFS, UCS, DFS, Depth-Limited, Iterative Deepening ve Bidirectional Search mantığını karşılaştırmak.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Greedy Best-First ve A* algoritmalarında g(n), h(n), f(n) değerlerini okumak.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Admissible/consistent heuristic, dominance, relaxed problem ve pattern database fikrini açıklamak.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1874520"/>
            <a:ext cx="4069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→ Arama → Çözüm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60920" y="2880360"/>
            <a:ext cx="38862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fikir: Ajan tek hamlede hedefe ulaşamıyorsa, hedefe götüren eylem dizisini arar.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geçişi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3.1 Problem Çözen Ajanlar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hedef belirler, problemi formüle eder, sonra eylem dizisi arar.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Problem çözen ajanlar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 ajan neden yetmez?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 ajan doğrudan durum → eylem eşlemesi yapar; hedef tabanlı ajan geleceği düşünür.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Refleks ajan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Mevcut duruma bakar.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Hazır kural uygular.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“Eğer engel varsa sola dön.” gibi.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Çok büyük durum uzaylarında kural tablosu patlar.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Gelecekteki sonuçları değerlendirmez.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çözen ajan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 hedef seçer.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Gelecekteki eylem dizilerini düşünür.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Hedefe ulaştıran planı arar.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Harita, maliyet ve durum bilgisini kullanır.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ünitedeki arama algoritmalarıyla çalışır.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Problem çözen ajanlar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Formulate → Search → Execute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çözen ajanın basit çalışma döngüsü.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Hedef oluştur → Problemi tanımla → Ara → Uygula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9875520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 formulation: Ajan hangi dünya durumlarını hedef kabul edecek?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formulation: Hangi durumlar ve hangi eylemler dikkate alınacak?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Search: Hedefe götüren eylem dizisi bulunur.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Execution: Bulunan eylemler sırayla uygulanır.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Ortam deterministik ve biliniyorsa çözüm sabit bir eylem dizisi olabilir.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 çözüm: Arad → Sibiu → Rimnicu Vilcea → Pitesti → Bucharest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Problem tanımı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İyi tanımlanmış problem: 5 bileşen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algoritması probleme bu beş bilgi üzerinden bakar.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9270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Bileşen  |  Soru  |  Romanya örneği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state  |  Nereden başlıyoruz?  |  In(Arad)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 |  Hangi eylemler mümkün?  |  Go(Sibiu), Go(Timisoara), Go(Zerind)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model  |  Eylemden sonra nereye geçilir?  |  RESULT(In(Arad), Go(Sibiu)) = In(Sibiu)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test  |  Hedefe ulaştık mı?  |  Şu an Bucharest mi?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cost  |  Yolun maliyeti nedir?  |  Kilometre toplamı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yapı kurulmadan BFS, UCS, A* gibi algoritmaları uygulamak mümkün değildir.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Romanya örneği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Romanya haritası: durum uzayı olarak graf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Şehirler durum, yollar eylem, üzerlerindeki sayılar maliyettir.</a:t>
            </a:r>
            <a:endParaRPr lang="en-US" sz="1150" dirty="0"/>
          </a:p>
        </p:txBody>
      </p:sp>
      <p:pic>
        <p:nvPicPr>
          <p:cNvPr id="7" name="Image 0" descr="/mnt/data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03440"/>
            <a:ext cx="6400800" cy="4294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5468112"/>
            <a:ext cx="6400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 — Romanya yol haritası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7406640" y="1325880"/>
            <a:ext cx="4206240" cy="3977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Düğüm / node: şehir, örn. Arad.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Kenar / edge: iki şehir arasındaki yol.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Maliyet: yolun kilometre değeri.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Arama görevi: Arad’dan Bucharest’e en uygun eylem dizisini bulmak.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Yol maliyeti genellikle adım maliyetlerinin toplamıdır.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60920" y="5486400"/>
            <a:ext cx="4297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cost = Σ step costs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Abstraction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Soyutlama: gerçek dünyayı çözilebilir modele indirgemek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gerçek dünyanın bütün ayrıntılarını değil, problem için gerekli ayrıntıları taşır.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66751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Gerçek yolculukta hava, radyo, yakıt, trafik, sürücü yorgunluğu gibi yüzlerce ayrıntı vardır.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Rota bulma problemi için çoğu ayrıntı gereksizdir; durum “In(Arad)” gibi sadeleştirilir.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Eylem “direksiyonu 1 derece çevir” değil, “Sibiu’ya git” seviyesinde tanımlanır.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İyi soyutlama geçerli olmalı: soyut çözüm gerçek dünyada uygulanabilmeli.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İyi soyutlama yararlı olmalı: eylemler daha fazla arama gerektirmeden uygulanabilmeli.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6F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0" y="2011680"/>
            <a:ext cx="3840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6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Gereksiz ayrıntıyı çıkar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B96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 çözümü bozma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635240" y="3657600"/>
            <a:ext cx="3886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Aksi halde akıllı ajan gerçek dünyanın ayrıntıları altında ezilir.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6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geçişi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3.2 Örnek Problemler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Oyuncak problemler algoritmaları test etmek; gerçek dünya problemleri uygulama gücünü görmek içindir.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Toy vs real-world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Toy problem ve real-world problem farkı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“Oyuncak” demek önemsiz değil; kontrollü ve karşılaştırılabilir demektir.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Toy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Kısa ve kesin tanımı vardır.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Araştırmacılar aynı problemde algoritma karşılaştırabilir.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Genellikle küçük ve temiz varsayımlar içerir.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Vacuum World, 8-Puzzle, 8-Queens tipik örneklerdir.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İnsanların gerçekten çözmek istediği problemdir.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Tanımı daha karmaşık ve tartışmalı olabilir.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Maliyet tek boyutlu olmayabilir.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Navigasyon, uçuş planlama, robot kontrolü, çip tasarımı gibi alanlar.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Vacuum World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Vacuum World: küçük ama öğretici durum uzayı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konumu + kirli karelerin durumu birlikte dünya durumunu belirler.</a:t>
            </a:r>
            <a:endParaRPr lang="en-US" sz="1150" dirty="0"/>
          </a:p>
        </p:txBody>
      </p:sp>
      <p:pic>
        <p:nvPicPr>
          <p:cNvPr id="7" name="Image 0" descr="/mnt/data/image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63" y="1078992"/>
            <a:ext cx="5669794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690872"/>
            <a:ext cx="5715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3.3 — Vacuum World durum uzayı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629400" y="1216152"/>
            <a:ext cx="4846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 konum: sol ve sağ.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kare temiz/kirli olabilir: 2² = 4 kombinasyon.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Toplam durum: 2 × 2² = 8.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Eylemler: Left, Right, Suck.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Hedef testi: bütün kareler temiz mi?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Yol maliyeti: her adım 1 ise toplam adım sayısı.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0" y="5596128"/>
            <a:ext cx="4892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 konum için: n · 2ⁿ durum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8-Puzzle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8-Puzzle: kayan blok arama problemi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Taşlar yalnızca boşluğa komşuysa kayabilir; amaç hedef düzene ulaşmaktır.</a:t>
            </a:r>
            <a:endParaRPr lang="en-US" sz="1150" dirty="0"/>
          </a:p>
        </p:txBody>
      </p:sp>
      <p:pic>
        <p:nvPicPr>
          <p:cNvPr id="7" name="Image 0" descr="/mnt/data/image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1880"/>
            <a:ext cx="5212080" cy="20196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74720"/>
            <a:ext cx="5212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3.4 — 8-Puzzle örneği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00800" y="1097280"/>
            <a:ext cx="5029200" cy="4023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Durum: 8 taş + boşluğun 9 karedeki konumları.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Eylemler: boşluğun Left, Right, Up, Down hareketleri.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hareket maliyeti 1 kabul edilirse en kısa çözüm en az hamleli çözümdür.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9! olası yerleşimin yalnızca yarısı erişilebilir: 9!/2 = 181.440.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15-Puzzle ve 24-Puzzle çok daha büyük durum uzaylarına sahiptir.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 fiziksel taşı kaydırma ayrıntıları değil, oyunun kural düzeyi modellenir.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8-Queens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8-Queens: formülasyon farkı aramayı dramatik küçültür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problem kötü tanımlanırsa trilyonlarca yol, iyi tanımlanırsa binlerce durum.</a:t>
            </a:r>
            <a:endParaRPr lang="en-US" sz="1150" dirty="0"/>
          </a:p>
        </p:txBody>
      </p:sp>
      <p:pic>
        <p:nvPicPr>
          <p:cNvPr id="7" name="Image 0" descr="/mnt/data/image(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54894"/>
            <a:ext cx="5303520" cy="29308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343400"/>
            <a:ext cx="5303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3.5 — Neredeyse çözüm, ama bir çapraz saldırı var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00800" y="1234440"/>
            <a:ext cx="50292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Amaç: 8 veziri hiçbir vezir birbirini tehdit etmeyecek şekilde yerleştirmek.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Kötü formülasyon: herhangi bir boş kareye vezir koy → yaklaşık 1.8 × 10¹⁴ dizi.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iyi formülasyon: soldaki ilk boş sütuna, saldırı altında olmayan kareye koy.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Durum uzayı 2057’ye düşer.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Ders: problem formülasyonu algoritma kadar önemlidir.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Gerçek dünya problemleri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Gerçek dünya arama problemleri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beş bileşenli yapı çok farklı alanlara uygulanır.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1064240" cy="4800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 |  Durum ne içerir?  |  Maliyet / zorluk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bulma  |  Konum ve yol bağlantıları  |  Mesafe, süre, yakıt, trafik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Uçuş planlama  |  Havaalanı, saat, aktarma geçmişi  |  Fiyat, bekleme, uçuş süresi, sınıf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Touring / TSP  |  Konum + ziyaret edilen şehirler  |  En kısa tur; NP-hard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VLSI layout  |  Çipte hücre ve bağlantı yerleri  |  Alan, gecikme, üretim verimi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navigasyonu  |  Sürekli konum ve kontrol değişkenleri  |  Çok boyutlu arama, sensör/motor hatası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Protein tasarımı  |  Amino asit dizisi / katlanma  |  İstenen 3B yapı ve özellikler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geçişi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3.3 Çözüm Arama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ağacı, frontier, explored set ve node veri yapısı.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Arama ağacı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Arama ağacı nasıl büyür?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Başlangıç düğümü köktür; dallar eylemler, çocuklar yeni durumlardır.</a:t>
            </a:r>
            <a:endParaRPr lang="en-US" sz="1150" dirty="0"/>
          </a:p>
        </p:txBody>
      </p:sp>
      <p:pic>
        <p:nvPicPr>
          <p:cNvPr id="7" name="Image 0" descr="/mnt/data/image(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652" y="1078992"/>
            <a:ext cx="5441256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33872"/>
            <a:ext cx="5760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3.6 — Arad’dan Bucharest’e kısmi arama ağaçları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537960" y="1143000"/>
            <a:ext cx="4846320" cy="4526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Root node: başlangıç durumu, örn. Arad.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Expanding: bir düğümdeki tüm yasal eylemleri uygulamak.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Generating: ortaya çıkan çocuk düğümleri üretmek.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Leaf node: henüz çocuğu üretilmemiş düğüm.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Frontier: genişletilmeye hazır yaprak düğümlerin kümesi.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Gri: genişletilmiş; kalın çerçeve: frontier; soluk: henüz üretilmemiş.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Tree 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Genel TREE-SEARCH iskeleti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algoritmaları temelde bu kalıbı paylaşır; fark seçme stratejisindedir.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98348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← başlangıç düğümü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frontier boşsa → failure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 ← frontier’dan bir yaprak seç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node hedefse → solution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node’u genişlet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çocukları frontier’a ekle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0292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strategy = frontier’dan hangi düğümün seçileceği.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 en sığ düğümü seçer.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DFS en derin düğümü seçer.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Uniform-Cost en düşük g(n) değerini seçer.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 en düşük f(n)=g(n)+h(n) değerini seçer.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5166360"/>
            <a:ext cx="4754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iskelet, farklı seçim kuralı → farklı algoritma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Tekrarlanan durumlar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space ve search tree aynı şey değildir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dünya durumu arama ağacında farklı yollardan tekrar üretilebilir.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space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Gerçek durumların kümesi.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Romanya örneğinde yaklaşık şehirlerdir.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Haritada yalnızca sınırlı sayıda şehir vardır.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Örn. Sibiu bir dünya durumudur.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Algoritmanın denediği yolların ağacıdır.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Aynı state farklı node olarak tekrar çıkabilir.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Arad → Sibiu → Arad döngüsü sonsuz büyüyebilir.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yüzden geçmişi hatırlamak gerekir.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B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Redundant path: aynı duruma daha kötü veya gereksiz başka bir yoldan ulaşmak.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Graph 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GRAPH-SEARCH: geçmişi hatırlayan arama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Explored set, tekrar durumların yeniden genişletilmesini engeller.</a:t>
            </a:r>
            <a:endParaRPr lang="en-US" sz="1150" dirty="0"/>
          </a:p>
        </p:txBody>
      </p:sp>
      <p:pic>
        <p:nvPicPr>
          <p:cNvPr id="7" name="Image 0" descr="/mnt/data/image(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43" y="1078992"/>
            <a:ext cx="5438914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016752"/>
            <a:ext cx="5623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3.8–3.9 — Graph Search ve frontier ayrımı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46520" y="1143000"/>
            <a:ext cx="512064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Explored set: genişletilmiş durumların kümesi.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Yeni çocuk, explored veya frontier’da varsa atılır.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Frontier keşfedilmiş bölge ile keşfedilmemiş bölge arasında sınırdır.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özellik özellikle grid, rota bulma ve oyun aramalarında çok önemlidir.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 Search geçmişi unutabilir; Graph Search geçmişi hatırlar.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Node veri yapısı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Node ≠ State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dünya konfigürasyonudur; node arama ağacındaki kayıt yapısıdır.</a:t>
            </a:r>
            <a:endParaRPr lang="en-US" sz="1150" dirty="0"/>
          </a:p>
        </p:txBody>
      </p:sp>
      <p:pic>
        <p:nvPicPr>
          <p:cNvPr id="7" name="Image 0" descr="/mnt/data/image(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4582"/>
            <a:ext cx="5394960" cy="24629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023360"/>
            <a:ext cx="5394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3.10 — Search node veri yapısı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00800" y="1143000"/>
            <a:ext cx="5120640" cy="4069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n.STATE: düğümün temsil ettiği dünya durumu.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n.PARENT: bu düğümü üreten ebeveyn düğüm.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n.ACTION: parent’tan bu düğüme gelmek için uygulanan eylem.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n.PATH-COST = g(n): başlangıçtan bu düğüme kadar gerçek maliyet.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Parent pointer’lar çözüm yolu geriye doğru çıkarılsın diye saklanır.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8680" y="5532120"/>
            <a:ext cx="10607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Aynı STATE, farklı NODE olabilir; çünkü yol ve maliyet geçmişi farklıdır.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Queue ve ölçütler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Frontier nasıl saklanır? Queue türleri ve değerlendirme ölçütleri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 yapısı seçimi, arama stratejisini doğrudan belirler.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54864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türü  |  Seçim kuralı  |  Tipik algoritma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  |  İlk giren ilk çıkar  |  Breadth-First Search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LIFO / Stack  |  Son giren ilk çıkar  |  Depth-First Search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  |  En düşük/en yüksek öncelik çıkar  |  UCS, Greedy, A*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548640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Ölçüt  |  Soru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  |  Çözüm varsa algoritma bulmayı garanti eder mi?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Optimality  |  Bulduğu çözüm en düşük maliyetli mi?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complexity  |  Kaç düğüm üretmek gerekir?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complexity  |  Bellekte kaç düğüm saklanır?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1371600"/>
            <a:ext cx="4800600" cy="4343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b: branching factor, yani bir düğümün maksimum ardıl sayısı.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d: en sığ çözümün derinliği.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m: arama ağacının maksimum derinliği.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Arama maliyeti, çözümü bulmak için harcanan hesaplamadır.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Toplam maliyet = arama maliyeti + bulunan yolun maliyeti olarak düşünülebilir.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96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geçişi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3.4 Bilgisiz Arama Stratejileri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 problem bilgisi yok: düğümler yalnızca genel sıraya göre genişletilir.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Bilgisiz arama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Bilgisiz arama ne bilir, ne bilmez?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search: hedefe yakınlık hakkında sezgisel bilgi kullanmaz.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Başlangıç durumu.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Yasal eylemler.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Geçiş modeli.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Hedef testi.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Yol/adım maliyeti.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Bilmez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Hangi düğüm hedefe daha yakın?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Hangi yol daha umut verici?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Kalan maliyet ne kadar?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Hedef hangi yönde?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bilgiler heuristic aramada gelir.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650992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Tüm bilgisiz arama stratejileri temelde frontier’dan farklı sırayla düğüm seçer.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3.4.1 BFS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Breadth-First Search (BFS): seviye seviye arama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Önce kök, sonra tüm çocuklar, sonra torunlar...</a:t>
            </a:r>
            <a:endParaRPr lang="en-US" sz="1150" dirty="0"/>
          </a:p>
        </p:txBody>
      </p:sp>
      <p:pic>
        <p:nvPicPr>
          <p:cNvPr id="7" name="Image 0" descr="/mnt/data/image(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524"/>
            <a:ext cx="5486400" cy="14171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5486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3.12 — BFS örneği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530352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Frontier FIFO queue ile tutulur.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Yeni düğümler kuyruğun arkasına eklenir.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eski ve daha sığ düğümler önce genişletilir.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Sıra örneği: A → B → C → D → E → F → G.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Hedef üretilir üretilmez test etmek mümkündür; çünkü daha sığ katmanlar zaten işlenmiştir.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92240" y="1600200"/>
            <a:ext cx="46634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 = en sığ düğüm önce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583680" y="2743200"/>
            <a:ext cx="448056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  |  BFS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  |  Evet, b sonluysa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  |  Eylem maliyetleri eşitse evet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 |  O(bᵈ)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 |  O(bᵈ)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3.4.1 BFS maliyeti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BFS’nin temel sorunu: üstel büyüme ve bellek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b=10 gibi masum görünen bir dallanma bile hızla patlar.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937760" cy="3246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Depth 1: b düğüm.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Depth 2: b² düğüm.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Depth d: yaklaşık bᵈ düğüm.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 frontier’daki büyük katmanı bellekte tutar.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yüzden çoğu zaman zaman değil bellek önce tükenir.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1325880"/>
            <a:ext cx="5303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2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 + b² + … + bᵈ = O(bᵈ)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72200" y="2514600"/>
            <a:ext cx="484632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|  Yaklaşık etki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|  10⁸ düğüm seviyesi → dakika ve yüzlerce GB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|  10¹² düğüm seviyesi → günler ve petabyte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 |  10¹⁶ düğüm seviyesi → yüzyıllar ve exabyte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440680"/>
            <a:ext cx="10515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Ders: BFS öğretici ve güvenli olabilir, ama büyük arama uzaylarında bellek maliyeti çok ağırdır.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3.4.2 UCS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Uniform-Cost Search (UCS): en ucuz yol önce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adım sayısına, UCS toplam yol maliyetine bakar.</a:t>
            </a:r>
            <a:endParaRPr lang="en-US" sz="1150" dirty="0"/>
          </a:p>
        </p:txBody>
      </p:sp>
      <p:pic>
        <p:nvPicPr>
          <p:cNvPr id="7" name="Image 0" descr="/mnt/data/image(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05855"/>
            <a:ext cx="5120640" cy="20688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29000"/>
            <a:ext cx="5120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3.15 — UCS için Romanya parçası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00800" y="1051560"/>
            <a:ext cx="502920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Frontier priority queue ile tutulur.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Öncelik değeri g(n): başlangıçtan n’ye kadar gerçek maliyet.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 düşük g(n) değerli düğüm genişletilir.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İlk üretilen hedefte durmaz; hedef frontier’dan en düşük maliyetle çıktığında durur.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ucuz bir yol bulunursa frontier’daki eski pahalı yol değiştirilir.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3931920"/>
            <a:ext cx="5120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UCS: f(n) = g(n)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3.4.2 UCS örneği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Sibiu → Bucharest UCS adımları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İlk bulunan hedef her zaman en ucuz hedef olmayabilir.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658368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Adım  |  Frontier’da öne çıkan maliyetler  |  Seçim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|  Rimnicu=80, Fagaras=99  |  Rimnicu genişletilir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|  Fagaras=99, Pitesti=177  |  Fagaras genişletilir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|  Pitesti=177, Bucharest=310  |  Pitesti genişletilir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|  Bucharest=278 eski 310’dan iyi  |  Bucharest 278 ile seçilir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635240" y="1325880"/>
            <a:ext cx="370332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Sibiu → Fagaras → Bucharest maliyeti: 99 + 211 = 310.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Sibiu → Rimnicu → Pitesti → Bucharest maliyeti: 80 + 97 + 101 = 278.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UCS hedefi yalnızca priority queue’dan çıktığında kabul eder.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Adım maliyetleri pozitif alt sınıra sahipse complete ve optimaldir.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= en az adım · UCS = en az toplam maliyet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3.4.3 DFS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Depth-First Search (DFS): bir kola derinlemesine git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Frontier’da en derin düğüm seçilir; LIFO stack kullanılır.</a:t>
            </a:r>
            <a:endParaRPr lang="en-US" sz="1150" dirty="0"/>
          </a:p>
        </p:txBody>
      </p:sp>
      <p:pic>
        <p:nvPicPr>
          <p:cNvPr id="7" name="Image 0" descr="/mnt/data/image(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153" y="1078992"/>
            <a:ext cx="5519734" cy="5074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143000"/>
            <a:ext cx="434340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DFS mümkün olduğunca aşağı iner.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Çocuk kalmayınca geri döner: backtracking.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 Search sürümü döngüye girebilir, complete değildir.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 Search sürümü sonlu state space’te complete olabilir.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Optimal değildir: ilk bulduğu çözüm en kısa/ucuz olmak zorunda değildir.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 büyük avantajı: çok düşük bellek kullanımıdır.</a:t>
            </a:r>
            <a:endParaRPr lang="en-US" sz="16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3.4.3 DFS özellikleri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DFS neden hâlâ önemli?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Eksikleri büyük olsa da bellek avantajı yapay zekâda çok değerlidir.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55778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Özellik  |  DFS Tree Search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Complete?  |  Hayır; sonsuz kola/döngüye girebilir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Optimal?  |  Hayır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 |  O(bᵐ)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 |  O(bm)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Güçlü yön  |  Bellek tüketimi çok düşüktür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1325880"/>
            <a:ext cx="4663440" cy="3154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 depth 16’da devasa bellek isterken, DFS yalnızca kökten yaprağa yolu ve kardeşleri tutar.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nedenle constraint satisfaction, SAT ve logic programming gibi alanlarda temel iş gücü olmuştur.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Backtracking Search daha da az bellek kullanır: yalnızca bir successor üretir ve geri alabilir.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5303520"/>
            <a:ext cx="9326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6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DFS = düşük bellek, ama riskli arama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3.4.4 Depth-Limited 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Depth-Limited Search: DFS’ye derinlik sınırı koymak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Sonsuz kola gitmeyi engeller, ama doğru sınır bilinmezse çözümü kaçırabilir.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557784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 ℓ belirlenir.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Depth = ℓ seviyesindeki düğümler çocukları yokmuş gibi değerlendirilir.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Eğer ℓ &lt; d ise en sığ hedef sınırın dışında kalır ve bulunamaz.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Sonuç failure veya cutoff olabilir.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cutoff: “çözüm yok” değil, “bu limit içinde görmedim” demektir.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20840" y="1325880"/>
            <a:ext cx="443484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Kavram  |  Anlam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ℓ  |  Derinlik limiti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 |  En sığ çözüm derinliği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ℓ &lt; d  |  Çözüm sınırın dışında kalır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ℓ ≥ d  |  Bulabilir ama optimal garanti olmayabilir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 |  DLS’nin ℓ = ∞ özel hali gibi düşünülebilir</a:t>
            </a:r>
            <a:endParaRPr lang="en-US" sz="12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3.4.5 Iterative Deepening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Iterative Deepening Search: doğru limiti bilmiyorsak artır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DFS(limit=0), DFS(limit=1), DFS(limit=2), ...</a:t>
            </a:r>
            <a:endParaRPr lang="en-US" sz="1150" dirty="0"/>
          </a:p>
        </p:txBody>
      </p:sp>
      <p:pic>
        <p:nvPicPr>
          <p:cNvPr id="7" name="Image 0" descr="/mnt/data/image(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412" y="1078992"/>
            <a:ext cx="5073736" cy="5157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1143000"/>
            <a:ext cx="4709160" cy="3886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 0’dan başlar ve her turda artar.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Çözüm derinliği d’ye ulaşıldığında hedef bulunur.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 gibi complete; eşit maliyetlerde optimal.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DFS gibi düşük bellek kullanır.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Üst seviyeleri tekrar üretir ama maliyet çok büyük değildir; çoğu düğüm alt seviyededir.</a:t>
            </a:r>
            <a:endParaRPr lang="en-US" sz="1670" dirty="0"/>
          </a:p>
        </p:txBody>
      </p:sp>
      <p:sp>
        <p:nvSpPr>
          <p:cNvPr id="9" name="Text 6"/>
          <p:cNvSpPr/>
          <p:nvPr/>
        </p:nvSpPr>
        <p:spPr>
          <a:xfrm>
            <a:off x="6400800" y="5349240"/>
            <a:ext cx="4983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IDS: O(bᵈ) zaman · O(bd) bellek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3.4.6 Bidirectional 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Bidirectional Search: iki taraftan ara, ortada buluş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Start’tan ileri, goal’dan geri arama yürütülür.</a:t>
            </a:r>
            <a:endParaRPr lang="en-US" sz="1150" dirty="0"/>
          </a:p>
        </p:txBody>
      </p:sp>
      <p:pic>
        <p:nvPicPr>
          <p:cNvPr id="7" name="Image 0" descr="/mnt/data/image(20260928-11054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1283"/>
            <a:ext cx="5349240" cy="21123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66160"/>
            <a:ext cx="5349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3.20 — Çift yönlü arama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537960" y="1097280"/>
            <a:ext cx="466344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Normal BFS maliyeti yaklaşık O(bᵈ).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Çift yönlü arama her iki tarafta yaklaşık d/2 derinliğe gider.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Zaman ve bellek yaklaşık O(bᵈᐟ²) olabilir.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Frontier’ların kesişimi çözüm bulunduğunu gösterir.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Geriye arama için predecessor üretmek gerekir.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 soyut bir özellikse kullanmak zorlaşır.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800600"/>
            <a:ext cx="5212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b=10, d=6 için BFS ≈ 1.111.110 düğüm; çift yönlü ≈ 2.220 düğüm.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Karşılaştırma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Bilgisiz arama stratejileri: hızlı karşılaştırma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Tree-search sürümleri için klasik özet.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11384280" cy="5120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Strateji  |  Complete?  |  Optimal?  |  Time  |  Space  |  Ana fikir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  |  ────────  |  ────────  |  ────────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 |  Evet, b sonluysa  |  Eşit maliyette evet  |  O(bᵈ)  |  O(bᵈ)  |  Seviye seviye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  |  Pozitif step cost ile evet  |  Evet  |  O(b¹+⌊C*/ε⌋)  |  O(b¹+⌊C*/ε⌋)  |  En ucuz g(n)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DFS  |  Hayır  |  Hayır  |  O(bᵐ)  |  O(bm)  |  En derin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DLS  |  Limit yanlışsa hayır  |  Hayır  |  O(bˡ)  |  O(bℓ)  |  DFS + limit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 |  Evet, b sonluysa  |  Eşit maliyette evet  |  O(bᵈ)  |  O(bd)  |  Limit artır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Bidirectional  |  Uygunsa evet  |  BFS ile uygun koşulda  |  O(bᵈᐟ²)  |  O(bᵈᐟ²)  |  İki yönden</a:t>
            </a:r>
            <a:endParaRPr lang="en-US" sz="10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6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geçişi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3.5 Bilgili / Sezgisel Arama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bilgi ile arama alanını daraltmak: Greedy, A*, RBFS...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Informed 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Bilgili arama: ek bilgi kullanarak daha az düğüm üretmek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Best-First Search düğümü f(n) değerlendirme fonksiyonuna göre seçer.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557784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Uninformed search hedefe yakınlık bilgisi kullanmaz.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Informed search probleme özgü ek bilgi kullanır.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Best-first yaklaşımı frontier’daki en iyi görünen düğümü seçer.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Değerlendirme fonksiyonu f(n) genellikle maliyet tahminidir.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Daha düşük f(n) daha önce genişletilir.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1645920"/>
            <a:ext cx="47091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= n’den hedefe kalan tahmini maliyet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3796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Romanya’da hSLD şehirden Bucharest’e kuş uçuşu mesafedir.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g h 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Üç değer: g(n), h(n), f(n)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üç sembol A* ve sezgisel aramanın temelidir.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06070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Sembol  |  Anlam  |  Örnek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  |  Başlangıçtan n’ye kadar gerçek maliyet  |  Arad → Sibiu = 140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 |  n’den hedefe tahmini kalan maliyet  |  h(Sibiu)=253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 |  n üzerinden hedefe tahmini toplam maliyet  |  f(Sibiu)=140+253=393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4251960"/>
            <a:ext cx="8503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A*: f(n) = g(n) + h(n)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= şimdiye kadar ödenen · h = bundan sonra tahmini · f = toplam tahmini fatura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hSLD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hSLD: Bucharest’e kuş uçuşu uzaklık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tablo heuristic değerlerini verir; yol mesafesi değil, tahmindir.</a:t>
            </a:r>
            <a:endParaRPr lang="en-US" sz="1150" dirty="0"/>
          </a:p>
        </p:txBody>
      </p:sp>
      <p:pic>
        <p:nvPicPr>
          <p:cNvPr id="7" name="Image 0" descr="/mnt/data/image(20260928-1108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18497"/>
            <a:ext cx="5669280" cy="19978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5669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3.22 — hSLD değerleri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720840" y="1143000"/>
            <a:ext cx="4480560" cy="4069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h(Arad)=366: Arad’dan Bucharest’e kuş uçuşu mesafe.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h(Sibiu)=253, h(Fagaras)=176, h(Pitesti)=100.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h(Bucharest)=0; hedefte kalan maliyet sıfırdır.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değerler problem tanımından çıkmaz; harita/geometri bilgisi gerekir.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Heuristic gerçek maliyete yakınsa arama daha az düğüm üretir.</a:t>
            </a:r>
            <a:endParaRPr lang="en-US" sz="1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3.5.1 Greedy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Best-First Search: sadece h(n) kullanır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Hedefe en yakın görünen düğüm seçilir.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52120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6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Greedy: f(n) = h(n)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21208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Geçmişte ne kadar maliyet harcandığını dikkate almaz.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adımda hedefe en yakın görünen seçimi yapar.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yüzden hızlı çözüm bulabilir.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 “yakın görünen” yol her zaman en kısa/ucuz yol değildir.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 Search sürümü incomplete olabilir; Graph Search sonlu uzaylarda daha güvenlidir.</a:t>
            </a:r>
            <a:endParaRPr lang="en-US" sz="1800" dirty="0"/>
          </a:p>
        </p:txBody>
      </p:sp>
      <p:pic>
        <p:nvPicPr>
          <p:cNvPr id="9" name="Image 0" descr="/mnt/data/image(20260928-11084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145680"/>
            <a:ext cx="4846320" cy="502384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3.5.1 Greedy örneği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Greedy neden optimal değildir?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Arad → Sibiu → Fagaras → Bucharest hızlı bulunur; ama daha kısa rota vardır.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9728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 |  Hesap  |  Toplam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yolu  |  Arad-Sibiu 140 + Sibiu-Fagaras 99 + Fagaras-Bucharest 211  |  450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 yol  |  Arad-Sibiu 140 + Sibiu-Rimnicu 80 + Rimnicu-Pitesti 97 + Pitesti-Bucharest 101  |  418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0584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Fagaras’ın h değeri Rimnicu Vilcea’dan daha küçüktür: 176 &lt; 193.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Greedy bu yüzden Fagaras’ı seçer.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Ancak Fagaras → Bucharest yolu 211 km’dir ve toplamı artırır.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Greedy yerel olarak akıllı görünür; küresel olarak optimal garanti etmez.</a:t>
            </a:r>
            <a:endParaRPr lang="en-US" sz="1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3.5.2 A*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Search: geçmiş maliyet + kalan tahmin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yaygın best-first arama biçimi.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5120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f(n) = g(n) + h(n)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02920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g(n): başlangıçtan n’ye kadar gerçek maliyet.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h(n): n’den hedefe kalan tahmini maliyet.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f(n): n üzerinden giden çözümün tahmini toplam maliyeti.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Priority queue f(n) değerine göre sıralanır.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UCS, h(n)=0 olan A* gibi düşünülebilir.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Greedy ise yalnızca h(n) kullanan best-first çeşididir.</a:t>
            </a:r>
            <a:endParaRPr lang="en-US" sz="1800" dirty="0"/>
          </a:p>
        </p:txBody>
      </p:sp>
      <p:pic>
        <p:nvPicPr>
          <p:cNvPr id="9" name="Image 0" descr="/mnt/data/image(20260928-1108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343" y="1078992"/>
            <a:ext cx="3564354" cy="51572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3.5.2 A* adımları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örneğinde sayılar nereden geliyor?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3.24’te her düğüm f = g + h etiketiyle gösterilir.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Düğüm  |  g(n)  |  h(n)  |  f(n)=g+h  |  Yorum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  |  ────────  |  ────────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Arad  |  0  |  366  |  366  |  Başlangıç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Sibiu  |  140  |  253  |  393  |  Arad’dan sonra en iyi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Rimnicu Vilcea  |  220  |  193  |  413  |  Sibiu’dan sonra seçilir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Fagaras  |  239  |  176  |  415  |  Rimnicu’dan sonra gelir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Pitesti  |  317  |  100  |  417  |  450’lik Bucharest’ten önce seçilir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Bucharest  |  418  |  0  |  418  |  Optimal çözüm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9B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450 maliyetli Bucharest’i ilk gördüğünde durmaz; çünkü Pitesti’nin f değeri 417’dir ve daha ucuz çözüm ihtimali vardır.</a:t>
            </a:r>
            <a:endParaRPr lang="en-US" sz="1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3.5.2 A* koşulları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optimal olsun istiyorsak heuristic nasıl olmalı?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 ana kavram: admissibility ve consistency.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Admissible heuristic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Gerçek kalan maliyeti asla fazla tahmin etmez.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h(n) ≤ h*(n).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İyimser tahmindir.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Tree-search A* için optimality koşuludur.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Kuş uçuşu mesafe buna örnektir.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heuristic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geçiş için üçgen eşitsizliği sağlar.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h(n) ≤ c(n,a,n′) + h(n′).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 değerleri yol boyunca azalmaz.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Graph-search A* için optimality koşuludur.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consistent heuristic admissible’dır.</a:t>
            </a:r>
            <a:endParaRPr lang="en-US" sz="16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3.5.2 A* f-contours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araması f-contour bantları halinde yayılır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iyi heuristic, arama bandını hedefe doğru daraltır.</a:t>
            </a:r>
            <a:endParaRPr lang="en-US" sz="1150" dirty="0"/>
          </a:p>
        </p:txBody>
      </p:sp>
      <p:pic>
        <p:nvPicPr>
          <p:cNvPr id="7" name="Image 0" descr="/mnt/data/image(20260928-11090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2564"/>
            <a:ext cx="5440680" cy="34876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919472"/>
            <a:ext cx="5440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3.25 — f = 380, 400, 420 konturları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583680" y="1234440"/>
            <a:ext cx="4663440" cy="3977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 en küçük f değerli frontier düğümünü genişletir.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yüzden arama f maliyeti artan bantlar gibi yayılır.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Optimal çözüm maliyeti C* ise f&lt;C* olan düğümler genişletilir.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f&gt;C* olan alt ağaçlar güvenle elenebilir.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eleme işlemine pruning / budama denir.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Timisoara’nın f değeri 447 iken optimal çözüm 418 olduğu için alt ağacı genişletilmez.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3.5.2 A* sınırları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güçlüdür ama her şeyin çözümü değildir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 ve verimli olabilir; fakat bellek tüketimi büyüktür.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576072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 complete ve optimal olabilir; iyi heuristic büyük tasarruf sağlar.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Aynı consistent heuristic ile optimal algoritmalar arasında optimally efficient kabul edilir.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Fakat Graph Search üretilen düğümleri bellekte tutar.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Büyük problemler için A* genellikle zamandan önce bellek sınırına çarpar.</a:t>
            </a:r>
            <a:endParaRPr lang="en-US" sz="1850" dirty="0"/>
          </a:p>
          <a:p>
            <a:pPr algn="l" indent="0" marL="0">
              <a:buNone/>
            </a:pPr>
            <a:r>
              <a:rPr lang="en-US" sz="1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nedenle memory-bounded heuristic search yöntemleri geliştirilmiştir.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949440" y="1920240"/>
            <a:ext cx="39319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2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A* problemi: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9B2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çok iyi yol bulur,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9B2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 çok şey hatırlar.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03720" y="4160520"/>
            <a:ext cx="4343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Çözüm yönü: IDA*, RBFS, SMA* gibi bellek sınırlı yaklaşımlar.</a:t>
            </a:r>
            <a:endParaRPr lang="en-US" sz="1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3.5.3 Memory-bounded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Bellek sınırlı sezgisel arama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Amaç: A* mantığına yakın kalırken daha az bellek kullanmak.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97280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Algoritma  |  Ana fikir  |  Güçlü yön  |  Zayıf yön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  |  ────────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IDA*  |  Depth limit yerine f-limit kullanır  |  Az bellek  |  Düğüm tekrar üretimi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RBFS  |  Recursive best-first; alternatif f-limit’i tutar  |  Lineer bellek  |  Sık geri dönme ve tekrar üretim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SMA*  |  Bellek dolunca en kötü yaprağı siler  |  Mevcut belleği kullanır  |  Thrashing olabilir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1051560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IDA*: klasik iterative deepening’in A* versiyonu; limit f=g+h üzerinden artar.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RBFS: unutulan alt ağacın en iyi f değerini parent’a yedekler.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SMA*: belleği tamamen kullanır; silinen alt ağacın değerini hatırlar.</a:t>
            </a:r>
            <a:endParaRPr lang="en-US" sz="1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3.5.3 RBFS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RBFS: iyi yolu takip et, ama alternatif sınırı unutma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Recursive Best-First Search, A* davranışını lineer bellekle taklit etmeye çalışır.</a:t>
            </a:r>
            <a:endParaRPr lang="en-US" sz="1150" dirty="0"/>
          </a:p>
        </p:txBody>
      </p:sp>
      <p:pic>
        <p:nvPicPr>
          <p:cNvPr id="7" name="Image 0" descr="/mnt/data/image(20260928-11092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729" y="1078992"/>
            <a:ext cx="4047342" cy="5157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188720"/>
            <a:ext cx="507492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Başta Rimnicu yolu en iyi görünür: f=413.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Pitesti’ye inince f=417 olur; alternatif Fagaras f=415 daha iyi görünür.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RBFS geri döner ve Rimnicu alt ağacı için 417 değerini yedekler.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Fagaras denendiğinde en iyi yaprak 450 olur; bu değer yedeklenir.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Rimnicu tekrar en iyi hale gelir ve Pitesti → Bucharest çözümü bulunur.</a:t>
            </a:r>
            <a:endParaRPr lang="en-US" sz="1670" dirty="0"/>
          </a:p>
        </p:txBody>
      </p:sp>
      <p:sp>
        <p:nvSpPr>
          <p:cNvPr id="9" name="Text 6"/>
          <p:cNvSpPr/>
          <p:nvPr/>
        </p:nvSpPr>
        <p:spPr>
          <a:xfrm>
            <a:off x="6355080" y="5715000"/>
            <a:ext cx="4983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Backed-up value: “Alt ağacı unuttum ama en iyi değerini hatırlıyorum.”</a:t>
            </a:r>
            <a:endParaRPr lang="en-US" sz="1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3.5.3 SMA*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SMA*: belleği kullan, dolunca en kötü yaprağı sil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Memory-Bounded A*, pratikte daha dengeli bir bellek yaklaşımıdır.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640080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 gibi en iyi yaprak düğümü genişletir.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Bellek dolana kadar düğümleri saklar.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Bellek dolunca en kötü yaprak, yani en yüksek f değerli leaf silinir.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Silinen alt ağacın kalitesi parent’a yedeklenir.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Optimal çözüm belleğe sığıyorsa optimaldir; sığmıyorsa en iyi erişilebilir çözümü döndürebilir.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Çok zor problemlerde sürekli sil-yeniden üret döngüsü thrashing yaratabilir.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60920" y="1920240"/>
            <a:ext cx="3840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6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Bellek sınırlıysa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B96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teori kadar mühendislik de önemlidir.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60920" y="3977640"/>
            <a:ext cx="38404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Maliyet takası: daha az bellek → daha fazla tekrar üretim → daha fazla zaman.</a:t>
            </a:r>
            <a:endParaRPr lang="en-US" sz="1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3.5.4 Metalevel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Ajan daha iyi aramayı öğrenebilir mi?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Arama sürecinin kendisi de bir problem olarak modellenebilir.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Object-level state space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Asıl problemin durum uzayıdır.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Romanya örneğinde şehirlerdir.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8-Puzzle’da tahta konfigürasyonlarıdır.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Arama algoritması bu uzayda çözüm yolu arar.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Metalevel state 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51663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Arama programının iç durumudur.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Örneğin A*’ın mevcut search tree’si.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 yaprak genişletmek metalevel eylemdir.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Ajan geçmiş aramalardan gereksiz alt ağaçları öğrenebilir.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68680" y="5650992"/>
            <a:ext cx="105156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Amaç: hesaplama maliyeti ile bulunan yol maliyeti arasında daha iyi denge kurmak.</a:t>
            </a:r>
            <a:endParaRPr lang="en-US" sz="1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Bölüm geçişi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3.6 Heuristic Fonksiyonlar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AF2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İyi h(n) nasıl tasarlanır? 8-Puzzle üzerinden öğreniyoruz.</a:t>
            </a:r>
            <a:endParaRPr lang="en-US" sz="2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8-Puzzle heuristics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8-Puzzle’da heuristic neden gerekli?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Kaba kuvvet hızla büyür; iyi h(n) arama alanını küçültür.</a:t>
            </a:r>
            <a:endParaRPr lang="en-US" sz="1150" dirty="0"/>
          </a:p>
        </p:txBody>
      </p:sp>
      <p:pic>
        <p:nvPicPr>
          <p:cNvPr id="7" name="Image 0" descr="/mnt/data/image(20260928-1111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08804"/>
            <a:ext cx="5212080" cy="18800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00400"/>
            <a:ext cx="5212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3.28 — Çözüm 26 adım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00800" y="1143000"/>
            <a:ext cx="4892040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Rastgele 8-Puzzle ortalama çözümü yaklaşık 22 adımdır.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Ortalama branching factor yaklaşık 3’tür.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 search derinlik 22’de yaklaşık 3²² ≈ 3.1×10¹⁰ durum bakabilir.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Graph Search 8-Puzzle’da tekrarları azaltır; ama 15-Puzzle’da durum sayısı çok büyür.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yüzden A* için admissible heuristic gerekir.</a:t>
            </a:r>
            <a:endParaRPr lang="en-US" sz="1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h1 h2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İki klasik heuristic: h₁ ve h₂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İkisi de gerçek çözüm maliyetini aşmaz; h₂ daha bilgilendiricidir.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1078992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 |  Tanım  |  Şekil 3.28 değeri  |  Neden admissible?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  |  ────────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h₁  |  Yanlış yerdeki taş sayısı  |  8  |  Yanlış yerdeki her taş en az bir kez hareket etmeli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  |  Taşların Manhattan uzaklıkları toplamı  |  18  |  Her hamle bir taşı en fazla 1 kare yaklaştırabilir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4069080"/>
            <a:ext cx="9875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h₁ = 8,    h₂ = 18,    h* = 26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424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Manhattan distance = |satır farkı| + |sütun farkı|. Çapraz hareket olmadığı için bu ölçü kullanılır.</a:t>
            </a:r>
            <a:endParaRPr lang="en-US" sz="1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Effective branching factor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Effective Branching Factor b*: heuristic kalitesini ölçmek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sanki kaç dallı bir ağaçta arama yapıyormuş gibi davranıyor?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 + 1 = 1 + b* + (b*)² + … + (b*)ᵈ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486400" cy="3108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N: A* tarafından üretilen düğüm sayısı.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d: çözüm derinliği.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b*: aynı sayıda düğüm içerecek uniform ağacın dallanma faktörü.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İyi heuristic için b* 1’e yakın olmalıdır.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b* azaldıkça arama alanı üstel olarak küçülür.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995160" y="2788920"/>
            <a:ext cx="3931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Örnek: d=5 ve N=52 ise b* ≈ 1.92.</a:t>
            </a:r>
            <a:endParaRPr 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Heuristic karşılaştırma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h₂ neden h₁’den daha iyi?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Deneysel sonuçlar h₂’nin çok daha az düğüm ürettiğini gösterir.</a:t>
            </a:r>
            <a:endParaRPr lang="en-US" sz="1150" dirty="0"/>
          </a:p>
        </p:txBody>
      </p:sp>
      <p:pic>
        <p:nvPicPr>
          <p:cNvPr id="7" name="Image 0" descr="/mnt/data/image(20260928-11114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552" y="1078992"/>
            <a:ext cx="6025776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507992"/>
            <a:ext cx="60350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3.29 — IDS, A*(h₁), A*(h₂) karşılaştırması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720840" y="1143000"/>
            <a:ext cx="448056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d=12 için IDS yaklaşık 3.644.035 düğüm üretir.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A*(h₁) aynı derinlikte 227 düğüm üretir.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A*(h₂) yalnızca 73 düğüm üretir.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h₂’nin effective branching factor değeri daha küçüktür.</a:t>
            </a:r>
            <a:endParaRPr lang="en-US" sz="1720" dirty="0"/>
          </a:p>
          <a:p>
            <a:pPr algn="l" indent="0" marL="0">
              <a:buNone/>
            </a:pPr>
            <a:r>
              <a:rPr lang="en-US" sz="17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Kaynak sonuç: h₂, h₁’den daha güçlü ve IDS’den çok daha verimlidir.</a:t>
            </a:r>
            <a:endParaRPr lang="en-US" sz="1720" dirty="0"/>
          </a:p>
        </p:txBody>
      </p:sp>
      <p:sp>
        <p:nvSpPr>
          <p:cNvPr id="10" name="Text 7"/>
          <p:cNvSpPr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2D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d=12’de A*(h₂), uninformed IDS’ye göre yaklaşık 50.000 kat daha verimlidir.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Domination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Dominance: daha yüksek ama güvenli heuristic daha iyidir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h₂(n) ≥ h₁(n) ise ve ikisi de admissible ise h₂ daha baskındır.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10698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6B6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h₂ dominates h₁  ⇔  her n için h₂(n) ≥ h₁(n)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287000" cy="3337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 f(n)=g(n)+h(n) ile çalışır.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 daha yüksekse, kötü yolların f değeri daha erken yükselir.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 h gerçek maliyeti aşmamalıdır; yoksa optimality bozulabilir.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yüzden amaç mümkün olduğunca yüksek ama admissible/consistent heuristic bulmaktır.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Heuristic hesaplaması çok pahalıysa kazanç azalabilir; doğruluk-hesaplama takası vardır.</a:t>
            </a:r>
            <a:endParaRPr lang="en-US" sz="1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Relaxed problems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Relaxed Problem: kısıtları kaldır, alt sınır elde et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Gevşetilmiş problemin optimal maliyeti orijinal problem için admissible heuristic olur.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585216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Orijinal 8-Puzzle kuralı: taş yalnızca yatay/dikey komşu olan boş kareye hareket eder.</a:t>
            </a:r>
            <a:endParaRPr lang="en-US" sz="1830" dirty="0"/>
          </a:p>
          <a:p>
            <a:pPr algn="l" indent="0" marL="0">
              <a:buNone/>
            </a:pPr>
            <a:r>
              <a:rPr lang="en-US" sz="18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Kısıt kaldırılırsa daha kolay bir problem elde edilir.</a:t>
            </a:r>
            <a:endParaRPr lang="en-US" sz="1830" dirty="0"/>
          </a:p>
          <a:p>
            <a:pPr algn="l" indent="0" marL="0">
              <a:buNone/>
            </a:pPr>
            <a:r>
              <a:rPr lang="en-US" sz="18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Relaxed problem daha kolay olduğundan maliyeti orijinal maliyeti aşamaz.</a:t>
            </a:r>
            <a:endParaRPr lang="en-US" sz="1830" dirty="0"/>
          </a:p>
          <a:p>
            <a:pPr algn="l" indent="0" marL="0">
              <a:buNone/>
            </a:pPr>
            <a:r>
              <a:rPr lang="en-US" sz="18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nedenle relaxed problemin optimal çözüm maliyeti admissible heuristic’tir.</a:t>
            </a:r>
            <a:endParaRPr lang="en-US" sz="1830" dirty="0"/>
          </a:p>
          <a:p>
            <a:pPr algn="l" indent="0" marL="0">
              <a:buNone/>
            </a:pPr>
            <a:r>
              <a:rPr lang="en-US" sz="183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Ayrıca bu heuristic genellikle consistent olur.</a:t>
            </a:r>
            <a:endParaRPr lang="en-US" sz="1830" dirty="0"/>
          </a:p>
        </p:txBody>
      </p:sp>
      <p:sp>
        <p:nvSpPr>
          <p:cNvPr id="8" name="Text 6"/>
          <p:cNvSpPr/>
          <p:nvPr/>
        </p:nvSpPr>
        <p:spPr>
          <a:xfrm>
            <a:off x="6903720" y="1371600"/>
            <a:ext cx="4343400" cy="2377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Gevşetilmiş kural  |  Elde edilen heuristic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Taş komşu kareye gidebilir, boşluk şartı yok  |  h₂ = Manhattan distance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Taş herhangi bir kareye tek hamlede gidebilir  |  h₁ = yanlış yerdeki taş sayısı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0" y="4251960"/>
            <a:ext cx="4709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Kısa mantık: daha kolay problem → daha düşük/eşit maliyet → güvenli alt sınır.</a:t>
            </a:r>
            <a:endParaRPr lang="en-US" sz="1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Birden fazla heuristic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Birden fazla heuristic varsa maksimumunu 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Seçmek zorunda değiliz; en bilgilendirici güvenli tahmini kullanırız.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7899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h(n) = max{h₁(n), h₂(n), …, hₘ(n)}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102870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Eğer tüm hᵢ admissible ise max kombinasyonu da admissible olur.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 heuristic, bileşen heuristics’lerin hepsini dominate eder.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düğümde en büyük güvenli alt sınır seçilir.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yaklaşım farklı relaxed problemlerden gelen sezgileri birleştirir.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Ancak toplam almak her zaman güvenli değildir; çifte sayma olabilir.</a:t>
            </a:r>
            <a:endParaRPr 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Pattern databases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Database: alt problemi tam çöz, sonucu tabloya koy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8-Puzzle’da yalnızca bazı taşları önemseyen alt problemlerden güçlü heuristic üretilebilir.</a:t>
            </a:r>
            <a:endParaRPr lang="en-US" sz="1150" dirty="0"/>
          </a:p>
        </p:txBody>
      </p:sp>
      <p:pic>
        <p:nvPicPr>
          <p:cNvPr id="7" name="Image 0" descr="/mnt/data/image(20260928-11115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97874"/>
            <a:ext cx="5303520" cy="22505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03320"/>
            <a:ext cx="5303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Şekil 3.30 — 1,2,3,4 taşları için alt problem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400800" y="1051560"/>
            <a:ext cx="5074920" cy="4617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Örnek alt problem: 1,2,3,4 taşlarını doğru konuma getir; diğer taşları önemseme.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 alt problemin optimal maliyeti tam problemin maliyetine alt sınırdır.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Pattern database, her alt problem konfigürasyonunun gerçek maliyetini önceden saklar.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Arama sırasında hDB değeri hızlıca tablodan okunur.</a:t>
            </a:r>
            <a:endParaRPr lang="en-US" sz="1670" dirty="0"/>
          </a:p>
          <a:p>
            <a:pPr algn="l" indent="0" marL="0">
              <a:buNone/>
            </a:pPr>
            <a:r>
              <a:rPr lang="en-US" sz="16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Disjoint pattern databases ile çakışmayan maliyetler toplanarak daha güçlü heuristic elde edilebilir.</a:t>
            </a:r>
            <a:endParaRPr lang="en-US" sz="167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Learning heuristics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Deneyimden heuristic öğrenmek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Ajan çok sayıda problem çözerek kalan çözüm maliyetini tahmin etmeyi öğrenebilir.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6400800" cy="4663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Her optimal çözüm, ara durumlar için gerçek kalan maliyet örnekleri sağlar.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Örnek veri: State → hedefe kalan gerçek adım sayısı.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Ham state yerine özellikler kullanılabilir: yanlış yerdeki taş sayısı, yanlış komşuluk sayısı vb.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Basit model: h(n)=c₁x₁(n)+c₂x₂(n).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Ağırlıklar veriye en iyi uyacak şekilde öğrenilir.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Uyarı: öğrenilmiş heuristic h(goal)=0 sağlayabilir ama admissible/consistent olmak zorunda değildir.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38862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2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Öğrenme daha iyi tahmin verebilir,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9B2D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 optimality garantisi ayrı meseledir.</a:t>
            </a:r>
            <a:endParaRPr lang="en-US" sz="3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tekrar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Ünite 3’ün omurgası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Bütün bölüm tek bir büyük akış olarak düşünülebilir.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97280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Aşama  |  Soru  |  Kavramlar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  |  ────────  |  ────────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formulation  |  Neyi çözüyoruz?  |  Initial state, actions, transition model, goal test, path cost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infrastructure  |  Nasıl temsil ediyoruz?  |  Search tree, node, frontier, explored set, queue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Uninformed search  |  Ek bilgi yoksa nasıl ararız?  |  BFS, UCS, DFS, DLS, IDS, bidirectional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Informed search  |  Ek bilgiyle nasıl hızlanırız?  |  h(n), g(n), f(n), Greedy, A*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 design  |  İyi h(n) nasıl bulunur?  |  Admissible, consistency, dominance, relaxed problem, pattern DB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6B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Öğrencinin sınavda en çok kullanacağı üç formül: UCS f=g, Greedy f=h, A* f=g+h.</a:t>
            </a:r>
            <a:endParaRPr lang="en-US" sz="1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644652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Kapanış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Hızlı sınav/derse hazırlık listesi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11247120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0467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86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soruların cevabı biliniyorsa ünite temeli oturmuştur.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10698480" cy="4892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 problemi 5 bileşenle tanımlayabiliyor muyum?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Node ile state farkını açıklayabiliyor muyum?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Frontier ve explored set ne işe yarar?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BFS, UCS ve DFS hangi düğümü seçer?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IDS neden BFS ve DFS’nin avantajlarını birleştirir?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Greedy neden hızlı ama optimal değil?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A* neden f=g+h kullanır?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Admissible ve consistent heuristic farkı nedir?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h₁, h₂, effective branching factor ve dominance ne demektir?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Relaxed problem ve pattern database nasıl heuristic üretir?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Istanbul 29 Mayıs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Ünite 3 - Arama ile Problem Çözme</dc:title>
  <dc:subject>Yapay Zekaya Giriş - Ünite 3</dc:subject>
  <dc:creator>OpenAI</dc:creator>
  <cp:lastModifiedBy>OpenAI</cp:lastModifiedBy>
  <cp:revision>1</cp:revision>
  <dcterms:created xsi:type="dcterms:W3CDTF">2026-09-28T11:34:12Z</dcterms:created>
  <dcterms:modified xsi:type="dcterms:W3CDTF">2026-09-28T11:34:12Z</dcterms:modified>
</cp:coreProperties>
</file>