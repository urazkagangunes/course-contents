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4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6b8377b67418a" /><Relationship Type="http://schemas.openxmlformats.org/officeDocument/2006/relationships/extended-properties" Target="/docProps/app.xml" Id="Rb0c79ef2643b4a52" /><Relationship Type="http://schemas.openxmlformats.org/officeDocument/2006/relationships/officeDocument" Target="/ppt/presentation.xml" Id="R5d97363f2461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f932d81c5411f"/>
  </p:sldMasterIdLst>
  <p:notesMasterIdLst>
    <p:notesMasterId xmlns:r="http://schemas.openxmlformats.org/officeDocument/2006/relationships" r:id="R8f881c59f93e4756"/>
  </p:notesMasterIdLst>
  <p:sldIdLst>
    <p:sldId xmlns:r="http://schemas.openxmlformats.org/officeDocument/2006/relationships" id="256" r:id="Rabe9ba56aeca4260"/>
    <p:sldId xmlns:r="http://schemas.openxmlformats.org/officeDocument/2006/relationships" id="257" r:id="R5cde166f339e4021"/>
    <p:sldId xmlns:r="http://schemas.openxmlformats.org/officeDocument/2006/relationships" id="258" r:id="Rd7b1b9f22ab045bd"/>
    <p:sldId xmlns:r="http://schemas.openxmlformats.org/officeDocument/2006/relationships" id="259" r:id="R8b26f0b588f24934"/>
    <p:sldId xmlns:r="http://schemas.openxmlformats.org/officeDocument/2006/relationships" id="260" r:id="R866aab9375a04912"/>
    <p:sldId xmlns:r="http://schemas.openxmlformats.org/officeDocument/2006/relationships" id="261" r:id="R5f7abf4a85ef4862"/>
    <p:sldId xmlns:r="http://schemas.openxmlformats.org/officeDocument/2006/relationships" id="262" r:id="R53f8f9d610554daa"/>
    <p:sldId xmlns:r="http://schemas.openxmlformats.org/officeDocument/2006/relationships" id="263" r:id="Re764ed71d1bc4cae"/>
    <p:sldId xmlns:r="http://schemas.openxmlformats.org/officeDocument/2006/relationships" id="264" r:id="R63ea9e5d336d46b5"/>
    <p:sldId xmlns:r="http://schemas.openxmlformats.org/officeDocument/2006/relationships" id="265" r:id="Re58b8b96e7dd482b"/>
    <p:sldId xmlns:r="http://schemas.openxmlformats.org/officeDocument/2006/relationships" id="266" r:id="R0a3c3d39e17a4bb3"/>
    <p:sldId xmlns:r="http://schemas.openxmlformats.org/officeDocument/2006/relationships" id="267" r:id="R7b4ff772b4054dde"/>
    <p:sldId xmlns:r="http://schemas.openxmlformats.org/officeDocument/2006/relationships" id="268" r:id="R84c7178681b445bf"/>
    <p:sldId xmlns:r="http://schemas.openxmlformats.org/officeDocument/2006/relationships" id="269" r:id="Rafd05b7b91be4625"/>
    <p:sldId xmlns:r="http://schemas.openxmlformats.org/officeDocument/2006/relationships" id="270" r:id="R0ec486c1ecd04856"/>
    <p:sldId xmlns:r="http://schemas.openxmlformats.org/officeDocument/2006/relationships" id="271" r:id="R20eadd9f6be94260"/>
    <p:sldId xmlns:r="http://schemas.openxmlformats.org/officeDocument/2006/relationships" id="272" r:id="Rcf8dd64d3f5147f2"/>
    <p:sldId xmlns:r="http://schemas.openxmlformats.org/officeDocument/2006/relationships" id="273" r:id="R08ea9891141946de"/>
    <p:sldId xmlns:r="http://schemas.openxmlformats.org/officeDocument/2006/relationships" id="274" r:id="R7bbd5ed69fc7474e"/>
    <p:sldId xmlns:r="http://schemas.openxmlformats.org/officeDocument/2006/relationships" id="275" r:id="Rb8f47ace0b504c2e"/>
    <p:sldId xmlns:r="http://schemas.openxmlformats.org/officeDocument/2006/relationships" id="276" r:id="R0a9cccdb44194ef5"/>
    <p:sldId xmlns:r="http://schemas.openxmlformats.org/officeDocument/2006/relationships" id="277" r:id="R5584299b0b9f4842"/>
    <p:sldId xmlns:r="http://schemas.openxmlformats.org/officeDocument/2006/relationships" id="278" r:id="R469bb8a35ccb4bfd"/>
    <p:sldId xmlns:r="http://schemas.openxmlformats.org/officeDocument/2006/relationships" id="279" r:id="Rc6cdbc9143544083"/>
    <p:sldId xmlns:r="http://schemas.openxmlformats.org/officeDocument/2006/relationships" id="280" r:id="R8d2e047a82844c43"/>
    <p:sldId xmlns:r="http://schemas.openxmlformats.org/officeDocument/2006/relationships" id="281" r:id="Rbed119f979624feb"/>
    <p:sldId xmlns:r="http://schemas.openxmlformats.org/officeDocument/2006/relationships" id="282" r:id="Rbf48e2b1ff3145c7"/>
    <p:sldId xmlns:r="http://schemas.openxmlformats.org/officeDocument/2006/relationships" id="283" r:id="R3b3dee8215624db7"/>
    <p:sldId xmlns:r="http://schemas.openxmlformats.org/officeDocument/2006/relationships" id="284" r:id="R067cfb8f8f2a4779"/>
    <p:sldId xmlns:r="http://schemas.openxmlformats.org/officeDocument/2006/relationships" id="285" r:id="R6787e421df4b42e1"/>
    <p:sldId xmlns:r="http://schemas.openxmlformats.org/officeDocument/2006/relationships" id="286" r:id="R50746b2727994891"/>
    <p:sldId xmlns:r="http://schemas.openxmlformats.org/officeDocument/2006/relationships" id="287" r:id="Rb6b7cfb7df8d4fd6"/>
    <p:sldId xmlns:r="http://schemas.openxmlformats.org/officeDocument/2006/relationships" id="288" r:id="Rd8e4ed755b2d4a60"/>
    <p:sldId xmlns:r="http://schemas.openxmlformats.org/officeDocument/2006/relationships" id="289" r:id="R3d83396a10444e8f"/>
    <p:sldId xmlns:r="http://schemas.openxmlformats.org/officeDocument/2006/relationships" id="290" r:id="R2614a11f75914159"/>
    <p:sldId xmlns:r="http://schemas.openxmlformats.org/officeDocument/2006/relationships" id="291" r:id="R715b24484c5e4c6c"/>
    <p:sldId xmlns:r="http://schemas.openxmlformats.org/officeDocument/2006/relationships" id="292" r:id="Rc0eb92d643be47d6"/>
    <p:sldId xmlns:r="http://schemas.openxmlformats.org/officeDocument/2006/relationships" id="293" r:id="R7f7c6ff5ec7c4df1"/>
    <p:sldId xmlns:r="http://schemas.openxmlformats.org/officeDocument/2006/relationships" id="294" r:id="Rce680c8d430948a6"/>
    <p:sldId xmlns:r="http://schemas.openxmlformats.org/officeDocument/2006/relationships" id="295" r:id="R8a9063bea94a4c25"/>
    <p:sldId xmlns:r="http://schemas.openxmlformats.org/officeDocument/2006/relationships" id="296" r:id="R639d2ffbb8b04c3b"/>
    <p:sldId xmlns:r="http://schemas.openxmlformats.org/officeDocument/2006/relationships" id="297" r:id="Rb877e4ad63294564"/>
    <p:sldId xmlns:r="http://schemas.openxmlformats.org/officeDocument/2006/relationships" id="298" r:id="R08f78e651a604d29"/>
    <p:sldId xmlns:r="http://schemas.openxmlformats.org/officeDocument/2006/relationships" id="299" r:id="Rafd42314562544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3c8d1a50946c9" /><Relationship Type="http://schemas.openxmlformats.org/officeDocument/2006/relationships/slideMaster" Target="/ppt/slideMasters/slideMaster1.xml" Id="Rf16f932d81c5411f" /><Relationship Type="http://schemas.openxmlformats.org/officeDocument/2006/relationships/notesMaster" Target="/ppt/notesMasters/notesMaster1.xml" Id="R8f881c59f93e4756" /><Relationship Type="http://schemas.openxmlformats.org/officeDocument/2006/relationships/presProps" Target="/ppt/presProps.xml" Id="R807d28a58e9d4e33" /><Relationship Type="http://schemas.openxmlformats.org/officeDocument/2006/relationships/tableStyles" Target="/ppt/tableStyles.xml" Id="Rd098d999ced54488" /><Relationship Type="http://schemas.openxmlformats.org/officeDocument/2006/relationships/slide" Target="/ppt/slides/slide1.xml" Id="Rabe9ba56aeca4260" /><Relationship Type="http://schemas.openxmlformats.org/officeDocument/2006/relationships/slide" Target="/ppt/slides/slide2.xml" Id="R5cde166f339e4021" /><Relationship Type="http://schemas.openxmlformats.org/officeDocument/2006/relationships/slide" Target="/ppt/slides/slide3.xml" Id="Rd7b1b9f22ab045bd" /><Relationship Type="http://schemas.openxmlformats.org/officeDocument/2006/relationships/slide" Target="/ppt/slides/slide4.xml" Id="R8b26f0b588f24934" /><Relationship Type="http://schemas.openxmlformats.org/officeDocument/2006/relationships/slide" Target="/ppt/slides/slide5.xml" Id="R866aab9375a04912" /><Relationship Type="http://schemas.openxmlformats.org/officeDocument/2006/relationships/slide" Target="/ppt/slides/slide6.xml" Id="R5f7abf4a85ef4862" /><Relationship Type="http://schemas.openxmlformats.org/officeDocument/2006/relationships/slide" Target="/ppt/slides/slide7.xml" Id="R53f8f9d610554daa" /><Relationship Type="http://schemas.openxmlformats.org/officeDocument/2006/relationships/slide" Target="/ppt/slides/slide8.xml" Id="Re764ed71d1bc4cae" /><Relationship Type="http://schemas.openxmlformats.org/officeDocument/2006/relationships/slide" Target="/ppt/slides/slide9.xml" Id="R63ea9e5d336d46b5" /><Relationship Type="http://schemas.openxmlformats.org/officeDocument/2006/relationships/slide" Target="/ppt/slides/slide10.xml" Id="Re58b8b96e7dd482b" /><Relationship Type="http://schemas.openxmlformats.org/officeDocument/2006/relationships/slide" Target="/ppt/slides/slide11.xml" Id="R0a3c3d39e17a4bb3" /><Relationship Type="http://schemas.openxmlformats.org/officeDocument/2006/relationships/slide" Target="/ppt/slides/slide12.xml" Id="R7b4ff772b4054dde" /><Relationship Type="http://schemas.openxmlformats.org/officeDocument/2006/relationships/slide" Target="/ppt/slides/slide13.xml" Id="R84c7178681b445bf" /><Relationship Type="http://schemas.openxmlformats.org/officeDocument/2006/relationships/slide" Target="/ppt/slides/slide14.xml" Id="Rafd05b7b91be4625" /><Relationship Type="http://schemas.openxmlformats.org/officeDocument/2006/relationships/slide" Target="/ppt/slides/slide15.xml" Id="R0ec486c1ecd04856" /><Relationship Type="http://schemas.openxmlformats.org/officeDocument/2006/relationships/slide" Target="/ppt/slides/slide16.xml" Id="R20eadd9f6be94260" /><Relationship Type="http://schemas.openxmlformats.org/officeDocument/2006/relationships/slide" Target="/ppt/slides/slide17.xml" Id="Rcf8dd64d3f5147f2" /><Relationship Type="http://schemas.openxmlformats.org/officeDocument/2006/relationships/slide" Target="/ppt/slides/slide18.xml" Id="R08ea9891141946de" /><Relationship Type="http://schemas.openxmlformats.org/officeDocument/2006/relationships/slide" Target="/ppt/slides/slide19.xml" Id="R7bbd5ed69fc7474e" /><Relationship Type="http://schemas.openxmlformats.org/officeDocument/2006/relationships/slide" Target="/ppt/slides/slide20.xml" Id="Rb8f47ace0b504c2e" /><Relationship Type="http://schemas.openxmlformats.org/officeDocument/2006/relationships/slide" Target="/ppt/slides/slide21.xml" Id="R0a9cccdb44194ef5" /><Relationship Type="http://schemas.openxmlformats.org/officeDocument/2006/relationships/slide" Target="/ppt/slides/slide22.xml" Id="R5584299b0b9f4842" /><Relationship Type="http://schemas.openxmlformats.org/officeDocument/2006/relationships/slide" Target="/ppt/slides/slide23.xml" Id="R469bb8a35ccb4bfd" /><Relationship Type="http://schemas.openxmlformats.org/officeDocument/2006/relationships/slide" Target="/ppt/slides/slide24.xml" Id="Rc6cdbc9143544083" /><Relationship Type="http://schemas.openxmlformats.org/officeDocument/2006/relationships/slide" Target="/ppt/slides/slide25.xml" Id="R8d2e047a82844c43" /><Relationship Type="http://schemas.openxmlformats.org/officeDocument/2006/relationships/slide" Target="/ppt/slides/slide26.xml" Id="Rbed119f979624feb" /><Relationship Type="http://schemas.openxmlformats.org/officeDocument/2006/relationships/slide" Target="/ppt/slides/slide27.xml" Id="Rbf48e2b1ff3145c7" /><Relationship Type="http://schemas.openxmlformats.org/officeDocument/2006/relationships/slide" Target="/ppt/slides/slide28.xml" Id="R3b3dee8215624db7" /><Relationship Type="http://schemas.openxmlformats.org/officeDocument/2006/relationships/slide" Target="/ppt/slides/slide29.xml" Id="R067cfb8f8f2a4779" /><Relationship Type="http://schemas.openxmlformats.org/officeDocument/2006/relationships/slide" Target="/ppt/slides/slide30.xml" Id="R6787e421df4b42e1" /><Relationship Type="http://schemas.openxmlformats.org/officeDocument/2006/relationships/slide" Target="/ppt/slides/slide31.xml" Id="R50746b2727994891" /><Relationship Type="http://schemas.openxmlformats.org/officeDocument/2006/relationships/slide" Target="/ppt/slides/slide32.xml" Id="Rb6b7cfb7df8d4fd6" /><Relationship Type="http://schemas.openxmlformats.org/officeDocument/2006/relationships/slide" Target="/ppt/slides/slide33.xml" Id="Rd8e4ed755b2d4a60" /><Relationship Type="http://schemas.openxmlformats.org/officeDocument/2006/relationships/slide" Target="/ppt/slides/slide34.xml" Id="R3d83396a10444e8f" /><Relationship Type="http://schemas.openxmlformats.org/officeDocument/2006/relationships/slide" Target="/ppt/slides/slide35.xml" Id="R2614a11f75914159" /><Relationship Type="http://schemas.openxmlformats.org/officeDocument/2006/relationships/slide" Target="/ppt/slides/slide36.xml" Id="R715b24484c5e4c6c" /><Relationship Type="http://schemas.openxmlformats.org/officeDocument/2006/relationships/slide" Target="/ppt/slides/slide37.xml" Id="Rc0eb92d643be47d6" /><Relationship Type="http://schemas.openxmlformats.org/officeDocument/2006/relationships/slide" Target="/ppt/slides/slide38.xml" Id="R7f7c6ff5ec7c4df1" /><Relationship Type="http://schemas.openxmlformats.org/officeDocument/2006/relationships/slide" Target="/ppt/slides/slide39.xml" Id="Rce680c8d430948a6" /><Relationship Type="http://schemas.openxmlformats.org/officeDocument/2006/relationships/slide" Target="/ppt/slides/slide40.xml" Id="R8a9063bea94a4c25" /><Relationship Type="http://schemas.openxmlformats.org/officeDocument/2006/relationships/slide" Target="/ppt/slides/slide41.xml" Id="R639d2ffbb8b04c3b" /><Relationship Type="http://schemas.openxmlformats.org/officeDocument/2006/relationships/slide" Target="/ppt/slides/slide42.xml" Id="Rb877e4ad63294564" /><Relationship Type="http://schemas.openxmlformats.org/officeDocument/2006/relationships/slide" Target="/ppt/slides/slide43.xml" Id="R08f78e651a604d29" /><Relationship Type="http://schemas.openxmlformats.org/officeDocument/2006/relationships/slide" Target="/ppt/slides/slide44.xml" Id="Rafd423145625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57e804659c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b9b9f19c5348ad" /><Relationship Type="http://schemas.openxmlformats.org/officeDocument/2006/relationships/notesMaster" Target="/ppt/notesMasters/notesMaster1.xml" Id="R41d78c661b48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e366dbc524667" /><Relationship Type="http://schemas.openxmlformats.org/officeDocument/2006/relationships/notesMaster" Target="/ppt/notesMasters/notesMaster1.xml" Id="Ra05026f309fe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70df5d96a42a5" /><Relationship Type="http://schemas.openxmlformats.org/officeDocument/2006/relationships/notesMaster" Target="/ppt/notesMasters/notesMaster1.xml" Id="R86bd3b34c41840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bc94600dd1402a" /><Relationship Type="http://schemas.openxmlformats.org/officeDocument/2006/relationships/notesMaster" Target="/ppt/notesMasters/notesMaster1.xml" Id="R386035913e2f4c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33acac8a4d465e" /><Relationship Type="http://schemas.openxmlformats.org/officeDocument/2006/relationships/notesMaster" Target="/ppt/notesMasters/notesMaster1.xml" Id="Rbc4ac04f96fe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d287630e94417" /><Relationship Type="http://schemas.openxmlformats.org/officeDocument/2006/relationships/notesMaster" Target="/ppt/notesMasters/notesMaster1.xml" Id="R8c4c173f9b72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5f7d60b14c4b40" /><Relationship Type="http://schemas.openxmlformats.org/officeDocument/2006/relationships/notesMaster" Target="/ppt/notesMasters/notesMaster1.xml" Id="R8a707b5e5b3444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7e8b170464a56" /><Relationship Type="http://schemas.openxmlformats.org/officeDocument/2006/relationships/notesMaster" Target="/ppt/notesMasters/notesMaster1.xml" Id="R6bb7c211798e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36bb22e2874466" /><Relationship Type="http://schemas.openxmlformats.org/officeDocument/2006/relationships/notesMaster" Target="/ppt/notesMasters/notesMaster1.xml" Id="Ra050384b013643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722f410ccb4d79" /><Relationship Type="http://schemas.openxmlformats.org/officeDocument/2006/relationships/notesMaster" Target="/ppt/notesMasters/notesMaster1.xml" Id="R8e34f373f69c48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8311738caf446d" /><Relationship Type="http://schemas.openxmlformats.org/officeDocument/2006/relationships/notesMaster" Target="/ppt/notesMasters/notesMaster1.xml" Id="R604168bcad944d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67048889fc424e" /><Relationship Type="http://schemas.openxmlformats.org/officeDocument/2006/relationships/notesMaster" Target="/ppt/notesMasters/notesMaster1.xml" Id="R5a6af8c158da49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a3db8334d04521" /><Relationship Type="http://schemas.openxmlformats.org/officeDocument/2006/relationships/notesMaster" Target="/ppt/notesMasters/notesMaster1.xml" Id="R2aabefa9404944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4ca91d2e7148ce" /><Relationship Type="http://schemas.openxmlformats.org/officeDocument/2006/relationships/notesMaster" Target="/ppt/notesMasters/notesMaster1.xml" Id="R7c4640e54f4142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204fad4c1347fc" /><Relationship Type="http://schemas.openxmlformats.org/officeDocument/2006/relationships/notesMaster" Target="/ppt/notesMasters/notesMaster1.xml" Id="R0ce10f69a84b45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3983b8214c4149" /><Relationship Type="http://schemas.openxmlformats.org/officeDocument/2006/relationships/notesMaster" Target="/ppt/notesMasters/notesMaster1.xml" Id="R3d6a8bb2d8e84a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2dab43ec134b32" /><Relationship Type="http://schemas.openxmlformats.org/officeDocument/2006/relationships/notesMaster" Target="/ppt/notesMasters/notesMaster1.xml" Id="Rdef44473a99b40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68e6463d8c492c" /><Relationship Type="http://schemas.openxmlformats.org/officeDocument/2006/relationships/notesMaster" Target="/ppt/notesMasters/notesMaster1.xml" Id="R218f5e3d400945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5138cf234d541b5" /><Relationship Type="http://schemas.openxmlformats.org/officeDocument/2006/relationships/notesMaster" Target="/ppt/notesMasters/notesMaster1.xml" Id="R45cb2571435e45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c0caeffd914f6c" /><Relationship Type="http://schemas.openxmlformats.org/officeDocument/2006/relationships/notesMaster" Target="/ppt/notesMasters/notesMaster1.xml" Id="R35ca9d85b3374c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8ecf35cb544275" /><Relationship Type="http://schemas.openxmlformats.org/officeDocument/2006/relationships/notesMaster" Target="/ppt/notesMasters/notesMaster1.xml" Id="Raa775cbbef4a4a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6bc414979649ce" /><Relationship Type="http://schemas.openxmlformats.org/officeDocument/2006/relationships/notesMaster" Target="/ppt/notesMasters/notesMaster1.xml" Id="Ra211190a63a143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11c93386704b69" /><Relationship Type="http://schemas.openxmlformats.org/officeDocument/2006/relationships/notesMaster" Target="/ppt/notesMasters/notesMaster1.xml" Id="Rffa18024c7254b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7a446b2dfd426b" /><Relationship Type="http://schemas.openxmlformats.org/officeDocument/2006/relationships/notesMaster" Target="/ppt/notesMasters/notesMaster1.xml" Id="R4c2df042fab04e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8a327fd0944d40" /><Relationship Type="http://schemas.openxmlformats.org/officeDocument/2006/relationships/notesMaster" Target="/ppt/notesMasters/notesMaster1.xml" Id="Rcdd2c761fda547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fcc68be7c04da8" /><Relationship Type="http://schemas.openxmlformats.org/officeDocument/2006/relationships/notesMaster" Target="/ppt/notesMasters/notesMaster1.xml" Id="R4a726fdbdeb147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6ecfd715e2425d" /><Relationship Type="http://schemas.openxmlformats.org/officeDocument/2006/relationships/notesMaster" Target="/ppt/notesMasters/notesMaster1.xml" Id="Rb1b5669bf78b45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0aeefef04c4805" /><Relationship Type="http://schemas.openxmlformats.org/officeDocument/2006/relationships/notesMaster" Target="/ppt/notesMasters/notesMaster1.xml" Id="Redbb2925f02e49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5f46119500449b6" /><Relationship Type="http://schemas.openxmlformats.org/officeDocument/2006/relationships/notesMaster" Target="/ppt/notesMasters/notesMaster1.xml" Id="R0fbbdb640eac4e4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9001527b3e4a95" /><Relationship Type="http://schemas.openxmlformats.org/officeDocument/2006/relationships/notesMaster" Target="/ppt/notesMasters/notesMaster1.xml" Id="Rbf34efaca02d45b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ab76cdd36242ee" /><Relationship Type="http://schemas.openxmlformats.org/officeDocument/2006/relationships/notesMaster" Target="/ppt/notesMasters/notesMaster1.xml" Id="R30ba770abeac4e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154ab97290455c" /><Relationship Type="http://schemas.openxmlformats.org/officeDocument/2006/relationships/notesMaster" Target="/ppt/notesMasters/notesMaster1.xml" Id="Rf0062b8b616a4f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b841ffb39a34d2e" /><Relationship Type="http://schemas.openxmlformats.org/officeDocument/2006/relationships/notesMaster" Target="/ppt/notesMasters/notesMaster1.xml" Id="R1726d718dc06473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dee9f6bc3e4c14" /><Relationship Type="http://schemas.openxmlformats.org/officeDocument/2006/relationships/notesMaster" Target="/ppt/notesMasters/notesMaster1.xml" Id="R3ddd119f41354f9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11e27a875494336" /><Relationship Type="http://schemas.openxmlformats.org/officeDocument/2006/relationships/notesMaster" Target="/ppt/notesMasters/notesMaster1.xml" Id="R5d0c910356bd430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be34c841884ec3" /><Relationship Type="http://schemas.openxmlformats.org/officeDocument/2006/relationships/notesMaster" Target="/ppt/notesMasters/notesMaster1.xml" Id="R2b252c4cb51e4a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e6262925044508" /><Relationship Type="http://schemas.openxmlformats.org/officeDocument/2006/relationships/notesMaster" Target="/ppt/notesMasters/notesMaster1.xml" Id="R2b9f76de85d44e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179c393775142d6" /><Relationship Type="http://schemas.openxmlformats.org/officeDocument/2006/relationships/notesMaster" Target="/ppt/notesMasters/notesMaster1.xml" Id="Raf240a249aff41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4b97bafd3d40be" /><Relationship Type="http://schemas.openxmlformats.org/officeDocument/2006/relationships/notesMaster" Target="/ppt/notesMasters/notesMaster1.xml" Id="Raeafe5f620ab4f9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695441d40484ea9" /><Relationship Type="http://schemas.openxmlformats.org/officeDocument/2006/relationships/notesMaster" Target="/ppt/notesMasters/notesMaster1.xml" Id="R7578bee479b242b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6d52adbff554abd" /><Relationship Type="http://schemas.openxmlformats.org/officeDocument/2006/relationships/notesMaster" Target="/ppt/notesMasters/notesMaster1.xml" Id="R1b65d075543048e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fa0deb6a4345e4" /><Relationship Type="http://schemas.openxmlformats.org/officeDocument/2006/relationships/notesMaster" Target="/ppt/notesMasters/notesMaster1.xml" Id="R7f6b0b67bbb9412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a1e65c21d1f460c" /><Relationship Type="http://schemas.openxmlformats.org/officeDocument/2006/relationships/notesMaster" Target="/ppt/notesMasters/notesMaster1.xml" Id="Rf110f29e58074e2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77be1fe3a864d7c" /><Relationship Type="http://schemas.openxmlformats.org/officeDocument/2006/relationships/notesMaster" Target="/ppt/notesMasters/notesMaster1.xml" Id="R9def60b7fe4640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Kapak. Dersin odağını veriden öğrenme fikri ve temel öğrenme türleri olarak çerçeveleyin.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Öğrencilere bölüm sonunda bir problemi uygun öğrenme türüne yerleştirebilmeleri ve temel terimleri doğru kullanabilmeleri gerektiğini söyleyin.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Kitap, üretici ve tüketici olarak aynı anda veriyle ilişkili olduğumuzu vurgular. Perakende örneğinde amaç müşterinin hangi ürünü alacağını öngörmektir.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https://www.hostingplus.pe/blog/ventajas-de-tener-un-data-center-propio/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Algoritmayı, girdiyi çıktıya dönüştüren komut dizisi olarak tanımlayın. Sıralamada kuralı yazarız. Spam görevinde ise hangi özelliklerin önemli olduğunu örneklerden öğreniriz.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 süreci tanımlayamasak bile yararlı bir yaklaşım kurabiliriz. Geçmişteki örüntülerin yakın gelecekte de sürmesi, tahmin yapılabilmesinin temel varsayımıdır.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Tanımı kelimesi kelimesine ezberletmek yerine üç parçaya ayırın: veri/deneyim, model parametreleri ve performans ölçütü. Öğrenme, parametrelerin hedefe göre eniyilenmesidir.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Kitap modelin predictive, descriptive veya her ikisi olabileceğini söyler. Sınıflandırma çoğunlukla tahmin, kümeleme çoğunlukla betimleme amacı taşır.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İstatistik örneklemden model kurmayı sağlar. Bilgisayar bilimi hem eğitimin eniyileme ve veri işleme tarafını hem de öğrenilen modelin verimli temsilini üstlenir.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madenciliği büyük veri tabanlarına makine öğrenmesi uygulamasıdır. Makine öğrenmesi aynı zamanda yapay zekânın uyum sağlama bileşenidir.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2-3.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tablo bölümün ana haritasıdır. Sonraki slaytlarda her yaklaşımın girdisini, çıktısını ve örneğini ayrı ayrı açacağız.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4-14.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Birliktelik kuralı, ürünlerin birlikte görülme düzenini öğrenir. Bir müşteri X'i aldı ama Y'yi almadıysa, Y için potansiyel müşteridir.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https://unsplash.com/photos/a-supermarkets-interior-displays-food-on-shelves-B3TRNiKVxeo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Association rule terimini ve P(Y|X) gösterimini açıkça tanımlayın. D eklenmesi, farklı müşteri profilleri için farklı olasılıkların modellenmesini sağlar.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Kredi skorlama örneğinde iki sınıf vardır: low-risk ve high-risk. Girdi müşteri özellikleri, çıktı sınıf etiketidir. Model geçmiş kredilerden genel bir kural çıkarır.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θ1 ve θ2 eşiklerini açıklayın. Discriminant, sınıfları ayıran fonksiyondur. Grafik kitaptaki Şekil 1.1'in öğretim amaçlı yeniden kurulmuş bir yorumudur.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5-6.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Sınıflandırma 0/1 kararı yerine P(Y|X) üretebilir. Nihai karar, olası kazanç ve kayıplara göre verilir. Spam alıştırmasındaki false positive ve false negative tartışmasına bağlayın.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6, 18-19.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 recognition, mühendislikte sınıflandırma problemlerinin yaygın adıdır. OCR çok sınıflı bir problemdir. Bölüm sonu alıştırmasındaki tek bitmap şablonunun neden başarısız olacağını sorun.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https://unsplash.com/photos/6FpGIdn45_A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6-7,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Kitabın t?e örneğini kullanın. Sequence learning, ardışık girdiler arasındaki bağımlılıkları öğrenir. Aynı fikir konuşma tanıma ve dil modelinde yeniden karşımıza çıkar.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Yüz tanıma OCR'dan daha zordur: sınıf sayısı daha fazla, görüntü daha büyük ve yüz üç boyutludur. Bölüm sonu alıştırmasındaki merkezleme ve ölçek normalizasyonuna bağlayın.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https://unsplash.com/photos/xOjzehJ49Hk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7,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Reject option terimini özellikle vurgulayın. Yüksek riskli alanlarda modelin belirsizlik durumunda insan uzmana yönlendirmesi önemli bir tasarım seçeneğidir.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Biometrics, fizyolojik ve davranışsal özelliklerle kimlik tanıma veya doğrulamadır. Birden çok modality kullanmak spoofing'i zorlaştırabilir.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https://unsplash.com/photos/a-record-player-with-a-record-L6QNhPbyOKA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7-8.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Outlier detection tipik örneklerin dışında kalan durumları bulur. Novelty detection adı, istisnanın hata yerine daha önce görülmemiş geçerli bir durum olabileceğini vurgular.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Regression, çıktının sayı olduğu problemdir. Grafik kitaptaki Şekil 1.2'yi öğretim amacıyla yeniden kurar. Basitlik için tek özellik olarak kilometre kullanılır.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9-10.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ve regression supervised learning problemidir. Her ikisinde de doğru çıktı bir supervisor tarafından sağlanır ve amaç x'ten y'ye eşlemeyi öğrenmektir.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9-10.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Kitap lineer model yetersizse ikinci derece veya daha yüksek dereceli polinomlar kullanılabileceğini belirtir. Parametreler eğitim verisine en iyi uyum için optimize edilir.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 robotta çıktının direksiyon açısı olması regresyon örneğidir. Kahve kavurma örneği response surface design olarak adlandırılır. Recommendation sisteminde mutlak puan yerine göreli sıralama öğrenilebilir.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10-11.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Unsupervised learning yalnızca girdilere sahiptir. Girdi uzayında bazı örüntüler diğerlerinden daha sık oluşur. İstatistikte bu problem density estimation olarak adlandırılır.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Clustering, yoğunluk tahmininin yaygın bir yöntemidir. Customer segmentation doğal müşteri gruplarını bulur. Gruplar CRM stratejilerine temel olabilir; aykırılar pazar nişine işaret edebilir.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11-12.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bit görüntü 16 milyon rengi temsil eder. Görüntüde 64 ana renk varsa piksel başına 6 bit yeterli olabilir. Daha yüksek düzeyde doku ve nesne örüntülerini kullanmak daha iyi sıkıştırma sağlayabilir.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Bag of words yaklaşımını ikili vektörle açıklayın. Bölüm İngilizce için -s ve -ing eklerini örnek verir; stopword olarak of ve and gibi sözcükleri çıkarır. Sözlük seçimi kritiktir.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Kümeleme, proteinlerde tekrar eden motiflerin öğrenilmesinde kullanılabilir. Alignment uzun dizileri karşılaştırır ve ekleme, silme, değiştirme hatalarını ele alır.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kaynağı: https://www.universite-paris-saclay.fr/en/objets-interdisciplinaires/living-machines-work-interdisciplinary-object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12-13.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Reinforcement learning'de çıktı bir eylem dizisidir. Tek bir ara durum için bağlamdan bağımsız 'en iyi' eylem olmayabilir. Politikanın bütün olarak ne kadar iyi olduğu önemlidir.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Oyunlar kolay tanımlanır fakat iyi oynamak zordur. Robot hedefe en kısa sürede ve engellere çarpmadan ulaşacak eylem dizisini öğrenir.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Görsel kaynakları: https://unsplash.com/photos/_GF3sgGkSB0 ve https://www.bdr.riken.jp/en/research/labs/index.html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13-14.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Partially observable state kavramını vurgulayın. Çok ajanlı sistemlerde ortak hedef, koordinasyon ve belirsizlik aynı anda ele alınır.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biyolojik öğrenmeyi motivasyon olarak kullanır, fakat makine öğrenmesini psikoloji, bilişsel bilim veya sinirbilimle özdeşleştirmez. Alan mühendislik amacı taşır.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Induction belirli durumlardan genel kurala ulaşmadır. Kitap istatistikte öğrenmenin estimation, sınıflandırmanın discriminant analysis olarak adlandırıldığını belirtir.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14-15.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Aynı veya benzer algoritmalar farklı alanlarda bağımsız biçimde gelişmiştir. Kitabın amacı bu vurguları ortak bir çerçevede birleştirmektir.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15-16.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HMM'nin speech recognition tarihindeki önemini, neural networks'ün paralel işlem fikrini ve kernel functions'ın expert knowledge aktarma rolünü açıklayın. Sabit mimarili MLP'nin modern terminolojide parametrik sayılabileceğini ek not olarak belirtin.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15-16.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models gözlenen veriyi hidden factors üzerinden açıklar. Graphical models etkileşimleri gösterir. Bayesian formalism prior bilgiyi yeni veriyle birleştirip posterior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Kitabın yorumunu tarihsel bağlamıyla verin. İddia, algoritmaların önemsiz olduğu değil; veri ve hesaplamanın mevcut yöntemlerin ölçeklenmesini mümkün kıldığıdır. Deep learning başarıları 2014 bağlamında örnek gösterilir.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Bölüm, sabit repository veri kümelerinin gerçek verinin bütün özelliklerini temsil etmeyebileceğini söyler. En iyi karşılaştırma, belirli bir uygulama için toplanmış bir veya birkaç büyük veri kümesi üzerinde yapılır.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17-18.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Terimleri öğrencilerle hızlı tekrar için kullanın. İngilizce terimlerin makale ve kütüphane taramalarında karşılarına çıkacağını hatırlatın.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görevler bölüm sonundaki 1, 3, 4, 5, 7 ve 9 numaralı alıştırmalardan uyarlanmıştır. Sunum sırasında tümünü çözmek yerine gruplara paylaştırın.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18-20.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Cevap kutularını sunumdan önce animasyonla veya beyaz bir şekille kapatabilirsiniz. Cevaplar: regresyon, clustering, conditional probability, policy, induction.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Son mesaj: öğrenme türleri farklı sorulara yanıt verir, fakat hepsi veriden düzenlilik çıkarma fikrinde birleşir. Bir sonraki derse geçerken öğrencilerden kendi alanlarından birer örnek istemek iyi bir kapanış sağlar.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Ethem Alpaydın, Introduction to Machine Learning, MIT Press, 2014, Bölüm 1, s. 1-20.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ecbe38e86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46908b546495c" /><Relationship Type="http://schemas.openxmlformats.org/officeDocument/2006/relationships/slideLayout" Target="/ppt/slideLayouts/slideLayout1.xml" Id="Re717167ca884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7167ca884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2a18b68e478a" /><Relationship Type="http://schemas.openxmlformats.org/officeDocument/2006/relationships/notesSlide" Target="/ppt/notesSlides/notesSlide1.xml" Id="R205241119520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58f7f4637481c" /><Relationship Type="http://schemas.openxmlformats.org/officeDocument/2006/relationships/notesSlide" Target="/ppt/notesSlides/notesSlide2.xml" Id="R5bbee5d0141b4e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47696509d4806" /><Relationship Type="http://schemas.openxmlformats.org/officeDocument/2006/relationships/image" Target="/ppt/media/image.jpeg" Id="R5c38696fb01d4070" /><Relationship Type="http://schemas.openxmlformats.org/officeDocument/2006/relationships/notesSlide" Target="/ppt/notesSlides/notesSlide3.xml" Id="Re1821a45595b43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2099580c846af" /><Relationship Type="http://schemas.openxmlformats.org/officeDocument/2006/relationships/notesSlide" Target="/ppt/notesSlides/notesSlide4.xml" Id="Rebf60d57554e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70b7ea8cb46b7" /><Relationship Type="http://schemas.openxmlformats.org/officeDocument/2006/relationships/notesSlide" Target="/ppt/notesSlides/notesSlide5.xml" Id="R9650134c294744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1a9d9bad9496f" /><Relationship Type="http://schemas.openxmlformats.org/officeDocument/2006/relationships/notesSlide" Target="/ppt/notesSlides/notesSlide6.xml" Id="R7e12b543e01544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752a1c1c04edb" /><Relationship Type="http://schemas.openxmlformats.org/officeDocument/2006/relationships/notesSlide" Target="/ppt/notesSlides/notesSlide7.xml" Id="R46d5a8a334f84c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ff97e04e1405f" /><Relationship Type="http://schemas.openxmlformats.org/officeDocument/2006/relationships/notesSlide" Target="/ppt/notesSlides/notesSlide8.xml" Id="R36ed3e0194a842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36bdffd64c5a" /><Relationship Type="http://schemas.openxmlformats.org/officeDocument/2006/relationships/notesSlide" Target="/ppt/notesSlides/notesSlide9.xml" Id="R1bb6cd18a96e43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8a00eb6874385" /><Relationship Type="http://schemas.openxmlformats.org/officeDocument/2006/relationships/notesSlide" Target="/ppt/notesSlides/notesSlide10.xml" Id="Rde9f3378e5d34e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2bf9c83ab4f0f" /><Relationship Type="http://schemas.openxmlformats.org/officeDocument/2006/relationships/image" Target="/ppt/media/image2.jpeg" Id="R508edf48a6dd4e00" /><Relationship Type="http://schemas.openxmlformats.org/officeDocument/2006/relationships/notesSlide" Target="/ppt/notesSlides/notesSlide11.xml" Id="R037980bba02240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d010cafc14d0b" /><Relationship Type="http://schemas.openxmlformats.org/officeDocument/2006/relationships/notesSlide" Target="/ppt/notesSlides/notesSlide12.xml" Id="R7f178740e75946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83df7b474a4a" /><Relationship Type="http://schemas.openxmlformats.org/officeDocument/2006/relationships/notesSlide" Target="/ppt/notesSlides/notesSlide13.xml" Id="R0278a437b92841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0121a07534782" /><Relationship Type="http://schemas.openxmlformats.org/officeDocument/2006/relationships/chart" Target="/ppt/slides/charts/chart1.xml" Id="Ra3b32ce15e4e4a21" /><Relationship Type="http://schemas.openxmlformats.org/officeDocument/2006/relationships/notesSlide" Target="/ppt/notesSlides/notesSlide14.xml" Id="Rbc3d6274c44244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89c2604b4728" /><Relationship Type="http://schemas.openxmlformats.org/officeDocument/2006/relationships/notesSlide" Target="/ppt/notesSlides/notesSlide15.xml" Id="R0656cb531a2246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f70ea1413468f" /><Relationship Type="http://schemas.openxmlformats.org/officeDocument/2006/relationships/image" Target="/ppt/media/image3.jpeg" Id="R5655f34f15334d66" /><Relationship Type="http://schemas.openxmlformats.org/officeDocument/2006/relationships/notesSlide" Target="/ppt/notesSlides/notesSlide16.xml" Id="R5a7ca189087644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46d78afd340fd" /><Relationship Type="http://schemas.openxmlformats.org/officeDocument/2006/relationships/notesSlide" Target="/ppt/notesSlides/notesSlide17.xml" Id="Rb32be04eb31849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4deaecb9f4241" /><Relationship Type="http://schemas.openxmlformats.org/officeDocument/2006/relationships/image" Target="/ppt/media/image4.jpeg" Id="R5cca95f82b7f48f2" /><Relationship Type="http://schemas.openxmlformats.org/officeDocument/2006/relationships/notesSlide" Target="/ppt/notesSlides/notesSlide18.xml" Id="R09c98d55a1914f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0143db7c04c71" /><Relationship Type="http://schemas.openxmlformats.org/officeDocument/2006/relationships/notesSlide" Target="/ppt/notesSlides/notesSlide19.xml" Id="R4f54dd5e9bd04b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17e8e7a4f4ab1" /><Relationship Type="http://schemas.openxmlformats.org/officeDocument/2006/relationships/image" Target="/ppt/media/image5.jpeg" Id="R14c85131fc7e4f42" /><Relationship Type="http://schemas.openxmlformats.org/officeDocument/2006/relationships/notesSlide" Target="/ppt/notesSlides/notesSlide20.xml" Id="Ra145821d88f347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aa8b786b94578" /><Relationship Type="http://schemas.openxmlformats.org/officeDocument/2006/relationships/notesSlide" Target="/ppt/notesSlides/notesSlide21.xml" Id="Rdcddd25278c346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e3cccff4e49ba" /><Relationship Type="http://schemas.openxmlformats.org/officeDocument/2006/relationships/chart" Target="/ppt/slides/charts/chart2.xml" Id="Rb969cd9d98a040a5" /><Relationship Type="http://schemas.openxmlformats.org/officeDocument/2006/relationships/notesSlide" Target="/ppt/notesSlides/notesSlide22.xml" Id="Rf25c5434c1c541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b4b856a844d7" /><Relationship Type="http://schemas.openxmlformats.org/officeDocument/2006/relationships/notesSlide" Target="/ppt/notesSlides/notesSlide23.xml" Id="R46d3c951e32546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1a80946e64054" /><Relationship Type="http://schemas.openxmlformats.org/officeDocument/2006/relationships/chart" Target="/ppt/slides/charts/chart3.xml" Id="Rbe719e893c9941fb" /><Relationship Type="http://schemas.openxmlformats.org/officeDocument/2006/relationships/notesSlide" Target="/ppt/notesSlides/notesSlide24.xml" Id="Ra0af0bb528d144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dfb4de8548c3" /><Relationship Type="http://schemas.openxmlformats.org/officeDocument/2006/relationships/notesSlide" Target="/ppt/notesSlides/notesSlide25.xml" Id="R760935dc0e204a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1ebe4041471f" /><Relationship Type="http://schemas.openxmlformats.org/officeDocument/2006/relationships/notesSlide" Target="/ppt/notesSlides/notesSlide26.xml" Id="Rf0970019989a4a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2568701ae42f8" /><Relationship Type="http://schemas.openxmlformats.org/officeDocument/2006/relationships/chart" Target="/ppt/slides/charts/chart4.xml" Id="R89476ba9aedd4fd7" /><Relationship Type="http://schemas.openxmlformats.org/officeDocument/2006/relationships/notesSlide" Target="/ppt/notesSlides/notesSlide27.xml" Id="Rbb862c77256240b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c88453134f52" /><Relationship Type="http://schemas.openxmlformats.org/officeDocument/2006/relationships/notesSlide" Target="/ppt/notesSlides/notesSlide28.xml" Id="Rde2a9368e7444f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5a93049bd4e55" /><Relationship Type="http://schemas.openxmlformats.org/officeDocument/2006/relationships/notesSlide" Target="/ppt/notesSlides/notesSlide29.xml" Id="Rbe762c5b75d3488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2626324b448c9" /><Relationship Type="http://schemas.openxmlformats.org/officeDocument/2006/relationships/image" Target="/ppt/media/image6.jpeg" Id="R26dd15240e9046ec" /><Relationship Type="http://schemas.openxmlformats.org/officeDocument/2006/relationships/notesSlide" Target="/ppt/notesSlides/notesSlide30.xml" Id="Rfa7630198463481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98f77a4a4af2" /><Relationship Type="http://schemas.openxmlformats.org/officeDocument/2006/relationships/notesSlide" Target="/ppt/notesSlides/notesSlide31.xml" Id="Re2f34ee4dd2740b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3fc1197984b27" /><Relationship Type="http://schemas.openxmlformats.org/officeDocument/2006/relationships/image" Target="/ppt/media/image7.jpeg" Id="Rd99df68aeaed4a83" /><Relationship Type="http://schemas.openxmlformats.org/officeDocument/2006/relationships/image" Target="/ppt/media/image8.jpeg" Id="Rf10723a92bbc48e6" /><Relationship Type="http://schemas.openxmlformats.org/officeDocument/2006/relationships/notesSlide" Target="/ppt/notesSlides/notesSlide32.xml" Id="Rbb3384d9d99f4d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5f26ca0047ad" /><Relationship Type="http://schemas.openxmlformats.org/officeDocument/2006/relationships/notesSlide" Target="/ppt/notesSlides/notesSlide33.xml" Id="R3f4e0880ab2446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63daa40e24f55" /><Relationship Type="http://schemas.openxmlformats.org/officeDocument/2006/relationships/notesSlide" Target="/ppt/notesSlides/notesSlide34.xml" Id="R16ab768748a342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86f25932f459e" /><Relationship Type="http://schemas.openxmlformats.org/officeDocument/2006/relationships/notesSlide" Target="/ppt/notesSlides/notesSlide35.xml" Id="Rc1d72ecea441476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ca0b29dcb499c" /><Relationship Type="http://schemas.openxmlformats.org/officeDocument/2006/relationships/notesSlide" Target="/ppt/notesSlides/notesSlide36.xml" Id="R96a42863b7ff46d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f506acfa54bd7" /><Relationship Type="http://schemas.openxmlformats.org/officeDocument/2006/relationships/notesSlide" Target="/ppt/notesSlides/notesSlide37.xml" Id="R504cb827aa7c45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aa6580bf449f" /><Relationship Type="http://schemas.openxmlformats.org/officeDocument/2006/relationships/notesSlide" Target="/ppt/notesSlides/notesSlide38.xml" Id="R89aa5f0f59d744a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8d49932864025" /><Relationship Type="http://schemas.openxmlformats.org/officeDocument/2006/relationships/notesSlide" Target="/ppt/notesSlides/notesSlide39.xml" Id="Rf6f8f78c29884e1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e777b258c4bdd" /><Relationship Type="http://schemas.openxmlformats.org/officeDocument/2006/relationships/notesSlide" Target="/ppt/notesSlides/notesSlide40.xml" Id="Raabc32e458c14c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1ca894a94577" /><Relationship Type="http://schemas.openxmlformats.org/officeDocument/2006/relationships/notesSlide" Target="/ppt/notesSlides/notesSlide41.xml" Id="R02705b2c7a004bb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ae79797fc47c2" /><Relationship Type="http://schemas.openxmlformats.org/officeDocument/2006/relationships/notesSlide" Target="/ppt/notesSlides/notesSlide42.xml" Id="R53b11dd4aebd408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1743c7fdf4e2f" /><Relationship Type="http://schemas.openxmlformats.org/officeDocument/2006/relationships/notesSlide" Target="/ppt/notesSlides/notesSlide43.xml" Id="R4d38dac5522741b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2a2d86fce44ae" /><Relationship Type="http://schemas.openxmlformats.org/officeDocument/2006/relationships/notesSlide" Target="/ppt/notesSlides/notesSlide44.xml" Id="Rd9768c283a9b445f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Düşük risk</c:v>
          </c:tx>
          <c:spPr>
            <a:solidFill xmlns:a="http://schemas.openxmlformats.org/drawingml/2006/main">
              <a:srgbClr val="37A56A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6"/>
              <c:pt idx="0">
                <c:v>6.2</c:v>
              </c:pt>
              <c:pt idx="1">
                <c:v>7.1</c:v>
              </c:pt>
              <c:pt idx="2">
                <c:v>8</c:v>
              </c:pt>
              <c:pt idx="3">
                <c:v>8.7</c:v>
              </c:pt>
              <c:pt idx="4">
                <c:v>9.4</c:v>
              </c:pt>
              <c:pt idx="5">
                <c:v>7.8</c:v>
              </c:pt>
            </c:numLit>
          </c:xVal>
          <c:yVal>
            <c:numLit>
              <c:formatCode>General</c:formatCode>
              <c:ptCount val="6"/>
              <c:pt idx="0">
                <c:v>6</c:v>
              </c:pt>
              <c:pt idx="1">
                <c:v>6.8</c:v>
              </c:pt>
              <c:pt idx="2">
                <c:v>5.8</c:v>
              </c:pt>
              <c:pt idx="3">
                <c:v>7.4</c:v>
              </c:pt>
              <c:pt idx="4">
                <c:v>6.5</c:v>
              </c:pt>
              <c:pt idx="5">
                <c:v>8.2</c:v>
              </c:pt>
            </c:numLit>
          </c:yVal>
        </c:ser>
        <c:ser>
          <c:idx val="1"/>
          <c:order val="1"/>
          <c:tx>
            <c:v>Yüksek risk</c:v>
          </c:tx>
          <c:spPr>
            <a:solidFill xmlns:a="http://schemas.openxmlformats.org/drawingml/2006/main">
              <a:srgbClr val="F05D5E"/>
            </a:solidFill>
            <a:ln xmlns:a="http://schemas.openxmlformats.org/drawingml/2006/main" w="0">
              <a:noFill/>
            </a:ln>
          </c:spPr>
          <c:marker>
            <c:symbol val="x"/>
            <c:size val="10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6"/>
              <c:pt idx="0">
                <c:v>1.5</c:v>
              </c:pt>
              <c:pt idx="1">
                <c:v>2.4</c:v>
              </c:pt>
              <c:pt idx="2">
                <c:v>3.1</c:v>
              </c:pt>
              <c:pt idx="3">
                <c:v>4.2</c:v>
              </c:pt>
              <c:pt idx="4">
                <c:v>5</c:v>
              </c:pt>
              <c:pt idx="5">
                <c:v>3.8</c:v>
              </c:pt>
            </c:numLit>
          </c:xVal>
          <c:yVal>
            <c:numLit>
              <c:formatCode>General</c:formatCode>
              <c:ptCount val="6"/>
              <c:pt idx="0">
                <c:v>1.8</c:v>
              </c:pt>
              <c:pt idx="1">
                <c:v>3.1</c:v>
              </c:pt>
              <c:pt idx="2">
                <c:v>2.5</c:v>
              </c:pt>
              <c:pt idx="3">
                <c:v>4</c:v>
              </c:pt>
              <c:pt idx="4">
                <c:v>3</c:v>
              </c:pt>
              <c:pt idx="5">
                <c:v>1.4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Tasarruf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Gelir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1EA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Araçlar</c:v>
          </c:tx>
          <c:spPr>
            <a:solidFill xmlns:a="http://schemas.openxmlformats.org/drawingml/2006/main">
              <a:srgbClr val="3377FF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9"/>
              <c:pt idx="0">
                <c:v>20</c:v>
              </c:pt>
              <c:pt idx="1">
                <c:v>35</c:v>
              </c:pt>
              <c:pt idx="2">
                <c:v>45</c:v>
              </c:pt>
              <c:pt idx="3">
                <c:v>60</c:v>
              </c:pt>
              <c:pt idx="4">
                <c:v>75</c:v>
              </c:pt>
              <c:pt idx="5">
                <c:v>90</c:v>
              </c:pt>
              <c:pt idx="6">
                <c:v>105</c:v>
              </c:pt>
              <c:pt idx="7">
                <c:v>125</c:v>
              </c:pt>
              <c:pt idx="8">
                <c:v>145</c:v>
              </c:pt>
            </c:numLit>
          </c:xVal>
          <c:yVal>
            <c:numLit>
              <c:formatCode>General</c:formatCode>
              <c:ptCount val="9"/>
              <c:pt idx="0">
                <c:v>950</c:v>
              </c:pt>
              <c:pt idx="1">
                <c:v>890</c:v>
              </c:pt>
              <c:pt idx="2">
                <c:v>820</c:v>
              </c:pt>
              <c:pt idx="3">
                <c:v>760</c:v>
              </c:pt>
              <c:pt idx="4">
                <c:v>700</c:v>
              </c:pt>
              <c:pt idx="5">
                <c:v>620</c:v>
              </c:pt>
              <c:pt idx="6">
                <c:v>570</c:v>
              </c:pt>
              <c:pt idx="7">
                <c:v>510</c:v>
              </c:pt>
              <c:pt idx="8">
                <c:v>430</c:v>
              </c:pt>
            </c:numLit>
          </c:yVal>
        </c:ser>
        <c:ser>
          <c:idx val="1"/>
          <c:order val="1"/>
          <c:tx>
            <c:v>Doğrusal model</c:v>
          </c:tx>
          <c:spPr>
            <a:ln xmlns:a="http://schemas.openxmlformats.org/drawingml/2006/main" w="38100">
              <a:solidFill>
                <a:srgbClr val="F05D5E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15</c:v>
              </c:pt>
              <c:pt idx="1">
                <c:v>150</c:v>
              </c:pt>
            </c:numLit>
          </c:xVal>
          <c:yVal>
            <c:numLit>
              <c:formatCode>General</c:formatCode>
              <c:ptCount val="2"/>
              <c:pt idx="0">
                <c:v>980</c:v>
              </c:pt>
              <c:pt idx="1">
                <c:v>420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50"/>
          <c:min val="3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Fiyat (bin TL)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</c:valAx>
      <c:valAx>
        <c:axId val="48650112"/>
        <c:scaling>
          <c:orientation val="minMax"/>
          <c:max val="16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Kilometre (bin km)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1EA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smoothMarker"/>
        <c:ser>
          <c:idx val="0"/>
          <c:order val="0"/>
          <c:tx>
            <c:v>Gözlemler</c:v>
          </c:tx>
          <c:spPr>
            <a:solidFill xmlns:a="http://schemas.openxmlformats.org/drawingml/2006/main">
              <a:srgbClr val="173A5E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</c:numLit>
          </c:xVal>
          <c:yVal>
            <c:numLit>
              <c:formatCode>General</c:formatCode>
              <c:ptCount val="9"/>
              <c:pt idx="0">
                <c:v>1.2</c:v>
              </c:pt>
              <c:pt idx="1">
                <c:v>2</c:v>
              </c:pt>
              <c:pt idx="2">
                <c:v>3.8</c:v>
              </c:pt>
              <c:pt idx="3">
                <c:v>6.5</c:v>
              </c:pt>
              <c:pt idx="4">
                <c:v>10.8</c:v>
              </c:pt>
              <c:pt idx="5">
                <c:v>16.2</c:v>
              </c:pt>
              <c:pt idx="6">
                <c:v>23.3</c:v>
              </c:pt>
              <c:pt idx="7">
                <c:v>31.5</c:v>
              </c:pt>
              <c:pt idx="8">
                <c:v>42</c:v>
              </c:pt>
            </c:numLit>
          </c:yVal>
        </c:ser>
        <c:ser>
          <c:idx val="1"/>
          <c:order val="1"/>
          <c:tx>
            <c:v>Doğrusal</c:v>
          </c:tx>
          <c:spPr>
            <a:ln xmlns:a="http://schemas.openxmlformats.org/drawingml/2006/main" w="38100">
              <a:solidFill>
                <a:srgbClr val="FFB000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8</c:v>
              </c:pt>
            </c:numLit>
          </c:xVal>
          <c:yVal>
            <c:numLit>
              <c:formatCode>General</c:formatCode>
              <c:ptCount val="2"/>
              <c:pt idx="0">
                <c:v>-3</c:v>
              </c:pt>
              <c:pt idx="1">
                <c:v>37</c:v>
              </c:pt>
            </c:numLit>
          </c:yVal>
        </c:ser>
        <c:ser>
          <c:idx val="2"/>
          <c:order val="2"/>
          <c:tx>
            <c:v>İkinci derece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</c:numLit>
          </c:xVal>
          <c:yVal>
            <c:numLit>
              <c:formatCode>General</c:formatCode>
              <c:ptCount val="9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7</c:v>
              </c:pt>
              <c:pt idx="4">
                <c:v>11</c:v>
              </c:pt>
              <c:pt idx="5">
                <c:v>16</c:v>
              </c:pt>
              <c:pt idx="6">
                <c:v>22</c:v>
              </c:pt>
              <c:pt idx="7">
                <c:v>29</c:v>
              </c:pt>
              <c:pt idx="8">
                <c:v>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1EA"/>
      </a:solidFill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Segment A</c:v>
          </c:tx>
          <c:spPr>
            <a:solidFill xmlns:a="http://schemas.openxmlformats.org/drawingml/2006/main">
              <a:srgbClr val="00A6A6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"/>
              <c:pt idx="0">
                <c:v>1</c:v>
              </c:pt>
              <c:pt idx="1">
                <c:v>1.3</c:v>
              </c:pt>
              <c:pt idx="2">
                <c:v>1.7</c:v>
              </c:pt>
              <c:pt idx="3">
                <c:v>2.1</c:v>
              </c:pt>
              <c:pt idx="4">
                <c:v>2.4</c:v>
              </c:pt>
            </c:numLit>
          </c:xVal>
          <c:yVal>
            <c:numLit>
              <c:formatCode>General</c:formatCode>
              <c:ptCount val="5"/>
              <c:pt idx="0">
                <c:v>7</c:v>
              </c:pt>
              <c:pt idx="1">
                <c:v>7.8</c:v>
              </c:pt>
              <c:pt idx="2">
                <c:v>6.8</c:v>
              </c:pt>
              <c:pt idx="3">
                <c:v>7.4</c:v>
              </c:pt>
              <c:pt idx="4">
                <c:v>8.2</c:v>
              </c:pt>
            </c:numLit>
          </c:yVal>
        </c:ser>
        <c:ser>
          <c:idx val="1"/>
          <c:order val="1"/>
          <c:tx>
            <c:v>Segment B</c:v>
          </c:tx>
          <c:spPr>
            <a:solidFill xmlns:a="http://schemas.openxmlformats.org/drawingml/2006/main">
              <a:srgbClr val="F05D5E"/>
            </a:solidFill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"/>
              <c:pt idx="0">
                <c:v>4.5</c:v>
              </c:pt>
              <c:pt idx="1">
                <c:v>5.1</c:v>
              </c:pt>
              <c:pt idx="2">
                <c:v>5.5</c:v>
              </c:pt>
              <c:pt idx="3">
                <c:v>6</c:v>
              </c:pt>
              <c:pt idx="4">
                <c:v>6.3</c:v>
              </c:pt>
            </c:numLit>
          </c:xVal>
          <c:yVal>
            <c:numLit>
              <c:formatCode>General</c:formatCode>
              <c:ptCount val="5"/>
              <c:pt idx="0">
                <c:v>3.2</c:v>
              </c:pt>
              <c:pt idx="1">
                <c:v>2.6</c:v>
              </c:pt>
              <c:pt idx="2">
                <c:v>3.8</c:v>
              </c:pt>
              <c:pt idx="3">
                <c:v>2.9</c:v>
              </c:pt>
              <c:pt idx="4">
                <c:v>3.5</c:v>
              </c:pt>
            </c:numLit>
          </c:yVal>
        </c:ser>
        <c:ser>
          <c:idx val="2"/>
          <c:order val="2"/>
          <c:tx>
            <c:v>Segment C</c:v>
          </c:tx>
          <c:spPr>
            <a:solidFill xmlns:a="http://schemas.openxmlformats.org/drawingml/2006/main">
              <a:srgbClr val="3377FF"/>
            </a:solidFill>
            <a:ln xmlns:a="http://schemas.openxmlformats.org/drawingml/2006/main" w="0">
              <a:noFill/>
            </a:ln>
          </c:spPr>
          <c:marker>
            <c:symbol val="square"/>
            <c:size val="10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"/>
              <c:pt idx="0">
                <c:v>7.2</c:v>
              </c:pt>
              <c:pt idx="1">
                <c:v>7.6</c:v>
              </c:pt>
              <c:pt idx="2">
                <c:v>8.1</c:v>
              </c:pt>
              <c:pt idx="3">
                <c:v>8.6</c:v>
              </c:pt>
              <c:pt idx="4">
                <c:v>9</c:v>
              </c:pt>
            </c:numLit>
          </c:xVal>
          <c:yVal>
            <c:numLit>
              <c:formatCode>General</c:formatCode>
              <c:ptCount val="5"/>
              <c:pt idx="0">
                <c:v>7.5</c:v>
              </c:pt>
              <c:pt idx="1">
                <c:v>6.7</c:v>
              </c:pt>
              <c:pt idx="2">
                <c:v>7.9</c:v>
              </c:pt>
              <c:pt idx="3">
                <c:v>7</c:v>
              </c:pt>
              <c:pt idx="4">
                <c:v>8.3</c:v>
              </c:pt>
            </c:numLit>
          </c:yVal>
        </c:ser>
        <c:ser>
          <c:idx val="3"/>
          <c:order val="3"/>
          <c:tx>
            <c:v>Aykırı</c:v>
          </c:tx>
          <c:spPr>
            <a:solidFill xmlns:a="http://schemas.openxmlformats.org/drawingml/2006/main">
              <a:srgbClr val="FFB000"/>
            </a:solidFill>
            <a:ln xmlns:a="http://schemas.openxmlformats.org/drawingml/2006/main" w="0">
              <a:noFill/>
            </a:ln>
          </c:spPr>
          <c:marker>
            <c:symbol val="star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"/>
              <c:pt idx="0">
                <c:v>4</c:v>
              </c:pt>
            </c:numLit>
          </c:xVal>
          <c:yVal>
            <c:numLit>
              <c:formatCode>General</c:formatCode>
              <c:ptCount val="1"/>
              <c:pt idx="0">
                <c:v>9.4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Davranış özelliği 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</c:valAx>
      <c:valAx>
        <c:axId val="48650112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Davranış özelliği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1EA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16C4D-46E1-4377-A44D-97E9157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DA819-F5A2-40CB-BC17-6B52FA6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625E-D081-47B9-A8D8-8781F92F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619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39DA6-B0C5-4FFD-83F3-2E93F58B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69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F751-2C13-4CB6-B5D9-C9E6DB98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Makine Öğrenmesine Giriş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8827E-E80C-48B3-BCA2-74B4CA1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4325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6D6E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i="0">
                <a:solidFill>
                  <a:srgbClr val="C6D6E4"/>
                </a:solidFill>
                <a:latin typeface="DejaVu Sans"/>
                <a:ea typeface="DejaVu Sans"/>
                <a:cs typeface="DejaVu Sans"/>
              </a:rPr>
              <a:t>Introduction to Machine Learning</a:t>
            </a:r>
          </a:p>
          <a:p xmlns:a="http://schemas.openxmlformats.org/drawingml/2006/main">
            <a:pPr algn="l">
              <a:defRPr sz="1950" b="0" i="0">
                <a:solidFill>
                  <a:srgbClr val="C6D6E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i="0">
                <a:solidFill>
                  <a:srgbClr val="C6D6E4"/>
                </a:solidFill>
                <a:latin typeface="DejaVu Sans"/>
                <a:ea typeface="DejaVu Sans"/>
                <a:cs typeface="DejaVu Sans"/>
              </a:rPr>
              <a:t>Bölüm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F0AEE-9657-42FB-80B2-8F7647E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530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Veriden örüntüye, modelden karara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467D-E47B-4C7D-A420-756565B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768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8BAC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A8BAC9"/>
                </a:solidFill>
                <a:latin typeface="DejaVu Sans"/>
                <a:ea typeface="DejaVu Sans"/>
                <a:cs typeface="DejaVu Sans"/>
              </a:rPr>
              <a:t>Ethem Alpaydın (2014)</a:t>
            </a:r>
          </a:p>
        </p:txBody>
      </p:sp>
    </p:spTree>
    <p:extLst>
      <p:ext uri="{BB962C8B-B14F-4D97-AF65-F5344CB8AC3E}">
        <p14:creationId xmlns:p14="http://schemas.microsoft.com/office/powerpoint/2010/main" val="1450994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C7D94-33CE-499E-BA3A-746BD96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2E9AF-EFDC-4568-B774-A5CBA10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DERS HARITASI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1A18B-CC37-49AC-98B6-AFC47B7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Bu bölümde ne öğreneceğiz?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013C5-DC76-433B-81CE-A7D9BC5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C26A-F2AB-418D-920D-E178508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Makine öğrenmesi neden gerekir?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0E6C5-62FD-4517-8711-3775DF4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Algoritmanın açıkça yazılamadığı görevler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19FD-FA26-4F8E-BCF4-979E1AF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740B2-A842-42C5-98DB-1C718477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FD316-0BAA-4399-BB30-3A019D0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Öğrenme türleri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76E5E-5C7C-41A0-93D0-B3CE01C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813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Association, classification, regression, unsupervised, reinforcement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C5C84-DE83-4893-98F9-4180C294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F0F79-B1F4-4F14-A5CD-F0D9A51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6223C-94BF-4F60-8ADC-99067299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Ortak matematiksel çerçeve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683C-0085-437A-8238-5C3752B8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Model, parametre, eğitim, çıkarım ve performans ölçütü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FFBD5-4C9D-481C-A90A-836C5BF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BAAC6-0D52-446C-BD32-C548E9D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4B47C-58C0-48B8-9010-E8A0F76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Tarihsel ve bilimsel bağlam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CF077-017D-4907-9570-B07829D3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İstatistik, örüntü tanıma, yapay zekâ ve veri madenciliği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5844A-2432-4E50-AAF3-D7C9D0BF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Ders haritası  •  02</a:t>
            </a:r>
          </a:p>
        </p:txBody>
      </p:sp>
    </p:spTree>
    <p:extLst>
      <p:ext uri="{BB962C8B-B14F-4D97-AF65-F5344CB8AC3E}">
        <p14:creationId xmlns:p14="http://schemas.microsoft.com/office/powerpoint/2010/main" val="1257098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CF2A-569C-4C38-9728-22DCE57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E1201-2472-485D-AD1B-F14FBB2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5F97C-6376-4F4D-9F9D-00D0F81F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Büyük veri çağında herkes veri üretir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8696fb01d4070"/>
          <a:srcRect xmlns:a="http://schemas.openxmlformats.org/drawingml/2006/main" l="12261" t="0" r="122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333500"/>
            <a:ext cx="466725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62052-7C17-4609-9884-D21616D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Günlük yaşam veri üretir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ACAE-7C87-4C46-87EA-08FB8EEA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Satın alma, web ziyareti ve sosyal medya kullanımı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Konum, sürüş ve mobil cihaz etkileşimleri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Müşteriye özel ürün ve hizmet beklentisi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A5F2-88C3-4C0A-B18F-08844257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Temel soru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AF4FC-9677-4DFA-9A0D-7B628337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Bu büyük veri yığınından işe yarayan düzenlilikleri nasıl çıkarabiliriz?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E60FB-30BE-47ED-9BFF-3D7C41E5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HostingPlus Perú / Google Data Centers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28768-32AB-40BB-8097-E97D286F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03</a:t>
            </a:r>
          </a:p>
        </p:txBody>
      </p:sp>
    </p:spTree>
    <p:extLst>
      <p:ext uri="{BB962C8B-B14F-4D97-AF65-F5344CB8AC3E}">
        <p14:creationId xmlns:p14="http://schemas.microsoft.com/office/powerpoint/2010/main" val="1640684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57344-A7FB-4C5C-8D0B-A083A6A1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E599B-7F22-4A2F-B33E-39417DDB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3EA38-D9D4-48F5-9973-9F0742F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Açık algoritma ile öğrenme arasındaki fark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0ECF8-770E-47F1-BFA1-F85F6A56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Sıralama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9B756-F795-4E65-BE2D-1A82954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Girdi ve çıktı arasındaki dönüşümü biliyoruz.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B4A74-EF73-4ABF-8647-83645E3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4765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3A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173A5E"/>
                </a:solidFill>
                <a:latin typeface="DejaVu Sans"/>
                <a:ea typeface="DejaVu Sans"/>
                <a:cs typeface="DejaVu Sans"/>
              </a:rPr>
              <a:t>[5, 2, 9,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678E3-BAF1-40F7-8B17-F4C7E4E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05125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144D3-49A1-4704-A42D-890FBE8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4765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rPr>
              <a:t>[1, 2, 5, 9]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46532-4B67-4F91-B6F0-AF6DAF66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85875"/>
            <a:ext cx="2857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17CC5-3766-4A96-ABD9-D05E5AC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Spam filtreleme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573E3-C768-43F0-89C1-9FC2B1D9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Girdi ve çıktı belli, fakat dönüşüm kuralı zamanla değişiyor.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D8EA2-8DFF-468C-A9A7-A329886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571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A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173A5E"/>
                </a:solidFill>
                <a:latin typeface="DejaVu Sans"/>
                <a:ea typeface="DejaVu Sans"/>
                <a:cs typeface="DejaVu Sans"/>
              </a:rPr>
              <a:t>Örnek e-postalar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A50E8-2773-45D6-BB52-2E08036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7620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EA962-56F3-4D7D-ACD7-B1E1498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571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Öğrenilmiş kural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4B79-CD3A-493C-9E2C-903A89CC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04</a:t>
            </a:r>
          </a:p>
        </p:txBody>
      </p:sp>
    </p:spTree>
    <p:extLst>
      <p:ext uri="{BB962C8B-B14F-4D97-AF65-F5344CB8AC3E}">
        <p14:creationId xmlns:p14="http://schemas.microsoft.com/office/powerpoint/2010/main" val="125211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7EA7A-4A71-4C2A-854C-5D9B6CAE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19A03-214B-4FE1-A82D-3BDFE57F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8963-B1F9-43AC-BE5E-9635E04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Örneklerden modele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FAA89-3E71-49B6-948E-121C085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0955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BB93-EF06-45FE-BB00-EC6725B3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F17D0-1A46-44B0-BFC8-9C01068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71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Eğitim verisi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E1F07-F1C2-47E7-9E16-FE85CCC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Geçmiş örnekler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BD35A-6900-4BBA-83DB-E468F2C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381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3C811-0E03-4357-883C-DCA6988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0955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7FEF-20DF-447C-B68D-F5D5B236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564AA-ECB5-461C-ABA2-897A856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71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Öğrenme algoritması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D49B9-1188-47C0-ABDB-329B8B5E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Parametreleri ayarlar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D3484-781B-453B-A38D-D27E920B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381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BB57B-E101-428C-AF21-25B63C3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20955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A73DE-7300-42D2-BF74-F17B7038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56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9B34F-E251-4B93-92AC-C2F00EC0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71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70F76-60AF-4548-A9AF-8F33DCCD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Örüntüyü temsil eder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4475A-D8DD-4FCE-B576-541580F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81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CC070-FECF-47C7-BDBE-2246B8D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0955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EF436-0C79-418B-917C-DF329F4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095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F257-53DA-4E61-86A0-6B6B6E6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Yeni veri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E5DA2-BFA0-4ABF-8F54-4D7A060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Tahmin veya açıklama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9C647-7C54-456A-8DAD-8EC21AF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Varsayım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1E8DA-9EDF-4DCA-A892-0B66B0B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Yakın gelecek, eğitim verisinin üretildiği geçmişten bütünüyle farklı değilse model genelleyebilir.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65EC2-9ECB-42DE-BD0D-BB22A11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05</a:t>
            </a:r>
          </a:p>
        </p:txBody>
      </p:sp>
    </p:spTree>
    <p:extLst>
      <p:ext uri="{BB962C8B-B14F-4D97-AF65-F5344CB8AC3E}">
        <p14:creationId xmlns:p14="http://schemas.microsoft.com/office/powerpoint/2010/main" val="1162809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3CBF5-84F8-4D09-9361-F9F8FA77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AF6E2-31D3-4F6D-9FBE-3B5242C7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AFD2E-9CF0-4DE6-8FA9-CD351006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Makine öğrenmesinin tanımı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60631-0806-4E68-99EE-1D6112E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8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0A30E-CED0-40F6-9799-484E3385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Örnek veri veya geçmiş deneyim kullanarak bir performans ölçütünü eniyileyecek biçimde bilgisayarları programlamaktır.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A4D2A-60CA-4972-9647-1953973C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4D62E-75A0-4581-A9B6-1E6D3B4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C0E84-784C-4BE0-B279-CC84EC0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Girdi ile çıktı arasındaki ilişkiyi temsil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4F7D8-9235-4211-B47D-6826E4F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Parametreler (θ)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E5250-A905-4044-90B6-A705703C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Modelin eğitim sırasında ayarlanan değerleri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EFBA5-0E10-48CE-BA7A-8838D79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Performans ölçütü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1D5EF-C561-47BE-B5C3-BB691F1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Doğruluk, hata, kazanç veya göreve özgü başka bir hedef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7E624-E074-4CA6-9EBD-2636CFA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06</a:t>
            </a:r>
          </a:p>
        </p:txBody>
      </p:sp>
    </p:spTree>
    <p:extLst>
      <p:ext uri="{BB962C8B-B14F-4D97-AF65-F5344CB8AC3E}">
        <p14:creationId xmlns:p14="http://schemas.microsoft.com/office/powerpoint/2010/main" val="2021269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C060E-EB5E-41A5-A945-34BE547F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F742D-DF84-4ABA-A246-F0160AAE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275D1-B7DB-4738-A73B-75FAEA34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Tahmin edici ve betimleyici modeller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0B823-5C7E-4269-B479-A295C1A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191125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2829C-55A7-46B9-837D-BAA890FC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191125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DC8FC-86D2-4703-A46F-922F37A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Predictive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1098D-B4E4-4AAF-A614-331AFB3F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Tahmin edici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77C1-7CD1-4915-B2BC-12E0002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Geçmiş veriden öğrenilen modeli yeni örneklerde kullanır.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F46F0-ADD6-4D29-934E-18F51A6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Örnek: Yeni kredi başvurusunun riskini tahmin etmek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45E67-3A13-4BE4-BE6F-B6C4E59D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Descriptive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1D707-2DEB-4B65-81F4-91A77112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B6C6D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B6C6D5"/>
                </a:solidFill>
                <a:latin typeface="DejaVu Sans"/>
                <a:ea typeface="DejaVu Sans"/>
                <a:cs typeface="DejaVu Sans"/>
              </a:rPr>
              <a:t>Betimleyici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2F6C6-3AEB-483C-95D1-3322D964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Verideki yapıyı ve düzenlilikleri açıklamaya çalışır.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A0E0E-E535-4DB8-A988-05BC2618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91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C7D5E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C7D5E1"/>
                </a:solidFill>
                <a:latin typeface="DejaVu Sans"/>
                <a:ea typeface="DejaVu Sans"/>
                <a:cs typeface="DejaVu Sans"/>
              </a:rPr>
              <a:t>Örnek: Müşteri gruplarını ve ortak davranışları keşfetmek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EEE89-E977-4C75-B384-74AA8F4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10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Bir model iki amacı birlikte de taşıyabilir.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1F827-24B9-4230-8B6D-5D7B08F5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07</a:t>
            </a:r>
          </a:p>
        </p:txBody>
      </p:sp>
    </p:spTree>
    <p:extLst>
      <p:ext uri="{BB962C8B-B14F-4D97-AF65-F5344CB8AC3E}">
        <p14:creationId xmlns:p14="http://schemas.microsoft.com/office/powerpoint/2010/main" val="21047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5CB22-A083-4D03-9B11-F22D647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23D7-46AB-46F0-BB6C-13215F5A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3BA9A-28AA-4753-A9C2-37BF0BE4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İstatistik ve bilgisayar biliminin rolleri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0845B-D333-4CE9-879C-752D4027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İstatistik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4406C-B93D-4306-AB5C-662FC3C5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48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Örneklemden çıkarım</a:t>
            </a:r>
          </a:p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Matematiksel model kurma</a:t>
            </a:r>
          </a:p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Belirsizliği temsil etme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C086-5E99-41BC-864A-6B238E6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Bilgisayar bilimi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D7AC1-E206-4268-8ED7-D4F6E74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0480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Eniyileme algoritmaları</a:t>
            </a:r>
          </a:p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Büyük veriyi saklama ve işleme</a:t>
            </a:r>
          </a:p>
          <a:p xmlns:a="http://schemas.openxmlformats.org/drawingml/2006/main">
            <a:pPr algn="ctr">
              <a:def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Hızlı çıkarım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4E4D1-9829-4C62-8339-958FE1F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05E3F-3102-47AC-99AC-FB1D342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Makine</a:t>
            </a:r>
          </a:p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öğrenmesi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A7D7-9A2E-41A1-AE7D-BF47A3E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667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268FD-B346-45D1-99DE-1CF69D3D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666750" cy="5238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C2498-3616-4931-A770-943E7E6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243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Başarı yalnızca doğruluk değildir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0F52A-813B-4C5D-A47F-D91B1712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Eğitim ve çıkarımın zaman ile bellek karmaşıklığı bazı uygulamalarda aynı ölçüde kritiktir.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93452-0BD4-48B3-9E05-8CF0B0F9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08</a:t>
            </a:r>
          </a:p>
        </p:txBody>
      </p:sp>
    </p:spTree>
    <p:extLst>
      <p:ext uri="{BB962C8B-B14F-4D97-AF65-F5344CB8AC3E}">
        <p14:creationId xmlns:p14="http://schemas.microsoft.com/office/powerpoint/2010/main" val="1974881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CA24C-A4CC-4F3E-A6EA-5BC69E6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AC6AE-4F87-4ECB-A329-9CF995CB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1.1 MAKINE ÖĞRENMESI NEDIR?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B89C5-A415-4071-AD91-354C4965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Veri madenciliği ve yapay zekâ ile ilişki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A3869-6D37-4887-90AD-C8FE4F1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7F96F-5667-4A80-A3DC-E7B042B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91709-F667-4B02-8385-2C682E26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Data mining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AAA1C-8D1C-421C-969C-51D3FD8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Veri madenciliği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4181B-C119-4E6F-A80D-18306849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Büyük veri hacmini işleyerek daha küçük, yararlı ve yüksek tahmin gücüne sahip bir model çıkarır.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A6E14-9ECF-4FA8-8701-E1538279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Perakende, finans, üretim, tıp, telekomünikasyon ve bilim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E6E48-2588-49E9-B548-C54AADF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Artificial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B321A-D0A0-4E6D-8EA9-74E9DF39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8D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B9C8D6"/>
                </a:solidFill>
                <a:latin typeface="DejaVu Sans"/>
                <a:ea typeface="DejaVu Sans"/>
                <a:cs typeface="DejaVu Sans"/>
              </a:rPr>
              <a:t>Yapay zekâ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0E52F-F76C-4ECD-8777-568F1E34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Değişen çevreye uyum sağlayan bir sistem, tasarımcının her durumu önceden yazmasını gerektirmez.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F0B42-35F3-4617-A41F-2847CFC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9C8D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B9C8D6"/>
                </a:solidFill>
                <a:latin typeface="DejaVu Sans"/>
                <a:ea typeface="DejaVu Sans"/>
                <a:cs typeface="DejaVu Sans"/>
              </a:rPr>
              <a:t>Görme, konuşma tanıma ve robotik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E67EF-D8B9-43A7-BACC-6BD9654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1.1  •  09</a:t>
            </a:r>
          </a:p>
        </p:txBody>
      </p:sp>
    </p:spTree>
    <p:extLst>
      <p:ext uri="{BB962C8B-B14F-4D97-AF65-F5344CB8AC3E}">
        <p14:creationId xmlns:p14="http://schemas.microsoft.com/office/powerpoint/2010/main" val="1395428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162B8-46A4-499D-A6B7-9DF14024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9ED81-1C85-4056-AC1B-8002C18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 UYGULAMALAR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68BCE-902C-4C8A-AF32-8AB1D533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Makine öğrenmesi uygulamalarının beş ailesi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571750"/>
                <a:gridCol w="2571750"/>
                <a:gridCol w="333375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Yaklaşım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Girdi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Çıktı / hedef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Kitaptaki örnek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A6A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Association learning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Ürün sepetleri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Birlikte görülme olasılığı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Bira → cips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77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Classification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Özellikler + sınıf etiketleri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Ayrık sınıf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Kredi riski</a:t>
                      </a:r>
                    </a:p>
                  </a:txBody>
                  <a:tcPr marL="76200" marR="76200" marT="66675" marB="66675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05D5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Regression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Özellikler + sayısal hedef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Sürekli sayı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İkinci el araç fiyatı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7456C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Unsupervised learning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Yalnızca girdiler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Yapı / gruplar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Müşteri segmentleri</a:t>
                      </a:r>
                    </a:p>
                  </a:txBody>
                  <a:tcPr marL="76200" marR="76200" marT="66675" marB="66675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7A56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Reinforcement learning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Durum, eylem, geri bildirim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Politika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Oyun ve robot gezinimi</a:t>
                      </a:r>
                    </a:p>
                  </a:txBody>
                  <a:tcPr marL="76200" marR="76200" marT="66675" marB="66675" anchor="ctr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CAFB9-7948-407F-9C10-E75AB9C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Bu aileler farklı sorular sorar; aynı veri kümesinde birden fazlası birlikte kullanılabilir.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8FEFE-D185-44B3-A113-ECC1078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  •  10</a:t>
            </a:r>
          </a:p>
        </p:txBody>
      </p:sp>
    </p:spTree>
    <p:extLst>
      <p:ext uri="{BB962C8B-B14F-4D97-AF65-F5344CB8AC3E}">
        <p14:creationId xmlns:p14="http://schemas.microsoft.com/office/powerpoint/2010/main" val="341071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F1FEB-B944-43BC-A8BF-3CB74235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42C23-ECF3-45DB-86B5-F3104998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1.2.1 LEARNING ASSOCIATIONS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17D48-2699-4841-B176-638AB51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Association learning: Birliktelikleri öğrenmek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df48a6dd4e00"/>
          <a:srcRect xmlns:a="http://schemas.openxmlformats.org/drawingml/2006/main" l="0" t="14844" r="0" b="14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381125"/>
            <a:ext cx="4572000" cy="4286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BBC6E-C853-49F8-85C3-EBE0D917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Basket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3454-8857-4CC6-A7E0-4BB4B2D4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Sepet analizi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F0E1-C0DB-4ED3-BF42-557322A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Müşteri X ürününü aldıysa, Y ürününü alma olasılığı nedir?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837B9-211F-4073-9CBB-F87AEAFF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Amaç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DBC00-B8ED-4DC9-9C98-E6E6632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Çapraz satış için aday müşterileri belirlemek ve ilişkili ürünleri önermek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F36F5-ABDA-481D-8317-C728DB8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Haberdoedas / Unsplash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2F51-2C43-4A75-956D-B3E8C22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1.2.1  •  11</a:t>
            </a:r>
          </a:p>
        </p:txBody>
      </p:sp>
    </p:spTree>
    <p:extLst>
      <p:ext uri="{BB962C8B-B14F-4D97-AF65-F5344CB8AC3E}">
        <p14:creationId xmlns:p14="http://schemas.microsoft.com/office/powerpoint/2010/main" val="294938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89DEB-16B1-4188-8872-665615EB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CA2CA-0F8F-4E5D-9B49-1BB13ED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1.2.1 LEARNING ASSOCIATIONS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22E9C-9B93-4C21-8692-3DDEBBF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Association rule ve koşullu olasılık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AD176-F762-4335-BDE7-AE7E46CF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90525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P(Y | X)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A346A-4E57-4848-B95B-B486CC3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X biliniyorken Y'nin olasılığı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61B8D-1667-48F5-B49A-985BF99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Örnek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51004-0DCA-480E-B66C-DD9FC38D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P(cips | bira) = 0,70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72498-12EA-4E3C-8A21-F6367901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Bira alan müşterilerin %70'i cips de alıyor.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5B9B0-FFB7-4DDE-A620-9D9C9B7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692DB-CDDA-4932-A8C3-24546A7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Müşteri bilgisi de eklenebilir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30F32-DC74-4AE5-9705-7D26070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P(Y | X, 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54836-A3FA-46B2-A2B8-CCD4C8C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D: yaş, cinsiyet, medeni durum gibi müşteri özellikleri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3401-D4C6-4164-BB94-5173A6D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Aynı fikir kitap önerisi ve web bağlantısı tahmini için de kullanılabilir.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15715-D8FB-4607-B593-C23BCCB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1.2.1  •  12</a:t>
            </a:r>
          </a:p>
        </p:txBody>
      </p:sp>
    </p:spTree>
    <p:extLst>
      <p:ext uri="{BB962C8B-B14F-4D97-AF65-F5344CB8AC3E}">
        <p14:creationId xmlns:p14="http://schemas.microsoft.com/office/powerpoint/2010/main" val="1681042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A599E-8D44-4772-9201-9B48EFA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B07B-80C6-4438-8579-C6984FFD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E63BF-4D94-4204-8DC3-B77FD8E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Classification: Kredi riskini sınıflandırmak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88B83-E67A-447E-9A26-6DD2366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Gelir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6C841-F94F-47CD-A705-8642020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7162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Tasarruf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87FCA-F457-438A-8473-D483ECC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Teminat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AF2A-4B3A-4BB4-BADA-A81DC0E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Meslek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4BE84-0E52-4AC4-BCC1-A3052CD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Yaş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CE096-D075-40AD-A8F3-3280E200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15716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Finansal geçmiş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0E2AF-412D-4058-8A17-AD664CDC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000125" cy="619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8133B-0AAA-443C-87FA-A0F4A9B9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3429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B5122-1537-418D-B294-5C1DE459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Sınıflandırıcı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03993-B7C9-49FF-BF49-8D72114B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BDAE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CBDAE7"/>
                </a:solidFill>
                <a:latin typeface="DejaVu Sans"/>
                <a:ea typeface="DejaVu Sans"/>
                <a:cs typeface="DejaVu Sans"/>
              </a:rPr>
              <a:t>Geçmiş başvurulardan</a:t>
            </a:r>
          </a:p>
          <a:p xmlns:a="http://schemas.openxmlformats.org/drawingml/2006/main">
            <a:pPr algn="ctr">
              <a:defRPr sz="1575" b="0" i="0">
                <a:solidFill>
                  <a:srgbClr val="CBDAE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CBDAE7"/>
                </a:solidFill>
                <a:latin typeface="DejaVu Sans"/>
                <a:ea typeface="DejaVu Sans"/>
                <a:cs typeface="DejaVu Sans"/>
              </a:rPr>
              <a:t>genel bir karar kuralı öğrenir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32DD3-03DE-428C-9A00-030D8F66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20955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37A5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4BA02-CF8B-46BE-970F-8E4B5B6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Düşük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6265-528D-4F64-955D-B82BBD1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20955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608A4-EAB8-447D-8518-98459D8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Yüksek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CD002-06F3-4C21-BFC8-2972FDD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Classification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D4CFA-7AB1-47F5-B9E3-65AE048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Girdiyi önceden tanımlanmış sınıflardan birine atama görevi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DA7A1-5F85-4251-AA4F-9BD22D4B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13</a:t>
            </a:r>
          </a:p>
        </p:txBody>
      </p:sp>
    </p:spTree>
    <p:extLst>
      <p:ext uri="{BB962C8B-B14F-4D97-AF65-F5344CB8AC3E}">
        <p14:creationId xmlns:p14="http://schemas.microsoft.com/office/powerpoint/2010/main" val="438315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D8729-FBEA-43AB-ADCC-E8E1462D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0428C-5F12-407F-82E0-A7A9A591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3D103-944E-4C1E-BC0A-26A44E8E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Discriminant: Sınıfları ayıran işlev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7627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b32ce15e4e4a2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0C128-ACF2-4ACD-BE13-A1271AD8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780FA-8C81-4591-94A2-14EE996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14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Karar sınırı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44848-4A9A-4E43-A4F9-19D504C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Örnek karar kuralı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C1054-D966-4178-B944-B9160EF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3238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IF gelir &gt; θ₁</a:t>
            </a:r>
          </a:p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AND tasarruf &gt; θ₂</a:t>
            </a:r>
          </a:p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THEN düşük risk</a:t>
            </a:r>
          </a:p>
          <a:p xmlns:a="http://schemas.openxmlformats.org/drawingml/2006/main">
            <a:pPr algn="ctr">
              <a:def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ELSE yüksek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43210-E6C8-4F63-876C-19B97E9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Discriminant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7B9C2-1216-4D0D-A13B-45E0EA5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Farklı sınıflara ait örnekleri birbirinden ayıran fonksiyon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E3D2F-CA16-4F32-A011-0F9864A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14</a:t>
            </a:r>
          </a:p>
        </p:txBody>
      </p:sp>
    </p:spTree>
    <p:extLst>
      <p:ext uri="{BB962C8B-B14F-4D97-AF65-F5344CB8AC3E}">
        <p14:creationId xmlns:p14="http://schemas.microsoft.com/office/powerpoint/2010/main" val="12006925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10FE9-76D8-4544-BC95-CE312BAA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3F2E1-4CB7-44CC-B117-9E573C12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35D95-F124-4616-985E-EEDE7ACE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Olasılıktan karara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45578-358F-4629-B8EB-2884FE5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P(Y = 1 | X = x) = 0,80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D9E8-E2A7-4039-BBD4-5F7F1DB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Müşterinin yüksek riskli olma olasılığı %80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A7F79-DC92-439B-9B51-5BCAC5F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9525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C7B9F-4ABC-40C6-96D4-8B396AA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71625"/>
            <a:ext cx="3048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66C1D-E7CD-4B71-BD9B-2A1C2A89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Krediyi kabul et / reddet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550A8-61FE-43AD-BAA1-177CA3E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1E0FD-EC6D-4804-B2E9-0655723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Karar eşiği yalnızca olasılığa bağlı değildir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2CF8A-8A07-4D9A-9C44-91F6764F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Olası kazanç, kayıp ve hata maliyetleri dikkate alınır.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0F60A-16E9-4685-9E6A-7A3DE00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Yanlış pozitif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41693-CBDC-4331-B7D5-8C228FD3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91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Yanlış negatif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FF3C3-CC0E-42CA-920C-D77DC7C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15</a:t>
            </a:r>
          </a:p>
        </p:txBody>
      </p:sp>
    </p:spTree>
    <p:extLst>
      <p:ext uri="{BB962C8B-B14F-4D97-AF65-F5344CB8AC3E}">
        <p14:creationId xmlns:p14="http://schemas.microsoft.com/office/powerpoint/2010/main" val="4361004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C4775-987E-4296-8B1B-56AAAF6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AB0BA-59BC-4D24-AF17-F29B1207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A0B50-4633-43D7-814B-3C357591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Pattern recognition: Optik karakter tanıma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5f34f15334d66"/>
          <a:srcRect xmlns:a="http://schemas.openxmlformats.org/drawingml/2006/main" l="7229" t="0" r="7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762500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D3BC6-5CA7-44DC-B0A9-F3EA281F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Optical Character Recognition (OCR)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619E1-C007-4503-A208-01A00D72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Girdi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84D5A-1689-4748-BA9F-07D9F57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Karakter görüntüsü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4F6D9-16DC-44FE-9C08-3261499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Sınıflar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777D0-2EF0-49E9-BFB4-F923FF2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Tanımak istediğimiz karakter kodları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048E9-2EF8-4465-8B64-007CCA3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Zorluklar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5BE7E-1A53-4038-8D3E-C852B00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4905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Yazı tipi ve el yazısı farklılıkları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Boyut, eğim, kalem ve çizgi yapısı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Tek bir 'A' şablonu bütün A'ları kapsamaz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ABBC2-B5AE-4734-9FC2-CB9FC52B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Towfiqu Barbhuiya / Unsplash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6449C-C553-4ED3-887A-60F9D70D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16</a:t>
            </a:r>
          </a:p>
        </p:txBody>
      </p:sp>
    </p:spTree>
    <p:extLst>
      <p:ext uri="{BB962C8B-B14F-4D97-AF65-F5344CB8AC3E}">
        <p14:creationId xmlns:p14="http://schemas.microsoft.com/office/powerpoint/2010/main" val="879260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14873-E64B-48C9-9FC9-CCED2E9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BFFB0-FC0F-4815-8C1F-D68F331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A7900-3A4E-44D2-9EBA-B472676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Bağlam, belirsiz karakteri çözebilir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CDDF0-ADB8-4DC0-836A-CB3D99B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4095750" cy="1333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 ?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2D0E7-F694-4346-8D44-BB0D2231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47875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216B7-7FEF-4550-B30F-04AB9FD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4095750" cy="13335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B7DEC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5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defRPr>
            </a:pPr>
            <a:r>
              <a:rPr sz="645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rPr>
              <a:t>the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933CF-ACC8-42EB-A4EC-F306E349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Dil fazlalık içerir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568D8-7021-4163-88AA-4760097F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Ardışık karakterler bağımsız değildir; sözcük dağarcığı olası dizileri kısıtlar.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A0C3B-2B81-4494-9B64-98E508CA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Bağımlılık düzeyleri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D64C4-23ED-479A-A399-A225E60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Karakter → sözcük → cümle</a:t>
            </a:r>
          </a:p>
          <a:p xmlns:a="http://schemas.openxmlformats.org/drawingml/2006/main">
            <a:pPr algn="ctr">
              <a:def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Sözdizim ve anlam, daha üst düzey bağlam sağlar.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3B99B-D928-4761-A029-467DD736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17</a:t>
            </a:r>
          </a:p>
        </p:txBody>
      </p:sp>
    </p:spTree>
    <p:extLst>
      <p:ext uri="{BB962C8B-B14F-4D97-AF65-F5344CB8AC3E}">
        <p14:creationId xmlns:p14="http://schemas.microsoft.com/office/powerpoint/2010/main" val="4259727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52F92-5076-41A4-AD29-2B26F14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2FFE2-3351-4C86-B23B-EA4AC0A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EEB6-3FCC-451E-B96F-CD2E5099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Yüz tanımada değişkenlik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a95f82b7f48f2"/>
          <a:srcRect xmlns:a="http://schemas.openxmlformats.org/drawingml/2006/main" l="0" t="13029" r="0" b="13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81125"/>
            <a:ext cx="47625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9EBAE-93A7-467C-8AB7-992FA029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Face recognition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AB158-D268-406C-B873-EE1518A0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Girdi: yüz görüntüsü</a:t>
            </a:r>
          </a:p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Sınıflar: tanınacak kişiler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83790-E1AE-45A3-AACB-D608786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3B yapı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B3F31-77B3-41BC-8298-BD9C017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Poz değişimi görüntüyü değiştirir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ECC05-CDC6-47E7-B2CF-5EE2EED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76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Aydınlatma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8689C-9081-4706-A877-3A2FEFC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Aynı yüz farklı piksel değerleri üretir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D1277-77D3-42E2-9FA6-49EF212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96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Occlusion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D71C8-69AF-4A5F-B069-AB80348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Gözlük gözleri, sakal çeneyi örtebilir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B5E66-5D9B-4BE3-9B1F-6488E02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Omid Armin / Unsplash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A099C-BAC0-484D-9625-CF54BEA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18</a:t>
            </a:r>
          </a:p>
        </p:txBody>
      </p:sp>
    </p:spTree>
    <p:extLst>
      <p:ext uri="{BB962C8B-B14F-4D97-AF65-F5344CB8AC3E}">
        <p14:creationId xmlns:p14="http://schemas.microsoft.com/office/powerpoint/2010/main" val="19088885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5CC40-719F-4D6F-8F2B-C599F7F4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490A8-C143-4363-903F-C221145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0D6FE-35DB-4B2B-8B33-35C25C8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Tıbbi tanıda eksik bilgi ve reject 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6D0B5-EC64-40D3-975E-9DB2E9C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6670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Hasta bilgileri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62FD-4A78-45D3-A843-ED3274DA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Yaş, geçmiş, belirtiler, testler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ADA0-797F-4E1C-8F95-715D928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9525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ECF05-5432-4626-A79D-8CDC45B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238125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Tanı modeli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C57D3-70A9-4484-BD14-0D68625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9525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39C62-3344-4158-993E-AFFC2C03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38125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Hastalık sınıfı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C000-651F-4CE8-A216-F1A729B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122BD-BBAC-4177-A2C1-1985709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Neden yalnızca tahmin yetmez?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26908-F5F3-44F6-84DD-FD69AA1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Eksik girdi:</a:t>
            </a: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 Her test uygulanmamış olabilir.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Test maliyeti:</a:t>
            </a: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 Zaman, para ve hasta konforu etkilenir.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Yanlış karar maliyeti:</a:t>
            </a: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 Yanlış veya gecikmiş tedavi doğurabilir.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Reject option:</a:t>
            </a: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 Model emin değilse kararı uzmana bırakır.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E9120-35A6-45E1-80F2-A61996C6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19</a:t>
            </a:r>
          </a:p>
        </p:txBody>
      </p:sp>
    </p:spTree>
    <p:extLst>
      <p:ext uri="{BB962C8B-B14F-4D97-AF65-F5344CB8AC3E}">
        <p14:creationId xmlns:p14="http://schemas.microsoft.com/office/powerpoint/2010/main" val="9425401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34407-FBA2-4A0C-8AE3-84746CA3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5303C-4274-474C-87B6-364D9A5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23A84-A575-4E05-B092-C11A883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Konuşma, dil ve biyometri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85131fc7e4f42"/>
          <a:srcRect xmlns:a="http://schemas.openxmlformats.org/drawingml/2006/main" l="0" t="9649" r="0" b="9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81125"/>
            <a:ext cx="3619500" cy="4381500"/>
          </a:xfrm>
          <a:prstGeom xmlns:a="http://schemas.openxmlformats.org/drawingml/2006/main" prst="roundRect">
            <a:avLst>
              <a:gd name="adj" fmla="val 47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AB7E4-3428-40E8-9D16-965036A7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Speech recognition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249B9-C10E-4B71-8DAC-C43047B6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Akustik sinyalden sözcüğe eşleme. Yaş, cinsiyet ve aksan ses örüntüsünü değiştirir.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B1FFF-B895-4765-9D76-3DA9A06F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Language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89AFE-FD4B-4638-A92D-E3F0327A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Büyük bir metin derleminden öğrenilen dil modeli, akustik bilginin yetmediği durumlarda bağlam sağlar.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F610B-E1F9-43EB-9439-FB8FC3E0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NLP uygulamaları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5B62-9F21-4D80-A133-BE09DD6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Spam filtreleme, özetleme, trend çıkarma, reklam seçimi ve makine çevirisi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75A5D-C370-468C-8FB5-A6A94A34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Biometrics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E145-A316-42EC-8652-B653061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Yüz, parmak izi, iris, avuç içi; imza dinamiği, ses, yürüyüş ve tuş vuruşu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1585A-2561-4580-8D31-A0258420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Alan Quirvan / Unsplash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078E4-3EE4-48D9-841C-826C6EC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20</a:t>
            </a:r>
          </a:p>
        </p:txBody>
      </p:sp>
    </p:spTree>
    <p:extLst>
      <p:ext uri="{BB962C8B-B14F-4D97-AF65-F5344CB8AC3E}">
        <p14:creationId xmlns:p14="http://schemas.microsoft.com/office/powerpoint/2010/main" val="17243413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71FEA-9DBF-46F9-B2F0-66C41B3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7E069-A138-4CD7-9961-F3B1054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1.2.2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4CE1-D196-4210-BF02-3BEC28C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Modelin üç ek işlevi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A0347-20C1-4C0F-BCB2-28C90421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2A6ED-DC72-4E71-9F54-B124E62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333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F3F28-015D-4C9C-B789-0A51BB8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47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Knowledge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D2C85-54DD-4CD6-AF1C-CED34D1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19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Bilgi çıkarımı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FE9B5-6B6B-45FA-9406-3122740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Basit kural, verinin altında yatan süreci açıklamaya yardım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02246-A8EC-4C64-9561-F725F1AB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0791A-9B63-4365-BDE5-6B1B7B07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333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8D79-9411-4CB5-B9A5-4C3D1BB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76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Compression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F13AA-71FB-4336-8D45-A4B025DE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Sıkıştırma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76B04-BC98-46C8-B80B-76DBEC4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146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Kuralı saklamak, bütün örnekleri tek tek saklamaktan daha kısa olabilir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5A77F-5F89-498F-BFCE-7053F7F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668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E54B9-52CB-40A7-B4E1-6E5B783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3335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0782E-8AAF-4F5C-81C3-2263075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Outlier / novelty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37645-8ABB-46AC-BAF0-AC68617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Aykırı / yenilik tespiti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C7C2F-B516-494C-B807-4C2F1A3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434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Genel kurala uymayan örnek dolandırıcılık veya yeni geçerli durum olabilir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6B91F-6A3D-48E6-A14B-90BCA102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1.2.2  •  21</a:t>
            </a:r>
          </a:p>
        </p:txBody>
      </p:sp>
    </p:spTree>
    <p:extLst>
      <p:ext uri="{BB962C8B-B14F-4D97-AF65-F5344CB8AC3E}">
        <p14:creationId xmlns:p14="http://schemas.microsoft.com/office/powerpoint/2010/main" val="4482679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3E758-7870-4521-A438-F1A0CE6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2CEF1-8406-4731-AA4F-DE514A4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1.2.3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90737-7259-4A76-B3AB-91C1775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Regression: Sayısal çıktı tahmini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69cd9d98a040a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CAC0D-BC85-44ED-8544-D8FCAC48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Girdiler 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9246A-2527-466C-8941-FB4470F0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Marka, yıl, motor hacmi, kilometre ve diğer araç özellikleri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A033-9B2F-4ECB-AA6F-73987170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Çıktı (Y)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D22A0-C845-48B6-9ABB-43332C6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Araç fiyatı gibi sürekli bir sayı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2EE7C-073C-4EE7-A5C4-74DACF8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05375"/>
            <a:ext cx="30480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y = wx + w₀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548EC-7324-4EBF-8801-1C3D80D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1.2.3  •  22</a:t>
            </a:r>
          </a:p>
        </p:txBody>
      </p:sp>
    </p:spTree>
    <p:extLst>
      <p:ext uri="{BB962C8B-B14F-4D97-AF65-F5344CB8AC3E}">
        <p14:creationId xmlns:p14="http://schemas.microsoft.com/office/powerpoint/2010/main" val="12769611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1F522-3A9D-4350-B5E2-109FE03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04F7-F8B7-4B90-9C48-4E456DF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1.2.3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03FD6-1D7F-4150-817F-1B3D0FDA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Supervised learning için ortak gösterim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88A84-A542-4B72-83CB-0CE9E04D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64770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 = g(x | θ)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8D7D-AFD0-49C9-99D5-6E007AF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8B1ED-7A8F-49ED-B334-55B7395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Girdi özellikleri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48771-6367-49FE-A2E8-DC12632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86A77-D3E9-4034-A72F-8D4675A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Doğru çıktı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F9944-3929-4C73-AB6B-99BD1387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g(·)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D3283-2EEE-494D-9442-C0680CC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Model / eşleme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92A3A-872A-4511-8661-99A1F5FA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7C0B9-7315-4646-A462-8DD19A4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57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Öğrenilen parametreler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3BAE5-696F-4C99-AF36-E32DFD0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A972A-D539-4CD4-AFB2-E01EC69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Sınıflandırma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56AD7-65B5-4D53-A1EB-84DB195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y bir sınıf kodudur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3AA5B-44F4-4EE6-B6EC-5EBB347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95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Regresyon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C0240-0E8A-4BF7-A499-F63EF60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y sayısal bir değerdir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FA160-0567-4186-A690-2775BEC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1.2.3  •  23</a:t>
            </a:r>
          </a:p>
        </p:txBody>
      </p:sp>
    </p:spTree>
    <p:extLst>
      <p:ext uri="{BB962C8B-B14F-4D97-AF65-F5344CB8AC3E}">
        <p14:creationId xmlns:p14="http://schemas.microsoft.com/office/powerpoint/2010/main" val="21197166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54755-BC31-4D54-ADF0-650D7FB0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B091D-9456-4643-B3A2-54F3298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1.2.3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28823-98DE-4558-AE8D-1F070886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Model esnekliği: Doğrusal mı, eğrisel mi?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7627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719e893c9941f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1B3D5-8E35-47AE-BE1F-D9514F15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Doğrusal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F1B16-D55B-41A9-9E13-052C5B4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 = wx + w₀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A233-7F1E-4EA4-81CF-9CC88A3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Daha az esnek, daha kolay yorumlanır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3F6D6-0AE4-42F7-A9AB-3676E3BB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İkinci derece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21079-09C0-4EE0-A822-D828739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 = w₂x² + w₁x + w₀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E9444-4D8D-45C3-BCA0-AAA06416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Eğrisel ilişkileri yakalayabilir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54180-5C31-4686-BE39-398B681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Amaç: eğitim hatasını azaltırken işe uygun karmaşıklık seçmek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B049D-BECD-4BDD-B00C-3EEB54EA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1.2.3  •  24</a:t>
            </a:r>
          </a:p>
        </p:txBody>
      </p:sp>
    </p:spTree>
    <p:extLst>
      <p:ext uri="{BB962C8B-B14F-4D97-AF65-F5344CB8AC3E}">
        <p14:creationId xmlns:p14="http://schemas.microsoft.com/office/powerpoint/2010/main" val="16901723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50BF0-4F3F-45D9-9255-9D8F8A95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B8CB-DA76-4B66-9BF0-2E822A74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1.2.3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5DDB-BF6F-4711-B54B-2717E621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Regresyonun diğer kullanım biçimleri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59D7-748F-4D2A-8995-751D48E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429000" cy="39052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C6BE4-5F55-4A8B-8A04-C2DC24D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BF14E-87CD-46BA-98B4-028C8A3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D4135-3E94-4F0E-B9D2-856286B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Robot / araç kontrolü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B42D5-D8BC-4729-89AF-ACEFE6E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Sensörlerden direksiyon açısı gibi sürekli bir eylem tahmin edilir.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3E4B1-3105-43BC-B6A8-EA50DFD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429000" cy="39052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A9636-AB37-43C2-9DA9-B6D47F79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9A70A-0D48-4B97-981F-3D66DBB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795E8-5AC0-43C2-B0F7-FFFE4B1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193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Response surface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D05C0-516B-42C4-895B-440B8ED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Kahve kavurma ayarları ile kalite arasındaki yüzey modellenir; yeni deneyler mevcut optimum yakınında seçilir.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0A780-A7B2-4F8E-83E1-F8565C6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429000" cy="39052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DD6E2-1A27-46B6-92A4-28A774C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EB8B2-9C74-46E3-A2B8-C37FA8EF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6C0F1-B4AB-4BD0-8135-A32B996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Ranking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7564F-D07F-4BED-9A1E-536E062F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Film gibi seçenekler kullanıcının beğenme olasılığına göre sıralanır.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B449C-22ED-4EDB-BE5A-4D43093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1.2.3  •  25</a:t>
            </a:r>
          </a:p>
        </p:txBody>
      </p:sp>
    </p:spTree>
    <p:extLst>
      <p:ext uri="{BB962C8B-B14F-4D97-AF65-F5344CB8AC3E}">
        <p14:creationId xmlns:p14="http://schemas.microsoft.com/office/powerpoint/2010/main" val="9435658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E46B9-46F0-4481-8E3A-9228E2C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A805-53D6-428A-9148-4AB89F9E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1.2.4 UNSUPERVISED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C613D-1D87-464F-960B-044BA9B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Supervised ve unsupervised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395E-F91C-4511-9655-F2C9C5D2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Supervised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37B1F-F455-408C-BC98-494FAB99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38375"/>
            <a:ext cx="304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(x, 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14240-EE03-4FBE-8A63-A5EB67D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Doğru çıktı supervisor tarafından verilir. Model x → y eşlemesini öğrenir.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06324-0695-4829-8CB4-C38B21B3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285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5C517-1A06-4D6E-B2EA-F8E030B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Unsupervised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6BA89-030F-4167-A773-D75F0D98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04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1E2FA-74E9-4E8E-96E9-26D6FA0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Etiket yoktur. Amaç girdide sık görülen düzenlilikleri ve yapıyı keşfetmektir.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D21CC-A8AA-4162-9888-8E600D01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Statistics: density estimation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9C0AF-BC73-4A75-8BD4-6707BF1B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1.2.4  •  26</a:t>
            </a:r>
          </a:p>
        </p:txBody>
      </p:sp>
    </p:spTree>
    <p:extLst>
      <p:ext uri="{BB962C8B-B14F-4D97-AF65-F5344CB8AC3E}">
        <p14:creationId xmlns:p14="http://schemas.microsoft.com/office/powerpoint/2010/main" val="10133331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8AF4A-63EA-45FF-8D6C-498131B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9C525-4ED3-4025-83B6-66F26A0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1.2.4 UNSUPERVISED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6C05-25F5-4E7A-BF53-7276B9C1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Clustering: Doğal grupları bulmak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67627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76ba9aedd4fd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3248F-AEB6-4EAC-97CF-B9F6EC4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Customer 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BD8C4-09C8-449D-89C0-1391485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Benzer demografi ve işlem geçmişine sahip müşteriler aynı grupta toplanır.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33144-F532-4306-ACF0-96D17A84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Sonuçlar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340BA-B9E3-4FA4-84E7-0212CFC7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Gruba özel ürün ve hizmet stratejileri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Customer relationship management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Pazar nişi olabilecek aykırı müşteriler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E44FD-0027-4485-B6CC-9C0A7DD9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1.2.4  •  27</a:t>
            </a:r>
          </a:p>
        </p:txBody>
      </p:sp>
    </p:spTree>
    <p:extLst>
      <p:ext uri="{BB962C8B-B14F-4D97-AF65-F5344CB8AC3E}">
        <p14:creationId xmlns:p14="http://schemas.microsoft.com/office/powerpoint/2010/main" val="3421010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F1645-939F-4EAD-9F07-663D1B52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13767-A8D4-4C70-AAC7-602CFFBA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1.2.4 UNSUPERVISED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6E9DE-578F-4FB8-A6A5-38FEEBA0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Kümeleme ile görüntü sıkıştırma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FA84C-8C07-4F88-BAEC-847B66A0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24 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9CA03-99DB-4CC5-8368-FFCC8D9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4F7E0-DB0D-4A93-90E9-7142C4A3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5A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9B9D8-7960-43B2-8272-AF5D353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B7A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57CE5-2B8B-404B-B1DA-E0DD803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FA8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FE907-4FB6-4932-96E4-6DD7F40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ED1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EB475-C94B-4055-BA9F-B57777CE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9E6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63E5C-66F0-4CDF-B37B-E8ED9F4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C3B8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908CF-F0A7-4524-859E-C9DBFB6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B5F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62483-2AB5-40A6-B39C-5F4C1DF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06C9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3BEE3-D535-46EA-9652-A4391C23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A6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D862A-DA0D-48AC-BA63-5E8940D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C4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E8BE1-3971-4E89-85BC-B54B2C5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8A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966C8-3A06-4CE2-8BDA-E58B79A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BFF33-E831-451A-A0B4-40FA336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763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6 bit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E1CD4-4E71-4A6B-9875-660D159B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68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5A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0A7AD-C7A3-439E-8E60-1BBA43BA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68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8ED1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B6326-2058-4C27-8501-58B56C6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68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8B5FB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A8A0E-3041-43B2-AEE3-CF1A388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685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8A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9FC7D-F610-4C0D-A3EB-7E539A83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16 milyon renk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4D5AF-20A9-40CE-94E1-DAD13E9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3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64 ana renk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4C930-03AE-4595-8B97-A25E6F5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4824D-06F1-4CFF-90AE-9E5C44B2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6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Quantization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83A16-2C95-4C8A-86A4-E6C18E9B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Benzer renkleri aynı kümeye atayıp her kümeyi ortalama bir renkle kodlamak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47406-FE5A-4FB9-AB58-18061D0A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Kazanç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7F7C6-7603-4810-924D-590D76E0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Daha az depolama ve iletim maliyeti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8FF33-AA7A-47B2-9CA2-C63C308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Bedel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70631-D2C3-4607-8622-C74E53A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34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Renk ayrıntısında kayıp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A0094-8D6D-4C6E-8D6F-6BE2B10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1.2.4  •  28</a:t>
            </a:r>
          </a:p>
        </p:txBody>
      </p:sp>
    </p:spTree>
    <p:extLst>
      <p:ext uri="{BB962C8B-B14F-4D97-AF65-F5344CB8AC3E}">
        <p14:creationId xmlns:p14="http://schemas.microsoft.com/office/powerpoint/2010/main" val="16015707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831C6-0754-4DFC-837F-0A07FA5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C1ACB-845F-4AEA-B1B9-7D9F0BC8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1.2.4 UNSUPERVISED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79B7-1BB5-44C4-84D6-DB8D8EB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Document clustering ve bag of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79F1C-DA0F-4DDA-BABE-D83BE9E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0955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Belge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F6DE0-D5F5-456F-AB3A-9F53930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8572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35636-CFE1-4259-9DBD-53AF14D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76375"/>
            <a:ext cx="2857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Sözlükteki N kelime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81969-348A-455F-8318-222D4389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8572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778D1-AB05-4D41-9FD3-F39B37CE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76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N boyutlu vektör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43020-7FDB-4705-8A8C-764D4B74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[1, 0, 1, 0, 0, 1, …]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3E1BF-468B-4E4F-9BC6-7FCEAB24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2F1D8-3059-473C-A62F-8E58BA9D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Ön işleme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41B3C-9D8C-4519-8D87-5D21CD8F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Ekleri azaltmak, sık fakat bilgi taşımayan sözcükleri çıkarmak ve uygun sözlüğü seçmek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DB3C0-E127-47E1-948B-2E81EDF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Kümeleme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C79BA-3CAC-4BE3-9B91-0CE61BC9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Ortak sözcük sayısına göre siyaset, spor, moda ve sanat gibi doğal belge grupları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78450-EB06-47C7-B8B0-8901C66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1.2.4  •  29</a:t>
            </a:r>
          </a:p>
        </p:txBody>
      </p:sp>
    </p:spTree>
    <p:extLst>
      <p:ext uri="{BB962C8B-B14F-4D97-AF65-F5344CB8AC3E}">
        <p14:creationId xmlns:p14="http://schemas.microsoft.com/office/powerpoint/2010/main" val="13533120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3536B-E856-4C09-BB3C-4E2B1E9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FC54C-F607-4E62-9639-9F37223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1.2.4 UNSUPERVISED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2DAA9-D2BF-4307-ACE4-40532986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Bioinformatics: Hizalama ve motif keşfi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d15240e9046ec"/>
          <a:srcRect xmlns:a="http://schemas.openxmlformats.org/drawingml/2006/main" l="4255" t="0" r="4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381125"/>
            <a:ext cx="4095750" cy="4476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DE0E6-379B-4469-B4BA-05F4C1FC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76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1FE13-F37C-403E-ABCD-1EE1A3E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A, G, C ve T bazlarından oluşan dizi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2B282-12BF-40CE-9DBF-1F12DB30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Alignment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43ED1-49CA-4AB1-992C-1B0FEFA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Uzun dizileri silme, ekleme ve değiştirmelere rağmen eşleştirme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D58FF-645C-4E02-BE84-EE7F1CE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Motif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EDED7-C18F-425A-91DF-1B6D7D7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38500"/>
            <a:ext cx="3952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Proteinlerde tekrar eden ve yapısal ya da işlevsel anlam taşıyabilen amino asit dizisi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6CB7E-5583-40F5-AF0B-67F252E4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9625"/>
            <a:ext cx="571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7610E-DC87-4934-AE02-0EF3CE77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Benzetme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3115E-41BE-40D7-B5D2-A60A56A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Amino asitler harf, proteinler cümle, motifler anlamlı sözcükler gibidir.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71054-204B-4FF2-B75A-BAB93154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Görsel: Université Paris-Saclay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952C7-B814-40DE-9FE6-EFE1B2B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1.2.4  •  30</a:t>
            </a:r>
          </a:p>
        </p:txBody>
      </p:sp>
    </p:spTree>
    <p:extLst>
      <p:ext uri="{BB962C8B-B14F-4D97-AF65-F5344CB8AC3E}">
        <p14:creationId xmlns:p14="http://schemas.microsoft.com/office/powerpoint/2010/main" val="3262037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0AFEC-D442-4A2A-9A96-BC103FB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78387-D0D9-436E-BB60-15170997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1.2.5 REINFORCEMENT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C09A-228A-4FB4-92F5-23F28B08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Reinforcement learning: Eylem dizisi öğrenmek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8B135-2EAF-498B-81F1-FCD6F9E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190750" cy="762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Durum (s)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1605D-6D17-43E7-A8AC-0FA6C3A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571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656A5-F6BC-4BCF-85FD-179739B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190750" cy="762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Eylem (a)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96067-91E3-4082-8307-743BCB6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95500"/>
            <a:ext cx="571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7FAFE-E0DC-4E2E-A1AF-3775DAD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90750" cy="762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Ödül (r)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76591-C04A-4DA2-B72B-363FC6F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571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C7AE8-8A71-47B1-86C6-0C9F318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190750" cy="762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Yeni durum (s′)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0CD59-D0BB-419C-82C9-87ED8AB9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Policy (politika)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06F30-D234-42EF-B37A-CC2AF7FD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Hedefe ulaşmak için durumlara hangi eylemlerin seçileceğini belirleyen strateji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C2A7-4578-46E9-BE99-19CB097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Tek bir eylemin değeri, iyi bir eylem dizisinin parçası olmasına bağlıdır.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DF74B-2174-44FC-B7B5-571113C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1.2.5  •  31</a:t>
            </a:r>
          </a:p>
        </p:txBody>
      </p:sp>
    </p:spTree>
    <p:extLst>
      <p:ext uri="{BB962C8B-B14F-4D97-AF65-F5344CB8AC3E}">
        <p14:creationId xmlns:p14="http://schemas.microsoft.com/office/powerpoint/2010/main" val="12101381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82BBB-0A06-4258-9784-F7F3700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2004-6E3B-4ED6-AA2A-D1ED0E41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1.2.5 REINFORCEMENT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02B1-1A52-41BC-85B3-04D5FDFF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Oyunlar ve robot gezinimi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df68aeaed4a83"/>
          <a:srcRect xmlns:a="http://schemas.openxmlformats.org/drawingml/2006/main" l="8418" t="0" r="84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381125"/>
            <a:ext cx="5048250" cy="4048125"/>
          </a:xfrm>
          <a:prstGeom xmlns:a="http://schemas.openxmlformats.org/drawingml/2006/main" prst="roundRect">
            <a:avLst>
              <a:gd name="adj" fmla="val 423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723a92bbc48e6"/>
          <a:srcRect xmlns:a="http://schemas.openxmlformats.org/drawingml/2006/main" l="5923" t="0" r="5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4625" y="1381125"/>
            <a:ext cx="5048250" cy="4048125"/>
          </a:xfrm>
          <a:prstGeom xmlns:a="http://schemas.openxmlformats.org/drawingml/2006/main" prst="roundRect">
            <a:avLst>
              <a:gd name="adj" fmla="val 423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04AE8-D517-4C96-AA3B-CB5D66E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Satranç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64A13-2D16-4C7D-AD5C-31B2E9F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Az sayıda kural, çok büyük arama uzayı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4A28E-ADF0-4650-A349-CDF83EA2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72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Robot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637B3-12C5-48EE-8094-56BB542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53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Deneme yanılmayla kısa ve güvenli rota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72347-357B-4560-9DAB-4F715B43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388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defRPr>
            </a:pPr>
            <a:r>
              <a:rPr sz="675" b="0" i="0">
                <a:solidFill>
                  <a:srgbClr val="93A0AD"/>
                </a:solidFill>
                <a:latin typeface="DejaVu Sans"/>
                <a:ea typeface="DejaVu Sans"/>
                <a:cs typeface="DejaVu Sans"/>
              </a:rPr>
              <a:t>Görseller: Leanna Cushman / Unsplash; RIKEN BDR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E0F1F-6462-4D14-85D5-4AB16C5A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1.2.5  •  32</a:t>
            </a:r>
          </a:p>
        </p:txBody>
      </p:sp>
    </p:spTree>
    <p:extLst>
      <p:ext uri="{BB962C8B-B14F-4D97-AF65-F5344CB8AC3E}">
        <p14:creationId xmlns:p14="http://schemas.microsoft.com/office/powerpoint/2010/main" val="3880446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21D36-E2FE-49E6-BB67-7075D041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24DA-EEC6-4E36-BF72-777B0E0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1.2.5 REINFORCEMENT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ECCC8-0099-47D8-BE69-695B4C11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Pekiştirmeli öğrenmeyi zorlaştıran durumlar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43553-62A0-498F-B957-7076528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018DA-04D8-43E7-BFAC-53FA4DD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AE035-042B-443C-8DD2-D20C6E16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859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Partial observability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47CB8-E678-4426-97F0-C21144A0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Robot kesin konumunu bilmeyebilir; yalnızca solunda duvar olduğunu algılayabilir.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ADD04-D752-4F0F-BA2C-840CDED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1057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2C9D8-382E-44EF-88B6-82ADAF9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E90B-9999-4188-BC51-5F8FE623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14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Unreliable sensors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71654-24E2-4EDC-9B92-160AE421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Kamera ve diğer sensörler eksik ya da hatalı bilgi üretebilir.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7AD1C-3BFA-4E2E-B658-2D0054E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E4573-2FF6-45D3-B502-13528182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DA863-1F58-4728-8ACA-C136936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Multi-agent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0C7DB-CAA3-4880-92A5-13ED40C8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43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Birden fazla ajan ortak hedef için etkileşir ve iş birliği yapar.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4C9D4-3AC4-411D-92A2-FE7B646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Örnek: Bir robot futbol takımında her ajan hem çevreyi hem takım arkadaşlarını hesaba katar.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213AE-100E-4B06-B7DA-B7CE9879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1.2.5  •  33</a:t>
            </a:r>
          </a:p>
        </p:txBody>
      </p:sp>
    </p:spTree>
    <p:extLst>
      <p:ext uri="{BB962C8B-B14F-4D97-AF65-F5344CB8AC3E}">
        <p14:creationId xmlns:p14="http://schemas.microsoft.com/office/powerpoint/2010/main" val="1028737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85B8E-2997-40F1-9CBB-60410BE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2417E-7E35-4D2E-BF41-8459C77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B8066-D188-4EDB-9473-D8E22EF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Biyolojik öğrenmeden mühendisliğe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9152B-514B-4565-944B-1D74BEE9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381250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F481-665C-4FEA-9E65-3F5355E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Beden yapısı, içgüdüler ve refleksler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7E91-9D0C-46AE-B99B-1BFB9C3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809625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74FB6-5B4F-468A-B6E4-31DB1AA4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143250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Yaşam boyu öğrenme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568F6-87EF-4BB1-A654-CB802E74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Deneyimle davranışı güncelleme ve değişen çevreye uyum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31930-0580-4D86-965A-17661EF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809625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1D6F-8691-4BE7-BDB9-6FCFF5E2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571750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Hatırlama ve eylem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F0168-1257-4C53-A3B8-D822019F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Benzer durum tanınır, uygun strateji geri çağrılır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1BF9A-9FA4-4448-B557-6F59DDE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80B00-E6D5-4AF3-8457-C53CD1C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528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Makine öğrenmesinin amacı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A0524-47F9-40D5-8602-779E097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9625"/>
            <a:ext cx="828675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İnsan veya hayvandaki öğrenme mekanizmasını açıklamak değil, yararlı sistemler kurmaktır.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038E6-C45F-4463-B4DB-991A6176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34</a:t>
            </a:r>
          </a:p>
        </p:txBody>
      </p:sp>
    </p:spTree>
    <p:extLst>
      <p:ext uri="{BB962C8B-B14F-4D97-AF65-F5344CB8AC3E}">
        <p14:creationId xmlns:p14="http://schemas.microsoft.com/office/powerpoint/2010/main" val="15189999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6F14B-56CD-47F3-8952-8D0E62B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A3BF7-CFE9-4F1F-BD51-3B6036A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FFE33-C9D5-459D-B658-3D9BC89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Induction, deduction, estimation ve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9B78-DB56-46FE-B457-D13D83B6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8575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Belirli gözlemler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8E19D-989C-458E-94D3-467CB1D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2400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A20C0-394A-4F6C-B0F7-F083F57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28575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Genel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12469-6E0D-4AEB-8B7F-99E9A95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D9E1-0E67-4888-B3A4-194FDF9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257175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Yeni örnek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D46A4-99CA-4CD8-B8BE-D00619AB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Induction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CCBDD-02E8-4BFA-AAC2-3D3B4CB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Özel örneklerden genel kural çıkarma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29759-ACAD-4695-820D-0C80952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Deduction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C387B-1BDA-4B23-865F-8BEDB058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Genel kuralı belirli örneğe uygulama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FDBB0-D790-4AC0-8C8D-C5568C58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5CD7E-5976-4705-9812-76BCF10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İstatistik terminolojisi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73817-4DDB-4A62-88E5-1E8714DF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Inference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E4C8D-37A5-4D00-A5DA-5BD56AC8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Örneklemden genel betimlemeye gitme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E39F1-BE43-4BE1-AE70-7D01C12F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3644C-F6CD-46CE-9A0C-07F37D24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Model parametrelerini tahmin etme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F58A8-10DB-463D-89EB-300305B1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Discriminant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F9640-8F49-41CC-A233-80F0561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334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Sınıflandırmanın istatistikteki adı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DAAD1-852A-49A6-9B4F-D68470D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35</a:t>
            </a:r>
          </a:p>
        </p:txBody>
      </p:sp>
    </p:spTree>
    <p:extLst>
      <p:ext uri="{BB962C8B-B14F-4D97-AF65-F5344CB8AC3E}">
        <p14:creationId xmlns:p14="http://schemas.microsoft.com/office/powerpoint/2010/main" val="19292875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8436C-2BE5-4524-9186-D3EBFDE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AB34E-B007-4A15-8244-8AD80A4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9DB8C-AD2C-4B57-85CD-D19CE79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Farklı topluluklar, ortak problemler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381125"/>
          <a:ext xmlns:a="http://schemas.openxmlformats.org/drawingml/2006/main" cx="1028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048500"/>
              </a:tblGrid>
              <a:tr h="6327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Topluluk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Yaygın terim / vurgu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Statistics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Inference, estimation, discriminant analysis, parametric models</a:t>
                      </a:r>
                    </a:p>
                  </a:txBody>
                  <a:tcPr marL="95250" marR="95250" marT="57150" marB="57150" anchor="ctr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Pattern recognition, empirical and nonparametric approaches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Artificial intelligence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Değişen çevreye uyum sağlayan akıllı sistemler</a:t>
                      </a:r>
                    </a:p>
                  </a:txBody>
                  <a:tcPr marL="95250" marR="95250" marT="57150" marB="57150" anchor="ctr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 processing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Uyarlanabilir görme ve konuşma; Hidden Markov Models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Neural networks</a:t>
                      </a:r>
                    </a:p>
                  </a:txBody>
                  <a:tcPr marL="95250" marR="95250" marT="57150" marB="571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Dağıtık hesaplama; multilayer perceptron</a:t>
                      </a:r>
                    </a:p>
                  </a:txBody>
                  <a:tcPr marL="95250" marR="95250" marT="57150" marB="57150" anchor="ctr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mining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Büyük veri üzerinde makine öğrenmesi; KDD</a:t>
                      </a:r>
                    </a:p>
                  </a:txBody>
                  <a:tcPr marL="95250" marR="95250" marT="57150" marB="57150" anchor="ctr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C98DD-1A39-4C9C-899A-8195F17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36</a:t>
            </a:r>
          </a:p>
        </p:txBody>
      </p:sp>
    </p:spTree>
    <p:extLst>
      <p:ext uri="{BB962C8B-B14F-4D97-AF65-F5344CB8AC3E}">
        <p14:creationId xmlns:p14="http://schemas.microsoft.com/office/powerpoint/2010/main" val="304223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4591E-F2A2-4962-B8DF-1CEA92D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E224D-FC9E-47DE-A60F-7A2636CA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17DC7-38DC-43ED-BEF6-33A62C4C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HMM, sinir ağları ve kernel yöntemleri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8ABF5-1BEA-4A3B-84F6-00A9CDB0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962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F53F2-83CF-4C21-A3A7-F909C023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BEA1-1467-4A05-A47B-0079A45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Hidden Markov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8D0F2-9CB3-49DE-BA95-810F1122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Konuşma tanımada zamansal gizli durumların modellenmesi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3A024-4FEF-4777-B474-C6CB585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1969A-3728-496B-9D9F-FA28E93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481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Artificial neural networks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C0BA3-3D01-49AE-AE71-3E000D6D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148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1980'lerin sonunda VLSI ve paralel donanımla yeniden yükseliş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1A500-2F32-4477-A217-6930431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6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C7499-EE79-46D5-AC82-0CB3B76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Multilayer perceptron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66052-4775-44EB-872E-8A6977C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383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İstatistiksel temeli olan esnek bir tahminleyici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A6FE2-1567-4C86-B441-9B85388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E14AD-4F9D-44F0-8B40-57F1082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SVM + kernels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0FC2E-8878-49E5-A9B3-F65F5D3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148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Özellik uzayındaki benzerliği uzman bilgisiyle tanımlama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64558-E896-4B7D-B6BF-9B20F34C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Representation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C32C4-E31D-4BBC-841C-6EBF3501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86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İyi veri temsili, hangi benzerliklerin öğrenileceğini belirler.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62566-35D7-44DC-B02D-2DA257D5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37</a:t>
            </a:r>
          </a:p>
        </p:txBody>
      </p:sp>
    </p:spTree>
    <p:extLst>
      <p:ext uri="{BB962C8B-B14F-4D97-AF65-F5344CB8AC3E}">
        <p14:creationId xmlns:p14="http://schemas.microsoft.com/office/powerpoint/2010/main" val="8627441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04FF1-E248-4EB8-8BB0-4DF4D3DD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5C067-B336-40D3-A4B7-D9319D6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F71C7-BAC2-48B3-A2AA-5E1A2644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Generative models, graphical models ve Bayes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D93C9-BB7B-4654-8BBE-3929C20D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8575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7456C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Gizli faktörler (Z)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2F32-2601-4E91-884B-92601496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1047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4116F-4ED0-4C0A-A4C0-54AC54A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28575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Gözlenen veri (X)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A4C04-A1B1-4BBC-BB94-5545A330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Generative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275B-7965-44D4-925E-4D60F6B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Gözlenen veriyi gizli faktörlerin etkileşimiyle açıklar.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5DC41-4954-4091-91A2-950A7032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A186A-163C-4B4B-B4B0-14604FA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Graphical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F4406-0B95-4303-86D6-C75D7766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Faktörler ve veri arasındaki bağımlılıkları görselleştirir.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CA1A9-341A-44C8-AF8F-1495F88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Prior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F9884-98ED-46DB-BC9E-DC50A41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Veri görülmeden önce model veya gizli faktörler hakkındaki bilgi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3340-0B14-4023-9CDC-BA0AFCFE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Posterior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D4AA1-2253-4FC8-AE4B-C0CAC25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Yeni veriyle güncellenen bilgi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9F323-37D4-4786-BF35-B5638CAE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76875"/>
            <a:ext cx="6286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Posterior ∝ Likelihood × Prior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03652-9E3A-4515-B059-1BC2508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38</a:t>
            </a:r>
          </a:p>
        </p:txBody>
      </p:sp>
    </p:spTree>
    <p:extLst>
      <p:ext uri="{BB962C8B-B14F-4D97-AF65-F5344CB8AC3E}">
        <p14:creationId xmlns:p14="http://schemas.microsoft.com/office/powerpoint/2010/main" val="18769156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CB746-B67F-4B8B-ACF9-C89DC738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45685-F59A-441D-A36D-6B398A2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1.3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8C5C2-FDBD-436B-9747-E6F09CA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Veri ve hesaplama gücü öğrenmeyi ölçekler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D4A6C-7A17-497F-8BA2-4495215B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1432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2591-2274-4D67-943D-AD415ECA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Daha fazla ve çeşitli örnek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2E05B-C929-4EBC-8722-07F2A1F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6DBA2-4BAC-41E2-BC9C-5E979EAC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Uzun eğitim ve büyük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1BB1F-B4E3-4CD5-8A07-5A8CB51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05D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C00E-CEF4-4B24-9791-772BD61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Basit fikirlerin büyük ölçekte uygulanması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F09D6-D421-4708-9126-C67F8D9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76625"/>
            <a:ext cx="866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D2DDA-2E40-46E9-B842-7356B38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Kitabın 2014 tarihli yorumu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C80D0-D96D-4D90-9943-828975B8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i="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Birçok yaklaşımın kökü 1950 ve 1960'lara uzanır. Büyük veri ve ucuz hesaplama, bu yöntemlerin potansiyelini görünür kılmıştır.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948E6-7732-47C1-A7AB-5CB01D6A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Data mining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C9D5F-CB95-48A5-9898-CE50C721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9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İş dünyasındaki 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40754-0EB2-44CC-9EE2-F92182AD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KDD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24F8F-B89C-4FE1-9199-D7E8B9B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96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Knowledge Discovery in Databases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AA759-85B5-454E-9F5E-4A78137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1.3  •  39</a:t>
            </a:r>
          </a:p>
        </p:txBody>
      </p:sp>
    </p:spTree>
    <p:extLst>
      <p:ext uri="{BB962C8B-B14F-4D97-AF65-F5344CB8AC3E}">
        <p14:creationId xmlns:p14="http://schemas.microsoft.com/office/powerpoint/2010/main" val="78875235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5D515-C0BB-4DB4-9EA5-D6AB060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C5418-CD57-4355-A17C-2EA103A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1.4 RELEVANT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BFD44-642C-4EC7-91BF-B2C2EE1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Kaynaklar ve benchmark uyarısı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F7B1E-DFCB-4A6F-B5E3-D652A6F9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Yayın yerleri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F6396-837B-4F91-8F11-3A15E6B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Machine Learning, JMLR, Neural Computation, IEEE TNNLS, PAMI ve ilgili istatistik / sinyal işleme dergileri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650AE-2EC8-4F12-8579-EC8E0709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Konferanslar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DBDB0-5133-48EB-8A15-D00A2BA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NIPS, UAI, ICML, ECML, AISTATS ve COLT</a:t>
            </a:r>
          </a:p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(Kitaptaki 2014 adlandırmaları)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8B999-F5F1-4ADC-ABB5-1A0E764D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7B23A-BD7D-455E-A648-21F53CFB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Veri ve yazılım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C74B3-72EC-4E9C-807A-F4C2276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UCI Machine Learning Repository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StatLib Repository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Weka ve diğer açık araç kutuları</a:t>
            </a:r>
          </a:p>
          <a:p xmlns:a="http://schemas.openxmlformats.org/drawingml/2006/main">
            <a:pPr marL="254000" indent="-127000" algn="l">
              <a:spcAft>
                <a:spcPts val="700"/>
              </a:spcAft>
              <a:buChar char="•"/>
              <a:def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17212B"/>
                </a:solidFill>
                <a:latin typeface="DejaVu Sans"/>
                <a:ea typeface="DejaVu Sans"/>
                <a:cs typeface="DejaVu Sans"/>
              </a:rPr>
              <a:t>Yazarların kodları, veri kümeleri ve ders videoları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0533B-ECAF-4DE7-AFB7-85923FDE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Benchmark tuzağı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F9BCC-7886-4C0E-A5EB-6270A0A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Aynı sabit veri kümelerine sürekli uyarlanan algoritmalar, gerçek uygulamaya değil benchmark'a özelleşebilir.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EA81C-F310-4512-9667-8F23920A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1.4  •  40</a:t>
            </a:r>
          </a:p>
        </p:txBody>
      </p:sp>
    </p:spTree>
    <p:extLst>
      <p:ext uri="{BB962C8B-B14F-4D97-AF65-F5344CB8AC3E}">
        <p14:creationId xmlns:p14="http://schemas.microsoft.com/office/powerpoint/2010/main" val="21335299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5BD99-F79E-4371-871B-DB8029C4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3E4E0-1F37-49BF-9B31-E799D384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BÖLÜM ÖZETI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03655-C8AF-4F4C-8476-3603E256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Temel terimler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33750"/>
                <a:gridCol w="2190750"/>
                <a:gridCol w="3333750"/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Terim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Kısa karşılık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Terim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Kısa karşılık</a:t>
                      </a:r>
                    </a:p>
                  </a:txBody>
                  <a:tcPr marL="91440" marR="91440" marT="45720" marB="45720" anchor="ctr"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Association rule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Birliktelik kuralı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Discriminant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Sınıfları ayıran işlev</a:t>
                      </a:r>
                    </a:p>
                  </a:txBody>
                  <a:tcPr marL="57150" marR="57150" marT="38100" marB="38100"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Classification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Sınıflandırma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Regression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Sayısal çıktı tahmini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Supervised learning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Denetimli öğrenme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Unsupervised learning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Denetimsiz öğrenme</a:t>
                      </a:r>
                    </a:p>
                  </a:txBody>
                  <a:tcPr marL="57150" marR="57150" marT="38100" marB="38100"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Density estimation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Yoğunluk tahmini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Clustering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Kümeleme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Pattern recognition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Örüntü tanıma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Ranking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Sıralama öğrenme</a:t>
                      </a:r>
                    </a:p>
                  </a:txBody>
                  <a:tcPr marL="57150" marR="57150" marT="38100" marB="38100"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Outlier detection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Aykırı değer tespiti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Novelty detection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Yenilik tespiti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Reinforcement learning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Pekiştirmeli öğrenme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Policy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Politika / strateji</a:t>
                      </a:r>
                    </a:p>
                  </a:txBody>
                  <a:tcPr marL="57150" marR="57150" marT="38100" marB="38100"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Induction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Tümevarım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Inference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Çıkarım</a:t>
                      </a:r>
                    </a:p>
                  </a:txBody>
                  <a:tcPr marL="57150" marR="57150" marT="38100" marB="38100" anchor="ctr">
                    <a:solidFill>
                      <a:srgbClr val="EA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Estimation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Tahminleme / kestirim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 / posterior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Önsel / sonsal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9EBF7-2FA5-461C-BB55-BB527AC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Özet  •  41</a:t>
            </a:r>
          </a:p>
        </p:txBody>
      </p:sp>
    </p:spTree>
    <p:extLst>
      <p:ext uri="{BB962C8B-B14F-4D97-AF65-F5344CB8AC3E}">
        <p14:creationId xmlns:p14="http://schemas.microsoft.com/office/powerpoint/2010/main" val="13275896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E3E8D-BB08-4E8D-9BE4-43C1F81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656CA-C184-4F30-A781-E62896D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1.5 EXERCISES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3405-C1DB-4B57-A935-A5A60998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Sınıf içi uygulama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1FFCC-198B-40FB-A7E7-0A71216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4 kişilik gruplar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5343D-45BE-43BE-ADBC-2DEF8EB8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Her grup aşağıdaki problemlerden birini seçsin ve 7 dakika içinde girdiyi, çıktıyı, öğrenme türünü ve hata maliyetini tanımlasın.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81919-DADA-4D9A-9EA5-F0BDF516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B4AC1-A2B0-4E75-A938-93155BDD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OCR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2C1EF-54CF-440F-A85D-A9225BF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Taranmış görüntü mü, metin dosyası mı?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62275-1F4D-4E49-8262-F461689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80FB2-AD0E-4E24-86C3-298CE518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14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Spam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7C24D-8070-4967-A807-59F5173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385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Sil, ayrı klasöre taşı veya yalnızca işaretle?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68C05-A926-4715-A730-44406B6B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13E9-45E4-4BB7-BFA4-46AFA943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Otonom taksi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A3595-5AC2-432C-8C63-3BE5F2DE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Sensörler, eylemler, kısıtlar ve iletişim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4572A-7DAE-4BD5-A956-216AD6B5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950FF-E419-479C-A1AF-C3F989B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Sepet analizi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2D8FF-66DB-462F-8922-EE9AB22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İki üründen daha fazla ürüne nasıl genellenir?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BB4A0-8B72-4111-B9B7-687763E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24375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B085D-9B11-4E40-AA75-898E7BB0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7456C9"/>
                </a:solidFill>
                <a:latin typeface="DejaVu Sans"/>
                <a:ea typeface="DejaVu Sans"/>
                <a:cs typeface="DejaVu Sans"/>
              </a:rPr>
              <a:t>Yüz tanıma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C3A58-1A67-4E2D-9AAB-CDA8FD6D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196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Kaydırma ve ölçek değişimine karşı nasıl dayanıklı olur?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4427B-2673-47BC-87E8-5C2D2CA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33813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5287E-9842-48C1-805C-D34C0F48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958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37A56A"/>
                </a:solidFill>
                <a:latin typeface="DejaVu Sans"/>
                <a:ea typeface="DejaVu Sans"/>
                <a:cs typeface="DejaVu Sans"/>
              </a:rPr>
              <a:t>Araç fiyatı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1E08E-C3CD-40C3-A4D0-9A2BABAE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196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Neden mutlak fiyat yerine değer kaybı yüzdesi?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C465A-C73F-4D62-A585-7F74F4E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1.5  •  42</a:t>
            </a:r>
          </a:p>
        </p:txBody>
      </p:sp>
    </p:spTree>
    <p:extLst>
      <p:ext uri="{BB962C8B-B14F-4D97-AF65-F5344CB8AC3E}">
        <p14:creationId xmlns:p14="http://schemas.microsoft.com/office/powerpoint/2010/main" val="5005824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7619-49DE-435B-AC72-E8645255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E8B6-9809-4D8D-9A00-E90FAE4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DEĞERLENDIRME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78E52-7835-4189-AEE3-2659560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Hızlı bilgi kontrolü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2065-3249-4377-9821-94E41E3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238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65DE3-0BFB-40D9-9CDC-D6CED87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Çıktısı sürekli bir sayı olan problem türü nedir?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DF865-52E0-4019-BA49-A000D169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381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Regresyon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9586-B5E0-4453-AA01-CCD6089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5238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B94A3-3196-467B-B548-4C8DCEE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Etiket olmadan doğal grupları bulmaya ne denir?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2ECC6-0AC7-43EF-84DA-98534799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95525"/>
            <a:ext cx="2381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Kümeleme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3A507-EE28-4DD4-BB8C-790C51A3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5238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A5406-BCF5-42BE-9E74-A0CEC3DD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P(Y|X) hangi temel kavramı ifade eder?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B6413-0E68-414D-98C3-3C7F69F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2381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Koşullu olasılık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F9C55-A42E-40A2-AA98-5CE2C11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5238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19A3E-96D9-43F7-A351-5458BEF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243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RL'de durumlara eylem atayan stratejinin adı nedir?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1011B-CC63-450E-9FBF-E68C8348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24325"/>
            <a:ext cx="2381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0A3EA-E130-4BE0-B484-044387DC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5238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7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883DD-8C64-41B5-B47B-7713317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3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Özel örneklerden genel kural çıkarmaya ne denir?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B265B-3520-4A33-BF64-EE21DF9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38725"/>
            <a:ext cx="2381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Induction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7E562-1AE8-4804-B61E-E07D9A8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91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360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1">
                <a:solidFill>
                  <a:srgbClr val="53606D"/>
                </a:solidFill>
                <a:latin typeface="DejaVu Sans"/>
                <a:ea typeface="DejaVu Sans"/>
                <a:cs typeface="DejaVu Sans"/>
              </a:rPr>
              <a:t>Cevapları önce kapatıp öğrencilerden bireysel yanıt alın.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67661-D375-474D-AC9C-1B77E4C2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Değerlendirme  •  43</a:t>
            </a:r>
          </a:p>
        </p:txBody>
      </p:sp>
    </p:spTree>
    <p:extLst>
      <p:ext uri="{BB962C8B-B14F-4D97-AF65-F5344CB8AC3E}">
        <p14:creationId xmlns:p14="http://schemas.microsoft.com/office/powerpoint/2010/main" val="5447334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CC642-CED4-4A80-B08D-5C7ACA47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73BE3-C5D2-4C81-A5D7-08AA45A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KAPANIŞ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B6260-A074-4061-B7C0-0F3CE45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Bölümün ana fikri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9FBAF-9537-44E8-8E8C-53EA49C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Makine öğrenmesi, açıkça yazamadığımız dönüşüm kurallarını örneklerden öğrenir.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BD3BE-13A3-4301-BB91-6464287E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0C7A8-D65F-4791-AA47-29002EB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3377FF"/>
                </a:solidFill>
                <a:latin typeface="DejaVu Sans"/>
                <a:ea typeface="DejaVu Sans"/>
                <a:cs typeface="DejaVu Sans"/>
              </a:rPr>
              <a:t>Veri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A008-38C8-460E-BD90-C2AF9FC9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rPr>
              <a:t>Örnekler ve geçmiş deneyim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9D3E1-6552-40C4-821A-C1F06D99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3A49-CDE6-4E59-8368-EC43C1C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rPr>
              <a:t>Örüntünün matematiksel temsili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B7E11-D55B-4816-8277-F935A4A8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i="0">
                <a:solidFill>
                  <a:srgbClr val="F05D5E"/>
                </a:solidFill>
                <a:latin typeface="DejaVu Sans"/>
                <a:ea typeface="DejaVu Sans"/>
                <a:cs typeface="DejaVu Sans"/>
              </a:rPr>
              <a:t>Karar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2CFE4-F435-4452-972C-91939E6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C9D7E3"/>
                </a:solidFill>
                <a:latin typeface="DejaVu Sans"/>
                <a:ea typeface="DejaVu Sans"/>
                <a:cs typeface="DejaVu Sans"/>
              </a:rPr>
              <a:t>Tahmin, açıklama veya eylem politikası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66D58-590F-4935-9120-C0F7B55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6ED5D2"/>
                </a:solidFill>
                <a:latin typeface="DejaVu Sans"/>
                <a:ea typeface="DejaVu Sans"/>
                <a:cs typeface="DejaVu Sans"/>
              </a:rPr>
              <a:t>Association, Classification, Regression, Unsupervised, Reinforcement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7DB8-B4D1-476B-8CB4-932085D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960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FA5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8FA5B8"/>
                </a:solidFill>
                <a:latin typeface="DejaVu Sans"/>
                <a:ea typeface="DejaVu Sans"/>
                <a:cs typeface="DejaVu Sans"/>
              </a:rPr>
              <a:t>Kaynak: E. Alpaydın, Introduction to Machine Learning, MIT Press, 2014, Bölüm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DF534-81F3-4253-B94F-DD87130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>
                <a:solidFill>
                  <a:srgbClr val="8090A0"/>
                </a:solidFill>
                <a:latin typeface="DejaVu Sans"/>
                <a:ea typeface="DejaVu Sans"/>
                <a:cs typeface="DejaVu Sans"/>
              </a:rPr>
              <a:t>Kapanış  •  44</a:t>
            </a:r>
          </a:p>
        </p:txBody>
      </p:sp>
    </p:spTree>
    <p:extLst>
      <p:ext uri="{BB962C8B-B14F-4D97-AF65-F5344CB8AC3E}">
        <p14:creationId xmlns:p14="http://schemas.microsoft.com/office/powerpoint/2010/main" val="919909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2026-09-20T11:49:40.4110000Z</dcterms:created>
  <dcterms:modified xsi:type="dcterms:W3CDTF">2026-09-20T11:49:40.4110000Z</dcterms:modified>
</coreProperties>
</file>