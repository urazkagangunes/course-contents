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</p:sldIdLst>
  <p:notesMasterIdLst>
    <p:notesMasterId r:id="rId1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notesMaster" Target="notesMasters/notesMaster1.xml"/><Relationship Id="rId153" Type="http://schemas.openxmlformats.org/officeDocument/2006/relationships/presProps" Target="presProps.xml"/><Relationship Id="rId154" Type="http://schemas.openxmlformats.org/officeDocument/2006/relationships/viewProps" Target="viewProps.xml"/><Relationship Id="rId155" Type="http://schemas.openxmlformats.org/officeDocument/2006/relationships/theme" Target="theme/theme1.xml"/><Relationship Id="rId1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0"/>
            <a:ext cx="4218127" cy="6858000"/>
          </a:xfrm>
          <a:prstGeom prst="rect">
            <a:avLst/>
          </a:prstGeom>
          <a:solidFill>
            <a:srgbClr val="0C1830"/>
          </a:solidFill>
          <a:ln w="12700">
            <a:solidFill>
              <a:srgbClr val="0C183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92440" y="1097280"/>
            <a:ext cx="3611880" cy="3611880"/>
          </a:xfrm>
          <a:prstGeom prst="ellipse">
            <a:avLst/>
          </a:prstGeom>
          <a:solidFill>
            <a:srgbClr val="236ABC">
              <a:alpha val="10000"/>
            </a:srgbClr>
          </a:solidFill>
          <a:ln w="38100">
            <a:solidFill>
              <a:srgbClr val="159D91">
                <a:alpha val="8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0" y="1691640"/>
            <a:ext cx="2423160" cy="2423160"/>
          </a:xfrm>
          <a:prstGeom prst="ellipse">
            <a:avLst/>
          </a:prstGeom>
          <a:solidFill>
            <a:srgbClr val="13233D">
              <a:alpha val="0"/>
            </a:srgbClr>
          </a:solidFill>
          <a:ln w="25400">
            <a:solidFill>
              <a:srgbClr val="E69A32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8412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MAKİNE ÖĞRENMESİ  •  ÜNİTE 19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499616"/>
            <a:ext cx="768096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Makine Öğrenmesi</a:t>
            </a:r>
            <a:endParaRPr lang="en-US" sz="4100" dirty="0"/>
          </a:p>
          <a:p>
            <a:pPr algn="l"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Deneylerinin Tasarımı</a:t>
            </a:r>
            <a:endParaRPr lang="en-US" sz="4100" dirty="0"/>
          </a:p>
          <a:p>
            <a:pPr algn="l"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 Analizi</a:t>
            </a:r>
            <a:endParaRPr lang="en-US" sz="4100" dirty="0"/>
          </a:p>
        </p:txBody>
      </p:sp>
      <p:sp>
        <p:nvSpPr>
          <p:cNvPr id="8" name="Text 6"/>
          <p:cNvSpPr/>
          <p:nvPr/>
        </p:nvSpPr>
        <p:spPr>
          <a:xfrm>
            <a:off x="905256" y="5020056"/>
            <a:ext cx="95097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CCDC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19.1–19.16  |  Türkçe, kapsamlı ders anlatımı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CCDC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Başlangıç düzeyi • Grafikler • Adım adım çözümler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96112" y="6437376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FB1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Kaynak: Ethem Alpaydın, Introduction to Machine Learning (2014)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19.1–19.16  /  HARİTA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 ünitede hangi sorulara cevap vereceğiz?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68096" y="1856232"/>
            <a:ext cx="5248656" cy="194310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066544"/>
            <a:ext cx="48097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Deney nasıl tasarlanır?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87552" y="2670048"/>
            <a:ext cx="4809744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Faktörler, kontrol edilemeyen etkenler, Grid Search ve yanıt yüzeyi.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99632" y="1856232"/>
            <a:ext cx="5248656" cy="1943100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2066544"/>
            <a:ext cx="48097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Başarı nasıl ölçülür?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19088" y="2670048"/>
            <a:ext cx="4809744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Eğitim/doğrulama/test; K-Fold, Bootstrap; Accuracy, ROC, AUC.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8096" y="3982212"/>
            <a:ext cx="5248656" cy="1943100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4192524"/>
            <a:ext cx="48097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Fark anlamlı mı?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87552" y="4796028"/>
            <a:ext cx="4809744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Güven aralıkları, hipotez testleri, Binom, Z ve t.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199632" y="3982212"/>
            <a:ext cx="5248656" cy="19431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9088" y="4192524"/>
            <a:ext cx="48097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Çok model nasıl kıyaslanır?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419088" y="4796028"/>
            <a:ext cx="4809744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McNemar, ANOVA, Wilcoxon, çoklu veri kümeleri, MANOVA.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19.1–19.16  /  HARİTA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Öğrenme hedefleri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04672" y="1828800"/>
            <a:ext cx="10515600" cy="81153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039112"/>
            <a:ext cx="173736" cy="173736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16736" y="1920240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Deneysel düşünme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16736" y="2194560"/>
            <a:ext cx="9765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Bir iddiayı hipoteze dönüştürür, kontrol edilebilir faktörleri ve yanıtı tanımlarsın.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04672" y="2823210"/>
            <a:ext cx="10515600" cy="8115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033522"/>
            <a:ext cx="173736" cy="173736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16736" y="2914650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Adil değerlendirme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16736" y="3188970"/>
            <a:ext cx="9765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 sızıntısını önler, eğitim/doğrulama/test ayrımını ve tekrarlı değerlendirmeyi doğru yaparsın.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04672" y="3817620"/>
            <a:ext cx="10515600" cy="81153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4027932"/>
            <a:ext cx="173736" cy="173736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16736" y="3909060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İstatistiksel karar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16736" y="4183380"/>
            <a:ext cx="9765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Uygun test istatistiğini kurar, kritik değer / p-değeri ile karar verir, sınırlamaları anlarsın.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04672" y="4812030"/>
            <a:ext cx="10515600" cy="8115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5022342"/>
            <a:ext cx="173736" cy="173736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16736" y="4903470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Yorum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16736" y="5177790"/>
            <a:ext cx="9765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İstatistiksel anlamlılık ile pratik önemi ayırır, basitlik ve hata maliyetini hesaba katarsın.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0"/>
            <a:ext cx="2770632" cy="6858000"/>
          </a:xfrm>
          <a:prstGeom prst="rect">
            <a:avLst/>
          </a:prstGeom>
          <a:solidFill>
            <a:srgbClr val="0C1830"/>
          </a:solidFill>
          <a:ln w="12700">
            <a:solidFill>
              <a:srgbClr val="0C183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1600200"/>
            <a:ext cx="3383280" cy="3383280"/>
          </a:xfrm>
          <a:prstGeom prst="ellipse">
            <a:avLst/>
          </a:prstGeom>
          <a:solidFill>
            <a:srgbClr val="13233D">
              <a:alpha val="0"/>
            </a:srgbClr>
          </a:solidFill>
          <a:ln w="38100">
            <a:solidFill>
              <a:srgbClr val="159D91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68580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19.1</a:t>
            </a:r>
            <a:endParaRPr lang="en-US" sz="6500" dirty="0"/>
          </a:p>
        </p:txBody>
      </p:sp>
      <p:sp>
        <p:nvSpPr>
          <p:cNvPr id="6" name="Text 4"/>
          <p:cNvSpPr/>
          <p:nvPr/>
        </p:nvSpPr>
        <p:spPr>
          <a:xfrm>
            <a:off x="795528" y="2029968"/>
            <a:ext cx="987552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Giriş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804672" y="3904488"/>
            <a:ext cx="9144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D5E1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Bir modeli “iyi” yapan nedir? Tek bir denemeye neden güvenemeyiz?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04672" y="628192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BÖLÜM 19  •  BEKLENEN HATA VE KARŞILAŞTIRMA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  /  BEKLENEN HATA VE KARŞILAŞTIRMA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İki temel araştırma sorusu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04672" y="1828800"/>
            <a:ext cx="10515600" cy="96012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039112"/>
            <a:ext cx="173736" cy="173736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16736" y="1920240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 Beklenen hata nedir?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16736" y="2194560"/>
            <a:ext cx="9765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Bir algoritmanın gerçek hayatta görülmemiş veride örneğin %2’den az hata yapacağını ne kadar güvenle söyleyebiliriz?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04672" y="2971800"/>
            <a:ext cx="10515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182112"/>
            <a:ext cx="173736" cy="173736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16736" y="3063240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 Hangi algoritma daha iyi?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16736" y="3337560"/>
            <a:ext cx="9765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SVM mi k-NN mi? Aynı MLP’de 4 nöron mu, 8 nöron mu? En uygun hiperparametre hangisi?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04672" y="4114800"/>
            <a:ext cx="10515600" cy="96012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4325112"/>
            <a:ext cx="173736" cy="173736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16736" y="4206240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Deney gerekliliği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16736" y="4480560"/>
            <a:ext cx="9765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Eğitim hatası çoğu zaman iyimserdir. Model seçimi ve son raporlama bağımsız veri gerektirir.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68096" y="5815584"/>
            <a:ext cx="10652760" cy="475488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5815584"/>
            <a:ext cx="50292" cy="475488"/>
          </a:xfrm>
          <a:prstGeom prst="rect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5861304"/>
            <a:ext cx="10296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 fikir: Öğrenme algoritmasını değil, belirli bir uygulamadaki genelleme başarısını değerlendiriyoruz.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  /  BEKLENEN HATA VE KARŞILAŞTIRMA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Eğitim hatasına neden güvenemeyiz?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828800"/>
            <a:ext cx="5193792" cy="3950208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45352" y="1828800"/>
            <a:ext cx="5193792" cy="3950208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048256"/>
            <a:ext cx="47183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Eğitim kümesinde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83096" y="2048256"/>
            <a:ext cx="47183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Görülmemiş örneklerde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24128" y="2761488"/>
            <a:ext cx="109728" cy="109728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71016" y="2642616"/>
            <a:ext cx="4361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veriyi zaten görmüştür. Çok karmaşık modeller eğitim örneklerini ezberleyebilir.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19672" y="2761488"/>
            <a:ext cx="109728" cy="109728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2642616"/>
            <a:ext cx="4361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Gürültü, örnekleme değişkenliği ve farklı koşullar başarıyı düşürebilir. Yeni örneklerdeki hata asıl hedefimizdir.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8096" y="5925312"/>
            <a:ext cx="10652760" cy="36576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096" y="5925312"/>
            <a:ext cx="50292" cy="365760"/>
          </a:xfrm>
          <a:prstGeom prst="rect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" y="5971032"/>
            <a:ext cx="10296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Düşük eğitim hatası ≠ düşük genelleme hatası.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  /  BEKLENEN HATA VE KARŞILAŞTIRMA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Tek çalıştırma mı, çoklu tekrar mı?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819656"/>
            <a:ext cx="70866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pic>
        <p:nvPicPr>
          <p:cNvPr id="10" name="Image 0" descr="/mnt/data/ml19_slides_build/assets/erro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80924"/>
            <a:ext cx="6848856" cy="2946543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028432" y="1819656"/>
            <a:ext cx="3392424" cy="406908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75320" y="2075688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6A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ŞEKLİ OKUYALIM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66176" y="262432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49640" y="252374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Tek deney: tek sayı, belirsizlik görünmez.</a:t>
            </a:r>
            <a:endParaRPr lang="en-US" sz="1420" dirty="0"/>
          </a:p>
        </p:txBody>
      </p:sp>
      <p:sp>
        <p:nvSpPr>
          <p:cNvPr id="15" name="Shape 12"/>
          <p:cNvSpPr/>
          <p:nvPr/>
        </p:nvSpPr>
        <p:spPr>
          <a:xfrm>
            <a:off x="8266176" y="340156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49640" y="330098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Tekrarlı deney: hataların dağılımını görürüz.</a:t>
            </a:r>
            <a:endParaRPr lang="en-US" sz="1420" dirty="0"/>
          </a:p>
        </p:txBody>
      </p:sp>
      <p:sp>
        <p:nvSpPr>
          <p:cNvPr id="17" name="Shape 14"/>
          <p:cNvSpPr/>
          <p:nvPr/>
        </p:nvSpPr>
        <p:spPr>
          <a:xfrm>
            <a:off x="8266176" y="417880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49640" y="407822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Ortalama + değişkenlik birlikte raporlanır.</a:t>
            </a:r>
            <a:endParaRPr lang="en-US" sz="1420" dirty="0"/>
          </a:p>
        </p:txBody>
      </p:sp>
      <p:sp>
        <p:nvSpPr>
          <p:cNvPr id="19" name="Text 16"/>
          <p:cNvSpPr/>
          <p:nvPr/>
        </p:nvSpPr>
        <p:spPr>
          <a:xfrm>
            <a:off x="896112" y="6053328"/>
            <a:ext cx="10360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Şema: Rastgele eğitim/doğrulama bölünmeleri performansta değişkenlik oluşturabilir.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  /  BEKLENEN HATA VE KARŞILAŞTIRMA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Doğruluk neden ortalama ile verilmelidir?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86384" y="1828800"/>
            <a:ext cx="10643616" cy="694944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38528"/>
            <a:ext cx="10204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Beş denemenin doğruluğu: %92, %87, %94, %89, %93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41248" y="2734056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2871216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2898648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08760" y="2802636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Toplam = 92 + 87 + 94 + 89 + 93 = 455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41248" y="3355848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" y="3493008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3520440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3424428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Deneme sayısı = 5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41248" y="3977640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" y="4114800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4142232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08760" y="4046220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Ortalama doğruluk = 455 / 5 = %91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41248" y="4599432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4128" y="4736592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" y="4764024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08760" y="4668012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Tek bir %94 sonucu “genel başarı” diye raporlamayız.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32104" y="5276088"/>
            <a:ext cx="10515600" cy="521208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5321808"/>
            <a:ext cx="10049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SONUÇ   Ortalama %91; dağılım ve belirsizlik de incelenmeli.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  /  BEKLENEN HATA VE KARŞILAŞTIRMA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Deney sonuçları için dört kritik uyarı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04672" y="1828800"/>
            <a:ext cx="10515600" cy="81153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039112"/>
            <a:ext cx="173736" cy="173736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16736" y="1920240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Bağlama özgüdür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16736" y="2194560"/>
            <a:ext cx="9765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Free Lunch: Bir algoritma bazı veri kümelerinde başarılıyken başka veri kümelerinde zayıf olabilir.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04672" y="2823210"/>
            <a:ext cx="10515600" cy="8115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033522"/>
            <a:ext cx="173736" cy="173736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16736" y="2914650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Seçim ve raporlama ayrıdır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16736" y="3188970"/>
            <a:ext cx="9765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Doğrulama ile algoritma/hiperparametre seçilir; nihai performans daha önce kullanılmamış test verisinde ölçülür.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04672" y="3817620"/>
            <a:ext cx="10515600" cy="81153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4027932"/>
            <a:ext cx="173736" cy="173736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16736" y="3909060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Nihai model yeniden eğitilebilir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16736" y="4183380"/>
            <a:ext cx="9765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Seçim bittiğinde eğitim + doğrulama verileriyle final model eğitilebilir; test kümesi yine ayrı tutulur.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04672" y="4812030"/>
            <a:ext cx="10515600" cy="8115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5022342"/>
            <a:ext cx="173736" cy="173736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16736" y="4903470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Hata tek ölçüt değildir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16736" y="5177790"/>
            <a:ext cx="9765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Öğrenme ve tahmin süresi, bellek, yorumlanabilirlik ve yanlış kararların maliyeti önemlidir.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  /  BEKLENEN HATA VE KARŞILAŞTIRMA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 kümelerinin üç farklı görevi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68096" y="1856232"/>
            <a:ext cx="3438144" cy="406908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066544"/>
            <a:ext cx="29992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EĞİTİM (Train)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87552" y="2670048"/>
            <a:ext cx="2999232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Modelin parametrelerini öğrenir: MLP ağırlıkları, regresyon katsayıları.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89120" y="1856232"/>
            <a:ext cx="3438144" cy="4069080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2066544"/>
            <a:ext cx="29992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DOĞRULAMA (Validation)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08576" y="2670048"/>
            <a:ext cx="2999232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Hiperparametre, model mimarisi, erken durdurma ve yöntem seçimi.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010144" y="1856232"/>
            <a:ext cx="3438144" cy="4069080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2066544"/>
            <a:ext cx="29992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(Test)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229600" y="2670048"/>
            <a:ext cx="2999232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Tüm kararlar verildikten sonra, son genelleme performansı. Önceden kullanılmamış veri.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68096" y="6080760"/>
            <a:ext cx="10652760" cy="384048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8096" y="6080760"/>
            <a:ext cx="50292" cy="384048"/>
          </a:xfrm>
          <a:prstGeom prst="rect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" y="6126480"/>
            <a:ext cx="10296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verisine göre modeli tekrar tekrar değiştirmek veri sızıntısı oluşturur.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0"/>
            <a:ext cx="2770632" cy="6858000"/>
          </a:xfrm>
          <a:prstGeom prst="rect">
            <a:avLst/>
          </a:prstGeom>
          <a:solidFill>
            <a:srgbClr val="0C1830"/>
          </a:solidFill>
          <a:ln w="12700">
            <a:solidFill>
              <a:srgbClr val="0C183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1600200"/>
            <a:ext cx="3383280" cy="3383280"/>
          </a:xfrm>
          <a:prstGeom prst="ellipse">
            <a:avLst/>
          </a:prstGeom>
          <a:solidFill>
            <a:srgbClr val="13233D">
              <a:alpha val="0"/>
            </a:srgbClr>
          </a:solidFill>
          <a:ln w="38100">
            <a:solidFill>
              <a:srgbClr val="159D91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68580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19.2</a:t>
            </a:r>
            <a:endParaRPr lang="en-US" sz="6500" dirty="0"/>
          </a:p>
        </p:txBody>
      </p:sp>
      <p:sp>
        <p:nvSpPr>
          <p:cNvPr id="6" name="Text 4"/>
          <p:cNvSpPr/>
          <p:nvPr/>
        </p:nvSpPr>
        <p:spPr>
          <a:xfrm>
            <a:off x="795528" y="2029968"/>
            <a:ext cx="987552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Faktör, yanıt ve deney stratejileri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804672" y="3904488"/>
            <a:ext cx="9144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D5E1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Hangi değişkeni kontrol edebiliriz, hangi sonuca bakıyoruz?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04672" y="628192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BÖLÜM 19  •  FAKTÖR VE YANIT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19.2  /  FAKTÖR VE YANIT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Şekil 19.1 — Kontrol edilebilir / edilemeyen faktörler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819656"/>
            <a:ext cx="70866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pic>
        <p:nvPicPr>
          <p:cNvPr id="10" name="Image 0" descr="/mnt/data/ml19_slides_build/assets/figure_19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440322"/>
            <a:ext cx="6848856" cy="2827747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028432" y="1819656"/>
            <a:ext cx="3392424" cy="406908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75320" y="2075688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6A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ŞEKLİ OKUYALIM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66176" y="262432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49640" y="252374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→ çıktı üreten süreç → Output</a:t>
            </a:r>
            <a:endParaRPr lang="en-US" sz="1420" dirty="0"/>
          </a:p>
        </p:txBody>
      </p:sp>
      <p:sp>
        <p:nvSpPr>
          <p:cNvPr id="15" name="Shape 12"/>
          <p:cNvSpPr/>
          <p:nvPr/>
        </p:nvSpPr>
        <p:spPr>
          <a:xfrm>
            <a:off x="8266176" y="340156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49640" y="330098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Üstten gelen: kontrol edilebilir faktörler.</a:t>
            </a:r>
            <a:endParaRPr lang="en-US" sz="1420" dirty="0"/>
          </a:p>
        </p:txBody>
      </p:sp>
      <p:sp>
        <p:nvSpPr>
          <p:cNvPr id="17" name="Shape 14"/>
          <p:cNvSpPr/>
          <p:nvPr/>
        </p:nvSpPr>
        <p:spPr>
          <a:xfrm>
            <a:off x="8266176" y="417880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49640" y="407822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Alttan gelen: kontrol edilemeyen etkenler.</a:t>
            </a:r>
            <a:endParaRPr lang="en-US" sz="1420" dirty="0"/>
          </a:p>
        </p:txBody>
      </p:sp>
      <p:sp>
        <p:nvSpPr>
          <p:cNvPr id="19" name="Text 16"/>
          <p:cNvSpPr/>
          <p:nvPr/>
        </p:nvSpPr>
        <p:spPr>
          <a:xfrm>
            <a:off x="896112" y="6053328"/>
            <a:ext cx="10360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Kitaptaki Şekil 19.1. Sistem girdiden çıktı üretir; iki tür faktör süreci etkiler.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19.2  /  FAKTÖR VE YANIT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deneyinin sözlüğü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68096" y="1856232"/>
            <a:ext cx="5248656" cy="194310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066544"/>
            <a:ext cx="48097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Faktör (Factor)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87552" y="2670048"/>
            <a:ext cx="4809744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Değiştirdiğimiz etken: algoritma tipi, k değeri, nöron sayısı.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199632" y="1856232"/>
            <a:ext cx="5248656" cy="1943100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2066544"/>
            <a:ext cx="48097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Seviye (Level)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19088" y="2670048"/>
            <a:ext cx="4809744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Bir faktörün belirli değeri: k = 1, 3, 5 gibi.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68096" y="3982212"/>
            <a:ext cx="5248656" cy="1943100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4192524"/>
            <a:ext cx="48097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Yanıt (Response)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87552" y="4796028"/>
            <a:ext cx="4809744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Ölçülen sonuç: doğruluk, F1, MSE veya çalışma süresi.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199632" y="3982212"/>
            <a:ext cx="5248656" cy="19431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9088" y="4192524"/>
            <a:ext cx="48097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Etkileşim (Interaction)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419088" y="4796028"/>
            <a:ext cx="4809744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Bir faktörün etkisinin diğer faktörün seçilen değerine bağlı olması.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19.2  /  FAKTÖR VE YANIT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Kontrol edilebilir ve edilemeyenler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828800"/>
            <a:ext cx="5193792" cy="3950208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45352" y="1828800"/>
            <a:ext cx="5193792" cy="3950208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048256"/>
            <a:ext cx="47183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Kontrol edilebilir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83096" y="2048256"/>
            <a:ext cx="47183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Kontrol edilemeyen / rahatsız edici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24128" y="2761488"/>
            <a:ext cx="109728" cy="109728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71016" y="2642616"/>
            <a:ext cx="4361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Algoritma • hiperparametre • özellik çıkarımı • PCA boyutu • eğitim verisi seçimi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19672" y="2761488"/>
            <a:ext cx="109728" cy="109728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2642616"/>
            <a:ext cx="4361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 gürültüsü • aykırı değerler • rastgele başlangıç • örneklem değişkenliği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8096" y="5925312"/>
            <a:ext cx="10652760" cy="36576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096" y="5925312"/>
            <a:ext cx="50292" cy="365760"/>
          </a:xfrm>
          <a:prstGeom prst="rect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" y="5971032"/>
            <a:ext cx="10296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Yanıt değişkeni: bütün tahminlerden türetilen ölçüm (ör. test kümesinde %90 doğruluk).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19.2  /  FAKTÖR VE YANIT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Şekil 19.2 — Üç deney stratejisi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819656"/>
            <a:ext cx="70866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pic>
        <p:nvPicPr>
          <p:cNvPr id="10" name="Image 0" descr="/mnt/data/ml19_slides_build/assets/figure_19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82301"/>
            <a:ext cx="6848856" cy="334379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028432" y="1819656"/>
            <a:ext cx="3392424" cy="406908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75320" y="2075688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6A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ŞEKLİ OKUYALIM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66176" y="262432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49640" y="252374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(a) Best Guess: deneyim ve sezgi.</a:t>
            </a:r>
            <a:endParaRPr lang="en-US" sz="1420" dirty="0"/>
          </a:p>
        </p:txBody>
      </p:sp>
      <p:sp>
        <p:nvSpPr>
          <p:cNvPr id="15" name="Shape 12"/>
          <p:cNvSpPr/>
          <p:nvPr/>
        </p:nvSpPr>
        <p:spPr>
          <a:xfrm>
            <a:off x="8266176" y="340156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49640" y="330098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(b) OFAT: bir faktörü değiştir.</a:t>
            </a:r>
            <a:endParaRPr lang="en-US" sz="1420" dirty="0"/>
          </a:p>
        </p:txBody>
      </p:sp>
      <p:sp>
        <p:nvSpPr>
          <p:cNvPr id="17" name="Shape 14"/>
          <p:cNvSpPr/>
          <p:nvPr/>
        </p:nvSpPr>
        <p:spPr>
          <a:xfrm>
            <a:off x="8266176" y="417880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49640" y="407822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(c) Grid Search: tüm kombinasyonları dene.</a:t>
            </a:r>
            <a:endParaRPr lang="en-US" sz="1420" dirty="0"/>
          </a:p>
        </p:txBody>
      </p:sp>
      <p:sp>
        <p:nvSpPr>
          <p:cNvPr id="19" name="Text 16"/>
          <p:cNvSpPr/>
          <p:nvPr/>
        </p:nvSpPr>
        <p:spPr>
          <a:xfrm>
            <a:off x="896112" y="6053328"/>
            <a:ext cx="10360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Kitaptaki Şekil 19.2. Gri noktalar denenen faktör kombinasyonlarını gösterir.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19.2  /  FAKTÖR VE YANIT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Deney stratejilerini karşılaştır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86384" y="1828800"/>
            <a:ext cx="1828800" cy="566928"/>
          </a:xfrm>
          <a:prstGeom prst="rect">
            <a:avLst/>
          </a:prstGeom>
          <a:solidFill>
            <a:srgbClr val="13233D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88366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Yöntem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15184" y="1828800"/>
            <a:ext cx="3090672" cy="566928"/>
          </a:xfrm>
          <a:prstGeom prst="rect">
            <a:avLst/>
          </a:prstGeom>
          <a:solidFill>
            <a:srgbClr val="13233D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34056" y="1883664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Çalışma biçimi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705856" y="1828800"/>
            <a:ext cx="2395728" cy="566928"/>
          </a:xfrm>
          <a:prstGeom prst="rect">
            <a:avLst/>
          </a:prstGeom>
          <a:solidFill>
            <a:srgbClr val="13233D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24728" y="1883664"/>
            <a:ext cx="216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Avantaj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01584" y="1828800"/>
            <a:ext cx="3291840" cy="566928"/>
          </a:xfrm>
          <a:prstGeom prst="rect">
            <a:avLst/>
          </a:prstGeom>
          <a:solidFill>
            <a:srgbClr val="13233D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0456" y="188366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/ dezavantaj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86384" y="2395728"/>
            <a:ext cx="1828800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" y="245059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Guess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615184" y="2395728"/>
            <a:ext cx="3090672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34056" y="2450592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Sezgisel sıra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705856" y="2395728"/>
            <a:ext cx="2395728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24728" y="2450592"/>
            <a:ext cx="216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Çabuk başlayabilir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101584" y="2395728"/>
            <a:ext cx="3291840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0456" y="24505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Optimum garanti değil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86384" y="2962656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5256" y="30175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OFAT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2615184" y="2962656"/>
            <a:ext cx="30906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34056" y="3017520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Bir faktörü sırayla değiştir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705856" y="2962656"/>
            <a:ext cx="23957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24728" y="3017520"/>
            <a:ext cx="216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 deney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101584" y="2962656"/>
            <a:ext cx="3291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0456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Etkileşimi kaçırabilir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86384" y="3529584"/>
            <a:ext cx="1828800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5256" y="35844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Grid Search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2615184" y="3529584"/>
            <a:ext cx="3090672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34056" y="3584448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Bütün kombinasyonlar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705856" y="3529584"/>
            <a:ext cx="2395728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24728" y="3584448"/>
            <a:ext cx="216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Sistematik tarama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8101584" y="3529584"/>
            <a:ext cx="3291840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0456" y="35844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Üstel deney maliyeti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768096" y="5943600"/>
            <a:ext cx="10652760" cy="429768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8096" y="5943600"/>
            <a:ext cx="50292" cy="429768"/>
          </a:xfrm>
          <a:prstGeom prst="rect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9264" y="5989320"/>
            <a:ext cx="102961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İki faktörün her biri 5 seviyeliyse tam Grid Search 5 × 5 = 25 kombinasyon dener.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19.2  /  FAKTÖR VE YANIT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Birlikte hiperparametre araması neden önemli?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819656"/>
            <a:ext cx="70866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pic>
        <p:nvPicPr>
          <p:cNvPr id="10" name="Image 0" descr="/mnt/data/ml19_slides_build/assets/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9210" y="1929384"/>
            <a:ext cx="4147797" cy="384962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028432" y="1819656"/>
            <a:ext cx="3392424" cy="406908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75320" y="2075688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6A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ŞEKLİ OKUYALIM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66176" y="262432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49640" y="252374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OFAT başlangıç noktasına takılabilir.</a:t>
            </a:r>
            <a:endParaRPr lang="en-US" sz="1420" dirty="0"/>
          </a:p>
        </p:txBody>
      </p:sp>
      <p:sp>
        <p:nvSpPr>
          <p:cNvPr id="15" name="Shape 12"/>
          <p:cNvSpPr/>
          <p:nvPr/>
        </p:nvSpPr>
        <p:spPr>
          <a:xfrm>
            <a:off x="8266176" y="340156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49640" y="330098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 ile d arasında etkileşim vardır.</a:t>
            </a:r>
            <a:endParaRPr lang="en-US" sz="1420" dirty="0"/>
          </a:p>
        </p:txBody>
      </p:sp>
      <p:sp>
        <p:nvSpPr>
          <p:cNvPr id="17" name="Shape 14"/>
          <p:cNvSpPr/>
          <p:nvPr/>
        </p:nvSpPr>
        <p:spPr>
          <a:xfrm>
            <a:off x="8266176" y="417880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49640" y="407822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 ızgara %93 sonucuna ulaşır.</a:t>
            </a:r>
            <a:endParaRPr lang="en-US" sz="1420" dirty="0"/>
          </a:p>
        </p:txBody>
      </p:sp>
      <p:sp>
        <p:nvSpPr>
          <p:cNvPr id="19" name="Text 16"/>
          <p:cNvSpPr/>
          <p:nvPr/>
        </p:nvSpPr>
        <p:spPr>
          <a:xfrm>
            <a:off x="896112" y="6053328"/>
            <a:ext cx="10360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Açıklama amaçlı PCA–k-NN doğruluk matrisi; turuncu çerçevede en iyi örnek sonuç.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19.2  /  FAKTÖR VE YANIT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Grid Search maliyeti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10652760" cy="1124712"/>
          </a:xfrm>
          <a:prstGeom prst="round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057400"/>
            <a:ext cx="10113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OFAT  ~ O(L × F)        |        Grid Search ~ O(L^F)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77824" y="322783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F: faktör sayısı; L: faktör başına seviye sayısı.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2688" y="4069080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08736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26464" y="3986784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faktör × 5 seviye → OFAT yaklaşık 10 değerlendirme.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2688" y="4562856"/>
            <a:ext cx="320040" cy="320040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58114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26464" y="4480560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 faktöriyel tasarım → 5² = 25 farklı kombinasyon.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" y="5056632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50749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26464" y="4974336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faktör × 5 seviye → 5³ = 125 farklı kombinasyon.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8096" y="6053328"/>
            <a:ext cx="10652760" cy="384048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6053328"/>
            <a:ext cx="50292" cy="384048"/>
          </a:xfrm>
          <a:prstGeom prst="rect">
            <a:avLst/>
          </a:prstGeom>
          <a:solidFill>
            <a:srgbClr val="E69A32"/>
          </a:solidFill>
          <a:ln w="12700">
            <a:solidFill>
              <a:srgbClr val="E69A3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6099048"/>
            <a:ext cx="10296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Faktör sayısı arttığında maliyet hızla büyür. OFAT’de başlangıçların örtüşmesi deney sayısını azaltabilir.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3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0"/>
            <a:ext cx="2770632" cy="6858000"/>
          </a:xfrm>
          <a:prstGeom prst="rect">
            <a:avLst/>
          </a:prstGeom>
          <a:solidFill>
            <a:srgbClr val="0C1830"/>
          </a:solidFill>
          <a:ln w="12700">
            <a:solidFill>
              <a:srgbClr val="0C183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1600200"/>
            <a:ext cx="3383280" cy="3383280"/>
          </a:xfrm>
          <a:prstGeom prst="ellipse">
            <a:avLst/>
          </a:prstGeom>
          <a:solidFill>
            <a:srgbClr val="13233D">
              <a:alpha val="0"/>
            </a:srgbClr>
          </a:solidFill>
          <a:ln w="38100">
            <a:solidFill>
              <a:srgbClr val="159D91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68580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19.3</a:t>
            </a:r>
            <a:endParaRPr lang="en-US" sz="6500" dirty="0"/>
          </a:p>
        </p:txBody>
      </p:sp>
      <p:sp>
        <p:nvSpPr>
          <p:cNvPr id="6" name="Text 4"/>
          <p:cNvSpPr/>
          <p:nvPr/>
        </p:nvSpPr>
        <p:spPr>
          <a:xfrm>
            <a:off x="795528" y="2029968"/>
            <a:ext cx="987552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Yanıt yüzeyi tasarımı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804672" y="3904488"/>
            <a:ext cx="9144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D5E1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kombinasyonu denemeden umut verici bölgeyi tahmin edebilir miyiz?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04672" y="628192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BÖLÜM 19  •  RESPONSE SURFACE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19.3  /  RESPONSE SURFACE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Response Surface Design fikri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04672" y="1828800"/>
            <a:ext cx="10515600" cy="81153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039112"/>
            <a:ext cx="173736" cy="173736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16736" y="1920240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Önce az sayıda deney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16736" y="2194560"/>
            <a:ext cx="9765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Başlangıç çevresindeki birkaç hiperparametre kombinasyonunu dene ve performansı ölç.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04672" y="2823210"/>
            <a:ext cx="10515600" cy="8115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033522"/>
            <a:ext cx="173736" cy="173736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16736" y="2914650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Performans yüzeyi öğren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16736" y="3188970"/>
            <a:ext cx="9765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Faktörler ile yanıt arasına genellikle ikinci dereceden regresyon fonksiyonu yerleştir.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04672" y="3817620"/>
            <a:ext cx="10515600" cy="81153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4027932"/>
            <a:ext cx="173736" cy="173736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16736" y="3909060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Tahmini maksimumu bul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16736" y="4183380"/>
            <a:ext cx="9765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Öğrenilen fonksiyonun maksimum verdiği faktörleri sonraki deney olarak seç.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04672" y="4812030"/>
            <a:ext cx="10515600" cy="8115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5022342"/>
            <a:ext cx="173736" cy="173736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16736" y="4903470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Yinele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16736" y="5177790"/>
            <a:ext cx="9765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Yeni gerçek sonucu ekle, modeli yeniden uydur; iyileşme bitince dur.</a:t>
            </a:r>
            <a:endParaRPr lang="en-US" sz="15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19.3  /  RESPONSE SURFACE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Yanıt yüzeyi: genel model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10652760" cy="1124712"/>
          </a:xfrm>
          <a:prstGeom prst="round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057400"/>
            <a:ext cx="10113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 = g(f₁, f₂, …, fF | φ)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77824" y="322783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r: ölçülen yanıt, fᵢ: kontrol edilebilir faktör, φ: öğrenilecek model parametreleri.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2688" y="4069080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08736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26464" y="3986784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Örn. iki faktörlü ikinci derece yüzey: β₀ + β₁f₁ + β₂f₂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2688" y="4562856"/>
            <a:ext cx="320040" cy="320040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58114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26464" y="4480560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Kare terimleri: β₃f₁² + β₄f₂²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" y="5056632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50749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26464" y="4974336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Etkileşim terimi: β₅f₁f₂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8096" y="6053328"/>
            <a:ext cx="10652760" cy="384048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6053328"/>
            <a:ext cx="50292" cy="384048"/>
          </a:xfrm>
          <a:prstGeom prst="rect">
            <a:avLst/>
          </a:prstGeom>
          <a:solidFill>
            <a:srgbClr val="E69A32"/>
          </a:solidFill>
          <a:ln w="12700">
            <a:solidFill>
              <a:srgbClr val="E69A3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6099048"/>
            <a:ext cx="10296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Yöntem, yanıtın seçilen parametrik fonksiyonla yaklaşık temsil edilebilmesine bağlıdır.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19.3  /  RESPONSE SURFACE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Parabolden sonraki deneyi tahmin etmek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819656"/>
            <a:ext cx="70866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pic>
        <p:nvPicPr>
          <p:cNvPr id="10" name="Image 0" descr="/mnt/data/ml19_slides_build/assets/parabo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401187"/>
            <a:ext cx="6848856" cy="290601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028432" y="1819656"/>
            <a:ext cx="3392424" cy="406908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75320" y="2075688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6A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ŞEKLİ OKUYALIM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66176" y="262432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49640" y="252374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Ölçümler: k=1,3,7.</a:t>
            </a:r>
            <a:endParaRPr lang="en-US" sz="1420" dirty="0"/>
          </a:p>
        </p:txBody>
      </p:sp>
      <p:sp>
        <p:nvSpPr>
          <p:cNvPr id="15" name="Shape 12"/>
          <p:cNvSpPr/>
          <p:nvPr/>
        </p:nvSpPr>
        <p:spPr>
          <a:xfrm>
            <a:off x="8266176" y="340156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49640" y="330098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r(k)=−k²+10k+69.</a:t>
            </a:r>
            <a:endParaRPr lang="en-US" sz="1420" dirty="0"/>
          </a:p>
        </p:txBody>
      </p:sp>
      <p:sp>
        <p:nvSpPr>
          <p:cNvPr id="17" name="Shape 14"/>
          <p:cNvSpPr/>
          <p:nvPr/>
        </p:nvSpPr>
        <p:spPr>
          <a:xfrm>
            <a:off x="8266176" y="417880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49640" y="407822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Maksimum tahmini: k=5.</a:t>
            </a:r>
            <a:endParaRPr lang="en-US" sz="1420" dirty="0"/>
          </a:p>
        </p:txBody>
      </p:sp>
      <p:sp>
        <p:nvSpPr>
          <p:cNvPr id="19" name="Text 16"/>
          <p:cNvSpPr/>
          <p:nvPr/>
        </p:nvSpPr>
        <p:spPr>
          <a:xfrm>
            <a:off x="896112" y="6053328"/>
            <a:ext cx="10360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Üç ölçülen nokta kullanılarak tahmini doğruluk eğrisi oluşturulur.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19.3  /  RESPONSE SURFACE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Yanıt yüzeyi — parabolün tepe noktasını bul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86384" y="1828800"/>
            <a:ext cx="10643616" cy="694944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38528"/>
            <a:ext cx="10204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r(k) = −k² + 10k + 69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41248" y="2734056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2871216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2898648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08760" y="2802636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Türev: r′(k) = −2k + 10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41248" y="3355848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" y="3493008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3520440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3424428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Maksimum için: r′(k)=0 → −2k+10=0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41248" y="3977640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" y="4114800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4142232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08760" y="4046220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 = 5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41248" y="4599432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4128" y="4736592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" y="4764024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08760" y="4668012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r(5)=−25+50+69=94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32104" y="5276088"/>
            <a:ext cx="10515600" cy="521208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5321808"/>
            <a:ext cx="10049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SONUÇ   k=5 için tahmin %94; gerçek deneyde ayrıca doğrulanmalı.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3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0"/>
            <a:ext cx="2770632" cy="6858000"/>
          </a:xfrm>
          <a:prstGeom prst="rect">
            <a:avLst/>
          </a:prstGeom>
          <a:solidFill>
            <a:srgbClr val="0C1830"/>
          </a:solidFill>
          <a:ln w="12700">
            <a:solidFill>
              <a:srgbClr val="0C183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1600200"/>
            <a:ext cx="3383280" cy="3383280"/>
          </a:xfrm>
          <a:prstGeom prst="ellipse">
            <a:avLst/>
          </a:prstGeom>
          <a:solidFill>
            <a:srgbClr val="13233D">
              <a:alpha val="0"/>
            </a:srgbClr>
          </a:solidFill>
          <a:ln w="38100">
            <a:solidFill>
              <a:srgbClr val="159D91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68580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19.4</a:t>
            </a:r>
            <a:endParaRPr lang="en-US" sz="6500" dirty="0"/>
          </a:p>
        </p:txBody>
      </p:sp>
      <p:sp>
        <p:nvSpPr>
          <p:cNvPr id="6" name="Text 4"/>
          <p:cNvSpPr/>
          <p:nvPr/>
        </p:nvSpPr>
        <p:spPr>
          <a:xfrm>
            <a:off x="795528" y="2029968"/>
            <a:ext cx="987552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Rastgeleleştirme, tekrarlama ve bloklama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804672" y="3904488"/>
            <a:ext cx="9144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D5E1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Deneyler arasında adalet ve tekrarlanabilirlik nasıl sağlanır?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04672" y="628192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BÖLÜM 19  •  DENEY ILKELERI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19.4  /  DENEY ILKELERI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Deney tasarımının üç temel ilkesi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68096" y="1856232"/>
            <a:ext cx="3438144" cy="406908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066544"/>
            <a:ext cx="29992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Randomization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87552" y="2670048"/>
            <a:ext cx="2999232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Çalıştırma sırasını rastgeleleştir; zamanla değişen etkilerin sistematik yanlılık oluşturmasını azalt.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89120" y="1856232"/>
            <a:ext cx="3438144" cy="4069080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2066544"/>
            <a:ext cx="29992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Replication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08576" y="2670048"/>
            <a:ext cx="2999232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Aynı faktör ayarını tekrarla; rastgeleliğe bağlı değişkenliği ve deneysel hatayı ölç.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010144" y="1856232"/>
            <a:ext cx="3438144" cy="4069080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2066544"/>
            <a:ext cx="29992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Blocking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229600" y="2670048"/>
            <a:ext cx="2999232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Rahatsız edici faktörleri sabitle veya eşleştir; iki algoritmayı aynı veri bölünmelerinde sınayın.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19.4  /  DENEY ILKELERI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Bloklama neden gerekli?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828800"/>
            <a:ext cx="5193792" cy="3950208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45352" y="1828800"/>
            <a:ext cx="5193792" cy="3950208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048256"/>
            <a:ext cx="47183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Hatalı düzen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83096" y="2048256"/>
            <a:ext cx="47183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Eşleştirilmiş düzen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24128" y="2761488"/>
            <a:ext cx="109728" cy="109728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71016" y="2642616"/>
            <a:ext cx="4361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algoritması kolay eğitim/test örnekleri, B algoritması zor örnekler görür. Fark veri zorluğundan gelebilir.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19672" y="2761488"/>
            <a:ext cx="109728" cy="109728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2642616"/>
            <a:ext cx="4361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ve B, her tekrarda aynı eğitim ve doğrulama kümelerini kullanır. Fold bazında hata farkı kıyaslanır.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8096" y="5925312"/>
            <a:ext cx="10652760" cy="36576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096" y="5925312"/>
            <a:ext cx="50292" cy="365760"/>
          </a:xfrm>
          <a:prstGeom prst="rect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" y="5971032"/>
            <a:ext cx="10296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Bloklama ile istatistikteki pairing / paired testing kavramları yakından ilişkilidir.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19.4  /  DENEY ILKELERI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Eşleştirilmiş karşılaştırma hesabı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86384" y="1828800"/>
            <a:ext cx="10643616" cy="694944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38528"/>
            <a:ext cx="10204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ve B’nin dört ortak fold’daki doğrulukları karşılaştırılıyor.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41248" y="2734056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2871216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2898648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08760" y="2802636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A: %87, %85, %91, %88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41248" y="3355848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" y="3493008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3520440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3424428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B: %90, %89, %93, %91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41248" y="3977640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" y="4114800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4142232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08760" y="4046220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 − A farkları: +3, +4, +2, +3 yüzde puanı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41248" y="4599432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4128" y="4736592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" y="4764024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08760" y="4668012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Ortalama fark = (3+4+2+3)/4 = 3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32104" y="5276088"/>
            <a:ext cx="10515600" cy="521208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5321808"/>
            <a:ext cx="10049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SONUÇ   B gözlenen deneylerde 3 yüzde puanı daha yüksek; anlamlılık için test gerekir.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3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0"/>
            <a:ext cx="2770632" cy="6858000"/>
          </a:xfrm>
          <a:prstGeom prst="rect">
            <a:avLst/>
          </a:prstGeom>
          <a:solidFill>
            <a:srgbClr val="0C1830"/>
          </a:solidFill>
          <a:ln w="12700">
            <a:solidFill>
              <a:srgbClr val="0C183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1600200"/>
            <a:ext cx="3383280" cy="3383280"/>
          </a:xfrm>
          <a:prstGeom prst="ellipse">
            <a:avLst/>
          </a:prstGeom>
          <a:solidFill>
            <a:srgbClr val="13233D">
              <a:alpha val="0"/>
            </a:srgbClr>
          </a:solidFill>
          <a:ln w="38100">
            <a:solidFill>
              <a:srgbClr val="159D91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68580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19.5</a:t>
            </a:r>
            <a:endParaRPr lang="en-US" sz="6500" dirty="0"/>
          </a:p>
        </p:txBody>
      </p:sp>
      <p:sp>
        <p:nvSpPr>
          <p:cNvPr id="6" name="Text 4"/>
          <p:cNvSpPr/>
          <p:nvPr/>
        </p:nvSpPr>
        <p:spPr>
          <a:xfrm>
            <a:off x="795528" y="2029968"/>
            <a:ext cx="987552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Deneyler için sistematik çalışma planı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804672" y="3904488"/>
            <a:ext cx="9144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D5E1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 araştırıyoruz? Nasıl ölçecek, çalıştıracak ve yorumlayacağız?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04672" y="628192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BÖLÜM 19  •  YEDI ADIM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19.5  /  YEDI ADIM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A–D: Deneye başlamadan önce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04672" y="1828800"/>
            <a:ext cx="10515600" cy="81153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039112"/>
            <a:ext cx="173736" cy="173736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16736" y="1920240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 Amaç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16736" y="2194560"/>
            <a:ext cx="9765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Beklenen hata sınırını mı sınayacağız, iki modeli mi karşılaştıracağız, hiperparametre mi seçeceğiz?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04672" y="2823210"/>
            <a:ext cx="10515600" cy="8115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033522"/>
            <a:ext cx="173736" cy="173736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16736" y="2914650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  Yanıt değişkeni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16736" y="3188970"/>
            <a:ext cx="9765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Sınıflandırmada Error/Precision/Recall; regresyonda MSE; maliyete duyarlı durumda risk.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04672" y="3817620"/>
            <a:ext cx="10515600" cy="81153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4027932"/>
            <a:ext cx="173736" cy="173736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16736" y="3909060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 Faktör ve seviyeler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16736" y="4183380"/>
            <a:ext cx="9765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Algoritma, hiperparametre, veri kümesi; anlamlı aralıklar seç, gerekiyorsa ölçeğe göre normalize et.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04672" y="4812030"/>
            <a:ext cx="10515600" cy="8115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5022342"/>
            <a:ext cx="173736" cy="173736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16736" y="4903470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  Deney tasarımı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16736" y="5177790"/>
            <a:ext cx="9765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Mümkünse faktöriyel; yeterli tekrar; küçük örneklem ve oyuncak veri sınırlarını düşün.</a:t>
            </a:r>
            <a:endParaRPr lang="en-US" sz="15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19.5  /  YEDI ADIM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E–G: Deneyi uygulama ve yorumlama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04672" y="1828800"/>
            <a:ext cx="10515600" cy="96012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039112"/>
            <a:ext cx="173736" cy="173736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16736" y="1920240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 Gerçekleştirme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16736" y="2194560"/>
            <a:ext cx="9765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Ön deneme çalıştır; rastgele tohumları, kütüphane sürümlerini ve ara sonuçları kaydet.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04672" y="2971800"/>
            <a:ext cx="10515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182112"/>
            <a:ext cx="173736" cy="173736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16736" y="3063240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  İstatistiksel analiz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16736" y="3337560"/>
            <a:ext cx="9765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Gözlenen farkı hipotez testine dönüştür. Histogram, kutu-grafiği ve hata dağılımlarını incele.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04672" y="4114800"/>
            <a:ext cx="10515600" cy="96012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4325112"/>
            <a:ext cx="173736" cy="173736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16736" y="4206240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  Sonuçlar ve öneriler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16736" y="4480560"/>
            <a:ext cx="9765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Farkın büyüklüğünü, belirsizliği ve daha fazla deney gereğini tartış; sonuçlar araştırmayı yönlendirsin.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68096" y="5815584"/>
            <a:ext cx="10652760" cy="475488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5815584"/>
            <a:ext cx="50292" cy="475488"/>
          </a:xfrm>
          <a:prstGeom prst="rect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5861304"/>
            <a:ext cx="10296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Kitap, keşif niteliğindeki ilk deneye kaynakların yaklaşık en fazla %25’ini ayırmayı önerir.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19.5  /  YEDI ADIM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Yanıt değişkeni nasıl seçilir?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86384" y="1828800"/>
            <a:ext cx="2834640" cy="566928"/>
          </a:xfrm>
          <a:prstGeom prst="rect">
            <a:avLst/>
          </a:prstGeom>
          <a:solidFill>
            <a:srgbClr val="13233D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88366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21024" y="1828800"/>
            <a:ext cx="2926080" cy="566928"/>
          </a:xfrm>
          <a:prstGeom prst="rect">
            <a:avLst/>
          </a:prstGeom>
          <a:solidFill>
            <a:srgbClr val="13233D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9896" y="188366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Yanıt (örnek)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47104" y="1828800"/>
            <a:ext cx="4855464" cy="566928"/>
          </a:xfrm>
          <a:prstGeom prst="rect">
            <a:avLst/>
          </a:prstGeom>
          <a:solidFill>
            <a:srgbClr val="13233D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65976" y="1883664"/>
            <a:ext cx="4626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Neden önemli?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86384" y="2395728"/>
            <a:ext cx="2834640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24505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Sınıflandırma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21024" y="2395728"/>
            <a:ext cx="2926080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39896" y="245059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Error, Accuracy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47104" y="2395728"/>
            <a:ext cx="4855464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65976" y="2450592"/>
            <a:ext cx="4626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Doğru/yanlış karar oranı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86384" y="2962656"/>
            <a:ext cx="2834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" y="3017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Dengesiz sınıflar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621024" y="2962656"/>
            <a:ext cx="2926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39896" y="30175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Precision, Recall, F1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547104" y="2962656"/>
            <a:ext cx="485546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65976" y="3017520"/>
            <a:ext cx="4626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Hata türleri ve sınıf dengesi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86384" y="3529584"/>
            <a:ext cx="2834640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5256" y="35844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Regresyon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3621024" y="3529584"/>
            <a:ext cx="2926080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39896" y="358444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MSE, MAE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547104" y="3529584"/>
            <a:ext cx="4855464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65976" y="3584448"/>
            <a:ext cx="4626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Sayısal tahmin uzaklığı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86384" y="4096512"/>
            <a:ext cx="2834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5256" y="415137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Gerçek zamanlı ML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3621024" y="4096512"/>
            <a:ext cx="2926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39896" y="415137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Tahmin süresi, bellek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547104" y="4096512"/>
            <a:ext cx="485546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65976" y="4151376"/>
            <a:ext cx="4626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Kullanım maliyeti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786384" y="4663440"/>
            <a:ext cx="2834640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5256" y="471830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Maliyete duyarlı ML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3621024" y="4663440"/>
            <a:ext cx="2926080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39896" y="471830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Beklenen risk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547104" y="4663440"/>
            <a:ext cx="4855464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5976" y="4718304"/>
            <a:ext cx="4626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FP ve FN maliyeti farklı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3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0"/>
            <a:ext cx="2770632" cy="6858000"/>
          </a:xfrm>
          <a:prstGeom prst="rect">
            <a:avLst/>
          </a:prstGeom>
          <a:solidFill>
            <a:srgbClr val="0C1830"/>
          </a:solidFill>
          <a:ln w="12700">
            <a:solidFill>
              <a:srgbClr val="0C183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1600200"/>
            <a:ext cx="3383280" cy="3383280"/>
          </a:xfrm>
          <a:prstGeom prst="ellipse">
            <a:avLst/>
          </a:prstGeom>
          <a:solidFill>
            <a:srgbClr val="13233D">
              <a:alpha val="0"/>
            </a:srgbClr>
          </a:solidFill>
          <a:ln w="38100">
            <a:solidFill>
              <a:srgbClr val="159D91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68580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19.6</a:t>
            </a:r>
            <a:endParaRPr lang="en-US" sz="6500" dirty="0"/>
          </a:p>
        </p:txBody>
      </p:sp>
      <p:sp>
        <p:nvSpPr>
          <p:cNvPr id="6" name="Text 4"/>
          <p:cNvSpPr/>
          <p:nvPr/>
        </p:nvSpPr>
        <p:spPr>
          <a:xfrm>
            <a:off x="795528" y="2029968"/>
            <a:ext cx="987552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Cross-Validation ve yeniden örnekleme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804672" y="3904488"/>
            <a:ext cx="9144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D5E1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Aynı verilerle birden fazla eğitim/doğrulama çifti nasıl oluşturulur?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04672" y="628192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BÖLÜM 19  •  DEĞERLENDIRME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19.6  /  DEĞERLENDIRME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Yeniden örnekleme neden yapılır?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04672" y="1828800"/>
            <a:ext cx="10515600" cy="81153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039112"/>
            <a:ext cx="173736" cy="173736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16736" y="1920240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Amaç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16736" y="2194560"/>
            <a:ext cx="9765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 eğitim/doğrulama çifti {Tᵢ,Vᵢ} oluşturup hata değişkenliğini incelemek.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04672" y="2823210"/>
            <a:ext cx="10515600" cy="8115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033522"/>
            <a:ext cx="173736" cy="173736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16736" y="2914650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İki hedefin gerilimi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16736" y="3188970"/>
            <a:ext cx="9765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Hem eğitim/doğrulama kümeleri büyük olsun hem farklı tekrarlar mümkün olduğunca az örtüşsün isteriz.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04672" y="3817620"/>
            <a:ext cx="10515600" cy="81153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4027932"/>
            <a:ext cx="173736" cy="173736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16736" y="3909060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Stratification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16736" y="4183380"/>
            <a:ext cx="9765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 kümelerde sınıfların oranı korunsun; örn. toplam veri %20 pozitifse her fold yaklaşık %20 pozitif içersin.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04672" y="4812030"/>
            <a:ext cx="10515600" cy="8115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5022342"/>
            <a:ext cx="173736" cy="173736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16736" y="4903470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Bağımlılık uyarısı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16736" y="5177790"/>
            <a:ext cx="9765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Aynı veri birçok eğitim fold’unda kullanıldığında hata tahminleri tamamen bağımsız değildir.</a:t>
            </a:r>
            <a:endParaRPr lang="en-US" sz="15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19.6  /  DEĞERLENDIRME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K-Fold Cross-Validation nasıl görünür?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819656"/>
            <a:ext cx="70866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pic>
        <p:nvPicPr>
          <p:cNvPr id="10" name="Image 0" descr="/mnt/data/ml19_slides_build/assets/kf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774399"/>
            <a:ext cx="6848856" cy="215959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028432" y="1819656"/>
            <a:ext cx="3392424" cy="406908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75320" y="2075688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6A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ŞEKLİ OKUYALIM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66176" y="262432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49640" y="252374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 tane eğitim yapılır.</a:t>
            </a:r>
            <a:endParaRPr lang="en-US" sz="1420" dirty="0"/>
          </a:p>
        </p:txBody>
      </p:sp>
      <p:sp>
        <p:nvSpPr>
          <p:cNvPr id="15" name="Shape 12"/>
          <p:cNvSpPr/>
          <p:nvPr/>
        </p:nvSpPr>
        <p:spPr>
          <a:xfrm>
            <a:off x="8266176" y="340156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49640" y="330098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örnek bir kez doğrulanır.</a:t>
            </a:r>
            <a:endParaRPr lang="en-US" sz="1420" dirty="0"/>
          </a:p>
        </p:txBody>
      </p:sp>
      <p:sp>
        <p:nvSpPr>
          <p:cNvPr id="17" name="Shape 14"/>
          <p:cNvSpPr/>
          <p:nvPr/>
        </p:nvSpPr>
        <p:spPr>
          <a:xfrm>
            <a:off x="8266176" y="417880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49640" y="407822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Eğitim kümeleri örtüşür.</a:t>
            </a:r>
            <a:endParaRPr lang="en-US" sz="1420" dirty="0"/>
          </a:p>
        </p:txBody>
      </p:sp>
      <p:sp>
        <p:nvSpPr>
          <p:cNvPr id="19" name="Text 16"/>
          <p:cNvSpPr/>
          <p:nvPr/>
        </p:nvSpPr>
        <p:spPr>
          <a:xfrm>
            <a:off x="896112" y="6053328"/>
            <a:ext cx="10360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Renkli katlar: Her turda bir parça doğrulama, kalan K−1 parça eğitim için kullanılır.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19.6  /  DEĞERLENDIRME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K-Fold’un matematiksel tanımı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10652760" cy="1124712"/>
          </a:xfrm>
          <a:prstGeom prst="round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057400"/>
            <a:ext cx="10113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Vᵢ = Xᵢ      |      Tᵢ = ⋃(Xⱼ, j ≠ i)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77824" y="322783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 K parçaya ayrılır. i. adımda Xᵢ doğrulama, geri kalanı eğitimdir.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2688" y="4069080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08736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26464" y="3986784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K=5 → eğitim = %80, doğrulama = %20.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2688" y="4562856"/>
            <a:ext cx="320040" cy="320040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58114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26464" y="4480560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K=10 → eğitim = %90, doğrulama = %10.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" y="5056632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50749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26464" y="4974336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LOOCV → K=N; her turda 1 doğrulama ve N−1 eğitim.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8096" y="6053328"/>
            <a:ext cx="10652760" cy="384048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6053328"/>
            <a:ext cx="50292" cy="384048"/>
          </a:xfrm>
          <a:prstGeom prst="rect">
            <a:avLst/>
          </a:prstGeom>
          <a:solidFill>
            <a:srgbClr val="E69A32"/>
          </a:solidFill>
          <a:ln w="12700">
            <a:solidFill>
              <a:srgbClr val="E69A3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6099048"/>
            <a:ext cx="10296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Büyük K: daha büyük eğitim bölümü fakat daha fazla model eğitimi ve küçük doğrulama bölümü.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19.6  /  DEĞERLENDIRME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5-Fold örneği — 100 gözlem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86384" y="1828800"/>
            <a:ext cx="10643616" cy="694944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38528"/>
            <a:ext cx="10204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N=100, K=5 → her fold 20 örnek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41248" y="2734056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2871216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2898648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08760" y="2802636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tur 4 fold (80 örnek) eğitim verisi.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41248" y="3355848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" y="3493008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3520440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3424428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Bir fold (20 örnek) doğrulama verisi.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41248" y="3977640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" y="4114800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4142232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08760" y="4046220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Doğruluklar: %90, %85, %95, %90, %80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41248" y="4599432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4128" y="4736592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" y="4764024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08760" y="4668012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Ortalama = (90+85+95+90+80)/5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32104" y="5276088"/>
            <a:ext cx="10515600" cy="521208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5321808"/>
            <a:ext cx="10049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SONUÇ   Ortalama doğruluk = %88.</a:t>
            </a:r>
            <a:endParaRPr lang="en-US" sz="1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19.6  /  DEĞERLENDIRME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Leave-One-Out ve tekrarlanan K-Fold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828800"/>
            <a:ext cx="5193792" cy="3950208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45352" y="1828800"/>
            <a:ext cx="5193792" cy="3950208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048256"/>
            <a:ext cx="47183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Leave-One-Out (LOOCV)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83096" y="2048256"/>
            <a:ext cx="47183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Repeated K-Fold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24128" y="2761488"/>
            <a:ext cx="109728" cy="109728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71016" y="2642616"/>
            <a:ext cx="4361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 örnek için N model eğitilir. Her tur N−1 eğitim + 1 doğrulama. Hesaplama maliyeti yüksektir.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19672" y="2761488"/>
            <a:ext cx="109728" cy="109728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2642616"/>
            <a:ext cx="4361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10×10-Fold = 10 farklı bölünmede 10’ar fold, toplam 100 eğitim. Ortalama ve değişkenlik incelenir.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8096" y="5925312"/>
            <a:ext cx="10652760" cy="36576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096" y="5925312"/>
            <a:ext cx="50292" cy="365760"/>
          </a:xfrm>
          <a:prstGeom prst="rect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" y="5971032"/>
            <a:ext cx="10296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İki yöntem de eğitim/doğrulama çiftlerinin bağımlılığını tamamen ortadan kaldırmaz.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19.6  /  DEĞERLENDIRME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5×2 Cross-Validation — ikiye böl ve yer değiştir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819656"/>
            <a:ext cx="70866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pic>
        <p:nvPicPr>
          <p:cNvPr id="10" name="Image 0" descr="/mnt/data/ml19_slides_build/assets/cv5x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88258"/>
            <a:ext cx="6848856" cy="333187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028432" y="1819656"/>
            <a:ext cx="3392424" cy="406908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75320" y="2075688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6A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ŞEKLİ OKUYALIM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66176" y="262432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49640" y="252374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farklı rastgele yarılama.</a:t>
            </a:r>
            <a:endParaRPr lang="en-US" sz="1420" dirty="0"/>
          </a:p>
        </p:txBody>
      </p:sp>
      <p:sp>
        <p:nvSpPr>
          <p:cNvPr id="15" name="Shape 12"/>
          <p:cNvSpPr/>
          <p:nvPr/>
        </p:nvSpPr>
        <p:spPr>
          <a:xfrm>
            <a:off x="8266176" y="340156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49640" y="330098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yarılamada A/B rolleri değişir.</a:t>
            </a:r>
            <a:endParaRPr lang="en-US" sz="1420" dirty="0"/>
          </a:p>
        </p:txBody>
      </p:sp>
      <p:sp>
        <p:nvSpPr>
          <p:cNvPr id="17" name="Shape 14"/>
          <p:cNvSpPr/>
          <p:nvPr/>
        </p:nvSpPr>
        <p:spPr>
          <a:xfrm>
            <a:off x="8266176" y="417880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49640" y="407822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Toplam 5 × 2 = 10 fold.</a:t>
            </a:r>
            <a:endParaRPr lang="en-US" sz="1420" dirty="0"/>
          </a:p>
        </p:txBody>
      </p:sp>
      <p:sp>
        <p:nvSpPr>
          <p:cNvPr id="19" name="Text 16"/>
          <p:cNvSpPr/>
          <p:nvPr/>
        </p:nvSpPr>
        <p:spPr>
          <a:xfrm>
            <a:off x="896112" y="6053328"/>
            <a:ext cx="10360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Şematik tekrar; her yeniden bölünmede iki yarının eğitim/doğrulama rolleri değiştirilir.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19.6  /  DEĞERLENDIRME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5×2 CV — eğitim sayısı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86384" y="1828800"/>
            <a:ext cx="10643616" cy="694944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38528"/>
            <a:ext cx="10204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Veri: 1.000 örnek, iki algoritma: A ve B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41248" y="2734056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2871216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2898648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08760" y="2802636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tekrar: 500 eğitim + 500 doğrulama.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41248" y="3355848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" y="3493008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3520440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3424428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İlk fold: ilk yarı eğitim, ikinci yarı doğrulama.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41248" y="3977640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" y="4114800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4142232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08760" y="4046220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İkinci fold: yarıların rollerini ters çevir.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41248" y="4599432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4128" y="4736592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" y="4764024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08760" y="4668012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Beş bağımsız yeniden bölünme ile 10 değerlendirme.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32104" y="5276088"/>
            <a:ext cx="10515600" cy="521208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5321808"/>
            <a:ext cx="10049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SONUÇ   Her algoritma 10 kez; A+B toplam 20 model eğitimi.</a:t>
            </a:r>
            <a:endParaRPr lang="en-US" sz="17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19.6  /  DEĞERLENDIRME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Bootstrap: yerine koyarak örnekleme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819656"/>
            <a:ext cx="70866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pic>
        <p:nvPicPr>
          <p:cNvPr id="10" name="Image 0" descr="/mnt/data/ml19_slides_build/assets/bootstr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833030"/>
            <a:ext cx="6848856" cy="204233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028432" y="1819656"/>
            <a:ext cx="3392424" cy="406908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75320" y="2075688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6A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ŞEKLİ OKUYALIM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66176" y="262432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49640" y="252374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 çekiliş yapılır; tekrar mümkündür.</a:t>
            </a:r>
            <a:endParaRPr lang="en-US" sz="1420" dirty="0"/>
          </a:p>
        </p:txBody>
      </p:sp>
      <p:sp>
        <p:nvSpPr>
          <p:cNvPr id="15" name="Shape 12"/>
          <p:cNvSpPr/>
          <p:nvPr/>
        </p:nvSpPr>
        <p:spPr>
          <a:xfrm>
            <a:off x="8266176" y="340156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49640" y="330098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Yaklaşık %63,2 farklı örnek seçilir.</a:t>
            </a:r>
            <a:endParaRPr lang="en-US" sz="1420" dirty="0"/>
          </a:p>
        </p:txBody>
      </p:sp>
      <p:sp>
        <p:nvSpPr>
          <p:cNvPr id="17" name="Shape 14"/>
          <p:cNvSpPr/>
          <p:nvPr/>
        </p:nvSpPr>
        <p:spPr>
          <a:xfrm>
            <a:off x="8266176" y="417880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49640" y="407822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Seçilmeyen ~%36,8 OOB olabilir.</a:t>
            </a:r>
            <a:endParaRPr lang="en-US" sz="1420" dirty="0"/>
          </a:p>
        </p:txBody>
      </p:sp>
      <p:sp>
        <p:nvSpPr>
          <p:cNvPr id="19" name="Text 16"/>
          <p:cNvSpPr/>
          <p:nvPr/>
        </p:nvSpPr>
        <p:spPr>
          <a:xfrm>
            <a:off x="896112" y="6053328"/>
            <a:ext cx="10360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Bir örnek aynı bootstrap eğitim örneklemine birden fazla kez girebilir.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19.6  /  DEĞERLENDIRME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Bootstrap %63,2 kuralı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10652760" cy="1124712"/>
          </a:xfrm>
          <a:prstGeom prst="round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057400"/>
            <a:ext cx="10113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P(hiç seçilmeme) = (1−1/N)^N → e⁻¹ ≈ 0,368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77824" y="322783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 elemanlı bir kümeden yerine koyarak N çekiliş yapılır.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2688" y="4069080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08736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26464" y="3986784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Tek çekilişte seçilmeme olasılığı: 1−1/N.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2688" y="4562856"/>
            <a:ext cx="320040" cy="320040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58114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26464" y="4480560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 çekilişin hepsinde seçilmeme: (1−1/N)^N.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" y="5056632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50749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26464" y="4974336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az bir kez seçilme: 1−0,368 = 0,632.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8096" y="6053328"/>
            <a:ext cx="10652760" cy="384048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6053328"/>
            <a:ext cx="50292" cy="384048"/>
          </a:xfrm>
          <a:prstGeom prst="rect">
            <a:avLst/>
          </a:prstGeom>
          <a:solidFill>
            <a:srgbClr val="E69A32"/>
          </a:solidFill>
          <a:ln w="12700">
            <a:solidFill>
              <a:srgbClr val="E69A3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6099048"/>
            <a:ext cx="10296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Tekrarlı seçimler nedeniyle eğitim çekiliş sayısı N olsa da farklı gözlem sayısı ≈0,632N olur.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19.6  /  DEĞERLENDIRME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K-Fold, LOOCV, 5×2, Bootstrap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86384" y="1828800"/>
            <a:ext cx="2240280" cy="566928"/>
          </a:xfrm>
          <a:prstGeom prst="rect">
            <a:avLst/>
          </a:prstGeom>
          <a:solidFill>
            <a:srgbClr val="13233D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88366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Yöntem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026664" y="1828800"/>
            <a:ext cx="2788920" cy="566928"/>
          </a:xfrm>
          <a:prstGeom prst="rect">
            <a:avLst/>
          </a:prstGeom>
          <a:solidFill>
            <a:srgbClr val="13233D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45536" y="188366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tur eğitim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815584" y="1828800"/>
            <a:ext cx="2944368" cy="566928"/>
          </a:xfrm>
          <a:prstGeom prst="rect">
            <a:avLst/>
          </a:prstGeom>
          <a:solidFill>
            <a:srgbClr val="13233D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34456" y="1883664"/>
            <a:ext cx="2715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tur değerlendirme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759952" y="1828800"/>
            <a:ext cx="2642616" cy="566928"/>
          </a:xfrm>
          <a:prstGeom prst="rect">
            <a:avLst/>
          </a:prstGeom>
          <a:solidFill>
            <a:srgbClr val="13233D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78824" y="1883664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 sayısı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86384" y="2395728"/>
            <a:ext cx="2240280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" y="24505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5-Fold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3026664" y="2395728"/>
            <a:ext cx="2788920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45536" y="24505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%80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815584" y="2395728"/>
            <a:ext cx="2944368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34456" y="2450592"/>
            <a:ext cx="2715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%20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759952" y="2395728"/>
            <a:ext cx="2642616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78824" y="2450592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786384" y="2962656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5256" y="3017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10-Fold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3026664" y="2962656"/>
            <a:ext cx="2788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45536" y="3017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%90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5815584" y="2962656"/>
            <a:ext cx="294436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34456" y="3017520"/>
            <a:ext cx="2715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%10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8759952" y="2962656"/>
            <a:ext cx="264261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78824" y="301752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786384" y="3529584"/>
            <a:ext cx="2240280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5256" y="35844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LOOCV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3026664" y="3529584"/>
            <a:ext cx="2788920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45536" y="35844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N−1 gözlem</a:t>
            </a:r>
            <a:endParaRPr lang="en-US" sz="1450" dirty="0"/>
          </a:p>
        </p:txBody>
      </p:sp>
      <p:sp>
        <p:nvSpPr>
          <p:cNvPr id="37" name="Shape 35"/>
          <p:cNvSpPr/>
          <p:nvPr/>
        </p:nvSpPr>
        <p:spPr>
          <a:xfrm>
            <a:off x="5815584" y="3529584"/>
            <a:ext cx="2944368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34456" y="3584448"/>
            <a:ext cx="2715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gözlem</a:t>
            </a:r>
            <a:endParaRPr lang="en-US" sz="1450" dirty="0"/>
          </a:p>
        </p:txBody>
      </p:sp>
      <p:sp>
        <p:nvSpPr>
          <p:cNvPr id="39" name="Shape 37"/>
          <p:cNvSpPr/>
          <p:nvPr/>
        </p:nvSpPr>
        <p:spPr>
          <a:xfrm>
            <a:off x="8759952" y="3529584"/>
            <a:ext cx="2642616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78824" y="3584448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</a:t>
            </a:r>
            <a:endParaRPr lang="en-US" sz="1450" dirty="0"/>
          </a:p>
        </p:txBody>
      </p:sp>
      <p:sp>
        <p:nvSpPr>
          <p:cNvPr id="41" name="Shape 39"/>
          <p:cNvSpPr/>
          <p:nvPr/>
        </p:nvSpPr>
        <p:spPr>
          <a:xfrm>
            <a:off x="786384" y="4096512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5256" y="41513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5×2 CV</a:t>
            </a:r>
            <a:endParaRPr lang="en-US" sz="1450" dirty="0"/>
          </a:p>
        </p:txBody>
      </p:sp>
      <p:sp>
        <p:nvSpPr>
          <p:cNvPr id="43" name="Shape 41"/>
          <p:cNvSpPr/>
          <p:nvPr/>
        </p:nvSpPr>
        <p:spPr>
          <a:xfrm>
            <a:off x="3026664" y="4096512"/>
            <a:ext cx="2788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45536" y="41513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%50</a:t>
            </a:r>
            <a:endParaRPr lang="en-US" sz="1450" dirty="0"/>
          </a:p>
        </p:txBody>
      </p:sp>
      <p:sp>
        <p:nvSpPr>
          <p:cNvPr id="45" name="Shape 43"/>
          <p:cNvSpPr/>
          <p:nvPr/>
        </p:nvSpPr>
        <p:spPr>
          <a:xfrm>
            <a:off x="5815584" y="4096512"/>
            <a:ext cx="294436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34456" y="4151376"/>
            <a:ext cx="2715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%50</a:t>
            </a:r>
            <a:endParaRPr lang="en-US" sz="1450" dirty="0"/>
          </a:p>
        </p:txBody>
      </p:sp>
      <p:sp>
        <p:nvSpPr>
          <p:cNvPr id="47" name="Shape 45"/>
          <p:cNvSpPr/>
          <p:nvPr/>
        </p:nvSpPr>
        <p:spPr>
          <a:xfrm>
            <a:off x="8759952" y="4096512"/>
            <a:ext cx="264261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878824" y="4151376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450" dirty="0"/>
          </a:p>
        </p:txBody>
      </p:sp>
      <p:sp>
        <p:nvSpPr>
          <p:cNvPr id="49" name="Shape 47"/>
          <p:cNvSpPr/>
          <p:nvPr/>
        </p:nvSpPr>
        <p:spPr>
          <a:xfrm>
            <a:off x="786384" y="4663440"/>
            <a:ext cx="2240280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05256" y="471830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Bootstrap</a:t>
            </a:r>
            <a:endParaRPr lang="en-US" sz="1450" dirty="0"/>
          </a:p>
        </p:txBody>
      </p:sp>
      <p:sp>
        <p:nvSpPr>
          <p:cNvPr id="51" name="Shape 49"/>
          <p:cNvSpPr/>
          <p:nvPr/>
        </p:nvSpPr>
        <p:spPr>
          <a:xfrm>
            <a:off x="3026664" y="4663440"/>
            <a:ext cx="2788920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45536" y="471830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 çekiliş (~%63 farklı)</a:t>
            </a:r>
            <a:endParaRPr lang="en-US" sz="1450" dirty="0"/>
          </a:p>
        </p:txBody>
      </p:sp>
      <p:sp>
        <p:nvSpPr>
          <p:cNvPr id="53" name="Shape 51"/>
          <p:cNvSpPr/>
          <p:nvPr/>
        </p:nvSpPr>
        <p:spPr>
          <a:xfrm>
            <a:off x="5815584" y="4663440"/>
            <a:ext cx="2944368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34456" y="4718304"/>
            <a:ext cx="2715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OOB (~%37)</a:t>
            </a:r>
            <a:endParaRPr lang="en-US" sz="1450" dirty="0"/>
          </a:p>
        </p:txBody>
      </p:sp>
      <p:sp>
        <p:nvSpPr>
          <p:cNvPr id="55" name="Shape 53"/>
          <p:cNvSpPr/>
          <p:nvPr/>
        </p:nvSpPr>
        <p:spPr>
          <a:xfrm>
            <a:off x="8759952" y="4663440"/>
            <a:ext cx="2642616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878824" y="4718304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Seçilen tekrar</a:t>
            </a:r>
            <a:endParaRPr lang="en-US" sz="1450" dirty="0"/>
          </a:p>
        </p:txBody>
      </p:sp>
      <p:sp>
        <p:nvSpPr>
          <p:cNvPr id="57" name="Shape 55"/>
          <p:cNvSpPr/>
          <p:nvPr/>
        </p:nvSpPr>
        <p:spPr>
          <a:xfrm>
            <a:off x="768096" y="5943600"/>
            <a:ext cx="10652760" cy="429768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68096" y="5943600"/>
            <a:ext cx="50292" cy="429768"/>
          </a:xfrm>
          <a:prstGeom prst="rect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69264" y="5989320"/>
            <a:ext cx="102961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Not: Nihai test kümesi, model seçim/çapraz doğrulama dışında ayrı tutulmalıdır.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3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0"/>
            <a:ext cx="2770632" cy="6858000"/>
          </a:xfrm>
          <a:prstGeom prst="rect">
            <a:avLst/>
          </a:prstGeom>
          <a:solidFill>
            <a:srgbClr val="0C1830"/>
          </a:solidFill>
          <a:ln w="12700">
            <a:solidFill>
              <a:srgbClr val="0C183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1600200"/>
            <a:ext cx="3383280" cy="3383280"/>
          </a:xfrm>
          <a:prstGeom prst="ellipse">
            <a:avLst/>
          </a:prstGeom>
          <a:solidFill>
            <a:srgbClr val="13233D">
              <a:alpha val="0"/>
            </a:srgbClr>
          </a:solidFill>
          <a:ln w="38100">
            <a:solidFill>
              <a:srgbClr val="159D91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68580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19.7</a:t>
            </a:r>
            <a:endParaRPr lang="en-US" sz="6500" dirty="0"/>
          </a:p>
        </p:txBody>
      </p:sp>
      <p:sp>
        <p:nvSpPr>
          <p:cNvPr id="6" name="Text 4"/>
          <p:cNvSpPr/>
          <p:nvPr/>
        </p:nvSpPr>
        <p:spPr>
          <a:xfrm>
            <a:off x="795528" y="2029968"/>
            <a:ext cx="987552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Sınıflandırıcı performansı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804672" y="3904488"/>
            <a:ext cx="9144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D5E1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Doğruluk tek başına yeterli mi? FP ile FN neyi değiştirir?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04672" y="628192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BÖLÜM 19  •  HATA VE BAŞARI METRIKLERI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19.7  /  HATA VE BAŞARI METRIKLERI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Confusion Matrix: Dört olası sonuç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86384" y="1828800"/>
            <a:ext cx="2999232" cy="932688"/>
          </a:xfrm>
          <a:prstGeom prst="rect">
            <a:avLst/>
          </a:prstGeom>
          <a:solidFill>
            <a:srgbClr val="13233D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883664"/>
            <a:ext cx="2770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Gerçek / Tahmin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85616" y="1828800"/>
            <a:ext cx="3822192" cy="932688"/>
          </a:xfrm>
          <a:prstGeom prst="rect">
            <a:avLst/>
          </a:prstGeom>
          <a:solidFill>
            <a:srgbClr val="13233D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04488" y="1883664"/>
            <a:ext cx="3593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Pozitif tahmin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07808" y="1828800"/>
            <a:ext cx="3794760" cy="932688"/>
          </a:xfrm>
          <a:prstGeom prst="rect">
            <a:avLst/>
          </a:prstGeom>
          <a:solidFill>
            <a:srgbClr val="13233D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26680" y="1883664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Negatif tahmin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86384" y="2761488"/>
            <a:ext cx="2999232" cy="93268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2816352"/>
            <a:ext cx="2770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Pozitif gerçek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3785616" y="2761488"/>
            <a:ext cx="3822192" cy="93268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04488" y="2816352"/>
            <a:ext cx="3593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TP — Doğru pozitif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607808" y="2761488"/>
            <a:ext cx="3794760" cy="93268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26680" y="281635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FN — Yanlış negatif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86384" y="3694176"/>
            <a:ext cx="2999232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" y="3749040"/>
            <a:ext cx="2770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Negatif gerçek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3785616" y="3694176"/>
            <a:ext cx="3822192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04488" y="3749040"/>
            <a:ext cx="3593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FP — Yanlış pozitif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607808" y="3694176"/>
            <a:ext cx="37947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26680" y="37490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TN — Doğru negatif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768096" y="5943600"/>
            <a:ext cx="10652760" cy="429768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8096" y="5943600"/>
            <a:ext cx="50292" cy="429768"/>
          </a:xfrm>
          <a:prstGeom prst="rect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9264" y="5989320"/>
            <a:ext cx="102961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TP + FN = gerçek pozitif p; FP + TN = gerçek negatif n; N = p+n.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19.7  /  HATA VE BAŞARI METRIKLERI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Tablo 19.2 — Performans ölçütleri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86384" y="1828800"/>
            <a:ext cx="2788920" cy="502920"/>
          </a:xfrm>
          <a:prstGeom prst="rect">
            <a:avLst/>
          </a:prstGeom>
          <a:solidFill>
            <a:srgbClr val="13233D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883664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Ölçüt</a:t>
            </a:r>
            <a:endParaRPr lang="en-US" sz="1310" dirty="0"/>
          </a:p>
        </p:txBody>
      </p:sp>
      <p:sp>
        <p:nvSpPr>
          <p:cNvPr id="11" name="Shape 9"/>
          <p:cNvSpPr/>
          <p:nvPr/>
        </p:nvSpPr>
        <p:spPr>
          <a:xfrm>
            <a:off x="3575304" y="1828800"/>
            <a:ext cx="2971800" cy="502920"/>
          </a:xfrm>
          <a:prstGeom prst="rect">
            <a:avLst/>
          </a:prstGeom>
          <a:solidFill>
            <a:srgbClr val="13233D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94176" y="1883664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Formül</a:t>
            </a:r>
            <a:endParaRPr lang="en-US" sz="1310" dirty="0"/>
          </a:p>
        </p:txBody>
      </p:sp>
      <p:sp>
        <p:nvSpPr>
          <p:cNvPr id="13" name="Shape 11"/>
          <p:cNvSpPr/>
          <p:nvPr/>
        </p:nvSpPr>
        <p:spPr>
          <a:xfrm>
            <a:off x="6547104" y="1828800"/>
            <a:ext cx="4855464" cy="502920"/>
          </a:xfrm>
          <a:prstGeom prst="rect">
            <a:avLst/>
          </a:prstGeom>
          <a:solidFill>
            <a:srgbClr val="13233D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65976" y="1883664"/>
            <a:ext cx="46268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 anlatır?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786384" y="2331720"/>
            <a:ext cx="2788920" cy="502920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2386584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1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</a:t>
            </a:r>
            <a:endParaRPr lang="en-US" sz="1410" dirty="0"/>
          </a:p>
        </p:txBody>
      </p:sp>
      <p:sp>
        <p:nvSpPr>
          <p:cNvPr id="17" name="Shape 15"/>
          <p:cNvSpPr/>
          <p:nvPr/>
        </p:nvSpPr>
        <p:spPr>
          <a:xfrm>
            <a:off x="3575304" y="2331720"/>
            <a:ext cx="2971800" cy="502920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94176" y="2386584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1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(TP + TN) / N</a:t>
            </a:r>
            <a:endParaRPr lang="en-US" sz="1410" dirty="0"/>
          </a:p>
        </p:txBody>
      </p:sp>
      <p:sp>
        <p:nvSpPr>
          <p:cNvPr id="19" name="Shape 17"/>
          <p:cNvSpPr/>
          <p:nvPr/>
        </p:nvSpPr>
        <p:spPr>
          <a:xfrm>
            <a:off x="6547104" y="2331720"/>
            <a:ext cx="4855464" cy="502920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65976" y="2386584"/>
            <a:ext cx="46268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1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Toplam doğru oranı</a:t>
            </a:r>
            <a:endParaRPr lang="en-US" sz="1410" dirty="0"/>
          </a:p>
        </p:txBody>
      </p:sp>
      <p:sp>
        <p:nvSpPr>
          <p:cNvPr id="21" name="Shape 19"/>
          <p:cNvSpPr/>
          <p:nvPr/>
        </p:nvSpPr>
        <p:spPr>
          <a:xfrm>
            <a:off x="786384" y="2834640"/>
            <a:ext cx="2788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" y="2889504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1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</a:t>
            </a:r>
            <a:endParaRPr lang="en-US" sz="1410" dirty="0"/>
          </a:p>
        </p:txBody>
      </p:sp>
      <p:sp>
        <p:nvSpPr>
          <p:cNvPr id="23" name="Shape 21"/>
          <p:cNvSpPr/>
          <p:nvPr/>
        </p:nvSpPr>
        <p:spPr>
          <a:xfrm>
            <a:off x="3575304" y="2834640"/>
            <a:ext cx="2971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94176" y="2889504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1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(FP + FN) / N</a:t>
            </a:r>
            <a:endParaRPr lang="en-US" sz="1410" dirty="0"/>
          </a:p>
        </p:txBody>
      </p:sp>
      <p:sp>
        <p:nvSpPr>
          <p:cNvPr id="25" name="Shape 23"/>
          <p:cNvSpPr/>
          <p:nvPr/>
        </p:nvSpPr>
        <p:spPr>
          <a:xfrm>
            <a:off x="6547104" y="2834640"/>
            <a:ext cx="485546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65976" y="2889504"/>
            <a:ext cx="46268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1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Toplam hata oranı</a:t>
            </a:r>
            <a:endParaRPr lang="en-US" sz="1410" dirty="0"/>
          </a:p>
        </p:txBody>
      </p:sp>
      <p:sp>
        <p:nvSpPr>
          <p:cNvPr id="27" name="Shape 25"/>
          <p:cNvSpPr/>
          <p:nvPr/>
        </p:nvSpPr>
        <p:spPr>
          <a:xfrm>
            <a:off x="786384" y="3337560"/>
            <a:ext cx="2788920" cy="502920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5256" y="3392424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1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</a:t>
            </a:r>
            <a:endParaRPr lang="en-US" sz="1410" dirty="0"/>
          </a:p>
        </p:txBody>
      </p:sp>
      <p:sp>
        <p:nvSpPr>
          <p:cNvPr id="29" name="Shape 27"/>
          <p:cNvSpPr/>
          <p:nvPr/>
        </p:nvSpPr>
        <p:spPr>
          <a:xfrm>
            <a:off x="3575304" y="3337560"/>
            <a:ext cx="2971800" cy="502920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94176" y="3392424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1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TP / (TP + FP)</a:t>
            </a:r>
            <a:endParaRPr lang="en-US" sz="1410" dirty="0"/>
          </a:p>
        </p:txBody>
      </p:sp>
      <p:sp>
        <p:nvSpPr>
          <p:cNvPr id="31" name="Shape 29"/>
          <p:cNvSpPr/>
          <p:nvPr/>
        </p:nvSpPr>
        <p:spPr>
          <a:xfrm>
            <a:off x="6547104" y="3337560"/>
            <a:ext cx="4855464" cy="502920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65976" y="3392424"/>
            <a:ext cx="46268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1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Pozitif dediklerimin kaçı doğru?</a:t>
            </a:r>
            <a:endParaRPr lang="en-US" sz="1410" dirty="0"/>
          </a:p>
        </p:txBody>
      </p:sp>
      <p:sp>
        <p:nvSpPr>
          <p:cNvPr id="33" name="Shape 31"/>
          <p:cNvSpPr/>
          <p:nvPr/>
        </p:nvSpPr>
        <p:spPr>
          <a:xfrm>
            <a:off x="786384" y="3840480"/>
            <a:ext cx="2788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5256" y="3895344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1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Recall = Sensitivity</a:t>
            </a:r>
            <a:endParaRPr lang="en-US" sz="1410" dirty="0"/>
          </a:p>
        </p:txBody>
      </p:sp>
      <p:sp>
        <p:nvSpPr>
          <p:cNvPr id="35" name="Shape 33"/>
          <p:cNvSpPr/>
          <p:nvPr/>
        </p:nvSpPr>
        <p:spPr>
          <a:xfrm>
            <a:off x="3575304" y="3840480"/>
            <a:ext cx="2971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94176" y="3895344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1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TP / (TP + FN)</a:t>
            </a:r>
            <a:endParaRPr lang="en-US" sz="1410" dirty="0"/>
          </a:p>
        </p:txBody>
      </p:sp>
      <p:sp>
        <p:nvSpPr>
          <p:cNvPr id="37" name="Shape 35"/>
          <p:cNvSpPr/>
          <p:nvPr/>
        </p:nvSpPr>
        <p:spPr>
          <a:xfrm>
            <a:off x="6547104" y="3840480"/>
            <a:ext cx="485546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65976" y="3895344"/>
            <a:ext cx="46268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1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Gerçek pozitiflerin kaçını buldum?</a:t>
            </a:r>
            <a:endParaRPr lang="en-US" sz="1410" dirty="0"/>
          </a:p>
        </p:txBody>
      </p:sp>
      <p:sp>
        <p:nvSpPr>
          <p:cNvPr id="39" name="Shape 37"/>
          <p:cNvSpPr/>
          <p:nvPr/>
        </p:nvSpPr>
        <p:spPr>
          <a:xfrm>
            <a:off x="786384" y="4343400"/>
            <a:ext cx="2788920" cy="502920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5256" y="4398264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1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Specificity</a:t>
            </a:r>
            <a:endParaRPr lang="en-US" sz="1410" dirty="0"/>
          </a:p>
        </p:txBody>
      </p:sp>
      <p:sp>
        <p:nvSpPr>
          <p:cNvPr id="41" name="Shape 39"/>
          <p:cNvSpPr/>
          <p:nvPr/>
        </p:nvSpPr>
        <p:spPr>
          <a:xfrm>
            <a:off x="3575304" y="4343400"/>
            <a:ext cx="2971800" cy="502920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94176" y="4398264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1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TN / (TN + FP)</a:t>
            </a:r>
            <a:endParaRPr lang="en-US" sz="1410" dirty="0"/>
          </a:p>
        </p:txBody>
      </p:sp>
      <p:sp>
        <p:nvSpPr>
          <p:cNvPr id="43" name="Shape 41"/>
          <p:cNvSpPr/>
          <p:nvPr/>
        </p:nvSpPr>
        <p:spPr>
          <a:xfrm>
            <a:off x="6547104" y="4343400"/>
            <a:ext cx="4855464" cy="502920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5976" y="4398264"/>
            <a:ext cx="46268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1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Gerçek negatiflerin kaçını buldum?</a:t>
            </a:r>
            <a:endParaRPr lang="en-US" sz="1410" dirty="0"/>
          </a:p>
        </p:txBody>
      </p:sp>
      <p:sp>
        <p:nvSpPr>
          <p:cNvPr id="45" name="Shape 43"/>
          <p:cNvSpPr/>
          <p:nvPr/>
        </p:nvSpPr>
        <p:spPr>
          <a:xfrm>
            <a:off x="786384" y="4846320"/>
            <a:ext cx="2788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05256" y="4901184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1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FPR</a:t>
            </a:r>
            <a:endParaRPr lang="en-US" sz="1410" dirty="0"/>
          </a:p>
        </p:txBody>
      </p:sp>
      <p:sp>
        <p:nvSpPr>
          <p:cNvPr id="47" name="Shape 45"/>
          <p:cNvSpPr/>
          <p:nvPr/>
        </p:nvSpPr>
        <p:spPr>
          <a:xfrm>
            <a:off x="3575304" y="4846320"/>
            <a:ext cx="2971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94176" y="4901184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1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FP / (FP + TN)</a:t>
            </a:r>
            <a:endParaRPr lang="en-US" sz="1410" dirty="0"/>
          </a:p>
        </p:txBody>
      </p:sp>
      <p:sp>
        <p:nvSpPr>
          <p:cNvPr id="49" name="Shape 47"/>
          <p:cNvSpPr/>
          <p:nvPr/>
        </p:nvSpPr>
        <p:spPr>
          <a:xfrm>
            <a:off x="6547104" y="4846320"/>
            <a:ext cx="485546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5976" y="4901184"/>
            <a:ext cx="46268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1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Negatifleri yanlış pozitif sayma oranı</a:t>
            </a:r>
            <a:endParaRPr lang="en-US" sz="141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19.7  /  HATA VE BAŞARI METRIKLERI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Confusion Matrix — bir tıbbi tarama örneği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86384" y="1828800"/>
            <a:ext cx="10643616" cy="694944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38528"/>
            <a:ext cx="10204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kişi: TP=36, FN=4, FP=12, TN=48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41248" y="2734056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2871216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2898648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08760" y="2802636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 = (36+48)/100 = %84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41248" y="3355848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" y="3493008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3520440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3424428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 = (12+4)/100 = %16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41248" y="3977640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" y="4114800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4142232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08760" y="4046220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 = 36/(36+12) = %75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41248" y="4599432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4128" y="4736592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" y="4764024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08760" y="4668012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Recall = 36/(36+4) = %90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41248" y="5221224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24128" y="5358384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33272" y="5385816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508760" y="5289804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Specificity = 48/(48+12) = %80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832104" y="5696712"/>
            <a:ext cx="10515600" cy="521208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60704" y="5760720"/>
            <a:ext cx="10049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SONUÇ   FPR = 12/60 = %20.</a:t>
            </a:r>
            <a:endParaRPr lang="en-US" sz="17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19.7  /  HATA VE BAŞARI METRIKLERI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 ve Recall arasındaki fark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828800"/>
            <a:ext cx="5193792" cy="3950208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45352" y="1828800"/>
            <a:ext cx="5193792" cy="3950208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048256"/>
            <a:ext cx="47183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83096" y="2048256"/>
            <a:ext cx="47183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RECALL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24128" y="2761488"/>
            <a:ext cx="109728" cy="109728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71016" y="2642616"/>
            <a:ext cx="4361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“Pozitif dediğim kişilerin kaçı gerçekten pozitif?” Yanlış pozitif arttıkça düşer.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19672" y="2761488"/>
            <a:ext cx="109728" cy="109728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2642616"/>
            <a:ext cx="4361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“Gerçek pozitiflerin kaçını yakaladım?” Yanlış negatif arttıkça düşer.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8096" y="5925312"/>
            <a:ext cx="10652760" cy="36576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096" y="5925312"/>
            <a:ext cx="50292" cy="365760"/>
          </a:xfrm>
          <a:prstGeom prst="rect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" y="5971032"/>
            <a:ext cx="10296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Bankada sahte kullanıcıyı kabul etme FP maliyeti; taramada hastayı kaçırma FN maliyeti kritik olabilir.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19.7  /  HATA VE BAŞARI METRIKLERI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Şekil 19.4 — Precision ve Recall Venn diyagramları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819656"/>
            <a:ext cx="70866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pic>
        <p:nvPicPr>
          <p:cNvPr id="10" name="Image 0" descr="/mnt/data/ml19_slides_build/assets/figure_19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9928" y="1929384"/>
            <a:ext cx="4866359" cy="384962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028432" y="1819656"/>
            <a:ext cx="3392424" cy="406908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75320" y="2075688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6A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ŞEKLİ OKUYALIM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66176" y="262432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49640" y="252374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 = a/(a+b)</a:t>
            </a:r>
            <a:endParaRPr lang="en-US" sz="1420" dirty="0"/>
          </a:p>
        </p:txBody>
      </p:sp>
      <p:sp>
        <p:nvSpPr>
          <p:cNvPr id="15" name="Shape 12"/>
          <p:cNvSpPr/>
          <p:nvPr/>
        </p:nvSpPr>
        <p:spPr>
          <a:xfrm>
            <a:off x="8266176" y="340156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49640" y="330098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Recall = a/(a+c)</a:t>
            </a:r>
            <a:endParaRPr lang="en-US" sz="1420" dirty="0"/>
          </a:p>
        </p:txBody>
      </p:sp>
      <p:sp>
        <p:nvSpPr>
          <p:cNvPr id="17" name="Shape 14"/>
          <p:cNvSpPr/>
          <p:nvPr/>
        </p:nvSpPr>
        <p:spPr>
          <a:xfrm>
            <a:off x="8266176" y="417880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49640" y="407822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Precision=1 iken Recall düşük olabilir.</a:t>
            </a:r>
            <a:endParaRPr lang="en-US" sz="1420" dirty="0"/>
          </a:p>
        </p:txBody>
      </p:sp>
      <p:sp>
        <p:nvSpPr>
          <p:cNvPr id="19" name="Text 16"/>
          <p:cNvSpPr/>
          <p:nvPr/>
        </p:nvSpPr>
        <p:spPr>
          <a:xfrm>
            <a:off x="896112" y="6053328"/>
            <a:ext cx="10360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Kaynak şekil: a=ilgili ve getirilen, b=ilgisiz ama getirilen, c=ilgili ama getirilmeyen.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19.7  /  HATA VE BAŞARI METRIKLERI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Bilgi erişimi — Venn üzerinden hesap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86384" y="1828800"/>
            <a:ext cx="10643616" cy="694944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38528"/>
            <a:ext cx="10204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Arama motoru: a=30, b=10, c=20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41248" y="2734056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2871216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2898648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08760" y="2802636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 = 30/(30+10) = 30/40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41248" y="3355848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" y="3493008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3520440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3424428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 = %75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41248" y="3977640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" y="4114800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4142232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08760" y="4046220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Recall = 30/(30+20) = 30/50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41248" y="4599432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4128" y="4736592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" y="4764024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08760" y="4668012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Recall = %60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32104" y="5276088"/>
            <a:ext cx="10515600" cy="521208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5321808"/>
            <a:ext cx="10049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SONUÇ   Getirilen kayıtların %75’i ilgili; ilgili kayıtların %60’ı bulunmuş.</a:t>
            </a:r>
            <a:endParaRPr lang="en-US" sz="17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19.7  /  HATA VE BAŞARI METRIKLERI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Şekil 19.3 — ROC ve sınıflandırıcı karşılaştırma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819656"/>
            <a:ext cx="70866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pic>
        <p:nvPicPr>
          <p:cNvPr id="10" name="Image 0" descr="/mnt/data/ml19_slides_build/assets/figure_19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4116" y="1929384"/>
            <a:ext cx="4817983" cy="384962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028432" y="1819656"/>
            <a:ext cx="3392424" cy="406908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75320" y="2075688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6A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ŞEKLİ OKUYALIM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66176" y="262432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49640" y="252374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 üst (FPR=0, TPR=1) idealdir.</a:t>
            </a:r>
            <a:endParaRPr lang="en-US" sz="1420" dirty="0"/>
          </a:p>
        </p:txBody>
      </p:sp>
      <p:sp>
        <p:nvSpPr>
          <p:cNvPr id="15" name="Shape 12"/>
          <p:cNvSpPr/>
          <p:nvPr/>
        </p:nvSpPr>
        <p:spPr>
          <a:xfrm>
            <a:off x="8266176" y="340156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49640" y="330098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Köşegen: rastgele sıralama referansı.</a:t>
            </a:r>
            <a:endParaRPr lang="en-US" sz="1420" dirty="0"/>
          </a:p>
        </p:txBody>
      </p:sp>
      <p:sp>
        <p:nvSpPr>
          <p:cNvPr id="17" name="Shape 14"/>
          <p:cNvSpPr/>
          <p:nvPr/>
        </p:nvSpPr>
        <p:spPr>
          <a:xfrm>
            <a:off x="8266176" y="417880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49640" y="407822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 ve C farklı maliyetlerde avantajlıdır.</a:t>
            </a:r>
            <a:endParaRPr lang="en-US" sz="1420" dirty="0"/>
          </a:p>
        </p:txBody>
      </p:sp>
      <p:sp>
        <p:nvSpPr>
          <p:cNvPr id="19" name="Text 16"/>
          <p:cNvSpPr/>
          <p:nvPr/>
        </p:nvSpPr>
        <p:spPr>
          <a:xfrm>
            <a:off x="896112" y="6053328"/>
            <a:ext cx="10360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ROC yatay eksende FPR, dikey eksende TPR gösterir.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19.7  /  HATA VE BAŞARI METRIKLERI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ROC eşik değeri ile oluşur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10652760" cy="1124712"/>
          </a:xfrm>
          <a:prstGeom prst="round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057400"/>
            <a:ext cx="10113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C₁ seçilir  ⇔  P(C₁ | x) &gt; θ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77824" y="322783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Modelin olasılık skoruna uygulanan θ eşiği değiştirilince TP ve FP sayıları değişir.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2688" y="4069080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08736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26464" y="3986784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θ çok yüksekse: az pozitif tahmin → TPR düşük, FPR düşük.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2688" y="4562856"/>
            <a:ext cx="320040" cy="320040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58114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26464" y="4480560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θ azaldıkça: daha çok pozitif tahmin → TPR artabilir, FPR de artabilir.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" y="5056632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50749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26464" y="4974336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Farklı θ değerlerinin (FPR,TPR) noktaları ROC eğrisini oluşturur.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8096" y="6053328"/>
            <a:ext cx="10652760" cy="384048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6053328"/>
            <a:ext cx="50292" cy="384048"/>
          </a:xfrm>
          <a:prstGeom prst="rect">
            <a:avLst/>
          </a:prstGeom>
          <a:solidFill>
            <a:srgbClr val="E69A32"/>
          </a:solidFill>
          <a:ln w="12700">
            <a:solidFill>
              <a:srgbClr val="E69A3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6099048"/>
            <a:ext cx="10296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Uygun çalışma noktası yanlış pozitif ve yanlış negatif maliyetlerine göre seçilir.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19.7  /  HATA VE BAŞARI METRIKLERI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ROC-AUC: eğri altında kalan alan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819656"/>
            <a:ext cx="70866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pic>
        <p:nvPicPr>
          <p:cNvPr id="10" name="Image 0" descr="/mnt/data/ml19_slides_build/assets/roc_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48316"/>
            <a:ext cx="6848856" cy="36117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028432" y="1819656"/>
            <a:ext cx="3392424" cy="406908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75320" y="2075688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6A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ŞEKLİ OKUYALIM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66176" y="262432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49640" y="252374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AUC=1 ideal sıralama.</a:t>
            </a:r>
            <a:endParaRPr lang="en-US" sz="1420" dirty="0"/>
          </a:p>
        </p:txBody>
      </p:sp>
      <p:sp>
        <p:nvSpPr>
          <p:cNvPr id="15" name="Shape 12"/>
          <p:cNvSpPr/>
          <p:nvPr/>
        </p:nvSpPr>
        <p:spPr>
          <a:xfrm>
            <a:off x="8266176" y="340156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49640" y="330098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AUC≈0,5 rastgele sıra düzeyi.</a:t>
            </a:r>
            <a:endParaRPr lang="en-US" sz="1420" dirty="0"/>
          </a:p>
        </p:txBody>
      </p:sp>
      <p:sp>
        <p:nvSpPr>
          <p:cNvPr id="17" name="Shape 14"/>
          <p:cNvSpPr/>
          <p:nvPr/>
        </p:nvSpPr>
        <p:spPr>
          <a:xfrm>
            <a:off x="8266176" y="417880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49640" y="407822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Tek eşikteki Accuracy yerine tüm eşikler.</a:t>
            </a:r>
            <a:endParaRPr lang="en-US" sz="1420" dirty="0"/>
          </a:p>
        </p:txBody>
      </p:sp>
      <p:sp>
        <p:nvSpPr>
          <p:cNvPr id="19" name="Text 16"/>
          <p:cNvSpPr/>
          <p:nvPr/>
        </p:nvSpPr>
        <p:spPr>
          <a:xfrm>
            <a:off x="896112" y="6053328"/>
            <a:ext cx="10360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İllüstrasyon: ROC eğrileri ve rastgele referans çizgisi.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19.7  /  HATA VE BAŞARI METRIKLERI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AUC neden yorumlanabilir?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86384" y="1828800"/>
            <a:ext cx="10643616" cy="694944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38528"/>
            <a:ext cx="10204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AUC=0,90 olan bir sıralama modeli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41248" y="2734056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2871216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2898648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08760" y="2802636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Rastgele 1 pozitif ve 1 negatif örnek seç.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41248" y="3355848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" y="3493008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3520440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3424428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ikisine de pozitif sınıf skoru verir.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41248" y="3977640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" y="4114800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4142232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08760" y="4046220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AUC=0,90 ≈ pozitif örneğin daha yüksek puan alması olasılığı.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32104" y="4654296"/>
            <a:ext cx="10515600" cy="521208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0704" y="4700016"/>
            <a:ext cx="10049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SONUÇ   Yüksek AUC tüm eşikleri özetler; maliyetli uygulamada tek eşik de önemlidir.</a:t>
            </a:r>
            <a:endParaRPr lang="en-US" sz="17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19.7  /  HATA VE BAŞARI METRIKLERI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Çok sınıflı Confusion Matrix örneği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86384" y="1828800"/>
            <a:ext cx="10643616" cy="694944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38528"/>
            <a:ext cx="10204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Gerçek sınıflar: Kedi / Köpek / Kuş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41248" y="2734056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2871216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2898648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08760" y="2802636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Kedi satırı: [45, 4, 1] → 45 doğru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41248" y="3355848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" y="3493008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3520440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3424428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Köpek satırı: [6, 42, 2] → 42 doğru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41248" y="3977640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" y="4114800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4142232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08760" y="4046220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Kuş satırı: [1, 3, 46] → 46 doğru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41248" y="4599432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4128" y="4736592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" y="4764024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08760" y="4668012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Toplam 150; doğru = 45+42+46 = 133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32104" y="5276088"/>
            <a:ext cx="10515600" cy="521208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5321808"/>
            <a:ext cx="10049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SONUÇ   Accuracy = 133/150 ≈ %88,67; kedi-köpek karışıklığını ayrıca görürüz.</a:t>
            </a:r>
            <a:endParaRPr lang="en-US" sz="17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3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0"/>
            <a:ext cx="2770632" cy="6858000"/>
          </a:xfrm>
          <a:prstGeom prst="rect">
            <a:avLst/>
          </a:prstGeom>
          <a:solidFill>
            <a:srgbClr val="0C1830"/>
          </a:solidFill>
          <a:ln w="12700">
            <a:solidFill>
              <a:srgbClr val="0C183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1600200"/>
            <a:ext cx="3383280" cy="3383280"/>
          </a:xfrm>
          <a:prstGeom prst="ellipse">
            <a:avLst/>
          </a:prstGeom>
          <a:solidFill>
            <a:srgbClr val="13233D">
              <a:alpha val="0"/>
            </a:srgbClr>
          </a:solidFill>
          <a:ln w="38100">
            <a:solidFill>
              <a:srgbClr val="159D91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68580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19.8</a:t>
            </a:r>
            <a:endParaRPr lang="en-US" sz="6500" dirty="0"/>
          </a:p>
        </p:txBody>
      </p:sp>
      <p:sp>
        <p:nvSpPr>
          <p:cNvPr id="6" name="Text 4"/>
          <p:cNvSpPr/>
          <p:nvPr/>
        </p:nvSpPr>
        <p:spPr>
          <a:xfrm>
            <a:off x="795528" y="2029968"/>
            <a:ext cx="987552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Aralık tahmini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804672" y="3904488"/>
            <a:ext cx="9144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D5E1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“Başarı %90” derken tahmin belirsizliğini nasıl gösteririz?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04672" y="628192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BÖLÜM 19  •  GÜVEN ARALIKLARI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19.8  /  GÜVEN ARALIKLARI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Nokta tahmini ve aralık tahmini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828800"/>
            <a:ext cx="5193792" cy="3950208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45352" y="1828800"/>
            <a:ext cx="5193792" cy="3950208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048256"/>
            <a:ext cx="47183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Nokta tahmini (Point Estimate)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83096" y="2048256"/>
            <a:ext cx="47183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Aralık tahmini (Interval Estimate)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24128" y="2761488"/>
            <a:ext cx="109728" cy="109728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71016" y="2642616"/>
            <a:ext cx="4361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Tek sayı üretir: örn. 5 doğruluğun ortalaması %90. Ancak belirsizliği tek başına göstermez.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19672" y="2761488"/>
            <a:ext cx="109728" cy="109728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2642616"/>
            <a:ext cx="4361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Örnekleme belirsizliğini gösteren aralık: örn. uygun varsayımlarla %95 güven aralığı.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8096" y="5925312"/>
            <a:ext cx="10652760" cy="36576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096" y="5925312"/>
            <a:ext cx="50292" cy="365760"/>
          </a:xfrm>
          <a:prstGeom prst="rect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" y="5971032"/>
            <a:ext cx="10296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Güven aralığı, aynı yöntemi tekrarlasaydık oluşturulan aralıkların belli oranının sabit parametreyi kapsaması demektir.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19.8  /  GÜVEN ARALIKLARI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Denklem 19.1 — Ortalamayı standartlaştırma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10652760" cy="1124712"/>
          </a:xfrm>
          <a:prstGeom prst="round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057400"/>
            <a:ext cx="10113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 = (m−μ) / (σ/√N)  ~  N(0,1)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77824" y="322783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 popülasyondan bağımsız örnekler: örneklem ortalamasının varyansı σ²/N.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2688" y="4069080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08736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26464" y="3986784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 = (x₁+⋯+xN)/N örneklem ortalamasıdır.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2688" y="4562856"/>
            <a:ext cx="320040" cy="320040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58114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26464" y="4480560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σ/√N = standart hata (SE).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" y="5056632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50749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26464" y="4974336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 değeri: m ile gerçek μ farkı kaç SE uzaklıktadır?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8096" y="6053328"/>
            <a:ext cx="10652760" cy="384048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6053328"/>
            <a:ext cx="50292" cy="384048"/>
          </a:xfrm>
          <a:prstGeom prst="rect">
            <a:avLst/>
          </a:prstGeom>
          <a:solidFill>
            <a:srgbClr val="E69A32"/>
          </a:solidFill>
          <a:ln w="12700">
            <a:solidFill>
              <a:srgbClr val="E69A3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6099048"/>
            <a:ext cx="10296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SE, bireysel gözlemlerin standart sapması σ ile aynı kavram değildir.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19.8  /  GÜVEN ARALIKLARI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Standart hata sayısal örneği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86384" y="1828800"/>
            <a:ext cx="10643616" cy="694944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38528"/>
            <a:ext cx="10204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Popülasyon standart sapması σ=10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41248" y="2734056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2871216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2898648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08760" y="2802636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N=25 → SE=10/√25=10/5=2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41248" y="3355848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" y="3493008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3520440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3424428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N=100 → SE=10/√100=10/10=1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41248" y="3977640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" y="4114800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4142232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08760" y="4046220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Daha büyük N → ortalama daha istikrarlı.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32104" y="4654296"/>
            <a:ext cx="10515600" cy="521208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0704" y="4700016"/>
            <a:ext cx="10049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SONUÇ   SE örneklem büyüklüğünün karekökü ile azalır.</a:t>
            </a:r>
            <a:endParaRPr lang="en-US" sz="17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19.8  /  GÜVEN ARALIKLARI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Şekil 19.5 — Çift taraflı %95 güven aralığı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819656"/>
            <a:ext cx="70866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pic>
        <p:nvPicPr>
          <p:cNvPr id="10" name="Image 0" descr="/mnt/data/ml19_slides_build/assets/figure_19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1307" y="1929384"/>
            <a:ext cx="5683602" cy="384962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028432" y="1819656"/>
            <a:ext cx="3392424" cy="406908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75320" y="2075688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6A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ŞEKLİ OKUYALIM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66176" y="262432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49640" y="252374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 kuyruk: %2,5.</a:t>
            </a:r>
            <a:endParaRPr lang="en-US" sz="1420" dirty="0"/>
          </a:p>
        </p:txBody>
      </p:sp>
      <p:sp>
        <p:nvSpPr>
          <p:cNvPr id="15" name="Shape 12"/>
          <p:cNvSpPr/>
          <p:nvPr/>
        </p:nvSpPr>
        <p:spPr>
          <a:xfrm>
            <a:off x="8266176" y="340156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49640" y="330098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Orta alan: %95.</a:t>
            </a:r>
            <a:endParaRPr lang="en-US" sz="1420" dirty="0"/>
          </a:p>
        </p:txBody>
      </p:sp>
      <p:sp>
        <p:nvSpPr>
          <p:cNvPr id="17" name="Shape 14"/>
          <p:cNvSpPr/>
          <p:nvPr/>
        </p:nvSpPr>
        <p:spPr>
          <a:xfrm>
            <a:off x="8266176" y="417880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49640" y="407822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Sağ kuyruk: %2,5.</a:t>
            </a:r>
            <a:endParaRPr lang="en-US" sz="1420" dirty="0"/>
          </a:p>
        </p:txBody>
      </p:sp>
      <p:sp>
        <p:nvSpPr>
          <p:cNvPr id="19" name="Text 16"/>
          <p:cNvSpPr/>
          <p:nvPr/>
        </p:nvSpPr>
        <p:spPr>
          <a:xfrm>
            <a:off x="896112" y="6053328"/>
            <a:ext cx="10360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Kaynak şekil: Z ~ N(0,1). −1,96 ile +1,96 arasındaki olasılık %95.</a:t>
            </a:r>
            <a:endParaRPr lang="en-US" sz="11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19.8  /  GÜVEN ARALIKLARI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Denklem 19.2 — Çift taraflı güven aralığı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10652760" cy="1124712"/>
          </a:xfrm>
          <a:prstGeom prst="round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057400"/>
            <a:ext cx="10113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 = m ± z(α/2) × σ/√N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77824" y="322783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Güven düzeyi = 100(1−α)%; %95 güven için kritik Z≈1,96.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2688" y="4069080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08736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26464" y="3986784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Önce m ve σ hesaplanır / bilinir.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2688" y="4562856"/>
            <a:ext cx="320040" cy="320040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58114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26464" y="4480560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Standart hata SE = σ/√N.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" y="5056632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50749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26464" y="4974336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Hata payı = z × SE; alt/üst sınır m ± hata payı.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8096" y="6053328"/>
            <a:ext cx="10652760" cy="384048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6053328"/>
            <a:ext cx="50292" cy="384048"/>
          </a:xfrm>
          <a:prstGeom prst="rect">
            <a:avLst/>
          </a:prstGeom>
          <a:solidFill>
            <a:srgbClr val="E69A32"/>
          </a:solidFill>
          <a:ln w="12700">
            <a:solidFill>
              <a:srgbClr val="E69A3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6099048"/>
            <a:ext cx="10296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%99 için Z≈2,576: güven yükselirken aralık genişler.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19.8  /  GÜVEN ARALIKLARI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Çift taraflı %95 güven aralığı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86384" y="1828800"/>
            <a:ext cx="10643616" cy="694944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38528"/>
            <a:ext cx="10204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N=100, örneklem ortalaması m=80, bilinen σ=10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41248" y="2734056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2871216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2898648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08760" y="2802636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SE=10/√100=1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41248" y="3355848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" y="3493008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3520440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3424428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Kritik z=1,96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41248" y="3977640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" y="4114800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4142232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08760" y="4046220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Hata payı =1,96×1=1,96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41248" y="4599432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4128" y="4736592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" y="4764024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08760" y="4668012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 =80−1,96=78,04; Üst =80+1,96=81,96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32104" y="5276088"/>
            <a:ext cx="10515600" cy="521208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5321808"/>
            <a:ext cx="10049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SONUÇ   %95 CI = [78,04; 81,96].</a:t>
            </a:r>
            <a:endParaRPr lang="en-US" sz="17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19.8  /  GÜVEN ARALIKLARI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Güven düzeyi neden aralığı değiştirir?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86384" y="1828800"/>
            <a:ext cx="1463040" cy="566928"/>
          </a:xfrm>
          <a:prstGeom prst="rect">
            <a:avLst/>
          </a:prstGeom>
          <a:solidFill>
            <a:srgbClr val="13233D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88366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Güven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2249424" y="1828800"/>
            <a:ext cx="1463040" cy="566928"/>
          </a:xfrm>
          <a:prstGeom prst="rect">
            <a:avLst/>
          </a:prstGeom>
          <a:solidFill>
            <a:srgbClr val="13233D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68296" y="188366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α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3712464" y="1828800"/>
            <a:ext cx="2286000" cy="566928"/>
          </a:xfrm>
          <a:prstGeom prst="rect">
            <a:avLst/>
          </a:prstGeom>
          <a:solidFill>
            <a:srgbClr val="13233D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31336" y="1883664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Kritik Z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998464" y="1828800"/>
            <a:ext cx="5404104" cy="566928"/>
          </a:xfrm>
          <a:prstGeom prst="rect">
            <a:avLst/>
          </a:prstGeom>
          <a:solidFill>
            <a:srgbClr val="13233D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17336" y="1883664"/>
            <a:ext cx="5175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 ± z×1 aralığı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86384" y="2395728"/>
            <a:ext cx="1463040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" y="245059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%90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2249424" y="2395728"/>
            <a:ext cx="1463040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68296" y="245059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3712464" y="2395728"/>
            <a:ext cx="2286000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31336" y="245059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1,645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5998464" y="2395728"/>
            <a:ext cx="5404104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17336" y="2450592"/>
            <a:ext cx="5175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[78,355; 81,645]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786384" y="2962656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5256" y="30175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%95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2249424" y="2962656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68296" y="30175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0,05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3712464" y="2962656"/>
            <a:ext cx="2286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31336" y="3017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1,960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5998464" y="2962656"/>
            <a:ext cx="540410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17336" y="3017520"/>
            <a:ext cx="5175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[78,040; 81,960]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786384" y="3529584"/>
            <a:ext cx="1463040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5256" y="35844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%99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2249424" y="3529584"/>
            <a:ext cx="1463040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68296" y="35844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0,01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3712464" y="3529584"/>
            <a:ext cx="2286000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31336" y="35844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2,576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5998464" y="3529584"/>
            <a:ext cx="5404104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17336" y="3584448"/>
            <a:ext cx="5175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[77,424; 82,576]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768096" y="5943600"/>
            <a:ext cx="10652760" cy="429768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8096" y="5943600"/>
            <a:ext cx="50292" cy="429768"/>
          </a:xfrm>
          <a:prstGeom prst="rect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9264" y="5989320"/>
            <a:ext cx="102961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Aynı örneklemde daha çok güven = daha geniş aralık.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19.8  /  GÜVEN ARALIKLARI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Şekil 19.6 — Tek taraflı %95 güven sınırı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819656"/>
            <a:ext cx="70866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pic>
        <p:nvPicPr>
          <p:cNvPr id="10" name="Image 0" descr="/mnt/data/ml19_slides_build/assets/figure_19_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6040" y="1929384"/>
            <a:ext cx="5654135" cy="384962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028432" y="1819656"/>
            <a:ext cx="3392424" cy="406908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75320" y="2075688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6A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ŞEKLİ OKUYALIM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66176" y="262432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49640" y="252374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Sağ kuyruk alanı toplam %5.</a:t>
            </a:r>
            <a:endParaRPr lang="en-US" sz="1420" dirty="0"/>
          </a:p>
        </p:txBody>
      </p:sp>
      <p:sp>
        <p:nvSpPr>
          <p:cNvPr id="15" name="Shape 12"/>
          <p:cNvSpPr/>
          <p:nvPr/>
        </p:nvSpPr>
        <p:spPr>
          <a:xfrm>
            <a:off x="8266176" y="340156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49640" y="330098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Kritik değer z≈1,645.</a:t>
            </a:r>
            <a:endParaRPr lang="en-US" sz="1420" dirty="0"/>
          </a:p>
        </p:txBody>
      </p:sp>
      <p:sp>
        <p:nvSpPr>
          <p:cNvPr id="17" name="Shape 14"/>
          <p:cNvSpPr/>
          <p:nvPr/>
        </p:nvSpPr>
        <p:spPr>
          <a:xfrm>
            <a:off x="8266176" y="417880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49640" y="407822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Tek yönde alt veya üst güven sınırı.</a:t>
            </a:r>
            <a:endParaRPr lang="en-US" sz="1420" dirty="0"/>
          </a:p>
        </p:txBody>
      </p:sp>
      <p:sp>
        <p:nvSpPr>
          <p:cNvPr id="19" name="Text 16"/>
          <p:cNvSpPr/>
          <p:nvPr/>
        </p:nvSpPr>
        <p:spPr>
          <a:xfrm>
            <a:off x="896112" y="6053328"/>
            <a:ext cx="10360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Kaynak şekil: Standart normal dağılımın yaklaşık %95’i z=1,64’ün solunda.</a:t>
            </a:r>
            <a:endParaRPr lang="en-US" sz="11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19.8  /  GÜVEN ARALIKLARI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Denklem 19.3 — Tek taraflı güven sınırı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10652760" cy="1124712"/>
          </a:xfrm>
          <a:prstGeom prst="round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057400"/>
            <a:ext cx="10113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 sınır = m − z(α) × σ/√N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77824" y="322783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Tek taraflı %95 için z(0,05)≈1,645 kullanılır.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2688" y="4069080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08736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26464" y="3986784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Örn. m=80, σ=10, N=100 → SE=1.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2688" y="4562856"/>
            <a:ext cx="320040" cy="320040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58114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26464" y="4480560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 sınır =80−1,645×1=78,355.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" y="5056632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50749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26464" y="4974336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Aralık: (78,355; +∞).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8096" y="6053328"/>
            <a:ext cx="10652760" cy="384048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6053328"/>
            <a:ext cx="50292" cy="384048"/>
          </a:xfrm>
          <a:prstGeom prst="rect">
            <a:avLst/>
          </a:prstGeom>
          <a:solidFill>
            <a:srgbClr val="E69A32"/>
          </a:solidFill>
          <a:ln w="12700">
            <a:solidFill>
              <a:srgbClr val="E69A3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6099048"/>
            <a:ext cx="10296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Karşı taraftaki üst güven sınırı: m + z(α)×SE; aralık (−∞, üst).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19.8  /  GÜVEN ARALIKLARI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Denklem 19.4 — σ bilinmiyorsa t dağılımı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10652760" cy="1124712"/>
          </a:xfrm>
          <a:prstGeom prst="round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057400"/>
            <a:ext cx="10113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 = √N (m−μ) / S   ~   t(N−1)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77824" y="322783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S: örneklem standart sapması. Serbestlik derecesi N−1.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2688" y="4069080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08736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26464" y="3986784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S²= Σ(xᵢ−m)²/(N−1).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2688" y="4562856"/>
            <a:ext cx="320040" cy="320040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58114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26464" y="4480560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 dağılımının kuyrukları normalden daha kalındır.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" y="5056632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50749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26464" y="4974336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 büyüdükçe t dağılımı Z dağılımına yaklaşır.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8096" y="6053328"/>
            <a:ext cx="10652760" cy="384048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6053328"/>
            <a:ext cx="50292" cy="384048"/>
          </a:xfrm>
          <a:prstGeom prst="rect">
            <a:avLst/>
          </a:prstGeom>
          <a:solidFill>
            <a:srgbClr val="E69A32"/>
          </a:solidFill>
          <a:ln w="12700">
            <a:solidFill>
              <a:srgbClr val="E69A3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6099048"/>
            <a:ext cx="10296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 aralığı: m ± t(α/2, N−1) × S/√N.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19.8  /  GÜVEN ARALIKLARI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Bilinmeyen σ: t ile güven aralığı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86384" y="1828800"/>
            <a:ext cx="10643616" cy="694944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38528"/>
            <a:ext cx="10204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N=16, m=75, S=8; %95 çift taraflı güven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41248" y="2734056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2871216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2898648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08760" y="2802636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Serbestlik derecesi df=16−1=15.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41248" y="3355848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" y="3493008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3520440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3424428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 kritik ≈2,131.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41248" y="3977640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" y="4114800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4142232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08760" y="4046220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SE=8/√16=2.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41248" y="4599432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4128" y="4736592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" y="4764024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08760" y="4668012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Hata payı=2,131×2=4,262.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32104" y="5276088"/>
            <a:ext cx="10515600" cy="521208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5321808"/>
            <a:ext cx="10049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SONUÇ   %95 CI = [70,738; 79,262].</a:t>
            </a:r>
            <a:endParaRPr lang="en-US" sz="17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3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0"/>
            <a:ext cx="2770632" cy="6858000"/>
          </a:xfrm>
          <a:prstGeom prst="rect">
            <a:avLst/>
          </a:prstGeom>
          <a:solidFill>
            <a:srgbClr val="0C1830"/>
          </a:solidFill>
          <a:ln w="12700">
            <a:solidFill>
              <a:srgbClr val="0C183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1600200"/>
            <a:ext cx="3383280" cy="3383280"/>
          </a:xfrm>
          <a:prstGeom prst="ellipse">
            <a:avLst/>
          </a:prstGeom>
          <a:solidFill>
            <a:srgbClr val="13233D">
              <a:alpha val="0"/>
            </a:srgbClr>
          </a:solidFill>
          <a:ln w="38100">
            <a:solidFill>
              <a:srgbClr val="159D91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68580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19.9</a:t>
            </a:r>
            <a:endParaRPr lang="en-US" sz="6500" dirty="0"/>
          </a:p>
        </p:txBody>
      </p:sp>
      <p:sp>
        <p:nvSpPr>
          <p:cNvPr id="6" name="Text 4"/>
          <p:cNvSpPr/>
          <p:nvPr/>
        </p:nvSpPr>
        <p:spPr>
          <a:xfrm>
            <a:off x="795528" y="2029968"/>
            <a:ext cx="987552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Hipotez testi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804672" y="3904488"/>
            <a:ext cx="9144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D5E1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Örneklem gözlemi bir iddiayla uyumlu mu?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04672" y="628192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BÖLÜM 19  •  İSTATISTIKSEL KARAR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19.9  /  İSTATISTIKSEL KARAR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Hipotez testinin temel sözlüğü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68096" y="1856232"/>
            <a:ext cx="5248656" cy="194310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066544"/>
            <a:ext cx="48097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H₀ — Sıfır hipotezi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87552" y="2670048"/>
            <a:ext cx="4809744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7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Başlangıçta sınadığımız durum: μ=μ₀ ya da hata p≤p₀.</a:t>
            </a:r>
            <a:endParaRPr lang="en-US" sz="1670" dirty="0"/>
          </a:p>
        </p:txBody>
      </p:sp>
      <p:sp>
        <p:nvSpPr>
          <p:cNvPr id="12" name="Shape 10"/>
          <p:cNvSpPr/>
          <p:nvPr/>
        </p:nvSpPr>
        <p:spPr>
          <a:xfrm>
            <a:off x="6199632" y="1856232"/>
            <a:ext cx="5248656" cy="1943100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2066544"/>
            <a:ext cx="48097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H₁ — Alternatif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19088" y="2670048"/>
            <a:ext cx="4809744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7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Kanıt aradığımız ifade: μ≠μ₀, μ&gt;μ₀ veya μ&lt;μ₀.</a:t>
            </a:r>
            <a:endParaRPr lang="en-US" sz="1670" dirty="0"/>
          </a:p>
        </p:txBody>
      </p:sp>
      <p:sp>
        <p:nvSpPr>
          <p:cNvPr id="15" name="Shape 13"/>
          <p:cNvSpPr/>
          <p:nvPr/>
        </p:nvSpPr>
        <p:spPr>
          <a:xfrm>
            <a:off x="768096" y="3982212"/>
            <a:ext cx="5248656" cy="1943100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4192524"/>
            <a:ext cx="48097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α — Anlamlılık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87552" y="4796028"/>
            <a:ext cx="4809744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7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H₀ doğruyken onu reddetme (Tip I hata) riskini kontrol eden önceden seçilen sınır.</a:t>
            </a:r>
            <a:endParaRPr lang="en-US" sz="1670" dirty="0"/>
          </a:p>
        </p:txBody>
      </p:sp>
      <p:sp>
        <p:nvSpPr>
          <p:cNvPr id="18" name="Shape 16"/>
          <p:cNvSpPr/>
          <p:nvPr/>
        </p:nvSpPr>
        <p:spPr>
          <a:xfrm>
            <a:off x="6199632" y="3982212"/>
            <a:ext cx="5248656" cy="19431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9088" y="4192524"/>
            <a:ext cx="48097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p-değeri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419088" y="4796028"/>
            <a:ext cx="4809744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7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H₀ altında, gözlenene en az onun kadar aykırı bir sonucun olasılığı.</a:t>
            </a:r>
            <a:endParaRPr lang="en-US" sz="167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19.9  /  İSTATISTIKSEL KARAR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istatistiği ve reddetme bölgesi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819656"/>
            <a:ext cx="70866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pic>
        <p:nvPicPr>
          <p:cNvPr id="10" name="Image 0" descr="/mnt/data/ml19_slides_build/assets/reject_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489299"/>
            <a:ext cx="6848856" cy="2729793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028432" y="1819656"/>
            <a:ext cx="3392424" cy="406908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75320" y="2075688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6A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ŞEKLİ OKUYALIM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66176" y="262432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49640" y="252374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H₁: μ&gt;μ₀ ise sağ kuyruk.</a:t>
            </a:r>
            <a:endParaRPr lang="en-US" sz="1420" dirty="0"/>
          </a:p>
        </p:txBody>
      </p:sp>
      <p:sp>
        <p:nvSpPr>
          <p:cNvPr id="15" name="Shape 12"/>
          <p:cNvSpPr/>
          <p:nvPr/>
        </p:nvSpPr>
        <p:spPr>
          <a:xfrm>
            <a:off x="8266176" y="340156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49640" y="330098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Gözlenen z kritik sınırı aşarsa reddet.</a:t>
            </a:r>
            <a:endParaRPr lang="en-US" sz="1420" dirty="0"/>
          </a:p>
        </p:txBody>
      </p:sp>
      <p:sp>
        <p:nvSpPr>
          <p:cNvPr id="17" name="Shape 14"/>
          <p:cNvSpPr/>
          <p:nvPr/>
        </p:nvSpPr>
        <p:spPr>
          <a:xfrm>
            <a:off x="8266176" y="417880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49640" y="407822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“Reddedilemez” ≠ “H₀ doğrudur”.</a:t>
            </a:r>
            <a:endParaRPr lang="en-US" sz="1420" dirty="0"/>
          </a:p>
        </p:txBody>
      </p:sp>
      <p:sp>
        <p:nvSpPr>
          <p:cNvPr id="19" name="Text 16"/>
          <p:cNvSpPr/>
          <p:nvPr/>
        </p:nvSpPr>
        <p:spPr>
          <a:xfrm>
            <a:off x="896112" y="6053328"/>
            <a:ext cx="10360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Örnek sağ kuyruklu Z testi: z gözlenen=2,33; kritik=1,645.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19.9  /  İSTATISTIKSEL KARAR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Denklem 19.5 — Çift taraflı Z testi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10652760" cy="1124712"/>
          </a:xfrm>
          <a:prstGeom prst="round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057400"/>
            <a:ext cx="10113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 = √N(m−μ₀)/σ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77824" y="322783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H₀: μ=μ₀; H₁: μ≠μ₀. H₀ doğruysa z yaklaşık/uygun varsayımlarda standart normaldir.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2688" y="4069080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08736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26464" y="3986784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%5 çift taraflı: kritik z=±1,96.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2688" y="4562856"/>
            <a:ext cx="320040" cy="320040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58114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26464" y="4480560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|z|&gt;1,96 ise H₀ reddedilir.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" y="5056632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50749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26464" y="4974336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|z|≤1,96 ise H₀ reddedilemez.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8096" y="6053328"/>
            <a:ext cx="10652760" cy="384048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6053328"/>
            <a:ext cx="50292" cy="384048"/>
          </a:xfrm>
          <a:prstGeom prst="rect">
            <a:avLst/>
          </a:prstGeom>
          <a:solidFill>
            <a:srgbClr val="E69A32"/>
          </a:solidFill>
          <a:ln w="12700">
            <a:solidFill>
              <a:srgbClr val="E69A3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6099048"/>
            <a:ext cx="10296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μ₀ %95 güven aralığının dışındaysa aynı çift taraflı Z testinde H₀ reddedilir.</a:t>
            </a:r>
            <a:endParaRPr lang="en-US" sz="1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19.9  /  İSTATISTIKSEL KARAR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 testi — ortalama 50’den farklı mı?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86384" y="1828800"/>
            <a:ext cx="10643616" cy="694944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38528"/>
            <a:ext cx="10204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N=25, m=54, σ=10, μ₀=50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41248" y="2734056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2871216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2898648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08760" y="2802636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Standart hata =10/√25=2.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41248" y="3355848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" y="3493008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3520440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3424428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z=(54−50)/2=2.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41248" y="3977640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" y="4114800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4142232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08760" y="4046220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Kritik değer ±1,96.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41248" y="4599432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4128" y="4736592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" y="4764024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08760" y="4668012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&gt; 1,96 → H₀ reddedilir.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32104" y="5276088"/>
            <a:ext cx="10515600" cy="521208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5321808"/>
            <a:ext cx="10049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SONUÇ   %5 düzeyinde ortalamanın 50’den farklı olduğuna dair kanıt var.</a:t>
            </a:r>
            <a:endParaRPr lang="en-US" sz="17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19.9  /  İSTATISTIKSEL KARAR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Tablo 19.3 — İki hata türü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86384" y="1828800"/>
            <a:ext cx="3108960" cy="566928"/>
          </a:xfrm>
          <a:prstGeom prst="rect">
            <a:avLst/>
          </a:prstGeom>
          <a:solidFill>
            <a:srgbClr val="13233D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88366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Gerçek durum / Karar</a:t>
            </a:r>
            <a:endParaRPr lang="en-US" sz="1540" dirty="0"/>
          </a:p>
        </p:txBody>
      </p:sp>
      <p:sp>
        <p:nvSpPr>
          <p:cNvPr id="11" name="Shape 9"/>
          <p:cNvSpPr/>
          <p:nvPr/>
        </p:nvSpPr>
        <p:spPr>
          <a:xfrm>
            <a:off x="3895344" y="1828800"/>
            <a:ext cx="3730752" cy="566928"/>
          </a:xfrm>
          <a:prstGeom prst="rect">
            <a:avLst/>
          </a:prstGeom>
          <a:solidFill>
            <a:srgbClr val="13233D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14216" y="1883664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H₀ reddedilemez</a:t>
            </a:r>
            <a:endParaRPr lang="en-US" sz="1540" dirty="0"/>
          </a:p>
        </p:txBody>
      </p:sp>
      <p:sp>
        <p:nvSpPr>
          <p:cNvPr id="13" name="Shape 11"/>
          <p:cNvSpPr/>
          <p:nvPr/>
        </p:nvSpPr>
        <p:spPr>
          <a:xfrm>
            <a:off x="7626096" y="1828800"/>
            <a:ext cx="3776472" cy="566928"/>
          </a:xfrm>
          <a:prstGeom prst="rect">
            <a:avLst/>
          </a:prstGeom>
          <a:solidFill>
            <a:srgbClr val="13233D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44968" y="1883664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H₀ reddedilir</a:t>
            </a:r>
            <a:endParaRPr lang="en-US" sz="1540" dirty="0"/>
          </a:p>
        </p:txBody>
      </p:sp>
      <p:sp>
        <p:nvSpPr>
          <p:cNvPr id="15" name="Shape 13"/>
          <p:cNvSpPr/>
          <p:nvPr/>
        </p:nvSpPr>
        <p:spPr>
          <a:xfrm>
            <a:off x="786384" y="2395728"/>
            <a:ext cx="3108960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245059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4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H₀ gerçekte doğru</a:t>
            </a:r>
            <a:endParaRPr lang="en-US" sz="1640" dirty="0"/>
          </a:p>
        </p:txBody>
      </p:sp>
      <p:sp>
        <p:nvSpPr>
          <p:cNvPr id="17" name="Shape 15"/>
          <p:cNvSpPr/>
          <p:nvPr/>
        </p:nvSpPr>
        <p:spPr>
          <a:xfrm>
            <a:off x="3895344" y="2395728"/>
            <a:ext cx="3730752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14216" y="2450592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4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Doğru karar</a:t>
            </a:r>
            <a:endParaRPr lang="en-US" sz="1640" dirty="0"/>
          </a:p>
        </p:txBody>
      </p:sp>
      <p:sp>
        <p:nvSpPr>
          <p:cNvPr id="19" name="Shape 17"/>
          <p:cNvSpPr/>
          <p:nvPr/>
        </p:nvSpPr>
        <p:spPr>
          <a:xfrm>
            <a:off x="7626096" y="2395728"/>
            <a:ext cx="3776472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44968" y="2450592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4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 I hata (α)</a:t>
            </a:r>
            <a:endParaRPr lang="en-US" sz="1640" dirty="0"/>
          </a:p>
        </p:txBody>
      </p:sp>
      <p:sp>
        <p:nvSpPr>
          <p:cNvPr id="21" name="Shape 19"/>
          <p:cNvSpPr/>
          <p:nvPr/>
        </p:nvSpPr>
        <p:spPr>
          <a:xfrm>
            <a:off x="786384" y="2962656"/>
            <a:ext cx="3108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" y="30175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4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H₀ gerçekte yanlış</a:t>
            </a:r>
            <a:endParaRPr lang="en-US" sz="1640" dirty="0"/>
          </a:p>
        </p:txBody>
      </p:sp>
      <p:sp>
        <p:nvSpPr>
          <p:cNvPr id="23" name="Shape 21"/>
          <p:cNvSpPr/>
          <p:nvPr/>
        </p:nvSpPr>
        <p:spPr>
          <a:xfrm>
            <a:off x="3895344" y="2962656"/>
            <a:ext cx="37307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14216" y="3017520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4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 II hata (β)</a:t>
            </a:r>
            <a:endParaRPr lang="en-US" sz="1640" dirty="0"/>
          </a:p>
        </p:txBody>
      </p:sp>
      <p:sp>
        <p:nvSpPr>
          <p:cNvPr id="25" name="Shape 23"/>
          <p:cNvSpPr/>
          <p:nvPr/>
        </p:nvSpPr>
        <p:spPr>
          <a:xfrm>
            <a:off x="7626096" y="2962656"/>
            <a:ext cx="37764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44968" y="3017520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4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Doğru karar (güç 1−β)</a:t>
            </a:r>
            <a:endParaRPr lang="en-US" sz="1640" dirty="0"/>
          </a:p>
        </p:txBody>
      </p:sp>
      <p:sp>
        <p:nvSpPr>
          <p:cNvPr id="27" name="Shape 25"/>
          <p:cNvSpPr/>
          <p:nvPr/>
        </p:nvSpPr>
        <p:spPr>
          <a:xfrm>
            <a:off x="768096" y="5943600"/>
            <a:ext cx="10652760" cy="429768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8096" y="5943600"/>
            <a:ext cx="50292" cy="429768"/>
          </a:xfrm>
          <a:prstGeom prst="rect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9264" y="5989320"/>
            <a:ext cx="102961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 I: doğru hipotezi reddetmek. Tip II: yanlış hipotezi reddedememek.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19.9  /  İSTATISTIKSEL KARAR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Denklem 19.6 — Tip II hata ve güç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10652760" cy="1124712"/>
          </a:xfrm>
          <a:prstGeom prst="round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057400"/>
            <a:ext cx="10113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β(μ) = Pμ( −zcrit ≤ (m−μ₀)/SE ≤ zcrit )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77824" y="322783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H₀ yanlışken onu reddedememe olasılığı β’dir. Test gücü = 1−β.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2688" y="4069080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08736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26464" y="3986784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μ ile μ₀ birbirine yakınsa farkı yakalamak zorlaşır.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2688" y="4562856"/>
            <a:ext cx="320040" cy="320040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58114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26464" y="4480560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 artınca SE küçülür → aynı farkı yakalama gücü genelde artar.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" y="5056632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50749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26464" y="4974336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Etki büyüklüğü δ=|μ−μ₀| örneklem büyüklüğü planlamasında önemlidir.</a:t>
            </a:r>
            <a:endParaRPr lang="en-US" sz="16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19.9  /  İSTATISTIKSEL KARAR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Denklem 19.7 — Tek taraflı Z testi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10652760" cy="1124712"/>
          </a:xfrm>
          <a:prstGeom prst="round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057400"/>
            <a:ext cx="10113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H₀: μ≤μ₀   vs   H₁: μ&gt;μ₀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77824" y="322783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İddia “ortalama daha büyük” ise sağ kuyruk; “daha küçük” ise sol kuyruk.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2688" y="4069080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08736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26464" y="3986784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Sağ test: z&gt;zα → reddet.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2688" y="4562856"/>
            <a:ext cx="320040" cy="320040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58114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26464" y="4480560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 test: z&lt;−zα → reddet.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" y="5056632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50749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26464" y="4974336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%5 tek taraflı için zα≈1,645.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8096" y="6053328"/>
            <a:ext cx="10652760" cy="384048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6053328"/>
            <a:ext cx="50292" cy="384048"/>
          </a:xfrm>
          <a:prstGeom prst="rect">
            <a:avLst/>
          </a:prstGeom>
          <a:solidFill>
            <a:srgbClr val="E69A32"/>
          </a:solidFill>
          <a:ln w="12700">
            <a:solidFill>
              <a:srgbClr val="E69A3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6099048"/>
            <a:ext cx="10296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Araştırmacının asıl göstermek istediği iddia H₁ içinde olmalıdır.</a:t>
            </a:r>
            <a:endParaRPr lang="en-US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19.9  /  İSTATISTIKSEL KARAR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Denklem 19.8–19.9 — σ bilinmiyorsa t testi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10652760" cy="1124712"/>
          </a:xfrm>
          <a:prstGeom prst="round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057400"/>
            <a:ext cx="10113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 = √N(m−μ₀)/S   ~ t(N−1)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77824" y="322783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Örneklem varyansı S² kullanılır; serbestlik derecesi N−1.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2688" y="4069080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08736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26464" y="3986784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Çift taraflı H₁: μ≠μ₀ ise ±t(α/2,N−1).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2688" y="4562856"/>
            <a:ext cx="320040" cy="320040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58114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26464" y="4480560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Sağ taraflı H₁: μ&gt;μ₀ ise t&gt;t(α,N−1).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" y="5056632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50749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26464" y="4974336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 taraflı H₁: μ&lt;μ₀ ise t&lt;−t(α,N−1).</a:t>
            </a:r>
            <a:endParaRPr lang="en-US" sz="16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19.9  /  İSTATISTIKSEL KARAR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 testi — ortalama 70 mi?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86384" y="1828800"/>
            <a:ext cx="10643616" cy="694944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38528"/>
            <a:ext cx="10204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N=10, m=74, S=5, μ₀=70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41248" y="2734056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2871216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2898648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08760" y="2802636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df=10−1=9.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41248" y="3355848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" y="3493008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3520440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3424428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SE=5/√10≈1,581.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41248" y="3977640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" y="4114800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4142232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08760" y="4046220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t=(74−70)/1,581≈2,53.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41248" y="4599432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4128" y="4736592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" y="4764024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08760" y="4668012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%5 çift taraflı kritik ≈±2,262.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32104" y="5276088"/>
            <a:ext cx="10515600" cy="521208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5321808"/>
            <a:ext cx="10049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SONUÇ   |2,53|&gt;2,262 → H₀ reddedilir.</a:t>
            </a:r>
            <a:endParaRPr lang="en-US" sz="17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3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0"/>
            <a:ext cx="2770632" cy="6858000"/>
          </a:xfrm>
          <a:prstGeom prst="rect">
            <a:avLst/>
          </a:prstGeom>
          <a:solidFill>
            <a:srgbClr val="0C1830"/>
          </a:solidFill>
          <a:ln w="12700">
            <a:solidFill>
              <a:srgbClr val="0C183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1600200"/>
            <a:ext cx="3383280" cy="3383280"/>
          </a:xfrm>
          <a:prstGeom prst="ellipse">
            <a:avLst/>
          </a:prstGeom>
          <a:solidFill>
            <a:srgbClr val="13233D">
              <a:alpha val="0"/>
            </a:srgbClr>
          </a:solidFill>
          <a:ln w="38100">
            <a:solidFill>
              <a:srgbClr val="159D91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68580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19.10</a:t>
            </a:r>
            <a:endParaRPr lang="en-US" sz="6500" dirty="0"/>
          </a:p>
        </p:txBody>
      </p:sp>
      <p:sp>
        <p:nvSpPr>
          <p:cNvPr id="6" name="Text 4"/>
          <p:cNvSpPr/>
          <p:nvPr/>
        </p:nvSpPr>
        <p:spPr>
          <a:xfrm>
            <a:off x="795528" y="2029968"/>
            <a:ext cx="987552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Tek algoritmanın performans testi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804672" y="3904488"/>
            <a:ext cx="9144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D5E1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Bir sınıflandırıcının hata olasılığı belirlenen sınırı aşıyor mu?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04672" y="628192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BÖLÜM 19  •  BINOM, NORMAL, T</a:t>
            </a:r>
            <a:endParaRPr lang="en-US" sz="1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19.10  /  BINOM, NORMAL, 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Tek algoritma: Üç farklı test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68096" y="1856232"/>
            <a:ext cx="3438144" cy="406908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066544"/>
            <a:ext cx="29992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Binomial Test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87552" y="2670048"/>
            <a:ext cx="2999232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Tek doğrulama kümesinde hataların tam sayısını kullanır; binom kuyruk olasılığı.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89120" y="1856232"/>
            <a:ext cx="3438144" cy="4069080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2066544"/>
            <a:ext cx="29992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Approximate Normal Test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08576" y="2670048"/>
            <a:ext cx="2999232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Yeterince büyük doğrulama kümesinde hata oranını Z ile yaklaşık sınar.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010144" y="1856232"/>
            <a:ext cx="3438144" cy="4069080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2066544"/>
            <a:ext cx="29992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 Test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229600" y="2670048"/>
            <a:ext cx="2999232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 ayrı deneyden hata yüzdelerini ortalama ve standart sapmayla sınar.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68096" y="6080760"/>
            <a:ext cx="10652760" cy="384048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8096" y="6080760"/>
            <a:ext cx="50292" cy="384048"/>
          </a:xfrm>
          <a:prstGeom prst="rect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" y="6126480"/>
            <a:ext cx="10296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Aynı algoritmayı test ediyoruz; başka bir algoritmayla karşılaştırma henüz yok.</a:t>
            </a:r>
            <a:endParaRPr lang="en-US" sz="12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19.10  /  BINOM, NORMAL, 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Denklem 19.10 — Binom testi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10652760" cy="1124712"/>
          </a:xfrm>
          <a:prstGeom prst="round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057400"/>
            <a:ext cx="10113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= Σxᵢ   ;   P(X ≥ e | p₀) = Σₓ₌ₑᴺ C(N,x)p₀ˣ(1−p₀)ᴺ⁻ˣ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77824" y="322783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xᵢ=1 hata, 0 doğru; X toplam hata sayısı. H₀:p≤p₀, H₁:p&gt;p₀.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2688" y="4069080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08736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26464" y="3986784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 denemede hata sayısı X binom dağılımına uyar.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2688" y="4562856"/>
            <a:ext cx="320040" cy="320040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58114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26464" y="4480560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veya daha fazla hata olasılığı hesaplanır.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" y="5056632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50749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26464" y="4974336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P(X≥e | p₀)&lt;α ise H₀ reddedilir.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8096" y="6053328"/>
            <a:ext cx="10652760" cy="384048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6053328"/>
            <a:ext cx="50292" cy="384048"/>
          </a:xfrm>
          <a:prstGeom prst="rect">
            <a:avLst/>
          </a:prstGeom>
          <a:solidFill>
            <a:srgbClr val="E69A32"/>
          </a:solidFill>
          <a:ln w="12700">
            <a:solidFill>
              <a:srgbClr val="E69A3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6099048"/>
            <a:ext cx="10296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Bağımsız ve aynı hata olasılığına sahip Bernoulli denemeleri varsayılır.</a:t>
            </a:r>
            <a:endParaRPr lang="en-US" sz="12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19.10  /  BINOM, NORMAL, 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Binom testi — hata sayısının kuyruk olasılığı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819656"/>
            <a:ext cx="70866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pic>
        <p:nvPicPr>
          <p:cNvPr id="10" name="Image 0" descr="/mnt/data/ml19_slides_build/assets/binomial_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401187"/>
            <a:ext cx="6848856" cy="290601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028432" y="1819656"/>
            <a:ext cx="3392424" cy="406908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75320" y="2075688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6A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ŞEKLİ OKUYALIM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66176" y="262432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49640" y="252374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Gözlenen hata: 17/100=%17.</a:t>
            </a:r>
            <a:endParaRPr lang="en-US" sz="1420" dirty="0"/>
          </a:p>
        </p:txBody>
      </p:sp>
      <p:sp>
        <p:nvSpPr>
          <p:cNvPr id="15" name="Shape 12"/>
          <p:cNvSpPr/>
          <p:nvPr/>
        </p:nvSpPr>
        <p:spPr>
          <a:xfrm>
            <a:off x="8266176" y="340156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49640" y="330098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P(X≥17)≈0,0206.</a:t>
            </a:r>
            <a:endParaRPr lang="en-US" sz="1420" dirty="0"/>
          </a:p>
        </p:txBody>
      </p:sp>
      <p:sp>
        <p:nvSpPr>
          <p:cNvPr id="17" name="Shape 14"/>
          <p:cNvSpPr/>
          <p:nvPr/>
        </p:nvSpPr>
        <p:spPr>
          <a:xfrm>
            <a:off x="8266176" y="417880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49640" y="407822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α=0,05 olduğundan H₀ reddedilir.</a:t>
            </a:r>
            <a:endParaRPr lang="en-US" sz="1420" dirty="0"/>
          </a:p>
        </p:txBody>
      </p:sp>
      <p:sp>
        <p:nvSpPr>
          <p:cNvPr id="19" name="Text 16"/>
          <p:cNvSpPr/>
          <p:nvPr/>
        </p:nvSpPr>
        <p:spPr>
          <a:xfrm>
            <a:off x="896112" y="6053328"/>
            <a:ext cx="10360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p₀=%10 iken N=100 denemede e=17 veya daha fazla hata gözlemenin üst kuyruk alanı.</a:t>
            </a:r>
            <a:endParaRPr lang="en-US" sz="11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19.10  /  BINOM, NORMAL, 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Denklem 19.11 — Yaklaşık Normal testi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10652760" cy="1124712"/>
          </a:xfrm>
          <a:prstGeom prst="round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057400"/>
            <a:ext cx="10113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 = (p̂−p₀) / √[p₀(1−p₀)/N]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77824" y="322783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p̂=X/N gözlenen hata oranıdır; N yeterince büyükse Z yaklaşık normaldir.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2688" y="4069080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08736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26464" y="3986784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Koşul: Np₀ ve N(1−p₀) yeterince büyük (kitap ≥5).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2688" y="4562856"/>
            <a:ext cx="320040" cy="320040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58114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26464" y="4480560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p₀=%10, N=100 → SE=√(0,1×0,9/100)=0,03.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" y="5056632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50749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26464" y="4974336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p̂=0,17 → z=(0,17−0,10)/0,03≈2,33.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8096" y="6053328"/>
            <a:ext cx="10652760" cy="384048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6053328"/>
            <a:ext cx="50292" cy="384048"/>
          </a:xfrm>
          <a:prstGeom prst="rect">
            <a:avLst/>
          </a:prstGeom>
          <a:solidFill>
            <a:srgbClr val="E69A32"/>
          </a:solidFill>
          <a:ln w="12700">
            <a:solidFill>
              <a:srgbClr val="E69A3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6099048"/>
            <a:ext cx="10296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Binom tam p≈0,0206; normal yaklaşım p≈0,0098. Yaklaşım hatası olabilir.</a:t>
            </a:r>
            <a:endParaRPr lang="en-US" sz="12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19.10  /  BINOM, NORMAL, 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Denklem 19.12 — Tek algoritma için t testi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10652760" cy="1124712"/>
          </a:xfrm>
          <a:prstGeom prst="round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057400"/>
            <a:ext cx="10113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 = √K(m−p₀) / S  ~  t(K−1)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77824" y="322783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 tekrarda pᵢ hata oranlarının ortalaması m, örneklem standart sapması 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2688" y="4069080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08736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26464" y="3986784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K=5, hatalar %6,%7,%5,%8,%9 → m=%7.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2688" y="4562856"/>
            <a:ext cx="320040" cy="320040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58114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26464" y="4480560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S=√2,5≈1,581 yüzde puanı.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" y="5056632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50749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26464" y="4974336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t=√5×(7−5)/1,581≈2,83.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8096" y="6053328"/>
            <a:ext cx="10652760" cy="384048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6053328"/>
            <a:ext cx="50292" cy="384048"/>
          </a:xfrm>
          <a:prstGeom prst="rect">
            <a:avLst/>
          </a:prstGeom>
          <a:solidFill>
            <a:srgbClr val="E69A32"/>
          </a:solidFill>
          <a:ln w="12700">
            <a:solidFill>
              <a:srgbClr val="E69A3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6099048"/>
            <a:ext cx="10296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%5 tek taraflı t kritik (df=4)≈2,132 → bağımsızlık varsayımıyla reddedilir.</a:t>
            </a:r>
            <a:endParaRPr lang="en-US" sz="12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19.10  /  BINOM, NORMAL, 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Bir algoritmanın hatası: Test seçimi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86384" y="1828800"/>
            <a:ext cx="3017520" cy="777240"/>
          </a:xfrm>
          <a:prstGeom prst="rect">
            <a:avLst/>
          </a:prstGeom>
          <a:solidFill>
            <a:srgbClr val="13233D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883664"/>
            <a:ext cx="2788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803904" y="1828800"/>
            <a:ext cx="2926080" cy="777240"/>
          </a:xfrm>
          <a:prstGeom prst="rect">
            <a:avLst/>
          </a:prstGeom>
          <a:solidFill>
            <a:srgbClr val="13233D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22776" y="1883664"/>
            <a:ext cx="2697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Ölçüm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729984" y="1828800"/>
            <a:ext cx="4672584" cy="777240"/>
          </a:xfrm>
          <a:prstGeom prst="rect">
            <a:avLst/>
          </a:prstGeom>
          <a:solidFill>
            <a:srgbClr val="13233D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48856" y="1883664"/>
            <a:ext cx="44439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Dağılım / koşul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86384" y="2606040"/>
            <a:ext cx="3017520" cy="777240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2660904"/>
            <a:ext cx="2788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Binomial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03904" y="2606040"/>
            <a:ext cx="2926080" cy="777240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22776" y="2660904"/>
            <a:ext cx="2697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Tek V, hata sayısı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29984" y="2606040"/>
            <a:ext cx="4672584" cy="777240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48856" y="2660904"/>
            <a:ext cx="44439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Binom, tam hesap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86384" y="3383280"/>
            <a:ext cx="3017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" y="3438144"/>
            <a:ext cx="2788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Approx. Normal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03904" y="3383280"/>
            <a:ext cx="2926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22776" y="3438144"/>
            <a:ext cx="2697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Tek V, hata oranı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729984" y="3383280"/>
            <a:ext cx="46725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48856" y="3438144"/>
            <a:ext cx="44439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Büyük N; Z yaklaşımı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86384" y="4160520"/>
            <a:ext cx="3017520" cy="777240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5256" y="4215384"/>
            <a:ext cx="2788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 Test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03904" y="4160520"/>
            <a:ext cx="2926080" cy="777240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22776" y="4215384"/>
            <a:ext cx="2697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 hata oranı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729984" y="4160520"/>
            <a:ext cx="4672584" cy="777240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48856" y="4215384"/>
            <a:ext cx="44439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Bağımsız oranlar varsayımı, 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68096" y="5943600"/>
            <a:ext cx="10652760" cy="429768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8096" y="5943600"/>
            <a:ext cx="50292" cy="429768"/>
          </a:xfrm>
          <a:prstGeom prst="rect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9264" y="5989320"/>
            <a:ext cx="102961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Örtüşen CV fold’larının hataları bağımsız olmayabilir; klasik t testi sonucunu dikkatle yorumla.</a:t>
            </a:r>
            <a:endParaRPr lang="en-US" sz="12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13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0"/>
            <a:ext cx="2770632" cy="6858000"/>
          </a:xfrm>
          <a:prstGeom prst="rect">
            <a:avLst/>
          </a:prstGeom>
          <a:solidFill>
            <a:srgbClr val="0C1830"/>
          </a:solidFill>
          <a:ln w="12700">
            <a:solidFill>
              <a:srgbClr val="0C183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1600200"/>
            <a:ext cx="3383280" cy="3383280"/>
          </a:xfrm>
          <a:prstGeom prst="ellipse">
            <a:avLst/>
          </a:prstGeom>
          <a:solidFill>
            <a:srgbClr val="13233D">
              <a:alpha val="0"/>
            </a:srgbClr>
          </a:solidFill>
          <a:ln w="38100">
            <a:solidFill>
              <a:srgbClr val="159D91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68580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19.11</a:t>
            </a:r>
            <a:endParaRPr lang="en-US" sz="6500" dirty="0"/>
          </a:p>
        </p:txBody>
      </p:sp>
      <p:sp>
        <p:nvSpPr>
          <p:cNvPr id="6" name="Text 4"/>
          <p:cNvSpPr/>
          <p:nvPr/>
        </p:nvSpPr>
        <p:spPr>
          <a:xfrm>
            <a:off x="795528" y="2029968"/>
            <a:ext cx="987552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İki algoritmanın karşılaştırılması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804672" y="3904488"/>
            <a:ext cx="9144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D5E1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ve B’nin hata farkı rastgelelik ile açıklanabilir mi?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04672" y="628192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BÖLÜM 19  •  EŞLEŞTIRILMIŞ TESTLER</a:t>
            </a:r>
            <a:endParaRPr lang="en-US" sz="12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19.11  /  EŞLEŞTIRILMIŞ TESTLER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İki algoritmayı kıyaslarken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828800"/>
            <a:ext cx="5193792" cy="3950208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45352" y="1828800"/>
            <a:ext cx="5193792" cy="3950208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048256"/>
            <a:ext cx="47183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Aynı test örnekleri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83096" y="2048256"/>
            <a:ext cx="47183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Birden fazla ortak fold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24128" y="2761488"/>
            <a:ext cx="109728" cy="109728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71016" y="2642616"/>
            <a:ext cx="4361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Tek eğitim ve tek doğrulama kümesi. Hangi örnekte A doğru, B yanlış? → McNemar.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19672" y="2761488"/>
            <a:ext cx="109728" cy="109728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2642616"/>
            <a:ext cx="4361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ve B aynı K eğitim/doğrulama çiftinde çalışır. Hata farkları üzerinden paired testler.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8096" y="5925312"/>
            <a:ext cx="10652760" cy="36576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096" y="5925312"/>
            <a:ext cx="50292" cy="365760"/>
          </a:xfrm>
          <a:prstGeom prst="rect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" y="5971032"/>
            <a:ext cx="10296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 hangi veride hangi algoritmanın yanlış yaptığına mı yoksa tekrarlardaki hata farkına mı baktığını ayır.</a:t>
            </a:r>
            <a:endParaRPr lang="en-US" sz="12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19.11  /  EŞLEŞTIRILMIŞ TESTLER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McNemar: Çapraz frekans tablosu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86384" y="1828800"/>
            <a:ext cx="3108960" cy="914400"/>
          </a:xfrm>
          <a:prstGeom prst="rect">
            <a:avLst/>
          </a:prstGeom>
          <a:solidFill>
            <a:srgbClr val="13233D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883664"/>
            <a:ext cx="2880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895344" y="1828800"/>
            <a:ext cx="3749040" cy="914400"/>
          </a:xfrm>
          <a:prstGeom prst="rect">
            <a:avLst/>
          </a:prstGeom>
          <a:solidFill>
            <a:srgbClr val="13233D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14216" y="1883664"/>
            <a:ext cx="3520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Algoritma 2 yanlış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644384" y="1828800"/>
            <a:ext cx="3758184" cy="914400"/>
          </a:xfrm>
          <a:prstGeom prst="rect">
            <a:avLst/>
          </a:prstGeom>
          <a:solidFill>
            <a:srgbClr val="13233D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63256" y="1883664"/>
            <a:ext cx="35295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Algoritma 2 doğru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86384" y="2743200"/>
            <a:ext cx="3108960" cy="914400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2798064"/>
            <a:ext cx="2880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Algoritma 1 yanlış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95344" y="2743200"/>
            <a:ext cx="3749040" cy="914400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14216" y="2798064"/>
            <a:ext cx="3520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e₀₀: her ikisi yanlış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44384" y="2743200"/>
            <a:ext cx="3758184" cy="914400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63256" y="2798064"/>
            <a:ext cx="35295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e₀₁: yalnız A yanlış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86384" y="3657600"/>
            <a:ext cx="3108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" y="3712464"/>
            <a:ext cx="2880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Algoritma 1 doğru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95344" y="3657600"/>
            <a:ext cx="3749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14216" y="3712464"/>
            <a:ext cx="3520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e₁₀: yalnız B yanlış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44384" y="3657600"/>
            <a:ext cx="375818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63256" y="3712464"/>
            <a:ext cx="35295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e₁₁: her ikisi doğru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8096" y="5943600"/>
            <a:ext cx="10652760" cy="429768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8096" y="5943600"/>
            <a:ext cx="50292" cy="429768"/>
          </a:xfrm>
          <a:prstGeom prst="rect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9264" y="5989320"/>
            <a:ext cx="102961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 esas bilgi kaynağı e₀₁ ve e₁₀: algoritmaların farklı karar verdiği örnekler.</a:t>
            </a:r>
            <a:endParaRPr lang="en-US" sz="12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19.11  /  EŞLEŞTIRILMIŞ TESTLER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Denklem 19.13 — McNemar testi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10652760" cy="1124712"/>
          </a:xfrm>
          <a:prstGeom prst="round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057400"/>
            <a:ext cx="10113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χ² = ( |e₀₁ − e₁₀| − 1 )² / (e₀₁ + e₁₀)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77824" y="322783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Süreklilik düzeltmeli McNemar ki-kare istatistiği; df=1.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2688" y="4069080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08736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26464" y="3986784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H₀: iki algoritmanın hata oranı eşit.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2688" y="4562856"/>
            <a:ext cx="320040" cy="320040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58114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26464" y="4480560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%5 kritik χ²≈3,84.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" y="5056632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50749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26464" y="4974336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İstatistik &gt;3,84 ise H₀ reddedilir.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8096" y="6053328"/>
            <a:ext cx="10652760" cy="384048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6053328"/>
            <a:ext cx="50292" cy="384048"/>
          </a:xfrm>
          <a:prstGeom prst="rect">
            <a:avLst/>
          </a:prstGeom>
          <a:solidFill>
            <a:srgbClr val="E69A32"/>
          </a:solidFill>
          <a:ln w="12700">
            <a:solidFill>
              <a:srgbClr val="E69A3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6099048"/>
            <a:ext cx="10296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e₀₁+e₁₀ çok küçükse exact McNemar uygun olabilir.</a:t>
            </a:r>
            <a:endParaRPr lang="en-US" sz="12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19.11  /  EŞLEŞTIRILMIŞ TESTLER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McNemar — 100 örnekli hesap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86384" y="1828800"/>
            <a:ext cx="10643616" cy="694944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38528"/>
            <a:ext cx="10204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e₀₀=8, e₀₁=5, e₁₀=17, e₁₁=70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41248" y="2734056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2871216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2898648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08760" y="2802636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hatası=8+5=13 → %13.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41248" y="3355848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" y="3493008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3520440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3424428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 hatası=8+17=25 → %25.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41248" y="3977640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" y="4114800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4142232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08760" y="4046220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χ² = (|5−17|−1)²/(5+17)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41248" y="4599432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4128" y="4736592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" y="4764024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08760" y="4668012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(12−1)²/22 = 121/22 = 5,50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32104" y="5276088"/>
            <a:ext cx="10515600" cy="521208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5321808"/>
            <a:ext cx="10049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SONUÇ   5,50&gt;3,84 → H₀ reddedilir; A gözlenen testte daha az hata yapar.</a:t>
            </a:r>
            <a:endParaRPr lang="en-US" sz="17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19.11  /  EŞLEŞTIRILMIŞ TESTLER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Denklem 19.14 — K-Fold Paired 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10652760" cy="1124712"/>
          </a:xfrm>
          <a:prstGeom prst="round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057400"/>
            <a:ext cx="10113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dᵢ = pᵢ(A) − pᵢ(B)    ;    t = √K × d̄ / Sᵈ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77824" y="322783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fold’da aynı eğitim ve doğrulama kümesinde A ve B karşılaştırılır.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2688" y="4069080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08736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26464" y="3986784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Farkların ortalaması d̄=Σdᵢ/K.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2688" y="4562856"/>
            <a:ext cx="320040" cy="320040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58114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26464" y="4480560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Sᵈ²=Σ(dᵢ−d̄)²/(K−1).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" y="5056632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50749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26464" y="4974336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H₀: ortalama fark 0; iki taraflı test kritik ±t.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8096" y="6053328"/>
            <a:ext cx="10652760" cy="384048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6053328"/>
            <a:ext cx="50292" cy="384048"/>
          </a:xfrm>
          <a:prstGeom prst="rect">
            <a:avLst/>
          </a:prstGeom>
          <a:solidFill>
            <a:srgbClr val="E69A32"/>
          </a:solidFill>
          <a:ln w="12700">
            <a:solidFill>
              <a:srgbClr val="E69A3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6099048"/>
            <a:ext cx="10296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 fold’ları bağımlı olduğundan klasik t dağılımı varsayımı her zaman sağlanmaz.</a:t>
            </a:r>
            <a:endParaRPr lang="en-US" sz="12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19.11  /  EŞLEŞTIRILMIŞ TESTLER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Paired t — Fold farklarından karar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86384" y="1828800"/>
            <a:ext cx="10643616" cy="694944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38528"/>
            <a:ext cx="10204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A−B hata farkları: −4, −3, −5, −2, −6 yüzde puanı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41248" y="2734056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2871216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2898648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08760" y="2802636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Ortalama d̄=(-4−3−5−2−6)/5=−4.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41248" y="3355848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" y="3493008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3520440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3424428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Sapmalar: 0,1,−1,2,−2 → kare toplamı 10.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41248" y="3977640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" y="4114800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4142232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08760" y="4046220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Sᵈ=√(10/4)=√2,5≈1,581.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41248" y="4599432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4128" y="4736592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" y="4764024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08760" y="4668012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t=√5×(−4)/1,581≈−5,66.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32104" y="5276088"/>
            <a:ext cx="10515600" cy="521208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5321808"/>
            <a:ext cx="10049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SONUÇ   |−5,66|&gt;t(0,025,4)=2,776 → klasik testte anlamlı fark.</a:t>
            </a:r>
            <a:endParaRPr lang="en-US" sz="17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19.11  /  EŞLEŞTIRILMIŞ TESTLER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Denklem 19.15 — 5×2 CV Paired 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10652760" cy="1124712"/>
          </a:xfrm>
          <a:prstGeom prst="round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057400"/>
            <a:ext cx="10113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 = p₁⁽¹⁾ / √[ (Σᵢ₌₁⁵ sᵢ²) / 5 ]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77824" y="322783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Beş rastgele yarılama, her birinde iki karşılıklı fold: toplam 10 fark.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2688" y="4069080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08736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26464" y="3986784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pᵢ⁽¹⁾ ve pᵢ⁽²⁾: i. tekrarın iki fold hata farkı.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2688" y="4562856"/>
            <a:ext cx="320040" cy="320040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58114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26464" y="4480560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p̄ᵢ=(pᵢ⁽¹⁾+pᵢ⁽²⁾)/2.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" y="5056632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50749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26464" y="4974336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sᵢ²=(pᵢ⁽¹⁾−p̄ᵢ)²+(pᵢ⁽²⁾−p̄ᵢ)².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8096" y="6053328"/>
            <a:ext cx="10652760" cy="384048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6053328"/>
            <a:ext cx="50292" cy="384048"/>
          </a:xfrm>
          <a:prstGeom prst="rect">
            <a:avLst/>
          </a:prstGeom>
          <a:solidFill>
            <a:srgbClr val="E69A32"/>
          </a:solidFill>
          <a:ln w="12700">
            <a:solidFill>
              <a:srgbClr val="E69A3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6099048"/>
            <a:ext cx="10296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 dağılımı için 5 serbestlik derecesi kullanılır; bağımsızlık varsayımları yaklaşık kabul edilir.</a:t>
            </a:r>
            <a:endParaRPr lang="en-US" sz="12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19.11  /  EŞLEŞTIRILMIŞ TESTLER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5×2 Paired t — mini çözüm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86384" y="1828800"/>
            <a:ext cx="10643616" cy="694944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38528"/>
            <a:ext cx="10204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Fold fark çiftleri: (−6,−4),(−3,−5),(−7,−5),(−4,−6),(−5,−7)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41248" y="2734056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2871216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2898648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08760" y="2802636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tekrarın ortalaması: −5,−4,−6,−5,−6.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41248" y="3355848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" y="3493008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3520440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3424428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sᵢ²=2 → toplam Σsᵢ²=10.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41248" y="3977640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" y="4114800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4142232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08760" y="4046220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İlk fold farkı p₁⁽¹⁾=−6.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41248" y="4599432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4128" y="4736592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" y="4764024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08760" y="4668012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t=−6/√(10/5)=−6/1,414≈−4,24.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32104" y="5276088"/>
            <a:ext cx="10515600" cy="521208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5321808"/>
            <a:ext cx="10049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SONUÇ   |t|&gt;t(0,025,5)≈2,571 → H₀ reddedilir.</a:t>
            </a:r>
            <a:endParaRPr lang="en-US" sz="17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19.11  /  EŞLEŞTIRILMIŞ TESTLER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Denklem 19.16–19.17 — 5×2 CV Paired F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10652760" cy="1124712"/>
          </a:xfrm>
          <a:prstGeom prst="round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057400"/>
            <a:ext cx="10113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 = [Σᵢ₌₁⁵Σⱼ₌₁²(pᵢ⁽ʲ⁾)²] / [2Σᵢ₌₁⁵ sᵢ²]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77824" y="322783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Alpaydın (1999): On farkın tümünü payda değil pay kısmında birlikte kullanır.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2688" y="4069080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08736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26464" y="3986784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hata farkının karelerini topla.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2688" y="4562856"/>
            <a:ext cx="320040" cy="320040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58114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26464" y="4480560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Beş tekrara ait sᵢ² toplamını ikiyle çarp.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" y="5056632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50749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26464" y="4974336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Dağılım yaklaşık F(10,5), %5 kritik ≈4,74.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8096" y="6053328"/>
            <a:ext cx="10652760" cy="384048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6053328"/>
            <a:ext cx="50292" cy="384048"/>
          </a:xfrm>
          <a:prstGeom prst="rect">
            <a:avLst/>
          </a:prstGeom>
          <a:solidFill>
            <a:srgbClr val="E69A32"/>
          </a:solidFill>
          <a:ln w="12700">
            <a:solidFill>
              <a:srgbClr val="E69A3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6099048"/>
            <a:ext cx="10296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5×2 t/F testlerinin türetiminde aynı veriyi paylaşma nedeniyle yaklaşık bağımsızlık varsayımları vardır.</a:t>
            </a:r>
            <a:endParaRPr lang="en-US" sz="12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19.11  /  EŞLEŞTIRILMIŞ TESTLER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5×2 Paired F — mini çözüm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86384" y="1828800"/>
            <a:ext cx="10643616" cy="694944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38528"/>
            <a:ext cx="10204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Farklar: (−6,−4),(−3,−5),(−7,−5),(−4,−6),(−5,−7)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41248" y="2734056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2871216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2898648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08760" y="2802636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Kareler toplamı: 36+16+9+25+49+25+16+36+25+49=286.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41248" y="3355848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" y="3493008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3520440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3424428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sᵢ² toplamı = 2+2+2+2+2=10.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41248" y="3977640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" y="4114800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4142232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08760" y="4046220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 = 286/(2×10)=14,30.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41248" y="4599432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4128" y="4736592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" y="4764024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08760" y="4668012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%5 kritik F(10,5)≈4,74.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32104" y="5276088"/>
            <a:ext cx="10515600" cy="521208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5321808"/>
            <a:ext cx="10049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SONUÇ   14,30&gt;4,74 → iki algoritma arasında fark var; yön için hata farklarına bak.</a:t>
            </a:r>
            <a:endParaRPr lang="en-US" sz="17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13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0"/>
            <a:ext cx="2770632" cy="6858000"/>
          </a:xfrm>
          <a:prstGeom prst="rect">
            <a:avLst/>
          </a:prstGeom>
          <a:solidFill>
            <a:srgbClr val="0C1830"/>
          </a:solidFill>
          <a:ln w="12700">
            <a:solidFill>
              <a:srgbClr val="0C183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1600200"/>
            <a:ext cx="3383280" cy="3383280"/>
          </a:xfrm>
          <a:prstGeom prst="ellipse">
            <a:avLst/>
          </a:prstGeom>
          <a:solidFill>
            <a:srgbClr val="13233D">
              <a:alpha val="0"/>
            </a:srgbClr>
          </a:solidFill>
          <a:ln w="38100">
            <a:solidFill>
              <a:srgbClr val="159D91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68580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19.12</a:t>
            </a:r>
            <a:endParaRPr lang="en-US" sz="6500" dirty="0"/>
          </a:p>
        </p:txBody>
      </p:sp>
      <p:sp>
        <p:nvSpPr>
          <p:cNvPr id="6" name="Text 4"/>
          <p:cNvSpPr/>
          <p:nvPr/>
        </p:nvSpPr>
        <p:spPr>
          <a:xfrm>
            <a:off x="795528" y="2029968"/>
            <a:ext cx="987552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Birden fazla algoritma: ANOVA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804672" y="3904488"/>
            <a:ext cx="9144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D5E1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İki değil L algoritmanın ortalama hataları eşit mi?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04672" y="628192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BÖLÜM 19  •  VARYANS ANALIZI</a:t>
            </a:r>
            <a:endParaRPr lang="en-US" sz="12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19.12  /  VARYANS ANALIZI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ANOVA’nın temel fikri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68096" y="1856232"/>
            <a:ext cx="5248656" cy="194310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066544"/>
            <a:ext cx="48097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Soru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87552" y="2670048"/>
            <a:ext cx="4809744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 algoritmanın (ör. SVM, k-NN, Tree) beklenen hata ortalamaları eşit mi?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99632" y="1856232"/>
            <a:ext cx="5248656" cy="1943100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2066544"/>
            <a:ext cx="48097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Gruplar arası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19088" y="2670048"/>
            <a:ext cx="4809744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Algoritma ortalamaları genel ortalamadan ne kadar uzak?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8096" y="3982212"/>
            <a:ext cx="5248656" cy="1943100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4192524"/>
            <a:ext cx="48097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 içi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87552" y="4796028"/>
            <a:ext cx="4809744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Aynı algoritmanın K koşudaki sonuçları kendi ortalamasının çevresinde ne kadar değişiyor?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99632" y="3982212"/>
            <a:ext cx="5248656" cy="19431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9088" y="4192524"/>
            <a:ext cx="48097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 oranı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419088" y="4796028"/>
            <a:ext cx="4809744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Gruplar arası değişkenliğin grup içi değişkenliğe oranı. Büyük F → farklı ortalamalara kanıt.</a:t>
            </a:r>
            <a:endParaRPr lang="en-US" sz="16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19.12  /  VARYANS ANALIZI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Üç algoritmanın hata dağılımları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819656"/>
            <a:ext cx="70866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pic>
        <p:nvPicPr>
          <p:cNvPr id="10" name="Image 0" descr="/mnt/data/ml19_slides_build/assets/anova_dis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400154"/>
            <a:ext cx="6848856" cy="290808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028432" y="1819656"/>
            <a:ext cx="3392424" cy="406908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75320" y="2075688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6A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ŞEKLİ OKUYALIM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66176" y="262432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49640" y="252374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ortalaması: %10,5.</a:t>
            </a:r>
            <a:endParaRPr lang="en-US" sz="1420" dirty="0"/>
          </a:p>
        </p:txBody>
      </p:sp>
      <p:sp>
        <p:nvSpPr>
          <p:cNvPr id="15" name="Shape 12"/>
          <p:cNvSpPr/>
          <p:nvPr/>
        </p:nvSpPr>
        <p:spPr>
          <a:xfrm>
            <a:off x="8266176" y="340156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49640" y="330098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 ortalaması: %8,5.</a:t>
            </a:r>
            <a:endParaRPr lang="en-US" sz="1420" dirty="0"/>
          </a:p>
        </p:txBody>
      </p:sp>
      <p:sp>
        <p:nvSpPr>
          <p:cNvPr id="17" name="Shape 14"/>
          <p:cNvSpPr/>
          <p:nvPr/>
        </p:nvSpPr>
        <p:spPr>
          <a:xfrm>
            <a:off x="8266176" y="417880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49640" y="407822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ortalaması: %5,5.</a:t>
            </a:r>
            <a:endParaRPr lang="en-US" sz="1420" dirty="0"/>
          </a:p>
        </p:txBody>
      </p:sp>
      <p:sp>
        <p:nvSpPr>
          <p:cNvPr id="19" name="Text 16"/>
          <p:cNvSpPr/>
          <p:nvPr/>
        </p:nvSpPr>
        <p:spPr>
          <a:xfrm>
            <a:off x="896112" y="6053328"/>
            <a:ext cx="10360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Farklı ortalamaların yanı sıra her grup içindeki yayılmayı da görmeliyiz.</a:t>
            </a:r>
            <a:endParaRPr lang="en-US" sz="11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19.12  /  VARYANS ANALIZI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ANOVA hipotezleri ve grup ortalamaları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10652760" cy="1124712"/>
          </a:xfrm>
          <a:prstGeom prst="round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057400"/>
            <a:ext cx="10113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H₀: μ₁ = μ₂ = … = μL      H₁: En az bir çift farklı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77824" y="322783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Xᵢⱼ: j. algoritmanın i. tekrardaki hatası; mⱼ: j. algoritmanın ortalaması.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2688" y="4069080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08736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26464" y="3986784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mⱼ=ΣᵢXᵢⱼ/K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2688" y="4562856"/>
            <a:ext cx="320040" cy="320040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58114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26464" y="4480560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Genel ortalama m=Σⱼmⱼ/L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" y="5056632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50749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26464" y="4974336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Klasik tek faktörlü ANOVA: bağımsız, normal, ortak varyanslı gruplar.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8096" y="6053328"/>
            <a:ext cx="10652760" cy="384048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6053328"/>
            <a:ext cx="50292" cy="384048"/>
          </a:xfrm>
          <a:prstGeom prst="rect">
            <a:avLst/>
          </a:prstGeom>
          <a:solidFill>
            <a:srgbClr val="E69A32"/>
          </a:solidFill>
          <a:ln w="12700">
            <a:solidFill>
              <a:srgbClr val="E69A3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6099048"/>
            <a:ext cx="10296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Aynı fold’larda karşılaştırılan algoritmalar için grup bağımsızlığı sağlanmayabilir.</a:t>
            </a:r>
            <a:endParaRPr lang="en-US" sz="12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19.12  /  VARYANS ANALIZI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Denklem 19.18–19.20 — Gruplar arası kareler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10652760" cy="1124712"/>
          </a:xfrm>
          <a:prstGeom prst="round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057400"/>
            <a:ext cx="10113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SSᵦ = K Σⱼ(mⱼ−m)²    ;    MSᵦ = SSᵦ/(L−1)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77824" y="322783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ANOVA, grup ortalamalarının genel ortalamadan uzaklığını ölçer.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2688" y="4069080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08736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26464" y="3986784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SSᵦ = between-group sum of squares.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2688" y="4562856"/>
            <a:ext cx="320040" cy="320040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58114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26464" y="4480560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Serbestlik derecesi: L−1.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" y="5056632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50749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26464" y="4974336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H₀ altında SSᵦ/σ² yaklaşık/varsayımlarla χ²(L−1).</a:t>
            </a:r>
            <a:endParaRPr lang="en-US" sz="16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19.12  /  VARYANS ANALIZI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Denklem 19.21–19.22 — Grup içi kareler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10652760" cy="1124712"/>
          </a:xfrm>
          <a:prstGeom prst="round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057400"/>
            <a:ext cx="10113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SS𝓌 = ΣⱼΣᵢ(Xᵢⱼ−mⱼ)²   ;   MS𝓌 = SS𝓌/[L(K−1)]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77824" y="322783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gözlemin kendi algoritma ortalamasından uzaklığı hesaplanır.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2688" y="4069080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08736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26464" y="3986784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grup örneklem varyansı Sⱼ²=Σᵢ(Xᵢⱼ−mⱼ)²/(K−1).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2688" y="4562856"/>
            <a:ext cx="320040" cy="320040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58114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26464" y="4480560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SS𝓌: bütün grup içi karelerin toplamı.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" y="5056632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50749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26464" y="4974336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Serbestlik derecesi: L(K−1).</a:t>
            </a:r>
            <a:endParaRPr lang="en-US" sz="16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19.12  /  VARYANS ANALIZI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Denklem 19.23 — ANOVA karar istatistiği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10652760" cy="1124712"/>
          </a:xfrm>
          <a:prstGeom prst="round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057400"/>
            <a:ext cx="10113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F₀ = MSᵦ / MS𝓌  ~  F(L−1, L(K−1))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77824" y="322783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Gruplar arası değişkenlik, grup içi doğal değişkenliğe göre çok büyük mü?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2688" y="4069080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08736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26464" y="3986784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F₀ ≈ 1: iki değişkenlik birbirine yakın.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2688" y="4562856"/>
            <a:ext cx="320040" cy="320040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58114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26464" y="4480560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F₀ &gt; kritik F: H₀ reddedilir.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" y="5056632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50749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26464" y="4974336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α=%5, L=5, K=10 → F(4,45) kritik ≈2,60.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8096" y="6053328"/>
            <a:ext cx="10652760" cy="384048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6053328"/>
            <a:ext cx="50292" cy="384048"/>
          </a:xfrm>
          <a:prstGeom prst="rect">
            <a:avLst/>
          </a:prstGeom>
          <a:solidFill>
            <a:srgbClr val="E69A32"/>
          </a:solidFill>
          <a:ln w="12700">
            <a:solidFill>
              <a:srgbClr val="E69A3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6099048"/>
            <a:ext cx="10296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Yalnızca “F&gt;1” yeterli değildir. Kritik değer örnekleme dağılımından gelir.</a:t>
            </a:r>
            <a:endParaRPr lang="en-US" sz="12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19.12  /  VARYANS ANALIZI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Denklem 19.24–19.25 — Toplam değişkenlik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10652760" cy="1124712"/>
          </a:xfrm>
          <a:prstGeom prst="round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057400"/>
            <a:ext cx="10113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SSₜ = ΣⱼΣᵢ(Xᵢⱼ−m)²   =   SSᵦ + SS𝓌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77824" y="322783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Verideki bütün değişkenlik gruplar arası + grup içi olarak ayrışır.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2688" y="4069080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08736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26464" y="3986784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Toplam serbestlik derecesi: LK−1.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2688" y="4562856"/>
            <a:ext cx="320040" cy="320040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58114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26464" y="4480560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Gruplar arası: L−1.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" y="5056632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50749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26464" y="4974336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 içi: L(K−1); ikisinin toplamı LK−1.</a:t>
            </a:r>
            <a:endParaRPr lang="en-US" sz="16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19.12  /  VARYANS ANALIZI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ANOVA: sayısal örneğin ham verisi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86384" y="1828800"/>
            <a:ext cx="2386584" cy="530352"/>
          </a:xfrm>
          <a:prstGeom prst="rect">
            <a:avLst/>
          </a:prstGeom>
          <a:solidFill>
            <a:srgbClr val="13233D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883664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Deney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3172968" y="1828800"/>
            <a:ext cx="2743200" cy="530352"/>
          </a:xfrm>
          <a:prstGeom prst="rect">
            <a:avLst/>
          </a:prstGeom>
          <a:solidFill>
            <a:srgbClr val="13233D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88366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hata (%)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916168" y="1828800"/>
            <a:ext cx="2743200" cy="530352"/>
          </a:xfrm>
          <a:prstGeom prst="rect">
            <a:avLst/>
          </a:prstGeom>
          <a:solidFill>
            <a:srgbClr val="13233D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88366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 hata (%)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659368" y="1828800"/>
            <a:ext cx="2743200" cy="530352"/>
          </a:xfrm>
          <a:prstGeom prst="rect">
            <a:avLst/>
          </a:prstGeom>
          <a:solidFill>
            <a:srgbClr val="13233D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0" y="188366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hata (%)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86384" y="2359152"/>
            <a:ext cx="2386584" cy="530352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" y="2414016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3172968" y="2359152"/>
            <a:ext cx="2743200" cy="530352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241401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5916168" y="2359152"/>
            <a:ext cx="2743200" cy="530352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241401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8659368" y="2359152"/>
            <a:ext cx="2743200" cy="530352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78240" y="241401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786384" y="2889504"/>
            <a:ext cx="238658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5256" y="2944368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3172968" y="2889504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294436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5916168" y="2889504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294436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8659368" y="2889504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78240" y="294436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550" dirty="0"/>
          </a:p>
        </p:txBody>
      </p:sp>
      <p:sp>
        <p:nvSpPr>
          <p:cNvPr id="33" name="Shape 31"/>
          <p:cNvSpPr/>
          <p:nvPr/>
        </p:nvSpPr>
        <p:spPr>
          <a:xfrm>
            <a:off x="786384" y="3419856"/>
            <a:ext cx="2386584" cy="530352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5256" y="3474720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50" dirty="0"/>
          </a:p>
        </p:txBody>
      </p:sp>
      <p:sp>
        <p:nvSpPr>
          <p:cNvPr id="35" name="Shape 33"/>
          <p:cNvSpPr/>
          <p:nvPr/>
        </p:nvSpPr>
        <p:spPr>
          <a:xfrm>
            <a:off x="3172968" y="3419856"/>
            <a:ext cx="2743200" cy="530352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347472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550" dirty="0"/>
          </a:p>
        </p:txBody>
      </p:sp>
      <p:sp>
        <p:nvSpPr>
          <p:cNvPr id="37" name="Shape 35"/>
          <p:cNvSpPr/>
          <p:nvPr/>
        </p:nvSpPr>
        <p:spPr>
          <a:xfrm>
            <a:off x="5916168" y="3419856"/>
            <a:ext cx="2743200" cy="530352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35040" y="347472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550" dirty="0"/>
          </a:p>
        </p:txBody>
      </p:sp>
      <p:sp>
        <p:nvSpPr>
          <p:cNvPr id="39" name="Shape 37"/>
          <p:cNvSpPr/>
          <p:nvPr/>
        </p:nvSpPr>
        <p:spPr>
          <a:xfrm>
            <a:off x="8659368" y="3419856"/>
            <a:ext cx="2743200" cy="530352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78240" y="347472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50" dirty="0"/>
          </a:p>
        </p:txBody>
      </p:sp>
      <p:sp>
        <p:nvSpPr>
          <p:cNvPr id="41" name="Shape 39"/>
          <p:cNvSpPr/>
          <p:nvPr/>
        </p:nvSpPr>
        <p:spPr>
          <a:xfrm>
            <a:off x="786384" y="3950208"/>
            <a:ext cx="238658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5256" y="4005072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50" dirty="0"/>
          </a:p>
        </p:txBody>
      </p:sp>
      <p:sp>
        <p:nvSpPr>
          <p:cNvPr id="43" name="Shape 41"/>
          <p:cNvSpPr/>
          <p:nvPr/>
        </p:nvSpPr>
        <p:spPr>
          <a:xfrm>
            <a:off x="3172968" y="3950208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91840" y="400507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550" dirty="0"/>
          </a:p>
        </p:txBody>
      </p:sp>
      <p:sp>
        <p:nvSpPr>
          <p:cNvPr id="45" name="Shape 43"/>
          <p:cNvSpPr/>
          <p:nvPr/>
        </p:nvSpPr>
        <p:spPr>
          <a:xfrm>
            <a:off x="5916168" y="3950208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35040" y="400507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550" dirty="0"/>
          </a:p>
        </p:txBody>
      </p:sp>
      <p:sp>
        <p:nvSpPr>
          <p:cNvPr id="47" name="Shape 45"/>
          <p:cNvSpPr/>
          <p:nvPr/>
        </p:nvSpPr>
        <p:spPr>
          <a:xfrm>
            <a:off x="8659368" y="3950208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778240" y="400507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550" dirty="0"/>
          </a:p>
        </p:txBody>
      </p:sp>
      <p:sp>
        <p:nvSpPr>
          <p:cNvPr id="49" name="Shape 47"/>
          <p:cNvSpPr/>
          <p:nvPr/>
        </p:nvSpPr>
        <p:spPr>
          <a:xfrm>
            <a:off x="786384" y="4480560"/>
            <a:ext cx="2386584" cy="530352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05256" y="4535424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Ortalama</a:t>
            </a:r>
            <a:endParaRPr lang="en-US" sz="1550" dirty="0"/>
          </a:p>
        </p:txBody>
      </p:sp>
      <p:sp>
        <p:nvSpPr>
          <p:cNvPr id="51" name="Shape 49"/>
          <p:cNvSpPr/>
          <p:nvPr/>
        </p:nvSpPr>
        <p:spPr>
          <a:xfrm>
            <a:off x="3172968" y="4480560"/>
            <a:ext cx="2743200" cy="530352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91840" y="453542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10,5</a:t>
            </a:r>
            <a:endParaRPr lang="en-US" sz="1550" dirty="0"/>
          </a:p>
        </p:txBody>
      </p:sp>
      <p:sp>
        <p:nvSpPr>
          <p:cNvPr id="53" name="Shape 51"/>
          <p:cNvSpPr/>
          <p:nvPr/>
        </p:nvSpPr>
        <p:spPr>
          <a:xfrm>
            <a:off x="5916168" y="4480560"/>
            <a:ext cx="2743200" cy="530352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35040" y="453542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8,5</a:t>
            </a:r>
            <a:endParaRPr lang="en-US" sz="1550" dirty="0"/>
          </a:p>
        </p:txBody>
      </p:sp>
      <p:sp>
        <p:nvSpPr>
          <p:cNvPr id="55" name="Shape 53"/>
          <p:cNvSpPr/>
          <p:nvPr/>
        </p:nvSpPr>
        <p:spPr>
          <a:xfrm>
            <a:off x="8659368" y="4480560"/>
            <a:ext cx="2743200" cy="530352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778240" y="453542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5,5</a:t>
            </a:r>
            <a:endParaRPr lang="en-US" sz="1550" dirty="0"/>
          </a:p>
        </p:txBody>
      </p:sp>
      <p:sp>
        <p:nvSpPr>
          <p:cNvPr id="57" name="Shape 55"/>
          <p:cNvSpPr/>
          <p:nvPr/>
        </p:nvSpPr>
        <p:spPr>
          <a:xfrm>
            <a:off x="768096" y="5943600"/>
            <a:ext cx="10652760" cy="429768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68096" y="5943600"/>
            <a:ext cx="50292" cy="429768"/>
          </a:xfrm>
          <a:prstGeom prst="rect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69264" y="5989320"/>
            <a:ext cx="102961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L=3 algoritma, K=4 tekrar. Genel ortalama m=(10,5+8,5+5,5)/3≈8,167.</a:t>
            </a:r>
            <a:endParaRPr lang="en-US" sz="12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19.12  /  VARYANS ANALIZI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ANOVA örneği 1/2 — Kareler toplamları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86384" y="1828800"/>
            <a:ext cx="10643616" cy="694944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38528"/>
            <a:ext cx="10204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A: 10,12,11,9 | B: 8,9,7,10 | C: 5,6,4,7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41248" y="2734056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2871216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2898648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08760" y="2802636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m=8,167; mA=10,5; mB=8,5; mC=5,5.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41248" y="3355848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" y="3493008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3520440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3424428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SSᵦ=4[(10,5−8,167)²+(8,5−8,167)²+(5,5−8,167)²]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41248" y="3977640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" y="4114800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4142232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08760" y="4046220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SSᵦ≈50,667.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41248" y="4599432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4128" y="4736592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" y="4764024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08760" y="4668012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grup içi SS=5 → SS𝓌=5+5+5=15.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32104" y="5276088"/>
            <a:ext cx="10515600" cy="521208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5321808"/>
            <a:ext cx="10049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SONUÇ   SSₜ=50,667+15≈65,667.</a:t>
            </a:r>
            <a:endParaRPr lang="en-US" sz="17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19.12  /  VARYANS ANALIZI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ANOVA örneği 2/2 — F değeri ve karar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86384" y="1828800"/>
            <a:ext cx="10643616" cy="694944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38528"/>
            <a:ext cx="10204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L=3, K=4, SSᵦ=50,667 ve SS𝓌=15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41248" y="2734056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2871216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2898648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08760" y="2802636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dfᵦ=3−1=2; df𝓌=3(4−1)=9.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41248" y="3355848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" y="3493008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3520440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3424428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MSᵦ=50,667/2≈25,333.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41248" y="3977640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" y="4114800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4142232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08760" y="4046220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MS𝓌=15/9≈1,667.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41248" y="4599432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4128" y="4736592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" y="4764024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08760" y="4668012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F₀=25,333/1,667=15,20; kritik F(2,9)≈4,26.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32104" y="5276088"/>
            <a:ext cx="10515600" cy="521208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5321808"/>
            <a:ext cx="10049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SONUÇ   15,20&gt;4,26 → H₀ reddedilir. Farkın hangi çiftte olduğu henüz bilinmez.</a:t>
            </a:r>
            <a:endParaRPr lang="en-US" sz="17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19.12  /  VARYANS ANALIZI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Tablo 19.4 — ANOVA özeti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86384" y="1828800"/>
            <a:ext cx="2743200" cy="566928"/>
          </a:xfrm>
          <a:prstGeom prst="rect">
            <a:avLst/>
          </a:prstGeom>
          <a:solidFill>
            <a:srgbClr val="13233D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88366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Kaynak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529584" y="1828800"/>
            <a:ext cx="2560320" cy="566928"/>
          </a:xfrm>
          <a:prstGeom prst="rect">
            <a:avLst/>
          </a:prstGeom>
          <a:solidFill>
            <a:srgbClr val="13233D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48456" y="188366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Kareler (SS)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89904" y="1828800"/>
            <a:ext cx="1243584" cy="566928"/>
          </a:xfrm>
          <a:prstGeom prst="rect">
            <a:avLst/>
          </a:prstGeom>
          <a:solidFill>
            <a:srgbClr val="13233D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08776" y="1883664"/>
            <a:ext cx="1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df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33488" y="1828800"/>
            <a:ext cx="4069080" cy="566928"/>
          </a:xfrm>
          <a:prstGeom prst="rect">
            <a:avLst/>
          </a:prstGeom>
          <a:solidFill>
            <a:srgbClr val="13233D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52360" y="188366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Ortalama kare (MS)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86384" y="2395728"/>
            <a:ext cx="2743200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" y="24505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Gruplar arası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29584" y="2395728"/>
            <a:ext cx="2560320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48456" y="24505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SSᵦ=50,667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89904" y="2395728"/>
            <a:ext cx="1243584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08776" y="2450592"/>
            <a:ext cx="1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33488" y="2395728"/>
            <a:ext cx="4069080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52360" y="24505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25,333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86384" y="2962656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5256" y="30175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 içi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529584" y="2962656"/>
            <a:ext cx="2560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48456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SS𝓌=15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089904" y="2962656"/>
            <a:ext cx="124358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08776" y="3017520"/>
            <a:ext cx="1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333488" y="2962656"/>
            <a:ext cx="4069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52360" y="3017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1,667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86384" y="3529584"/>
            <a:ext cx="2743200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5256" y="35844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Toplam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529584" y="3529584"/>
            <a:ext cx="2560320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48456" y="35844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SSₜ=65,667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089904" y="3529584"/>
            <a:ext cx="1243584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08776" y="3584448"/>
            <a:ext cx="1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333488" y="3529584"/>
            <a:ext cx="4069080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52360" y="35844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68096" y="5943600"/>
            <a:ext cx="10652760" cy="429768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8096" y="5943600"/>
            <a:ext cx="50292" cy="429768"/>
          </a:xfrm>
          <a:prstGeom prst="rect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9264" y="5989320"/>
            <a:ext cx="102961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F=25,333/1,667=15,20. Tek faktörlü ANOVA yalnızca en az bir ortalamanın farklı olduğunu söyler.</a:t>
            </a:r>
            <a:endParaRPr lang="en-US" sz="12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19.12  /  VARYANS ANALIZI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Hoc — Fisher LSD ve ikili karşılaştırma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10652760" cy="1124712"/>
          </a:xfrm>
          <a:prstGeom prst="round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057400"/>
            <a:ext cx="10113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tᵢⱼ = (mᵢ−mⱼ) / √(2 MS𝓌/K)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77824" y="322783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ANOVA anlamlıysa, farkın hangi algoritma çiftlerinden kaynaklandığını sınar.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2688" y="4069080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08736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26464" y="3986784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ile C: (10,5−5,5)/√(2×1,667/4).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2688" y="4562856"/>
            <a:ext cx="320040" cy="320040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58114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26464" y="4480560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Pay: 5; Payda ≈0,913.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" y="5056632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50749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26464" y="4974336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t≈5,48; df=L(K−1)=9.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8096" y="6053328"/>
            <a:ext cx="10652760" cy="384048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6053328"/>
            <a:ext cx="50292" cy="384048"/>
          </a:xfrm>
          <a:prstGeom prst="rect">
            <a:avLst/>
          </a:prstGeom>
          <a:solidFill>
            <a:srgbClr val="E69A32"/>
          </a:solidFill>
          <a:ln w="12700">
            <a:solidFill>
              <a:srgbClr val="E69A3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6099048"/>
            <a:ext cx="10296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Çok sayıda ikili test için çoklu karşılaştırma düzeltmesi gerekebilir.</a:t>
            </a:r>
            <a:endParaRPr lang="en-US" sz="12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19.12  /  VARYANS ANALIZI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Bonferroni — Çoklu testlerde hata kontrolü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10652760" cy="1124712"/>
          </a:xfrm>
          <a:prstGeom prst="round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057400"/>
            <a:ext cx="10113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α_yeni = α / T     ;     T = L(L−1)/2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77824" y="322783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Birden fazla hipotez testinde yanlış reddetme olasılığını kontrol eder.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2688" y="4069080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08736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26464" y="3986784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algoritma → T=3(2)/2=3 çift.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2688" y="4562856"/>
            <a:ext cx="320040" cy="320040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58114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26464" y="4480560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Toplam α=0,05 ise her test α_yeni≈0,0167.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" y="5056632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50749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26464" y="4974336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Bonferroni güvenlidir ama bazı durumlarda gücü azaltır.</a:t>
            </a:r>
            <a:endParaRPr lang="en-US" sz="16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13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0"/>
            <a:ext cx="2770632" cy="6858000"/>
          </a:xfrm>
          <a:prstGeom prst="rect">
            <a:avLst/>
          </a:prstGeom>
          <a:solidFill>
            <a:srgbClr val="0C1830"/>
          </a:solidFill>
          <a:ln w="12700">
            <a:solidFill>
              <a:srgbClr val="0C183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1600200"/>
            <a:ext cx="3383280" cy="3383280"/>
          </a:xfrm>
          <a:prstGeom prst="ellipse">
            <a:avLst/>
          </a:prstGeom>
          <a:solidFill>
            <a:srgbClr val="13233D">
              <a:alpha val="0"/>
            </a:srgbClr>
          </a:solidFill>
          <a:ln w="38100">
            <a:solidFill>
              <a:srgbClr val="159D91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68580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19.13</a:t>
            </a:r>
            <a:endParaRPr lang="en-US" sz="6500" dirty="0"/>
          </a:p>
        </p:txBody>
      </p:sp>
      <p:sp>
        <p:nvSpPr>
          <p:cNvPr id="6" name="Text 4"/>
          <p:cNvSpPr/>
          <p:nvPr/>
        </p:nvSpPr>
        <p:spPr>
          <a:xfrm>
            <a:off x="795528" y="2029968"/>
            <a:ext cx="987552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Birden fazla veri kümesi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804672" y="3904488"/>
            <a:ext cx="9144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D5E1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veri kümesi farklı olduğunda mutlak hata yerine sıralama kullanabiliriz.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04672" y="628192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BÖLÜM 19  •  PARAMETRIK OLMAYAN TESTLER</a:t>
            </a:r>
            <a:endParaRPr lang="en-US" sz="12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19.13  /  PARAMETRIK OLMAYAN TESTLER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Farklı veri kümeleri: Neden yeni testler?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04672" y="1828800"/>
            <a:ext cx="10515600" cy="81153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039112"/>
            <a:ext cx="173736" cy="173736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16736" y="1920240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zorluğu değişir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16736" y="2194560"/>
            <a:ext cx="9765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Bir veri kümesi kolay, diğeri zor olabilir. Ham hata ortalamalarını doğrudan birleştirmek yanıltabilir.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04672" y="2823210"/>
            <a:ext cx="10515600" cy="8115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033522"/>
            <a:ext cx="173736" cy="173736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16736" y="2914650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Dağılım varsayımları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16736" y="3188970"/>
            <a:ext cx="9765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Farklı veri kümelerindeki hata ölçümleri aynı normal dağılımdan gelmeyebilir.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04672" y="3817620"/>
            <a:ext cx="10515600" cy="81153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4027932"/>
            <a:ext cx="173736" cy="173736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16736" y="3909060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Sıra ve işaret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16736" y="4183380"/>
            <a:ext cx="9765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hangi veri kümelerinde B’den iyi? Hangi algoritmanın ortalama sırası daha iyi?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04672" y="4812030"/>
            <a:ext cx="10515600" cy="8115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5022342"/>
            <a:ext cx="173736" cy="173736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16736" y="4903470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Benzer uygulamalar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16736" y="5177790"/>
            <a:ext cx="9765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Farklı ışık, çözünürlük, kişi sayısı içeren yüz tanıma kümelerini karşılaştırmak anlamlı olabilir.</a:t>
            </a:r>
            <a:endParaRPr lang="en-US" sz="155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19.13  /  PARAMETRIK OLMAYAN TESTLER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 Test — İki algoritma, N veri kümesi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10652760" cy="1124712"/>
          </a:xfrm>
          <a:prstGeom prst="round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057400"/>
            <a:ext cx="10113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Xᵢ = 1 (A hatası &lt; B hatası), aksi halde 0;  X = Σᵢ Xᵢ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77824" y="322783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Eşit performanslı algoritmalar altında kazanma olasılığı 1/2 olarak modellenir.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2688" y="4069080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08736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26464" y="3986784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H₀: A’nın kazanma olasılığı = 0,5.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2688" y="4562856"/>
            <a:ext cx="320040" cy="320040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58114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26464" y="4480560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H₁: A daha çok kazanırsa sağ kuyruk P(X≥e).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" y="5056632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50749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26464" y="4974336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İki taraflı fark için iki kuyruk; eşitlikler özel işlenir.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8096" y="6053328"/>
            <a:ext cx="10652760" cy="384048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6053328"/>
            <a:ext cx="50292" cy="384048"/>
          </a:xfrm>
          <a:prstGeom prst="rect">
            <a:avLst/>
          </a:prstGeom>
          <a:solidFill>
            <a:srgbClr val="E69A32"/>
          </a:solidFill>
          <a:ln w="12700">
            <a:solidFill>
              <a:srgbClr val="E69A3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6099048"/>
            <a:ext cx="10296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Kaynak metindeki sağ/sol kuyruk yönü tanımlanan Xᵢ ile tutarsız; burada doğru yön kullanılmıştır.</a:t>
            </a:r>
            <a:endParaRPr lang="en-US" sz="12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19.13  /  PARAMETRIK OLMAYAN TESTLER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 Test — 8 veri kümesinde 7 galibiyet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86384" y="1828800"/>
            <a:ext cx="10643616" cy="694944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38528"/>
            <a:ext cx="10204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yedi veri kümesinde, B bir veri kümesinde kazanıyor.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41248" y="2734056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2871216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2898648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08760" y="2802636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N=8; X=7; H₀ altında p=0,5.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41248" y="3355848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" y="3493008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3520440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3424428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P(X≥7)=C(8,7)/256 + C(8,8)/256.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41248" y="3977640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" y="4114800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4142232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08760" y="4046220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(8+1)/256=0,03516.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41248" y="4599432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4128" y="4736592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" y="4764024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08760" y="4668012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0,03516&lt;0,05.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32104" y="5276088"/>
            <a:ext cx="10515600" cy="521208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5321808"/>
            <a:ext cx="10049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SONUÇ   Tek taraflı A lehine testte reddet; çift taraflı p≈0,0703 ile reddedemezsin.</a:t>
            </a:r>
            <a:endParaRPr lang="en-US" sz="17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19.13  /  PARAMETRIK OLMAYAN TESTLER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Wilcoxon Signed-Rank — İşaret + büyüklük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10652760" cy="1124712"/>
          </a:xfrm>
          <a:prstGeom prst="round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057400"/>
            <a:ext cx="10113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dᵢ = eᵢ(A)−eᵢ(B);  |dᵢ| → sıra,  W=min(W⁺,W⁻)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77824" y="322783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 Test yalnızca kimin kazandığına bakar; Wilcoxon fark büyüklüklerini de sıralar.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2688" y="4069080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08736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26464" y="3986784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Sıfır olmayan mutlak farkları küçükten büyüğe sırala.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2688" y="4562856"/>
            <a:ext cx="320040" cy="320040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58114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26464" y="4480560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İşaretine göre sıra toplamları W⁺ ve W⁻ hesapla.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" y="5056632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50749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26464" y="4974336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İki taraflı karşılaştırmada min(W⁺,W⁻) kritik değere bak.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8096" y="6053328"/>
            <a:ext cx="10652760" cy="384048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6053328"/>
            <a:ext cx="50292" cy="384048"/>
          </a:xfrm>
          <a:prstGeom prst="rect">
            <a:avLst/>
          </a:prstGeom>
          <a:solidFill>
            <a:srgbClr val="E69A32"/>
          </a:solidFill>
          <a:ln w="12700">
            <a:solidFill>
              <a:srgbClr val="E69A3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6099048"/>
            <a:ext cx="10296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Eşit mutlak farklara ortalama sıra atanır; Wilcoxon belirli simetri varsayımları içerir.</a:t>
            </a:r>
            <a:endParaRPr lang="en-US" sz="12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19.13  /  PARAMETRIK OLMAYAN TESTLER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Wilcoxon — sıraları nasıl toplarız?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86384" y="1828800"/>
            <a:ext cx="10643616" cy="694944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38528"/>
            <a:ext cx="10204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A−B farkları: −1, −2, −3, −4, −5, +0,5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41248" y="2734056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2871216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2898648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08760" y="2802636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Mutlak farklar: 1,2,3,4,5,0,5.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41248" y="3355848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" y="3493008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3520440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3424428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Küçükten büyüğe sıralar: 0,5→1; 1→2; 2→3; …; 5→6.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41248" y="3977640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" y="4114800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4142232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08760" y="4046220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Pozitif tek fark: +0,5 → W⁺=1.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41248" y="4599432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4128" y="4736592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" y="4764024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08760" y="4668012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Negatiflerin sıra toplamı: W⁻=2+3+4+5+6=20.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32104" y="5276088"/>
            <a:ext cx="10515600" cy="521208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5321808"/>
            <a:ext cx="10049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SONUÇ   W=min(1,20)=1; kritik Wilcoxon dağılımıyla karşılaştır.</a:t>
            </a:r>
            <a:endParaRPr lang="en-US" sz="17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19.13  /  PARAMETRIK OLMAYAN TESTLER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Kruskal–Wallis — Çoklu bağımsız grup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10652760" cy="1124712"/>
          </a:xfrm>
          <a:prstGeom prst="round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057400"/>
            <a:ext cx="10113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 = [12/(L(M+1))] Σᵢ [R̄ᵢ−(M+1)/2]²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77824" y="322783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 bağımsız algoritma grubu, her biri N gözlem; toplam M=L×N.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2688" y="4069080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08736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26464" y="3986784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Bütün gözlemleri ortak bir listede sırala.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2688" y="4562856"/>
            <a:ext cx="320040" cy="320040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58114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26464" y="4480560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Algoritma başına ortalama sırayı bul.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" y="5056632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50749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26464" y="4974336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 yaklaşık χ²(L−1) ile karşılaştırılır.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8096" y="6053328"/>
            <a:ext cx="10652760" cy="384048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6053328"/>
            <a:ext cx="50292" cy="384048"/>
          </a:xfrm>
          <a:prstGeom prst="rect">
            <a:avLst/>
          </a:prstGeom>
          <a:solidFill>
            <a:srgbClr val="E69A32"/>
          </a:solidFill>
          <a:ln w="12700">
            <a:solidFill>
              <a:srgbClr val="E69A3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6099048"/>
            <a:ext cx="10296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Eşit sıralar için düzeltme gerekir. Kaynak metindeki formül dizgisi bozulmuştu; standart biçim verilmiştir.</a:t>
            </a:r>
            <a:endParaRPr lang="en-US" sz="12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19.13  /  PARAMETRIK OLMAYAN TESTLER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Kruskal–Wallis — küçük sıra örneği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86384" y="1828800"/>
            <a:ext cx="10643616" cy="694944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38528"/>
            <a:ext cx="10204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A: 3,4,5 | B: 6,7,8 | C: 9,10,11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41248" y="2734056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2871216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2898648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08760" y="2802636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M=9; sıralar A:1,2,3; B:4,5,6; C:7,8,9.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41248" y="3355848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" y="3493008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3520440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3424428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Ortalama sıralar: A=2, B=5, C=8.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41248" y="3977640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" y="4114800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4142232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08760" y="4046220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Genel sıra ortalaması=(9+1)/2=5.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41248" y="4599432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4128" y="4736592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" y="4764024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08760" y="4668012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H=[12/(3×10)]×[(2−5)²+(5−5)²+(8−5)²]=7,2.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32104" y="5276088"/>
            <a:ext cx="10515600" cy="521208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5321808"/>
            <a:ext cx="10049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SONUÇ   χ²(2) kritik≈5,99 → yaklaşık testte fark; küçük N nedeniyle tam yöntem düşün.</a:t>
            </a:r>
            <a:endParaRPr lang="en-US" sz="17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19.13  /  PARAMETRIK OLMAYAN TESTLER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Eşleştirilmiş veri kümelerinde doğru araç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828800"/>
            <a:ext cx="5193792" cy="3950208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45352" y="1828800"/>
            <a:ext cx="5193792" cy="3950208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048256"/>
            <a:ext cx="47183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Kruskal–Wallis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83096" y="2048256"/>
            <a:ext cx="47183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Friedman (ek açıklama)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24128" y="2761488"/>
            <a:ext cx="109728" cy="109728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71016" y="2642616"/>
            <a:ext cx="4361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Bağımsız gruplarda global sıraları karşılaştırır. Ortak veri kümesi eşleştirmesini yok sayar.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19672" y="2761488"/>
            <a:ext cx="109728" cy="109728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2642616"/>
            <a:ext cx="4361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Aynı veri kümelerinde L algoritma değerlendirilince her veri kümesi içinde sıralama yapar; blok yapısını korur.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8096" y="5925312"/>
            <a:ext cx="10652760" cy="36576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096" y="5925312"/>
            <a:ext cx="50292" cy="365760"/>
          </a:xfrm>
          <a:prstGeom prst="rect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" y="5971032"/>
            <a:ext cx="10296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Makine öğrenmesinde ortak veri kümeleri üzerinde çoklu algoritma karşılaştırması için Friedman sıklıkla uygundur.</a:t>
            </a:r>
            <a:endParaRPr lang="en-US" sz="12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19.13  /  PARAMETRIK OLMAYAN TESTLER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Hoc, Tukey ve kritik fark (CD)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04672" y="1828800"/>
            <a:ext cx="10515600" cy="81153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039112"/>
            <a:ext cx="173736" cy="173736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16736" y="1920240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Genel test önce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16736" y="2194560"/>
            <a:ext cx="9765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Kruskal–Wallis / uygun bloklu test reddedilirse hangi çiftlerin farklı olduğunu araştır.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04672" y="2823210"/>
            <a:ext cx="10515600" cy="8115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033522"/>
            <a:ext cx="173736" cy="173736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16736" y="2914650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Tukey / Studentized Range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16736" y="3188970"/>
            <a:ext cx="9765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 ortalama sıraları arasındaki fark kritik sınırla karşılaştırılabilir (uygun tasarımda).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04672" y="3817620"/>
            <a:ext cx="10515600" cy="81153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4027932"/>
            <a:ext cx="173736" cy="173736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16736" y="3909060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 diyagramı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16736" y="4183380"/>
            <a:ext cx="9765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Algoritmalar 1…L sıralama ekseninde gösterilir; anlamlı fark bulunmayan gruplar çizgilerle birleştirilir.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04672" y="4812030"/>
            <a:ext cx="10515600" cy="8115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5022342"/>
            <a:ext cx="173736" cy="173736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16736" y="4903470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Pratik yorum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16736" y="5177790"/>
            <a:ext cx="9765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Düşük ortalama sıra iyi görünür; ancak küçük fark istatistiksel üstünlük anlamına gelmeyebilir.</a:t>
            </a:r>
            <a:endParaRPr lang="en-US" sz="155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13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0"/>
            <a:ext cx="2770632" cy="6858000"/>
          </a:xfrm>
          <a:prstGeom prst="rect">
            <a:avLst/>
          </a:prstGeom>
          <a:solidFill>
            <a:srgbClr val="0C1830"/>
          </a:solidFill>
          <a:ln w="12700">
            <a:solidFill>
              <a:srgbClr val="0C183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1600200"/>
            <a:ext cx="3383280" cy="3383280"/>
          </a:xfrm>
          <a:prstGeom prst="ellipse">
            <a:avLst/>
          </a:prstGeom>
          <a:solidFill>
            <a:srgbClr val="13233D">
              <a:alpha val="0"/>
            </a:srgbClr>
          </a:solidFill>
          <a:ln w="38100">
            <a:solidFill>
              <a:srgbClr val="159D91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68580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19.14</a:t>
            </a:r>
            <a:endParaRPr lang="en-US" sz="6500" dirty="0"/>
          </a:p>
        </p:txBody>
      </p:sp>
      <p:sp>
        <p:nvSpPr>
          <p:cNvPr id="6" name="Text 4"/>
          <p:cNvSpPr/>
          <p:nvPr/>
        </p:nvSpPr>
        <p:spPr>
          <a:xfrm>
            <a:off x="795528" y="2029968"/>
            <a:ext cx="987552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Çok değişkenli testler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804672" y="3904488"/>
            <a:ext cx="9144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D5E1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Hata toplamının sakladığı FP ve FN farklarını birlikte nasıl görürüz?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04672" y="628192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BÖLÜM 19  •  BIRDEN FAZLA PERFORMANS</a:t>
            </a:r>
            <a:endParaRPr lang="en-US" sz="12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19.14  /  BIRDEN FAZLA PERFORMANS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Tek değişkenli mi, çok değişkenli mi?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828800"/>
            <a:ext cx="5193792" cy="3950208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45352" y="1828800"/>
            <a:ext cx="5193792" cy="3950208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048256"/>
            <a:ext cx="47183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Univariate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83096" y="2048256"/>
            <a:ext cx="47183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Multivariate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24128" y="2761488"/>
            <a:ext cx="109728" cy="109728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71016" y="2642616"/>
            <a:ext cx="4361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Sadece Error veya sadece Accuracy için test. Farkın FP mi FN mi kaynaklı olduğunu ayırmaz.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19672" y="2761488"/>
            <a:ext cx="109728" cy="109728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2642616"/>
            <a:ext cx="4361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[FP,FN], [Precision,Recall] veya [TPR,FPR] vektörleri üzerinde birlikte karşılaştırma.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8096" y="5925312"/>
            <a:ext cx="10652760" cy="36576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096" y="5925312"/>
            <a:ext cx="50292" cy="365760"/>
          </a:xfrm>
          <a:prstGeom prst="rect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" y="5971032"/>
            <a:ext cx="10296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Aynı Accuracy değerine sahip iki modelin hata türleri çok farklı olabilir.</a:t>
            </a:r>
            <a:endParaRPr lang="en-US" sz="12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19.14  /  BIRDEN FAZLA PERFORMANS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İki model: Aynı toplam hata, farklı hata profili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819656"/>
            <a:ext cx="70866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pic>
        <p:nvPicPr>
          <p:cNvPr id="10" name="Image 0" descr="/mnt/data/ml19_slides_build/assets/multi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68632"/>
            <a:ext cx="6848856" cy="3171127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028432" y="1819656"/>
            <a:ext cx="3392424" cy="406908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75320" y="2075688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6A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ŞEKLİ OKUYALIM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66176" y="262432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49640" y="252374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A: daha çok FP, daha az FN.</a:t>
            </a:r>
            <a:endParaRPr lang="en-US" sz="1420" dirty="0"/>
          </a:p>
        </p:txBody>
      </p:sp>
      <p:sp>
        <p:nvSpPr>
          <p:cNvPr id="15" name="Shape 12"/>
          <p:cNvSpPr/>
          <p:nvPr/>
        </p:nvSpPr>
        <p:spPr>
          <a:xfrm>
            <a:off x="8266176" y="340156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49640" y="330098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B: daha az FP, daha çok FN.</a:t>
            </a:r>
            <a:endParaRPr lang="en-US" sz="1420" dirty="0"/>
          </a:p>
        </p:txBody>
      </p:sp>
      <p:sp>
        <p:nvSpPr>
          <p:cNvPr id="17" name="Shape 14"/>
          <p:cNvSpPr/>
          <p:nvPr/>
        </p:nvSpPr>
        <p:spPr>
          <a:xfrm>
            <a:off x="8266176" y="4178808"/>
            <a:ext cx="118872" cy="118872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49640" y="4078224"/>
            <a:ext cx="2606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Tek Accuracy bu ayrımı gizleyebilir.</a:t>
            </a:r>
            <a:endParaRPr lang="en-US" sz="1420" dirty="0"/>
          </a:p>
        </p:txBody>
      </p:sp>
      <p:sp>
        <p:nvSpPr>
          <p:cNvPr id="19" name="Text 16"/>
          <p:cNvSpPr/>
          <p:nvPr/>
        </p:nvSpPr>
        <p:spPr>
          <a:xfrm>
            <a:off x="896112" y="6053328"/>
            <a:ext cx="10360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ve B iki performans ekseni (FP, FN) üzerinde birbirinden ayrılabilir.</a:t>
            </a:r>
            <a:endParaRPr lang="en-US" sz="11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19.14  /  BIRDEN FAZLA PERFORMANS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Denklem 19.26–19.27 — Hotelling T²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10652760" cy="1124712"/>
          </a:xfrm>
          <a:prstGeom prst="round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057400"/>
            <a:ext cx="10113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 = Σᵢdᵢ/K   ;   S=cov(d)   ;   T²=K mᵀ S⁻¹ m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77824" y="322783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İki algoritma aynı fold’larda p boyutlu performans vektörleri üretir.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2688" y="4069080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08736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26464" y="3986784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dᵢ = xᵢ(A)−xᵢ(B) eşleştirilmiş fark vektörü.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2688" y="4562856"/>
            <a:ext cx="320040" cy="320040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58114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26464" y="4480560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H₀: farkların ortalama vektörü sıfır.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" y="5056632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50749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26464" y="4974336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S⁻¹ kovaryansı hesaba katar; uzaklık Mahalanobis’tir.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8096" y="6053328"/>
            <a:ext cx="10652760" cy="384048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6053328"/>
            <a:ext cx="50292" cy="384048"/>
          </a:xfrm>
          <a:prstGeom prst="rect">
            <a:avLst/>
          </a:prstGeom>
          <a:solidFill>
            <a:srgbClr val="E69A32"/>
          </a:solidFill>
          <a:ln w="12700">
            <a:solidFill>
              <a:srgbClr val="E69A3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6099048"/>
            <a:ext cx="10296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p=1 olduğunda tek değişkenli paired t testinin karesine indirgenir.</a:t>
            </a:r>
            <a:endParaRPr lang="en-US" sz="12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19.14  /  BIRDEN FAZLA PERFORMANS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Hotelling — iki boyutlu farkı okuyalım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86384" y="1828800"/>
            <a:ext cx="10643616" cy="694944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38528"/>
            <a:ext cx="10204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Beş fark vektörü: (2,2),(3,2),(4,3),(3,4),(5,4)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41248" y="2734056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2871216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2898648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08760" y="2802636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Ortalama m = (3,4 ; 3,0).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41248" y="3355848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" y="3493008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3520440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3424428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Kovaryans S = [[1,30;0,75],[0,75;1,00]].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41248" y="3977640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" y="4114800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4142232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08760" y="4046220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T² = 5×mᵀS⁻¹m ≈ 53,97.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41248" y="4599432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4128" y="4736592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" y="4764024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08760" y="4668012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p=2, K=5 → F=(K−p)/(p(K−1))×T²≈20,24.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32104" y="5276088"/>
            <a:ext cx="10515600" cy="521208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5321808"/>
            <a:ext cx="10049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SONUÇ   Örn. %5 kritik F(2,3)≈9,55 → varsayımlar altında H₀ reddedilir.</a:t>
            </a:r>
            <a:endParaRPr lang="en-US" sz="17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19.14  /  BIRDEN FAZLA PERFORMANS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Denklem 19.28 — Ayırıcı doğrultu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10652760" cy="1124712"/>
          </a:xfrm>
          <a:prstGeom prst="round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057400"/>
            <a:ext cx="10113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 = S⁻¹ m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77824" y="322783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Çok değişkenli farkı en çok ayıran doğrusal yönü temsil eder.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2688" y="4069080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08736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26464" y="3986784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 katsayıları yeni birleşik performans doğrultusu verir.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2688" y="4562856"/>
            <a:ext cx="320040" cy="320040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58114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26464" y="4480560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Fisher LDA ayırıcı doğrultusuyla matematiksel akrabalık vardır.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" y="5056632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50749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26464" y="4974336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Katsayılar basit yüzde önem ağırlıkları gibi yorumlanmaz.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8096" y="6053328"/>
            <a:ext cx="10652760" cy="384048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6053328"/>
            <a:ext cx="50292" cy="384048"/>
          </a:xfrm>
          <a:prstGeom prst="rect">
            <a:avLst/>
          </a:prstGeom>
          <a:solidFill>
            <a:srgbClr val="E69A32"/>
          </a:solidFill>
          <a:ln w="12700">
            <a:solidFill>
              <a:srgbClr val="E69A3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6099048"/>
            <a:ext cx="10296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[TP,FP,FN,TN] sabit toplamlı ise kovaryans tekil olabilir: doğrudan ters alma geçersiz.</a:t>
            </a:r>
            <a:endParaRPr lang="en-US" sz="12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19.14  /  BIRDEN FAZLA PERFORMANS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Denklem 19.29 — MANOVA / Wilks Lambda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10652760" cy="1124712"/>
          </a:xfrm>
          <a:prstGeom prst="round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057400"/>
            <a:ext cx="10113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Λ = |E| / |E + H|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77824" y="322783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L&gt;2 algoritma ve p performans ölçüsü: gruplar arası H, grup içi E saçılım matrisleri.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2688" y="4069080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08736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26464" y="3986784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H=KΣⱼ(mⱼ−m)(mⱼ−m)ᵀ.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2688" y="4562856"/>
            <a:ext cx="320040" cy="320040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58114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26464" y="4480560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E=ΣⱼΣᵢ(xᵢⱼ−mⱼ)(xᵢⱼ−mⱼ)ᵀ.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" y="5056632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50749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26464" y="4974336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Ortalama vektörler benzerse Λ≈1; farklıysa Λ küçülür.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8096" y="6053328"/>
            <a:ext cx="10652760" cy="384048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6053328"/>
            <a:ext cx="50292" cy="384048"/>
          </a:xfrm>
          <a:prstGeom prst="rect">
            <a:avLst/>
          </a:prstGeom>
          <a:solidFill>
            <a:srgbClr val="E69A32"/>
          </a:solidFill>
          <a:ln w="12700">
            <a:solidFill>
              <a:srgbClr val="E69A3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6099048"/>
            <a:ext cx="10296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Kaynak metnin bir satırındaki “büyük Lambda reddeder” yönü tutarsızdır; Wilks için küçük Λ reddetme yönüdür.</a:t>
            </a:r>
            <a:endParaRPr lang="en-US" sz="12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19.14  /  BIRDEN FAZLA PERFORMANS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MANOVA — determinant hesabı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86384" y="1828800"/>
            <a:ext cx="10643616" cy="694944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38528"/>
            <a:ext cx="10204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E=[[6,3],[3,6]],  H=[[54,0],[0,0]]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41248" y="2734056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2871216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2898648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08760" y="2802636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|E| =6×6−3×3=27.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41248" y="3355848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" y="3493008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3520440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3424428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E+H=[[60,3],[3,6]].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41248" y="3977640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" y="4114800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4142232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08760" y="4046220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|E+H|=60×6−3×3=351.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41248" y="4599432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4128" y="4736592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" y="4764024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08760" y="4668012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Λ=27/351≈0,0769.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32104" y="5276088"/>
            <a:ext cx="10515600" cy="521208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5321808"/>
            <a:ext cx="10049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SONUÇ   Küçük Λ grup farkına işaret eder; karar için uygun MANOVA p-değeri gerekir.</a:t>
            </a:r>
            <a:endParaRPr lang="en-US" sz="17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19.14  /  BIRDEN FAZLA PERFORMANS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MANOVA sonrası: Fark nereden geliyor?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04672" y="1828800"/>
            <a:ext cx="10515600" cy="81153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039112"/>
            <a:ext cx="173736" cy="173736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16736" y="1920240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Hoc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16736" y="2194560"/>
            <a:ext cx="9765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Farkın hangi algoritma çiftlerinden veya hangi ölçütlerden kaynaklandığını değerlendir.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04672" y="2823210"/>
            <a:ext cx="10515600" cy="8115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033522"/>
            <a:ext cx="173736" cy="173736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16736" y="2914650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Tek tek ANOVA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16736" y="3188970"/>
            <a:ext cx="9765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performans ölçüsü için ayrı analiz yapılabilir; çoklu test düzeltmesini düşün.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04672" y="3817620"/>
            <a:ext cx="10515600" cy="81153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4027932"/>
            <a:ext cx="173736" cy="173736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16736" y="3909060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Özvektörler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16736" y="4183380"/>
            <a:ext cx="9765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E⁻¹H matrisinin ayırıcı yönleri yeni performans bileşimlerini gösterebilir.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04672" y="4812030"/>
            <a:ext cx="10515600" cy="8115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5022342"/>
            <a:ext cx="173736" cy="173736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16736" y="4903470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Boyut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16736" y="5177790"/>
            <a:ext cx="9765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Fark uzayının boyutu s=min(p,L−1); baskın özdeğer tek yönde ayrımı gösterebilir.</a:t>
            </a:r>
            <a:endParaRPr lang="en-US" sz="155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13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0"/>
            <a:ext cx="2770632" cy="6858000"/>
          </a:xfrm>
          <a:prstGeom prst="rect">
            <a:avLst/>
          </a:prstGeom>
          <a:solidFill>
            <a:srgbClr val="0C1830"/>
          </a:solidFill>
          <a:ln w="12700">
            <a:solidFill>
              <a:srgbClr val="0C183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1600200"/>
            <a:ext cx="3383280" cy="3383280"/>
          </a:xfrm>
          <a:prstGeom prst="ellipse">
            <a:avLst/>
          </a:prstGeom>
          <a:solidFill>
            <a:srgbClr val="13233D">
              <a:alpha val="0"/>
            </a:srgbClr>
          </a:solidFill>
          <a:ln w="38100">
            <a:solidFill>
              <a:srgbClr val="159D91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68580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19.15</a:t>
            </a:r>
            <a:endParaRPr lang="en-US" sz="6500" dirty="0"/>
          </a:p>
        </p:txBody>
      </p:sp>
      <p:sp>
        <p:nvSpPr>
          <p:cNvPr id="6" name="Text 4"/>
          <p:cNvSpPr/>
          <p:nvPr/>
        </p:nvSpPr>
        <p:spPr>
          <a:xfrm>
            <a:off x="795528" y="2029968"/>
            <a:ext cx="987552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Notlar ve model seçimi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804672" y="3904488"/>
            <a:ext cx="9144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D5E1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düşük hata her zaman en iyi mühendislik kararı değildir.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04672" y="628192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BÖLÜM 19  •  ARAŞTIRMA PRATIĞI</a:t>
            </a:r>
            <a:endParaRPr lang="en-US" sz="12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19.15  /  ARAŞTIRMA PRATIĞI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Performans aynı görünüyorsa hangisini seçmeliyiz?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04672" y="1828800"/>
            <a:ext cx="10515600" cy="81153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039112"/>
            <a:ext cx="173736" cy="173736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16736" y="1920240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Basit model tercihi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16736" y="2194560"/>
            <a:ext cx="9765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İstatistiksel üstünlük kanıtı yoksa daha az kaynak tüketen ve yorumlanabilir modeli tercih etmek makul olabilir.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04672" y="2823210"/>
            <a:ext cx="10515600" cy="8115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033522"/>
            <a:ext cx="173736" cy="173736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16736" y="2914650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Eşdeğerlik ≠ reddedememe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16736" y="3188970"/>
            <a:ext cx="9765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H₀’ı reddedememek modellerin tam eşit olduğunu kanıtlamaz; eşdeğerlik için başka testler gerekebilir.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04672" y="3817620"/>
            <a:ext cx="10515600" cy="81153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4027932"/>
            <a:ext cx="173736" cy="173736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16736" y="3909060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Maliyet-duyarlılık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16736" y="4183380"/>
            <a:ext cx="9765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FP ve FN maliyetleri farklıysa ham hata yerine beklenen risk veya maliyete duyarlı ölçütler seç.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04672" y="4812030"/>
            <a:ext cx="10515600" cy="8115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5022342"/>
            <a:ext cx="173736" cy="173736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16736" y="4903470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Farklı hata kümeleri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16736" y="5177790"/>
            <a:ext cx="9765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İki model aynı hata oranına sahip olsa bile farklı örneklerde yanılabilir; bu, ensemble için fırsat olabilir.</a:t>
            </a:r>
            <a:endParaRPr lang="en-US" sz="155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19.15  /  ARAŞTIRMA PRATIĞI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MultiTest ve kontrastlar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10652760" cy="1124712"/>
          </a:xfrm>
          <a:prstGeom prst="round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057400"/>
            <a:ext cx="10113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İkili test sayısı T = L(L−1)/2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77824" y="322783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MultiTest: anlamlı hata farkları + karmaşıklık tercihleriyle kısmi sıralamayı tamamlamayı hedefler.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2688" y="4069080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08736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26464" y="3986784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L=4 → 4×3/2=6 ikili karşılaştırma.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2688" y="4562856"/>
            <a:ext cx="320040" cy="320040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58114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26464" y="4480560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Topolojik sıralama kullanılarak tutarlı tercih düzeni oluşturulabilir.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" y="5056632"/>
            <a:ext cx="320040" cy="320040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50749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26464" y="4974336"/>
            <a:ext cx="9829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Kontrast: iki sinir ağının ortalamasını üç bulanık mantık yönteminin ortalamasıyla kıyasla.</a:t>
            </a:r>
            <a:endParaRPr lang="en-US" sz="16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19.15  /  ARAŞTIRMA PRATIĞI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Bölüm 19 — Hangi durumda hangi istatistik?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86384" y="1828800"/>
            <a:ext cx="4663440" cy="493776"/>
          </a:xfrm>
          <a:prstGeom prst="rect">
            <a:avLst/>
          </a:prstGeom>
          <a:solidFill>
            <a:srgbClr val="13233D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88366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Amaç</a:t>
            </a:r>
            <a:endParaRPr lang="en-US" sz="1370" dirty="0"/>
          </a:p>
        </p:txBody>
      </p:sp>
      <p:sp>
        <p:nvSpPr>
          <p:cNvPr id="11" name="Shape 9"/>
          <p:cNvSpPr/>
          <p:nvPr/>
        </p:nvSpPr>
        <p:spPr>
          <a:xfrm>
            <a:off x="5449824" y="1828800"/>
            <a:ext cx="5952744" cy="493776"/>
          </a:xfrm>
          <a:prstGeom prst="rect">
            <a:avLst/>
          </a:prstGeom>
          <a:solidFill>
            <a:srgbClr val="13233D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68696" y="1883664"/>
            <a:ext cx="5724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Önerilen yaklaşım</a:t>
            </a:r>
            <a:endParaRPr lang="en-US" sz="1370" dirty="0"/>
          </a:p>
        </p:txBody>
      </p:sp>
      <p:sp>
        <p:nvSpPr>
          <p:cNvPr id="13" name="Shape 11"/>
          <p:cNvSpPr/>
          <p:nvPr/>
        </p:nvSpPr>
        <p:spPr>
          <a:xfrm>
            <a:off x="786384" y="2322576"/>
            <a:ext cx="4663440" cy="493776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" y="237744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Tek sınıflandırıcı hata sınırı</a:t>
            </a:r>
            <a:endParaRPr lang="en-US" sz="1470" dirty="0"/>
          </a:p>
        </p:txBody>
      </p:sp>
      <p:sp>
        <p:nvSpPr>
          <p:cNvPr id="15" name="Shape 13"/>
          <p:cNvSpPr/>
          <p:nvPr/>
        </p:nvSpPr>
        <p:spPr>
          <a:xfrm>
            <a:off x="5449824" y="2322576"/>
            <a:ext cx="5952744" cy="493776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68696" y="2377440"/>
            <a:ext cx="5724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Binom / yaklaşık Z / uygun tekrarlı t</a:t>
            </a:r>
            <a:endParaRPr lang="en-US" sz="1470" dirty="0"/>
          </a:p>
        </p:txBody>
      </p:sp>
      <p:sp>
        <p:nvSpPr>
          <p:cNvPr id="17" name="Shape 15"/>
          <p:cNvSpPr/>
          <p:nvPr/>
        </p:nvSpPr>
        <p:spPr>
          <a:xfrm>
            <a:off x="786384" y="2816352"/>
            <a:ext cx="46634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" y="287121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İki model, aynı test örnekleri</a:t>
            </a:r>
            <a:endParaRPr lang="en-US" sz="1470" dirty="0"/>
          </a:p>
        </p:txBody>
      </p:sp>
      <p:sp>
        <p:nvSpPr>
          <p:cNvPr id="19" name="Shape 17"/>
          <p:cNvSpPr/>
          <p:nvPr/>
        </p:nvSpPr>
        <p:spPr>
          <a:xfrm>
            <a:off x="5449824" y="2816352"/>
            <a:ext cx="595274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68696" y="2871216"/>
            <a:ext cx="5724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McNemar</a:t>
            </a:r>
            <a:endParaRPr lang="en-US" sz="1470" dirty="0"/>
          </a:p>
        </p:txBody>
      </p:sp>
      <p:sp>
        <p:nvSpPr>
          <p:cNvPr id="21" name="Shape 19"/>
          <p:cNvSpPr/>
          <p:nvPr/>
        </p:nvSpPr>
        <p:spPr>
          <a:xfrm>
            <a:off x="786384" y="3310128"/>
            <a:ext cx="4663440" cy="493776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" y="336499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İki model, eşleştirilmiş fold’lar</a:t>
            </a:r>
            <a:endParaRPr lang="en-US" sz="1470" dirty="0"/>
          </a:p>
        </p:txBody>
      </p:sp>
      <p:sp>
        <p:nvSpPr>
          <p:cNvPr id="23" name="Shape 21"/>
          <p:cNvSpPr/>
          <p:nvPr/>
        </p:nvSpPr>
        <p:spPr>
          <a:xfrm>
            <a:off x="5449824" y="3310128"/>
            <a:ext cx="5952744" cy="493776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68696" y="3364992"/>
            <a:ext cx="5724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Uygun paired yöntemler, 5×2 CV</a:t>
            </a:r>
            <a:endParaRPr lang="en-US" sz="1470" dirty="0"/>
          </a:p>
        </p:txBody>
      </p:sp>
      <p:sp>
        <p:nvSpPr>
          <p:cNvPr id="25" name="Shape 23"/>
          <p:cNvSpPr/>
          <p:nvPr/>
        </p:nvSpPr>
        <p:spPr>
          <a:xfrm>
            <a:off x="786384" y="3803904"/>
            <a:ext cx="46634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5256" y="385876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Birden çok bağımsız grup</a:t>
            </a:r>
            <a:endParaRPr lang="en-US" sz="1470" dirty="0"/>
          </a:p>
        </p:txBody>
      </p:sp>
      <p:sp>
        <p:nvSpPr>
          <p:cNvPr id="27" name="Shape 25"/>
          <p:cNvSpPr/>
          <p:nvPr/>
        </p:nvSpPr>
        <p:spPr>
          <a:xfrm>
            <a:off x="5449824" y="3803904"/>
            <a:ext cx="595274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68696" y="3858768"/>
            <a:ext cx="5724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ANOVA / Kruskal–Wallis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786384" y="4297680"/>
            <a:ext cx="4663440" cy="493776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5256" y="435254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Birden çok model, ortak veri kümeleri</a:t>
            </a:r>
            <a:endParaRPr lang="en-US" sz="1470" dirty="0"/>
          </a:p>
        </p:txBody>
      </p:sp>
      <p:sp>
        <p:nvSpPr>
          <p:cNvPr id="31" name="Shape 29"/>
          <p:cNvSpPr/>
          <p:nvPr/>
        </p:nvSpPr>
        <p:spPr>
          <a:xfrm>
            <a:off x="5449824" y="4297680"/>
            <a:ext cx="5952744" cy="493776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68696" y="4352544"/>
            <a:ext cx="5724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Friedman ve uygun post hoc</a:t>
            </a:r>
            <a:endParaRPr lang="en-US" sz="1470" dirty="0"/>
          </a:p>
        </p:txBody>
      </p:sp>
      <p:sp>
        <p:nvSpPr>
          <p:cNvPr id="33" name="Shape 31"/>
          <p:cNvSpPr/>
          <p:nvPr/>
        </p:nvSpPr>
        <p:spPr>
          <a:xfrm>
            <a:off x="786384" y="4791456"/>
            <a:ext cx="46634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5256" y="484632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İki model, birçok performans metriği</a:t>
            </a:r>
            <a:endParaRPr lang="en-US" sz="1470" dirty="0"/>
          </a:p>
        </p:txBody>
      </p:sp>
      <p:sp>
        <p:nvSpPr>
          <p:cNvPr id="35" name="Shape 33"/>
          <p:cNvSpPr/>
          <p:nvPr/>
        </p:nvSpPr>
        <p:spPr>
          <a:xfrm>
            <a:off x="5449824" y="4791456"/>
            <a:ext cx="595274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68696" y="4846320"/>
            <a:ext cx="5724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Hotelling T²</a:t>
            </a:r>
            <a:endParaRPr lang="en-US" sz="1470" dirty="0"/>
          </a:p>
        </p:txBody>
      </p:sp>
      <p:sp>
        <p:nvSpPr>
          <p:cNvPr id="37" name="Shape 35"/>
          <p:cNvSpPr/>
          <p:nvPr/>
        </p:nvSpPr>
        <p:spPr>
          <a:xfrm>
            <a:off x="786384" y="5285232"/>
            <a:ext cx="4663440" cy="493776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5256" y="534009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Çok model, birçok performans metriği</a:t>
            </a:r>
            <a:endParaRPr lang="en-US" sz="1470" dirty="0"/>
          </a:p>
        </p:txBody>
      </p:sp>
      <p:sp>
        <p:nvSpPr>
          <p:cNvPr id="39" name="Shape 37"/>
          <p:cNvSpPr/>
          <p:nvPr/>
        </p:nvSpPr>
        <p:spPr>
          <a:xfrm>
            <a:off x="5449824" y="5285232"/>
            <a:ext cx="5952744" cy="493776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68696" y="5340096"/>
            <a:ext cx="5724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MANOVA</a:t>
            </a:r>
            <a:endParaRPr lang="en-US" sz="147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13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0"/>
            <a:ext cx="2770632" cy="6858000"/>
          </a:xfrm>
          <a:prstGeom prst="rect">
            <a:avLst/>
          </a:prstGeom>
          <a:solidFill>
            <a:srgbClr val="0C1830"/>
          </a:solidFill>
          <a:ln w="12700">
            <a:solidFill>
              <a:srgbClr val="0C183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1600200"/>
            <a:ext cx="3383280" cy="3383280"/>
          </a:xfrm>
          <a:prstGeom prst="ellipse">
            <a:avLst/>
          </a:prstGeom>
          <a:solidFill>
            <a:srgbClr val="13233D">
              <a:alpha val="0"/>
            </a:srgbClr>
          </a:solidFill>
          <a:ln w="38100">
            <a:solidFill>
              <a:srgbClr val="159D91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68580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19.16</a:t>
            </a:r>
            <a:endParaRPr lang="en-US" sz="6500" dirty="0"/>
          </a:p>
        </p:txBody>
      </p:sp>
      <p:sp>
        <p:nvSpPr>
          <p:cNvPr id="6" name="Text 4"/>
          <p:cNvSpPr/>
          <p:nvPr/>
        </p:nvSpPr>
        <p:spPr>
          <a:xfrm>
            <a:off x="795528" y="2029968"/>
            <a:ext cx="987552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Alıştırmalar — 10 tam çözüm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804672" y="3904488"/>
            <a:ext cx="9144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D5E1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Kitapta geçen her alıştırmayı örnekli ve adım adım çözeceğiz.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04672" y="628192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BÖLÜM 19  •  BÖLÜM SONU SORULARI</a:t>
            </a:r>
            <a:endParaRPr lang="en-US" sz="12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19.16  /  BÖLÜM SONU SORULARI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Alıştırma 1 — Kayıp matrisi ve karar eşiği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1179576"/>
            <a:ext cx="10744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19.16  •  Çözümlü uygulama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86384" y="1828800"/>
            <a:ext cx="10634472" cy="667512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938528"/>
            <a:ext cx="10195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λ₁₁=λ₂₂=0; λ₂₁=1; λ₁₂=α. Karar eşiğini bulun.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68680" y="2743200"/>
            <a:ext cx="10460736" cy="52120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8209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17904" y="2811780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R(C₁|x)=αP(C₂|x).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68680" y="3310128"/>
            <a:ext cx="10460736" cy="521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33878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17904" y="3378708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R(C₂|x)=P(C₁|x).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868680" y="3877056"/>
            <a:ext cx="10460736" cy="52120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9848" y="39547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17904" y="3945636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C₁ için α[1−P(C₁|x)]&lt;P(C₁|x).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868680" y="4443984"/>
            <a:ext cx="10460736" cy="521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9848" y="45217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17904" y="4512564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Çöz: P(C₁|x)&gt;α/(1+α).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768096" y="5102352"/>
            <a:ext cx="10652760" cy="420624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" y="5102352"/>
            <a:ext cx="50292" cy="420624"/>
          </a:xfrm>
          <a:prstGeom prst="rect">
            <a:avLst/>
          </a:prstGeom>
          <a:solidFill>
            <a:srgbClr val="E69A32"/>
          </a:solidFill>
          <a:ln w="12700">
            <a:solidFill>
              <a:srgbClr val="E69A3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" y="5148072"/>
            <a:ext cx="10296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α=4 ise eşik 4/5=0,8; eşik maliyetle birlikte değişir.</a:t>
            </a:r>
            <a:endParaRPr lang="en-US" sz="12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19.16  /  BÖLÜM SONU SORULARI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Alıştırma 2 — Bernoulli simülasyonu: amaç ve deney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1179576"/>
            <a:ext cx="10744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19.16  •  Çözümlü uygulama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86384" y="1828800"/>
            <a:ext cx="10634472" cy="667512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938528"/>
            <a:ext cx="10195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Hata olasılığı p: xᵢ=1 hata; xᵢ=0 doğru. Üç testi en az 1.000 kez tekrarla.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68680" y="2743200"/>
            <a:ext cx="10460736" cy="52120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8209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17904" y="2811780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H₀:p≤p₀; H₁:p&gt;p₀.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68680" y="3310128"/>
            <a:ext cx="10460736" cy="521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33878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17904" y="3378708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çalıştırmada xᵢ~Bernoulli(p) örnekleri üret.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868680" y="3877056"/>
            <a:ext cx="10460736" cy="52120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9848" y="39547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17904" y="3945636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Binom için P(X≥e); normal için Z; t için K hata oranı.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868680" y="4443984"/>
            <a:ext cx="10460736" cy="521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9848" y="45217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17904" y="4512564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Gerçek p değiştir ve H₀ reddetme yüzdesini raporla.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768096" y="5102352"/>
            <a:ext cx="10652760" cy="420624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" y="5102352"/>
            <a:ext cx="50292" cy="420624"/>
          </a:xfrm>
          <a:prstGeom prst="rect">
            <a:avLst/>
          </a:prstGeom>
          <a:solidFill>
            <a:srgbClr val="E69A32"/>
          </a:solidFill>
          <a:ln w="12700">
            <a:solidFill>
              <a:srgbClr val="E69A3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" y="5148072"/>
            <a:ext cx="10296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p=p₀ ve α=0,05 iken nominal Tip I reddetme sıklığı yaklaşık %5 beklenir.</a:t>
            </a:r>
            <a:endParaRPr lang="en-US" sz="12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19.16  /  BÖLÜM SONU SORULARI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Alıştırma 2 — Simülasyon sonucu örneği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86384" y="1828800"/>
            <a:ext cx="2286000" cy="566928"/>
          </a:xfrm>
          <a:prstGeom prst="rect">
            <a:avLst/>
          </a:prstGeom>
          <a:solidFill>
            <a:srgbClr val="13233D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883664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Gerçek p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072384" y="1828800"/>
            <a:ext cx="2770632" cy="566928"/>
          </a:xfrm>
          <a:prstGeom prst="rect">
            <a:avLst/>
          </a:prstGeom>
          <a:solidFill>
            <a:srgbClr val="13233D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91256" y="1883664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Binom test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843016" y="1828800"/>
            <a:ext cx="2816352" cy="566928"/>
          </a:xfrm>
          <a:prstGeom prst="rect">
            <a:avLst/>
          </a:prstGeom>
          <a:solidFill>
            <a:srgbClr val="13233D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61888" y="1883664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Yaklaşık normal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659368" y="1828800"/>
            <a:ext cx="2743200" cy="566928"/>
          </a:xfrm>
          <a:prstGeom prst="rect">
            <a:avLst/>
          </a:prstGeom>
          <a:solidFill>
            <a:srgbClr val="13233D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0" y="188366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 testi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86384" y="2395728"/>
            <a:ext cx="2286000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" y="245059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0,05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072384" y="2395728"/>
            <a:ext cx="2770632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91256" y="2450592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%0,0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43016" y="2395728"/>
            <a:ext cx="2816352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61888" y="2450592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%0,0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659368" y="2395728"/>
            <a:ext cx="2743200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78240" y="24505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%0,0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86384" y="2962656"/>
            <a:ext cx="2286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5256" y="3017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0,10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072384" y="2962656"/>
            <a:ext cx="277063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91256" y="301752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%4,5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843016" y="2962656"/>
            <a:ext cx="28163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61888" y="3017520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%7,7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659368" y="2962656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78240" y="30175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%5,3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86384" y="3529584"/>
            <a:ext cx="2286000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5256" y="35844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0,15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072384" y="3529584"/>
            <a:ext cx="2770632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91256" y="358444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%45,2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43016" y="3529584"/>
            <a:ext cx="2816352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61888" y="3584448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%55,3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659368" y="3529584"/>
            <a:ext cx="2743200" cy="566928"/>
          </a:xfrm>
          <a:prstGeom prst="rect">
            <a:avLst/>
          </a:prstGeom>
          <a:solidFill>
            <a:srgbClr val="F6F8FC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78240" y="35844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%99,4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86384" y="4096512"/>
            <a:ext cx="2286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5256" y="415137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0,20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072384" y="4096512"/>
            <a:ext cx="277063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91256" y="4151376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%87,9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843016" y="4096512"/>
            <a:ext cx="28163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61888" y="4151376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%92,7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659368" y="4096512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778240" y="415137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%100,0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68096" y="5943600"/>
            <a:ext cx="10652760" cy="429768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8096" y="5943600"/>
            <a:ext cx="50292" cy="429768"/>
          </a:xfrm>
          <a:prstGeom prst="rect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9264" y="5989320"/>
            <a:ext cx="102961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Örnek simülasyon düzeni: binom/normal ilk N=100 örnekle; t testi K=10 bağımsız grubun toplam 1.000 örneğiyle. Veri bütçesi eşit değildir.</a:t>
            </a:r>
            <a:endParaRPr lang="en-US" sz="12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19.16  /  BÖLÜM SONU SORULARI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Alıştırma 3 — Sol taraflı Z testi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1179576"/>
            <a:ext cx="10744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19.16  •  Çözümlü uygulama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86384" y="1828800"/>
            <a:ext cx="10634472" cy="667512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938528"/>
            <a:ext cx="10195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x~N(μ,σ²), σ² biliniyor. H₀:μ≥μ₀; H₁:μ&lt;μ₀.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68680" y="2743200"/>
            <a:ext cx="10460736" cy="52120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8209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17904" y="2811780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z=√N(m−μ₀)/σ.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68680" y="3310128"/>
            <a:ext cx="10460736" cy="521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33878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17904" y="3378708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 bölgesi: z&lt;−zα.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868680" y="3877056"/>
            <a:ext cx="10460736" cy="52120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9848" y="39547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17904" y="3945636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Örnek: μ₀=0,10; m=0,07; σ=0,06; N=25.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868680" y="4443984"/>
            <a:ext cx="10460736" cy="521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9848" y="45217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17904" y="4512564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SE=0,06/5=0,012; z=−0,03/0,012=−2,5.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768096" y="5102352"/>
            <a:ext cx="10652760" cy="420624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" y="5102352"/>
            <a:ext cx="50292" cy="420624"/>
          </a:xfrm>
          <a:prstGeom prst="rect">
            <a:avLst/>
          </a:prstGeom>
          <a:solidFill>
            <a:srgbClr val="E69A32"/>
          </a:solidFill>
          <a:ln w="12700">
            <a:solidFill>
              <a:srgbClr val="E69A3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" y="5148072"/>
            <a:ext cx="10296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−2,5&lt;−1,645 → α=%5 düzeyinde H₀ reddedilir.</a:t>
            </a:r>
            <a:endParaRPr lang="en-US" sz="12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19.16  /  BÖLÜM SONU SORULARI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Alıştırma 4 — Daha düşük hata yönünü nasıl test ederiz?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1179576"/>
            <a:ext cx="10744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19.16  •  Çözümlü uygulama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86384" y="1828800"/>
            <a:ext cx="10634472" cy="667512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938528"/>
            <a:ext cx="10195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d=ErrorA−ErrorB olarak tanımlansın.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68680" y="2743200"/>
            <a:ext cx="10460736" cy="52120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8209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17904" y="2811780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d&lt;0 → A daha az hata yapıyor.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68680" y="3310128"/>
            <a:ext cx="10460736" cy="521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33878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17904" y="3378708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daha iyi iddiası: H₀:μd≥0, H₁:μd&lt;0.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868680" y="3877056"/>
            <a:ext cx="10460736" cy="52120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9848" y="39547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17904" y="3945636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Örn. farklar −3,−3,−4,−2,−3 → ortalama −3.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868680" y="4443984"/>
            <a:ext cx="10460736" cy="521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9848" y="45217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17904" y="4512564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S=√0,5≈0,707; t=√5(−3)/0,707≈−9,49.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768096" y="5102352"/>
            <a:ext cx="10652760" cy="420624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" y="5102352"/>
            <a:ext cx="50292" cy="420624"/>
          </a:xfrm>
          <a:prstGeom prst="rect">
            <a:avLst/>
          </a:prstGeom>
          <a:solidFill>
            <a:srgbClr val="E69A32"/>
          </a:solidFill>
          <a:ln w="12700">
            <a:solidFill>
              <a:srgbClr val="E69A3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" y="5148072"/>
            <a:ext cx="10296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Kitabın H₀:μ≤0 vs H₁:μ&gt;0 ipucu, A’nın daha kötü olduğu yönünü test eder.</a:t>
            </a:r>
            <a:endParaRPr lang="en-US" sz="12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19.16  /  BÖLÜM SONU SORULARI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Alıştırma 5 — SSₜ=SSᵦ+SS𝓌 ispatı — 1/2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1179576"/>
            <a:ext cx="10744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19.16  •  Çözümlü uygulama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86384" y="1828800"/>
            <a:ext cx="10634472" cy="667512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938528"/>
            <a:ext cx="10195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Toplam kareler toplamını grup ortalaması ekleyip çıkararak yaz.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68680" y="2743200"/>
            <a:ext cx="10460736" cy="52120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8209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17904" y="2811780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SSₜ=ΣⱼΣᵢ(Xᵢⱼ−m)².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68680" y="3310128"/>
            <a:ext cx="10460736" cy="521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33878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17904" y="3378708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Xᵢⱼ−m=(Xᵢⱼ−mⱼ)+(mⱼ−m).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868680" y="3877056"/>
            <a:ext cx="10460736" cy="52120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9848" y="39547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17904" y="3945636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(a+b)²=a²+2ab+b² ile aç.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868680" y="4443984"/>
            <a:ext cx="10460736" cy="521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9848" y="45217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17904" y="4512564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Birinci terim SS𝓌; üçüncü terim SSᵦ olacaktır.</a:t>
            </a:r>
            <a:endParaRPr lang="en-US" sz="165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19.16  /  BÖLÜM SONU SORULARI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Alıştırma 5 — SSₜ=SSᵦ+SS𝓌 ispatı — 2/2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1179576"/>
            <a:ext cx="10744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19.16  •  Çözümlü uygulama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86384" y="1828800"/>
            <a:ext cx="10634472" cy="667512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938528"/>
            <a:ext cx="10195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Ortadaki çapraz terimin sıfır olduğunu göster.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68680" y="2743200"/>
            <a:ext cx="10460736" cy="52120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8209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17904" y="2811780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Σᵢ(Xᵢⱼ−mⱼ)=ΣᵢXᵢⱼ−Kmⱼ=0.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68680" y="3310128"/>
            <a:ext cx="10460736" cy="521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33878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17904" y="3378708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 nedenle 2Σⱼ(mⱼ−m)Σᵢ(Xᵢⱼ−mⱼ)=0.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868680" y="3877056"/>
            <a:ext cx="10460736" cy="52120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9848" y="39547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17904" y="3945636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Σᵢ(mⱼ−m)²=K(mⱼ−m)².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868680" y="4443984"/>
            <a:ext cx="10460736" cy="521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9848" y="45217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17904" y="4512564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Toplam: SSₜ = SS𝓌 + 0 + SSᵦ.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768096" y="5102352"/>
            <a:ext cx="10652760" cy="420624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" y="5102352"/>
            <a:ext cx="50292" cy="420624"/>
          </a:xfrm>
          <a:prstGeom prst="rect">
            <a:avLst/>
          </a:prstGeom>
          <a:solidFill>
            <a:srgbClr val="E69A32"/>
          </a:solidFill>
          <a:ln w="12700">
            <a:solidFill>
              <a:srgbClr val="E69A3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" y="5148072"/>
            <a:ext cx="10296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İspat tamamlandı: Toplam değişkenlik = grup içi + gruplar arası.</a:t>
            </a:r>
            <a:endParaRPr lang="en-US" sz="12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19.16  /  BÖLÜM SONU SORULARI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Alıştırma 6 — Sign Test için normal yaklaşım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1179576"/>
            <a:ext cx="10744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19.16  •  Çözümlü uygulama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86384" y="1828800"/>
            <a:ext cx="10634472" cy="667512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938528"/>
            <a:ext cx="10195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H₀ altında kazanma olasılığı p=0,5. N veri kümesinde kazanma sayısı X.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68680" y="2743200"/>
            <a:ext cx="10460736" cy="52120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8209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17904" y="2811780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Binom ortalaması μ=Np=N/2.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68680" y="3310128"/>
            <a:ext cx="10460736" cy="521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33878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17904" y="3378708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Varyans σ²=Np(1−p)=N/4.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868680" y="3877056"/>
            <a:ext cx="10460736" cy="52120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9848" y="39547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17904" y="3945636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Z=(X−N/2)/√(N/4).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868680" y="4443984"/>
            <a:ext cx="10460736" cy="521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9848" y="45217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17904" y="4512564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Süreklilik düzeltmesiyle P(X≥e)≈P[Z≥(e−0,5−N/2)/√(N/4)].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768096" y="5102352"/>
            <a:ext cx="10652760" cy="420624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" y="5102352"/>
            <a:ext cx="50292" cy="420624"/>
          </a:xfrm>
          <a:prstGeom prst="rect">
            <a:avLst/>
          </a:prstGeom>
          <a:solidFill>
            <a:srgbClr val="E69A32"/>
          </a:solidFill>
          <a:ln w="12700">
            <a:solidFill>
              <a:srgbClr val="E69A3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" y="5148072"/>
            <a:ext cx="10296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Kaynakta olasılık eşitsizliğinin yönünde hata vardır: Red için ilgili kuyruk p&lt;α gerekir.</a:t>
            </a:r>
            <a:endParaRPr lang="en-US" sz="12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19.16  /  BÖLÜM SONU SORULARI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Alıştırma 6 — Normal yaklaşım: sayısal kontrol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1179576"/>
            <a:ext cx="10744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19.16  •  Çözümlü uygulama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86384" y="1828800"/>
            <a:ext cx="10634472" cy="667512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938528"/>
            <a:ext cx="10195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N=100 veri kümesinde A 60 kez, B 40 kez kazansın.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68680" y="2743200"/>
            <a:ext cx="10460736" cy="52120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8209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17904" y="2811780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μ=100/2=50; σ=√(100/4)=5.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68680" y="3310128"/>
            <a:ext cx="10460736" cy="521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33878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17904" y="3378708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Sağ taraflı z=(59,5−50)/5=1,90.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868680" y="3877056"/>
            <a:ext cx="10460736" cy="52120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9848" y="39547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17904" y="3945636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P(Z≥1,90)≈0,0287; tam Binom ≈0,0284.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868680" y="4443984"/>
            <a:ext cx="10460736" cy="521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9848" y="45217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17904" y="4512564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İki taraflı yaklaşık/tam p≈0,0569.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768096" y="5102352"/>
            <a:ext cx="10652760" cy="420624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" y="5102352"/>
            <a:ext cx="50292" cy="420624"/>
          </a:xfrm>
          <a:prstGeom prst="rect">
            <a:avLst/>
          </a:prstGeom>
          <a:solidFill>
            <a:srgbClr val="E69A32"/>
          </a:solidFill>
          <a:ln w="12700">
            <a:solidFill>
              <a:srgbClr val="E69A3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" y="5148072"/>
            <a:ext cx="10296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Tek taraflı H₀ reddedilir; çift taraflı %5 düzeyinde reddedilemez.</a:t>
            </a:r>
            <a:endParaRPr lang="en-US" sz="12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19.16  /  BÖLÜM SONU SORULARI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Alıştırma 7 — Üç algoritmayı sırala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1179576"/>
            <a:ext cx="10744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19.16  •  Çözümlü uygulama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86384" y="1828800"/>
            <a:ext cx="10634472" cy="667512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938528"/>
            <a:ext cx="10195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A, B, C’yi ortak veri kümelerinde değerlendir ve sıraları hesapla.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68680" y="2743200"/>
            <a:ext cx="10460736" cy="52120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8209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17904" y="2811780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veri kümesinde küçük hataya sıra 1 ver.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68680" y="3310128"/>
            <a:ext cx="10460736" cy="521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33878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17904" y="3378708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Örn. 5 veri kümesinde A sıraları:1,2,1,2,1 → ortalama 1,4.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868680" y="3877056"/>
            <a:ext cx="10460736" cy="52120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9848" y="39547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17904" y="3945636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B:2,1,2,1,2 → ortalama 1,6; C:3,3,3,3,3 → 3,0.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868680" y="4443984"/>
            <a:ext cx="10460736" cy="521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9848" y="45217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17904" y="4512564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Uygun Friedman + post hoc ile farkları değerlendir.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768096" y="5102352"/>
            <a:ext cx="10652760" cy="420624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" y="5102352"/>
            <a:ext cx="50292" cy="420624"/>
          </a:xfrm>
          <a:prstGeom prst="rect">
            <a:avLst/>
          </a:prstGeom>
          <a:solidFill>
            <a:srgbClr val="E69A32"/>
          </a:solidFill>
          <a:ln w="12700">
            <a:solidFill>
              <a:srgbClr val="E69A3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" y="5148072"/>
            <a:ext cx="10296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Gözlenen sıra A, B, C; A-B ayrımı istatistiksel kanıt gerektirir.</a:t>
            </a:r>
            <a:endParaRPr lang="en-US" sz="12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19.16  /  BÖLÜM SONU SORULARI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Alıştırma 8 — 2 A sürümü ile 3 B sürümü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1179576"/>
            <a:ext cx="10744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19.16  •  Çözümlü uygulama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86384" y="1828800"/>
            <a:ext cx="10634472" cy="667512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938528"/>
            <a:ext cx="10195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A₁,A₂ ve B₁,B₂,B₃ ailelerinin genel doğruluklarını karşılaştır.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68680" y="2743200"/>
            <a:ext cx="10460736" cy="52120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8209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17904" y="2811780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sürümleri: %90,%86 → Ā=%88.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68680" y="3310128"/>
            <a:ext cx="10460736" cy="521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33878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17904" y="3378708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 sürümleri: %89,%85,%87 → B̄=%87.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868680" y="3877056"/>
            <a:ext cx="10460736" cy="52120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9848" y="39547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17904" y="3945636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Kontrast C=(A₁+A₂)/2−(B₁+B₂+B₃)/3.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868680" y="4443984"/>
            <a:ext cx="10460736" cy="521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9848" y="45217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17904" y="4512564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Gözlenen C=88−87=+1 yüzde puanı.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768096" y="5102352"/>
            <a:ext cx="10652760" cy="420624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" y="5102352"/>
            <a:ext cx="50292" cy="420624"/>
          </a:xfrm>
          <a:prstGeom prst="rect">
            <a:avLst/>
          </a:prstGeom>
          <a:solidFill>
            <a:srgbClr val="E69A32"/>
          </a:solidFill>
          <a:ln w="12700">
            <a:solidFill>
              <a:srgbClr val="E69A3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" y="5148072"/>
            <a:ext cx="10296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Kontrast katsayıları toplamı sıfırdır; istatistiksel fark için kontrast testi gerekir.</a:t>
            </a:r>
            <a:endParaRPr lang="en-US" sz="12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19.16  /  BÖLÜM SONU SORULARI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Alıştırma 9 — İki regresyon algoritması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1179576"/>
            <a:ext cx="10744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19.16  •  Çözümlü uygulama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86384" y="1828800"/>
            <a:ext cx="10634472" cy="667512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938528"/>
            <a:ext cx="10195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İki regresyon modelinin hata karelerini nasıl kıyaslarız?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68680" y="2743200"/>
            <a:ext cx="10460736" cy="52120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8209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17904" y="2811780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MSE=(1/N)Σ(yᵢ−ŷᵢ)².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68680" y="3310128"/>
            <a:ext cx="10460736" cy="521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33878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17904" y="3378708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Kaynak yanıtı: uygun koşullarda hata varyansları için F testi.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868680" y="3877056"/>
            <a:ext cx="10460736" cy="52120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9848" y="39547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17904" y="3945636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Aynı test örneklerinde hatalar eşleştirilmiş olabilir.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868680" y="4443984"/>
            <a:ext cx="10460736" cy="521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9848" y="45217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17904" y="4512564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dᵢ=(yᵢ−ŷAᵢ)²−(yᵢ−ŷBᵢ)² farkları ile uygun paired test.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768096" y="5102352"/>
            <a:ext cx="10652760" cy="420624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" y="5102352"/>
            <a:ext cx="50292" cy="420624"/>
          </a:xfrm>
          <a:prstGeom prst="rect">
            <a:avLst/>
          </a:prstGeom>
          <a:solidFill>
            <a:srgbClr val="E69A32"/>
          </a:solidFill>
          <a:ln w="12700">
            <a:solidFill>
              <a:srgbClr val="E69A3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" y="5148072"/>
            <a:ext cx="10296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MSE oranı otomatik olarak F dağılımlı değildir; test varsayımlarını kontrol et.</a:t>
            </a:r>
            <a:endParaRPr lang="en-US" sz="12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19.16  /  BÖLÜM SONU SORULARI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Alıştırma 10 — İki pekiştirmeli öğrenme algoritması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1179576"/>
            <a:ext cx="10744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19.16  •  Çözümlü uygulama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86384" y="1828800"/>
            <a:ext cx="10634472" cy="667512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938528"/>
            <a:ext cx="10195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Beklenen ödüller J_A ve J_B nasıl istatistiksel karşılaştırılır?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68680" y="2743200"/>
            <a:ext cx="10460736" cy="52120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8209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17904" y="2811780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eğitim koşusu için bölüm toplam ödülü G=Σγᵗrₜ.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68680" y="3310128"/>
            <a:ext cx="10460736" cy="521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33878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17904" y="3378708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H₀:J_A=J_B; H₁:J_A≠J_B.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868680" y="3877056"/>
            <a:ext cx="10460736" cy="52120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9848" y="39547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17904" y="3945636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Eşleştirilmiş bağımsız koşularda dᵢ=G_Aᵢ−G_Bᵢ.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868680" y="4443984"/>
            <a:ext cx="10460736" cy="521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9848" y="45217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17904" y="4512564"/>
            <a:ext cx="9555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 farklar için paired t; değilse permütasyon / bootstrap.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768096" y="5102352"/>
            <a:ext cx="10652760" cy="420624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" y="5102352"/>
            <a:ext cx="50292" cy="420624"/>
          </a:xfrm>
          <a:prstGeom prst="rect">
            <a:avLst/>
          </a:prstGeom>
          <a:solidFill>
            <a:srgbClr val="E69A32"/>
          </a:solidFill>
          <a:ln w="12700">
            <a:solidFill>
              <a:srgbClr val="E69A3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" y="5148072"/>
            <a:ext cx="10296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Aynı koşudaki ardışık zaman adımlarını bağımsız deney sayma.</a:t>
            </a:r>
            <a:endParaRPr lang="en-US" sz="12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19.16  /  BÖLÜM SONU SORULARI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Alıştırma 10 — Ödül farkıyla t testi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86384" y="1828800"/>
            <a:ext cx="10643616" cy="694944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38528"/>
            <a:ext cx="10204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A−B ödül farkları: 10,20,5,15,15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41248" y="2734056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2871216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2898648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08760" y="2802636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Ortalama = (10+20+5+15+15)/5=13.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41248" y="3355848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" y="3493008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3520440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3424428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Sapma kareleri: 9+49+64+4+4=130.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41248" y="3977640"/>
            <a:ext cx="10533888" cy="557784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" y="4114800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4142232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08760" y="4046220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S=√(130/4)=√32,5≈5,701.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41248" y="4599432"/>
            <a:ext cx="10533888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4128" y="4736592"/>
            <a:ext cx="283464" cy="283464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" y="4764024"/>
            <a:ext cx="265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08760" y="4668012"/>
            <a:ext cx="9555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t=√5×13/5,701≈5,10; kritik (df=4)≈2,776.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32104" y="5276088"/>
            <a:ext cx="10515600" cy="521208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5321808"/>
            <a:ext cx="10049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SONUÇ   Varsayımlar altında anlamlı fark; gözlenen ödül farkı A lehine.</a:t>
            </a:r>
            <a:endParaRPr lang="en-US" sz="17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13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0"/>
            <a:ext cx="2770632" cy="6858000"/>
          </a:xfrm>
          <a:prstGeom prst="rect">
            <a:avLst/>
          </a:prstGeom>
          <a:solidFill>
            <a:srgbClr val="0C1830"/>
          </a:solidFill>
          <a:ln w="12700">
            <a:solidFill>
              <a:srgbClr val="0C183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1600200"/>
            <a:ext cx="3383280" cy="3383280"/>
          </a:xfrm>
          <a:prstGeom prst="ellipse">
            <a:avLst/>
          </a:prstGeom>
          <a:solidFill>
            <a:srgbClr val="13233D">
              <a:alpha val="0"/>
            </a:srgbClr>
          </a:solidFill>
          <a:ln w="38100">
            <a:solidFill>
              <a:srgbClr val="159D91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68580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</a:t>
            </a:r>
            <a:endParaRPr lang="en-US" sz="6500" dirty="0"/>
          </a:p>
        </p:txBody>
      </p:sp>
      <p:sp>
        <p:nvSpPr>
          <p:cNvPr id="6" name="Text 4"/>
          <p:cNvSpPr/>
          <p:nvPr/>
        </p:nvSpPr>
        <p:spPr>
          <a:xfrm>
            <a:off x="795528" y="2029968"/>
            <a:ext cx="987552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Hızlı tekrar ve test seçimi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804672" y="3904488"/>
            <a:ext cx="9144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D5E1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Deney sorusu → veri düzeni → performans metriği → uygun istatistik → yorum.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04672" y="628192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BÖLÜM 19  •  ÖĞRENCI ÖZETI</a:t>
            </a:r>
            <a:endParaRPr lang="en-US" sz="12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SON  /  ÖĞRENCI ÖZETI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Karar rehberi — 4 soruda uygun yöntemi seç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68096" y="1856232"/>
            <a:ext cx="5248656" cy="194310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066544"/>
            <a:ext cx="48097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 Ne ölçüyorum?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87552" y="2670048"/>
            <a:ext cx="4809744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Hata sayısı mı, oran mı, regresyon MSE’si mi, FP–FN vektörü mü?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199632" y="1856232"/>
            <a:ext cx="5248656" cy="1943100"/>
          </a:xfrm>
          <a:prstGeom prst="roundRect">
            <a:avLst/>
          </a:prstGeom>
          <a:solidFill>
            <a:srgbClr val="E8F6F1"/>
          </a:solidFill>
          <a:ln w="12700">
            <a:solidFill>
              <a:srgbClr val="E8F6F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2066544"/>
            <a:ext cx="48097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 Kaç algoritma var?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19088" y="2670048"/>
            <a:ext cx="4809744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Tek model / iki model / birden çok model birbirinden farklı deneylerdir.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68096" y="3982212"/>
            <a:ext cx="5248656" cy="1943100"/>
          </a:xfrm>
          <a:prstGeom prst="roundRect">
            <a:avLst/>
          </a:prstGeom>
          <a:solidFill>
            <a:srgbClr val="FFF3E4"/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4192524"/>
            <a:ext cx="48097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 Veri düzeni nasıl?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87552" y="4796028"/>
            <a:ext cx="4809744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Tek test seti; K-Fold; aynı veri kümelerinde eşleştirilmiş sonuç; bağımsız gruplar.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199632" y="3982212"/>
            <a:ext cx="5248656" cy="19431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9088" y="4192524"/>
            <a:ext cx="48097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 Varsayımlar uygun mu?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419088" y="4796028"/>
            <a:ext cx="4809744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 dağılım, bağımsızlık, varyans eşitliği ve çoklu karşılaştırma düzeltmesini kontrol et.</a:t>
            </a:r>
            <a:endParaRPr lang="en-US" sz="17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3233D"/>
          </a:solidFill>
          <a:ln w="12700">
            <a:solidFill>
              <a:srgbClr val="13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31089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  /  SON  /  ÖĞRENCI ÖZETI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" y="612648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Öğrencilerin aklında kalsın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1591056"/>
            <a:ext cx="10853928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4190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 Alpaydın (2014)  •  Makine Öğrenmesi Deneyleri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91088" y="6400800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26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04672" y="1828800"/>
            <a:ext cx="10515600" cy="61264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039112"/>
            <a:ext cx="173736" cy="173736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16736" y="1920240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16736" y="2194560"/>
            <a:ext cx="9765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Eğitim başarısı gerçek dünya başarısı değildir; son test kümesi ayrı kalır.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04672" y="2624328"/>
            <a:ext cx="1051560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2834640"/>
            <a:ext cx="173736" cy="173736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16736" y="2715768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16736" y="2990088"/>
            <a:ext cx="9765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Randomization + Replication + Blocking güvenilir deneyin temelidir.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804672" y="3419856"/>
            <a:ext cx="10515600" cy="61264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3630168"/>
            <a:ext cx="173736" cy="173736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16736" y="3511296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16736" y="3785616"/>
            <a:ext cx="9765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 tek başına yeterli değildir; hata türleri, belirsizlik ve maliyet önemlidir.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804672" y="4215384"/>
            <a:ext cx="1051560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4425696"/>
            <a:ext cx="173736" cy="173736"/>
          </a:xfrm>
          <a:prstGeom prst="ellipse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16736" y="4306824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16736" y="4581144"/>
            <a:ext cx="9765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p&lt;α, sıfır hipotezine karşı kanıttır; “kesin kanıt” anlamına gelmez.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804672" y="5010912"/>
            <a:ext cx="10515600" cy="61264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" y="5221224"/>
            <a:ext cx="173736" cy="173736"/>
          </a:xfrm>
          <a:prstGeom prst="ellipse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16736" y="5102352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16736" y="5376672"/>
            <a:ext cx="9765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İstatistiksel olarak ayırt edilemeyen modellerde basitlik, hız ve yorumlanabilirlik karar verebilir.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768096" y="5815584"/>
            <a:ext cx="10652760" cy="475488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8096" y="5815584"/>
            <a:ext cx="50292" cy="475488"/>
          </a:xfrm>
          <a:prstGeom prst="rect">
            <a:avLst/>
          </a:prstGeom>
          <a:solidFill>
            <a:srgbClr val="236ABC"/>
          </a:solidFill>
          <a:ln w="12700">
            <a:solidFill>
              <a:srgbClr val="236ABC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9264" y="5861304"/>
            <a:ext cx="10296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828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Bölüm 19’un temel mesajı: “En iyi model” iddiası, iyi tasarlanmış ve doğru yorumlanmış deneyle desteklenmelidir.</a:t>
            </a:r>
            <a:endParaRPr lang="en-US" sz="12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13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9D91"/>
          </a:solidFill>
          <a:ln w="12700">
            <a:solidFill>
              <a:srgbClr val="15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10241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ÜNİTE 19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68096" y="1837944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Ders Sonu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32104" y="30175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D9E5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Makine Öğrenmesi Deneylerinin Tasarımı ve Analizi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32104" y="417880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59D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19.1–19.16  •  Konu anlatımı + 10 çözümlü alıştırma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2104" y="6099048"/>
            <a:ext cx="10058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B8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Kaynak: Ethem Alpaydın (2014), Introduction to Machine Learning, 19. Bölüm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150</Slides>
  <Notes>150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150</vt:i4>
      </vt:variant>
    </vt:vector>
  </HeadingPairs>
  <TitlesOfParts>
    <vt:vector size="1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Makine Öğrenmesi Deneylerinin Tasarımı ve Analizi — Türkçe Ders Slaytları</dc:title>
  <dc:subject>Ünite 19: Makine Öğrenmesi Deneylerinin Tasarımı ve Analizi</dc:subject>
  <dc:creator>Türkçe Ders Materyali</dc:creator>
  <cp:lastModifiedBy>Türkçe Ders Materyali</cp:lastModifiedBy>
  <cp:revision>1</cp:revision>
  <dcterms:created xsi:type="dcterms:W3CDTF">2026-10-10T11:28:27Z</dcterms:created>
  <dcterms:modified xsi:type="dcterms:W3CDTF">2026-10-10T11:28:27Z</dcterms:modified>
</cp:coreProperties>
</file>