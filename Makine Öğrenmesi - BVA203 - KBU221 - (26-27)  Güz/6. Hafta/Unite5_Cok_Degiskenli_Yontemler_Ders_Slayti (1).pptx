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</p:sldIdLst>
  <p:notesMasterIdLst>
    <p:notesMasterId r:id="rId1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notesMaster" Target="notesMasters/notesMaster1.xml"/><Relationship Id="rId112" Type="http://schemas.openxmlformats.org/officeDocument/2006/relationships/presProps" Target="presProps.xml"/><Relationship Id="rId113" Type="http://schemas.openxmlformats.org/officeDocument/2006/relationships/viewProps" Target="viewProps.xml"/><Relationship Id="rId114" Type="http://schemas.openxmlformats.org/officeDocument/2006/relationships/theme" Target="theme/theme1.xml"/><Relationship Id="rId1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28B50"/>
          </a:solidFill>
          <a:ln w="12700">
            <a:solidFill>
              <a:srgbClr val="D28B5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585216"/>
            <a:ext cx="91440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A7DE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· KAPSAMLI DERS SUNUMU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822960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ÜNİTE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85800" y="2057400"/>
            <a:ext cx="914400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Çok Değişkenli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Yöntemler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722376" y="4105656"/>
            <a:ext cx="6693408" cy="685800"/>
          </a:xfrm>
          <a:prstGeom prst="roundRect">
            <a:avLst>
              <a:gd name="adj" fmla="val 13333"/>
            </a:avLst>
          </a:prstGeom>
          <a:solidFill>
            <a:srgbClr val="193B4C"/>
          </a:solidFill>
          <a:ln w="12700">
            <a:solidFill>
              <a:srgbClr val="193B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4270248"/>
            <a:ext cx="6236208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1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5.1–5.8   •   Temel kavramlar   •   Şekiller   •   Çözümlü örnekler</a:t>
            </a:r>
            <a:endParaRPr lang="en-US" sz="1710" dirty="0"/>
          </a:p>
        </p:txBody>
      </p:sp>
      <p:sp>
        <p:nvSpPr>
          <p:cNvPr id="8" name="Shape 6"/>
          <p:cNvSpPr/>
          <p:nvPr/>
        </p:nvSpPr>
        <p:spPr>
          <a:xfrm>
            <a:off x="8476488" y="1417320"/>
            <a:ext cx="3063240" cy="3063240"/>
          </a:xfrm>
          <a:prstGeom prst="ellipse">
            <a:avLst/>
          </a:prstGeom>
          <a:solidFill>
            <a:srgbClr val="11283D">
              <a:alpha val="0"/>
            </a:srgbClr>
          </a:solidFill>
          <a:ln w="26670">
            <a:solidFill>
              <a:srgbClr val="48B6A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69680" y="1819656"/>
            <a:ext cx="2258568" cy="2258568"/>
          </a:xfrm>
          <a:prstGeom prst="ellipse">
            <a:avLst/>
          </a:prstGeom>
          <a:solidFill>
            <a:srgbClr val="11283D">
              <a:alpha val="0"/>
            </a:srgbClr>
          </a:solidFill>
          <a:ln w="26670">
            <a:solidFill>
              <a:srgbClr val="79C6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44584" y="2194560"/>
            <a:ext cx="1508760" cy="1508760"/>
          </a:xfrm>
          <a:prstGeom prst="ellipse">
            <a:avLst/>
          </a:prstGeom>
          <a:solidFill>
            <a:srgbClr val="11283D">
              <a:alpha val="0"/>
            </a:srgbClr>
          </a:solidFill>
          <a:ln w="26670">
            <a:solidFill>
              <a:srgbClr val="B4DF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" y="6080760"/>
            <a:ext cx="100584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C0D6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Kaynak: Ethem Alpaydın (2014), Introduction to Machine Learning, Bölüm 5</a:t>
            </a:r>
            <a:endParaRPr lang="en-US" sz="11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GİRİŞ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ünitede neler öğreneceğiz?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KAVRAM VE AÇIKLAMA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1472184"/>
            <a:ext cx="10863072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80" b="1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Hedef: Birden fazla özelliği aynı modelde kullanabilmek.</a:t>
            </a:r>
            <a:endParaRPr lang="en-US" sz="1980" dirty="0"/>
          </a:p>
        </p:txBody>
      </p:sp>
      <p:sp>
        <p:nvSpPr>
          <p:cNvPr id="10" name="Shape 8"/>
          <p:cNvSpPr/>
          <p:nvPr/>
        </p:nvSpPr>
        <p:spPr>
          <a:xfrm>
            <a:off x="685800" y="2221992"/>
            <a:ext cx="10835640" cy="1033272"/>
          </a:xfrm>
          <a:prstGeom prst="roundRect">
            <a:avLst>
              <a:gd name="adj" fmla="val 8850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386584"/>
            <a:ext cx="1041501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2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İstatistiksel temel</a:t>
            </a:r>
            <a:endParaRPr lang="en-US" sz="1720" dirty="0"/>
          </a:p>
        </p:txBody>
      </p:sp>
      <p:sp>
        <p:nvSpPr>
          <p:cNvPr id="12" name="Text 10"/>
          <p:cNvSpPr/>
          <p:nvPr/>
        </p:nvSpPr>
        <p:spPr>
          <a:xfrm>
            <a:off x="896112" y="2880360"/>
            <a:ext cx="10415016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1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 matrisi • ortalama vektörü • varyans • kovaryans • korelasyon • eksik veriler</a:t>
            </a:r>
            <a:endParaRPr lang="en-US" sz="1710" dirty="0"/>
          </a:p>
        </p:txBody>
      </p:sp>
      <p:sp>
        <p:nvSpPr>
          <p:cNvPr id="13" name="Shape 11"/>
          <p:cNvSpPr/>
          <p:nvPr/>
        </p:nvSpPr>
        <p:spPr>
          <a:xfrm>
            <a:off x="685800" y="3401568"/>
            <a:ext cx="10835640" cy="1033272"/>
          </a:xfrm>
          <a:prstGeom prst="roundRect">
            <a:avLst>
              <a:gd name="adj" fmla="val 8850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566160"/>
            <a:ext cx="1041501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2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Olasılık ve sınıflandırma</a:t>
            </a:r>
            <a:endParaRPr lang="en-US" sz="1720" dirty="0"/>
          </a:p>
        </p:txBody>
      </p:sp>
      <p:sp>
        <p:nvSpPr>
          <p:cNvPr id="15" name="Text 13"/>
          <p:cNvSpPr/>
          <p:nvPr/>
        </p:nvSpPr>
        <p:spPr>
          <a:xfrm>
            <a:off x="896112" y="4059936"/>
            <a:ext cx="10415016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1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Çok değişkenli normal dağılım • Mahalanobis uzaklığı • QDA • LDA • Naive Bayes • RDA</a:t>
            </a:r>
            <a:endParaRPr lang="en-US" sz="1710" dirty="0"/>
          </a:p>
        </p:txBody>
      </p:sp>
      <p:sp>
        <p:nvSpPr>
          <p:cNvPr id="16" name="Shape 14"/>
          <p:cNvSpPr/>
          <p:nvPr/>
        </p:nvSpPr>
        <p:spPr>
          <a:xfrm>
            <a:off x="685800" y="4581144"/>
            <a:ext cx="10835640" cy="1033272"/>
          </a:xfrm>
          <a:prstGeom prst="roundRect">
            <a:avLst>
              <a:gd name="adj" fmla="val 8850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745736"/>
            <a:ext cx="1041501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2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Sayısal tahmin</a:t>
            </a:r>
            <a:endParaRPr lang="en-US" sz="1720" dirty="0"/>
          </a:p>
        </p:txBody>
      </p:sp>
      <p:sp>
        <p:nvSpPr>
          <p:cNvPr id="18" name="Text 16"/>
          <p:cNvSpPr/>
          <p:nvPr/>
        </p:nvSpPr>
        <p:spPr>
          <a:xfrm>
            <a:off x="896112" y="5239512"/>
            <a:ext cx="10415016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1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Çoklu doğrusal regresyon • hata fonksiyonu • normal denklemler • polinom ve taban fonksiyonları</a:t>
            </a:r>
            <a:endParaRPr lang="en-US" sz="1710" dirty="0"/>
          </a:p>
        </p:txBody>
      </p:sp>
      <p:sp>
        <p:nvSpPr>
          <p:cNvPr id="19" name="Shape 17"/>
          <p:cNvSpPr/>
          <p:nvPr/>
        </p:nvSpPr>
        <p:spPr>
          <a:xfrm>
            <a:off x="685800" y="5824728"/>
            <a:ext cx="10835640" cy="566928"/>
          </a:xfrm>
          <a:prstGeom prst="roundRect">
            <a:avLst>
              <a:gd name="adj" fmla="val 16129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934456"/>
            <a:ext cx="103784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3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 FİKİR  Öğrenme sırası: Veriyi tanı → dağılımı modelle → sınıflandır / tahmin et.</a:t>
            </a:r>
            <a:endParaRPr lang="en-US" sz="15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GİRİŞ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Ders boyunca kullanacağımız semboller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ÖZET TABLO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1554480"/>
            <a:ext cx="2103120" cy="493776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1645920"/>
            <a:ext cx="193852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Sembol</a:t>
            </a:r>
            <a:endParaRPr lang="en-US" sz="1430" dirty="0"/>
          </a:p>
        </p:txBody>
      </p:sp>
      <p:sp>
        <p:nvSpPr>
          <p:cNvPr id="11" name="Shape 9"/>
          <p:cNvSpPr/>
          <p:nvPr/>
        </p:nvSpPr>
        <p:spPr>
          <a:xfrm>
            <a:off x="2798064" y="1554480"/>
            <a:ext cx="4663440" cy="493776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9504" y="1645920"/>
            <a:ext cx="449884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Anlamı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7461504" y="1554480"/>
            <a:ext cx="4032504" cy="493776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52944" y="1645920"/>
            <a:ext cx="386791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Örnek</a:t>
            </a:r>
            <a:endParaRPr lang="en-US" sz="1430" dirty="0"/>
          </a:p>
        </p:txBody>
      </p:sp>
      <p:sp>
        <p:nvSpPr>
          <p:cNvPr id="15" name="Shape 13"/>
          <p:cNvSpPr/>
          <p:nvPr/>
        </p:nvSpPr>
        <p:spPr>
          <a:xfrm>
            <a:off x="694944" y="2048256"/>
            <a:ext cx="2103120" cy="502920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" y="2130552"/>
            <a:ext cx="1901952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1520" dirty="0"/>
          </a:p>
        </p:txBody>
      </p:sp>
      <p:sp>
        <p:nvSpPr>
          <p:cNvPr id="17" name="Shape 15"/>
          <p:cNvSpPr/>
          <p:nvPr/>
        </p:nvSpPr>
        <p:spPr>
          <a:xfrm>
            <a:off x="2798064" y="2048256"/>
            <a:ext cx="4663440" cy="502920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98648" y="2130552"/>
            <a:ext cx="4462272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Gözlem sayısı</a:t>
            </a:r>
            <a:endParaRPr lang="en-US" sz="1520" dirty="0"/>
          </a:p>
        </p:txBody>
      </p:sp>
      <p:sp>
        <p:nvSpPr>
          <p:cNvPr id="19" name="Shape 17"/>
          <p:cNvSpPr/>
          <p:nvPr/>
        </p:nvSpPr>
        <p:spPr>
          <a:xfrm>
            <a:off x="7461504" y="2048256"/>
            <a:ext cx="4032504" cy="502920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62088" y="2130552"/>
            <a:ext cx="3831336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= 4 öğrenci</a:t>
            </a:r>
            <a:endParaRPr lang="en-US" sz="1520" dirty="0"/>
          </a:p>
        </p:txBody>
      </p:sp>
      <p:sp>
        <p:nvSpPr>
          <p:cNvPr id="21" name="Shape 19"/>
          <p:cNvSpPr/>
          <p:nvPr/>
        </p:nvSpPr>
        <p:spPr>
          <a:xfrm>
            <a:off x="694944" y="2551176"/>
            <a:ext cx="2103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" y="2633472"/>
            <a:ext cx="1901952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520" dirty="0"/>
          </a:p>
        </p:txBody>
      </p:sp>
      <p:sp>
        <p:nvSpPr>
          <p:cNvPr id="23" name="Shape 21"/>
          <p:cNvSpPr/>
          <p:nvPr/>
        </p:nvSpPr>
        <p:spPr>
          <a:xfrm>
            <a:off x="2798064" y="2551176"/>
            <a:ext cx="4663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98648" y="2633472"/>
            <a:ext cx="4462272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Özellik sayısı</a:t>
            </a:r>
            <a:endParaRPr lang="en-US" sz="1520" dirty="0"/>
          </a:p>
        </p:txBody>
      </p:sp>
      <p:sp>
        <p:nvSpPr>
          <p:cNvPr id="25" name="Shape 23"/>
          <p:cNvSpPr/>
          <p:nvPr/>
        </p:nvSpPr>
        <p:spPr>
          <a:xfrm>
            <a:off x="7461504" y="2551176"/>
            <a:ext cx="403250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62088" y="2633472"/>
            <a:ext cx="3831336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 = 3 özellik</a:t>
            </a:r>
            <a:endParaRPr lang="en-US" sz="1520" dirty="0"/>
          </a:p>
        </p:txBody>
      </p:sp>
      <p:sp>
        <p:nvSpPr>
          <p:cNvPr id="27" name="Shape 25"/>
          <p:cNvSpPr/>
          <p:nvPr/>
        </p:nvSpPr>
        <p:spPr>
          <a:xfrm>
            <a:off x="694944" y="3054096"/>
            <a:ext cx="2103120" cy="502920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5528" y="3136392"/>
            <a:ext cx="1901952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</a:t>
            </a:r>
            <a:endParaRPr lang="en-US" sz="1520" dirty="0"/>
          </a:p>
        </p:txBody>
      </p:sp>
      <p:sp>
        <p:nvSpPr>
          <p:cNvPr id="29" name="Shape 27"/>
          <p:cNvSpPr/>
          <p:nvPr/>
        </p:nvSpPr>
        <p:spPr>
          <a:xfrm>
            <a:off x="2798064" y="3054096"/>
            <a:ext cx="4663440" cy="502920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98648" y="3136392"/>
            <a:ext cx="4462272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Sınıf sayısı</a:t>
            </a:r>
            <a:endParaRPr lang="en-US" sz="1520" dirty="0"/>
          </a:p>
        </p:txBody>
      </p:sp>
      <p:sp>
        <p:nvSpPr>
          <p:cNvPr id="31" name="Shape 29"/>
          <p:cNvSpPr/>
          <p:nvPr/>
        </p:nvSpPr>
        <p:spPr>
          <a:xfrm>
            <a:off x="7461504" y="3054096"/>
            <a:ext cx="4032504" cy="502920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62088" y="3136392"/>
            <a:ext cx="3831336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 = 2 sınıf</a:t>
            </a:r>
            <a:endParaRPr lang="en-US" sz="1520" dirty="0"/>
          </a:p>
        </p:txBody>
      </p:sp>
      <p:sp>
        <p:nvSpPr>
          <p:cNvPr id="33" name="Shape 31"/>
          <p:cNvSpPr/>
          <p:nvPr/>
        </p:nvSpPr>
        <p:spPr>
          <a:xfrm>
            <a:off x="694944" y="3557016"/>
            <a:ext cx="2103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5528" y="3639312"/>
            <a:ext cx="1901952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μ, m</a:t>
            </a:r>
            <a:endParaRPr lang="en-US" sz="1520" dirty="0"/>
          </a:p>
        </p:txBody>
      </p:sp>
      <p:sp>
        <p:nvSpPr>
          <p:cNvPr id="35" name="Shape 33"/>
          <p:cNvSpPr/>
          <p:nvPr/>
        </p:nvSpPr>
        <p:spPr>
          <a:xfrm>
            <a:off x="2798064" y="3557016"/>
            <a:ext cx="4663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98648" y="3639312"/>
            <a:ext cx="4462272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Gerçek / örneklem ortalama vektörü</a:t>
            </a:r>
            <a:endParaRPr lang="en-US" sz="1520" dirty="0"/>
          </a:p>
        </p:txBody>
      </p:sp>
      <p:sp>
        <p:nvSpPr>
          <p:cNvPr id="37" name="Shape 35"/>
          <p:cNvSpPr/>
          <p:nvPr/>
        </p:nvSpPr>
        <p:spPr>
          <a:xfrm>
            <a:off x="7461504" y="3557016"/>
            <a:ext cx="403250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62088" y="3639312"/>
            <a:ext cx="3831336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 = (2, 70)</a:t>
            </a:r>
            <a:endParaRPr lang="en-US" sz="1520" dirty="0"/>
          </a:p>
        </p:txBody>
      </p:sp>
      <p:sp>
        <p:nvSpPr>
          <p:cNvPr id="39" name="Shape 37"/>
          <p:cNvSpPr/>
          <p:nvPr/>
        </p:nvSpPr>
        <p:spPr>
          <a:xfrm>
            <a:off x="694944" y="4059936"/>
            <a:ext cx="2103120" cy="502920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" y="4142232"/>
            <a:ext cx="1901952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Σ, S</a:t>
            </a:r>
            <a:endParaRPr lang="en-US" sz="1520" dirty="0"/>
          </a:p>
        </p:txBody>
      </p:sp>
      <p:sp>
        <p:nvSpPr>
          <p:cNvPr id="41" name="Shape 39"/>
          <p:cNvSpPr/>
          <p:nvPr/>
        </p:nvSpPr>
        <p:spPr>
          <a:xfrm>
            <a:off x="2798064" y="4059936"/>
            <a:ext cx="4663440" cy="502920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98648" y="4142232"/>
            <a:ext cx="4462272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Gerçek / örneklem kovaryans matrisi</a:t>
            </a:r>
            <a:endParaRPr lang="en-US" sz="1520" dirty="0"/>
          </a:p>
        </p:txBody>
      </p:sp>
      <p:sp>
        <p:nvSpPr>
          <p:cNvPr id="43" name="Shape 41"/>
          <p:cNvSpPr/>
          <p:nvPr/>
        </p:nvSpPr>
        <p:spPr>
          <a:xfrm>
            <a:off x="7461504" y="4059936"/>
            <a:ext cx="4032504" cy="502920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62088" y="4142232"/>
            <a:ext cx="3831336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× 2 matris</a:t>
            </a:r>
            <a:endParaRPr lang="en-US" sz="1520" dirty="0"/>
          </a:p>
        </p:txBody>
      </p:sp>
      <p:sp>
        <p:nvSpPr>
          <p:cNvPr id="45" name="Shape 43"/>
          <p:cNvSpPr/>
          <p:nvPr/>
        </p:nvSpPr>
        <p:spPr>
          <a:xfrm>
            <a:off x="694944" y="4562856"/>
            <a:ext cx="2103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95528" y="4645152"/>
            <a:ext cx="1901952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Cᵢ, P(Cᵢ)</a:t>
            </a:r>
            <a:endParaRPr lang="en-US" sz="1520" dirty="0"/>
          </a:p>
        </p:txBody>
      </p:sp>
      <p:sp>
        <p:nvSpPr>
          <p:cNvPr id="47" name="Shape 45"/>
          <p:cNvSpPr/>
          <p:nvPr/>
        </p:nvSpPr>
        <p:spPr>
          <a:xfrm>
            <a:off x="2798064" y="4562856"/>
            <a:ext cx="4663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898648" y="4645152"/>
            <a:ext cx="4462272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Sınıf ve önsel olasılık</a:t>
            </a:r>
            <a:endParaRPr lang="en-US" sz="1520" dirty="0"/>
          </a:p>
        </p:txBody>
      </p:sp>
      <p:sp>
        <p:nvSpPr>
          <p:cNvPr id="49" name="Shape 47"/>
          <p:cNvSpPr/>
          <p:nvPr/>
        </p:nvSpPr>
        <p:spPr>
          <a:xfrm>
            <a:off x="7461504" y="4562856"/>
            <a:ext cx="403250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62088" y="4645152"/>
            <a:ext cx="3831336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P(Spam) = 0,4</a:t>
            </a:r>
            <a:endParaRPr lang="en-US" sz="1520" dirty="0"/>
          </a:p>
        </p:txBody>
      </p:sp>
      <p:sp>
        <p:nvSpPr>
          <p:cNvPr id="51" name="Shape 49"/>
          <p:cNvSpPr/>
          <p:nvPr/>
        </p:nvSpPr>
        <p:spPr>
          <a:xfrm>
            <a:off x="694944" y="5065776"/>
            <a:ext cx="2103120" cy="502920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95528" y="5148072"/>
            <a:ext cx="1901952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gᵢ(x)</a:t>
            </a:r>
            <a:endParaRPr lang="en-US" sz="1520" dirty="0"/>
          </a:p>
        </p:txBody>
      </p:sp>
      <p:sp>
        <p:nvSpPr>
          <p:cNvPr id="53" name="Shape 51"/>
          <p:cNvSpPr/>
          <p:nvPr/>
        </p:nvSpPr>
        <p:spPr>
          <a:xfrm>
            <a:off x="2798064" y="5065776"/>
            <a:ext cx="4663440" cy="502920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898648" y="5148072"/>
            <a:ext cx="4462272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Sınıf puanı / ayırt edici fonksiyon</a:t>
            </a:r>
            <a:endParaRPr lang="en-US" sz="1520" dirty="0"/>
          </a:p>
        </p:txBody>
      </p:sp>
      <p:sp>
        <p:nvSpPr>
          <p:cNvPr id="55" name="Shape 53"/>
          <p:cNvSpPr/>
          <p:nvPr/>
        </p:nvSpPr>
        <p:spPr>
          <a:xfrm>
            <a:off x="7461504" y="5065776"/>
            <a:ext cx="4032504" cy="502920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562088" y="5148072"/>
            <a:ext cx="3831336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büyük puanı seç</a:t>
            </a:r>
            <a:endParaRPr lang="en-US" sz="1520" dirty="0"/>
          </a:p>
        </p:txBody>
      </p:sp>
      <p:sp>
        <p:nvSpPr>
          <p:cNvPr id="57" name="Shape 55"/>
          <p:cNvSpPr/>
          <p:nvPr/>
        </p:nvSpPr>
        <p:spPr>
          <a:xfrm>
            <a:off x="704088" y="5907024"/>
            <a:ext cx="10799064" cy="466344"/>
          </a:xfrm>
          <a:prstGeom prst="roundRect">
            <a:avLst>
              <a:gd name="adj" fmla="val 19608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96112" y="6016752"/>
            <a:ext cx="103784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Not: Üst simge ᵀ, matrisin transpozu anlamına gelir.</a:t>
            </a:r>
            <a:endParaRPr lang="en-US" sz="14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28B50"/>
          </a:solidFill>
          <a:ln w="12700">
            <a:solidFill>
              <a:srgbClr val="D28B5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512064"/>
            <a:ext cx="10058400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A4D3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ÜNİTE / ÇOK DEĞİŞKENLİ YÖNTEMLER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94944" y="1371600"/>
            <a:ext cx="4114800" cy="1225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0" b="1" dirty="0">
                <a:solidFill>
                  <a:srgbClr val="83CE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5.1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713232" y="2761488"/>
            <a:ext cx="1069848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Çok Değişkenli Veri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722376" y="3977640"/>
            <a:ext cx="10460736" cy="0"/>
          </a:xfrm>
          <a:prstGeom prst="line">
            <a:avLst/>
          </a:prstGeom>
          <a:noFill/>
          <a:ln w="19050">
            <a:solidFill>
              <a:srgbClr val="4871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4370832"/>
            <a:ext cx="9966960" cy="9509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D7E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Bir satır gözlem, her sütun bir özellik.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128248" y="6473952"/>
            <a:ext cx="438912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9CB9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5.1 · ÇOK DEĞIŞKENLI VERI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Tek değişkenli ve çok değişkenli model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KARŞILAŞTIRMA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1527048"/>
            <a:ext cx="5294376" cy="4306824"/>
          </a:xfrm>
          <a:prstGeom prst="roundRect">
            <a:avLst>
              <a:gd name="adj" fmla="val 2123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1691640"/>
            <a:ext cx="487375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2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Tek değişkenli</a:t>
            </a:r>
            <a:endParaRPr lang="en-US" sz="1720" dirty="0"/>
          </a:p>
        </p:txBody>
      </p:sp>
      <p:sp>
        <p:nvSpPr>
          <p:cNvPr id="11" name="Text 9"/>
          <p:cNvSpPr/>
          <p:nvPr/>
        </p:nvSpPr>
        <p:spPr>
          <a:xfrm>
            <a:off x="905256" y="2185416"/>
            <a:ext cx="4873752" cy="3456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Sınav notunu sadece çalışma saatinden tahmin edelim.</a:t>
            </a:r>
            <a:endParaRPr lang="en-US" sz="1760" dirty="0"/>
          </a:p>
          <a:p>
            <a:pPr algn="l" indent="0" marL="0">
              <a:buNone/>
            </a:pPr>
            <a:endParaRPr lang="en-US" sz="1760" dirty="0"/>
          </a:p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= f(x₁)</a:t>
            </a:r>
            <a:endParaRPr lang="en-US" sz="1760" dirty="0"/>
          </a:p>
          <a:p>
            <a:pPr algn="l" indent="0" marL="0">
              <a:buNone/>
            </a:pPr>
            <a:endParaRPr lang="en-US" sz="1760" dirty="0"/>
          </a:p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x₁: Haftalık çalışma süresi</a:t>
            </a:r>
            <a:endParaRPr lang="en-US" sz="1760" dirty="0"/>
          </a:p>
        </p:txBody>
      </p:sp>
      <p:sp>
        <p:nvSpPr>
          <p:cNvPr id="12" name="Shape 10"/>
          <p:cNvSpPr/>
          <p:nvPr/>
        </p:nvSpPr>
        <p:spPr>
          <a:xfrm>
            <a:off x="6245352" y="1527048"/>
            <a:ext cx="5266944" cy="4306824"/>
          </a:xfrm>
          <a:prstGeom prst="roundRect">
            <a:avLst>
              <a:gd name="adj" fmla="val 2123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5664" y="1691640"/>
            <a:ext cx="48463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2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Çok değişkenli</a:t>
            </a:r>
            <a:endParaRPr lang="en-US" sz="1720" dirty="0"/>
          </a:p>
        </p:txBody>
      </p:sp>
      <p:sp>
        <p:nvSpPr>
          <p:cNvPr id="14" name="Text 12"/>
          <p:cNvSpPr/>
          <p:nvPr/>
        </p:nvSpPr>
        <p:spPr>
          <a:xfrm>
            <a:off x="6455664" y="2185416"/>
            <a:ext cx="4846320" cy="3456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Sınav notunu çalışma süresi, devam ve ödev ortalamasından tahmin edelim.</a:t>
            </a:r>
            <a:endParaRPr lang="en-US" sz="1760" dirty="0"/>
          </a:p>
          <a:p>
            <a:pPr algn="l" indent="0" marL="0">
              <a:buNone/>
            </a:pPr>
            <a:endParaRPr lang="en-US" sz="1760" dirty="0"/>
          </a:p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= f(x₁, x₂, x₃)</a:t>
            </a:r>
            <a:endParaRPr lang="en-US" sz="1760" dirty="0"/>
          </a:p>
          <a:p>
            <a:pPr algn="l" indent="0" marL="0">
              <a:buNone/>
            </a:pPr>
            <a:endParaRPr lang="en-US" sz="1760" dirty="0"/>
          </a:p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x₂: Devam oranı   x₃: Ödev notu</a:t>
            </a:r>
            <a:endParaRPr lang="en-US" sz="1760" dirty="0"/>
          </a:p>
        </p:txBody>
      </p:sp>
      <p:sp>
        <p:nvSpPr>
          <p:cNvPr id="15" name="Shape 13"/>
          <p:cNvSpPr/>
          <p:nvPr/>
        </p:nvSpPr>
        <p:spPr>
          <a:xfrm>
            <a:off x="694944" y="5971032"/>
            <a:ext cx="10826496" cy="484632"/>
          </a:xfrm>
          <a:prstGeom prst="roundRect">
            <a:avLst>
              <a:gd name="adj" fmla="val 18868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" y="6053328"/>
            <a:ext cx="1039672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Birden fazla özellik, daha zengin bilgi sağlayabilir.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5.1 · ÇOK DEĞIŞKENLI VERI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Örnek veri kümesi: dört öğrenci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ÖZET TABLO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1554480"/>
            <a:ext cx="2194560" cy="493776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1645920"/>
            <a:ext cx="202996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Öğrenci</a:t>
            </a:r>
            <a:endParaRPr lang="en-US" sz="1430" dirty="0"/>
          </a:p>
        </p:txBody>
      </p:sp>
      <p:sp>
        <p:nvSpPr>
          <p:cNvPr id="11" name="Shape 9"/>
          <p:cNvSpPr/>
          <p:nvPr/>
        </p:nvSpPr>
        <p:spPr>
          <a:xfrm>
            <a:off x="2889504" y="1554480"/>
            <a:ext cx="2880360" cy="493776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80944" y="1645920"/>
            <a:ext cx="271576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Çalışma saati x₁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5769864" y="1554480"/>
            <a:ext cx="2788920" cy="493776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61304" y="1645920"/>
            <a:ext cx="262432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Devam (%) x₂</a:t>
            </a:r>
            <a:endParaRPr lang="en-US" sz="1430" dirty="0"/>
          </a:p>
        </p:txBody>
      </p:sp>
      <p:sp>
        <p:nvSpPr>
          <p:cNvPr id="15" name="Shape 13"/>
          <p:cNvSpPr/>
          <p:nvPr/>
        </p:nvSpPr>
        <p:spPr>
          <a:xfrm>
            <a:off x="8558784" y="1554480"/>
            <a:ext cx="2935224" cy="493776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50224" y="1645920"/>
            <a:ext cx="277063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Önceki not x₃</a:t>
            </a:r>
            <a:endParaRPr lang="en-US" sz="1430" dirty="0"/>
          </a:p>
        </p:txBody>
      </p:sp>
      <p:sp>
        <p:nvSpPr>
          <p:cNvPr id="17" name="Shape 15"/>
          <p:cNvSpPr/>
          <p:nvPr/>
        </p:nvSpPr>
        <p:spPr>
          <a:xfrm>
            <a:off x="694944" y="2048256"/>
            <a:ext cx="2194560" cy="658368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" y="2130552"/>
            <a:ext cx="1993392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20" dirty="0"/>
          </a:p>
        </p:txBody>
      </p:sp>
      <p:sp>
        <p:nvSpPr>
          <p:cNvPr id="19" name="Shape 17"/>
          <p:cNvSpPr/>
          <p:nvPr/>
        </p:nvSpPr>
        <p:spPr>
          <a:xfrm>
            <a:off x="2889504" y="2048256"/>
            <a:ext cx="2880360" cy="658368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90088" y="2130552"/>
            <a:ext cx="2679192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20" dirty="0"/>
          </a:p>
        </p:txBody>
      </p:sp>
      <p:sp>
        <p:nvSpPr>
          <p:cNvPr id="21" name="Shape 19"/>
          <p:cNvSpPr/>
          <p:nvPr/>
        </p:nvSpPr>
        <p:spPr>
          <a:xfrm>
            <a:off x="5769864" y="2048256"/>
            <a:ext cx="2788920" cy="658368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70448" y="2130552"/>
            <a:ext cx="2587752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</a:t>
            </a:r>
            <a:endParaRPr lang="en-US" sz="1520" dirty="0"/>
          </a:p>
        </p:txBody>
      </p:sp>
      <p:sp>
        <p:nvSpPr>
          <p:cNvPr id="23" name="Shape 21"/>
          <p:cNvSpPr/>
          <p:nvPr/>
        </p:nvSpPr>
        <p:spPr>
          <a:xfrm>
            <a:off x="8558784" y="2048256"/>
            <a:ext cx="2935224" cy="658368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59368" y="2130552"/>
            <a:ext cx="2734056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</a:t>
            </a:r>
            <a:endParaRPr lang="en-US" sz="1520" dirty="0"/>
          </a:p>
        </p:txBody>
      </p:sp>
      <p:sp>
        <p:nvSpPr>
          <p:cNvPr id="25" name="Shape 23"/>
          <p:cNvSpPr/>
          <p:nvPr/>
        </p:nvSpPr>
        <p:spPr>
          <a:xfrm>
            <a:off x="694944" y="2706624"/>
            <a:ext cx="2194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2788920"/>
            <a:ext cx="1993392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20" dirty="0"/>
          </a:p>
        </p:txBody>
      </p:sp>
      <p:sp>
        <p:nvSpPr>
          <p:cNvPr id="27" name="Shape 25"/>
          <p:cNvSpPr/>
          <p:nvPr/>
        </p:nvSpPr>
        <p:spPr>
          <a:xfrm>
            <a:off x="2889504" y="2706624"/>
            <a:ext cx="2880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90088" y="2788920"/>
            <a:ext cx="2679192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20" dirty="0"/>
          </a:p>
        </p:txBody>
      </p:sp>
      <p:sp>
        <p:nvSpPr>
          <p:cNvPr id="29" name="Shape 27"/>
          <p:cNvSpPr/>
          <p:nvPr/>
        </p:nvSpPr>
        <p:spPr>
          <a:xfrm>
            <a:off x="5769864" y="2706624"/>
            <a:ext cx="2788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70448" y="2788920"/>
            <a:ext cx="2587752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</a:t>
            </a:r>
            <a:endParaRPr lang="en-US" sz="1520" dirty="0"/>
          </a:p>
        </p:txBody>
      </p:sp>
      <p:sp>
        <p:nvSpPr>
          <p:cNvPr id="31" name="Shape 29"/>
          <p:cNvSpPr/>
          <p:nvPr/>
        </p:nvSpPr>
        <p:spPr>
          <a:xfrm>
            <a:off x="8558784" y="2706624"/>
            <a:ext cx="293522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59368" y="2788920"/>
            <a:ext cx="2734056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65</a:t>
            </a:r>
            <a:endParaRPr lang="en-US" sz="1520" dirty="0"/>
          </a:p>
        </p:txBody>
      </p:sp>
      <p:sp>
        <p:nvSpPr>
          <p:cNvPr id="33" name="Shape 31"/>
          <p:cNvSpPr/>
          <p:nvPr/>
        </p:nvSpPr>
        <p:spPr>
          <a:xfrm>
            <a:off x="694944" y="3364992"/>
            <a:ext cx="2194560" cy="658368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5528" y="3447288"/>
            <a:ext cx="1993392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20" dirty="0"/>
          </a:p>
        </p:txBody>
      </p:sp>
      <p:sp>
        <p:nvSpPr>
          <p:cNvPr id="35" name="Shape 33"/>
          <p:cNvSpPr/>
          <p:nvPr/>
        </p:nvSpPr>
        <p:spPr>
          <a:xfrm>
            <a:off x="2889504" y="3364992"/>
            <a:ext cx="2880360" cy="658368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90088" y="3447288"/>
            <a:ext cx="2679192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520" dirty="0"/>
          </a:p>
        </p:txBody>
      </p:sp>
      <p:sp>
        <p:nvSpPr>
          <p:cNvPr id="37" name="Shape 35"/>
          <p:cNvSpPr/>
          <p:nvPr/>
        </p:nvSpPr>
        <p:spPr>
          <a:xfrm>
            <a:off x="5769864" y="3364992"/>
            <a:ext cx="2788920" cy="658368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70448" y="3447288"/>
            <a:ext cx="2587752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</a:t>
            </a:r>
            <a:endParaRPr lang="en-US" sz="1520" dirty="0"/>
          </a:p>
        </p:txBody>
      </p:sp>
      <p:sp>
        <p:nvSpPr>
          <p:cNvPr id="39" name="Shape 37"/>
          <p:cNvSpPr/>
          <p:nvPr/>
        </p:nvSpPr>
        <p:spPr>
          <a:xfrm>
            <a:off x="8558784" y="3364992"/>
            <a:ext cx="2935224" cy="658368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59368" y="3447288"/>
            <a:ext cx="2734056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</a:t>
            </a:r>
            <a:endParaRPr lang="en-US" sz="1520" dirty="0"/>
          </a:p>
        </p:txBody>
      </p:sp>
      <p:sp>
        <p:nvSpPr>
          <p:cNvPr id="41" name="Shape 39"/>
          <p:cNvSpPr/>
          <p:nvPr/>
        </p:nvSpPr>
        <p:spPr>
          <a:xfrm>
            <a:off x="694944" y="4023360"/>
            <a:ext cx="2194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5528" y="4105656"/>
            <a:ext cx="1993392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20" dirty="0"/>
          </a:p>
        </p:txBody>
      </p:sp>
      <p:sp>
        <p:nvSpPr>
          <p:cNvPr id="43" name="Shape 41"/>
          <p:cNvSpPr/>
          <p:nvPr/>
        </p:nvSpPr>
        <p:spPr>
          <a:xfrm>
            <a:off x="2889504" y="4023360"/>
            <a:ext cx="2880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90088" y="4105656"/>
            <a:ext cx="2679192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520" dirty="0"/>
          </a:p>
        </p:txBody>
      </p:sp>
      <p:sp>
        <p:nvSpPr>
          <p:cNvPr id="45" name="Shape 43"/>
          <p:cNvSpPr/>
          <p:nvPr/>
        </p:nvSpPr>
        <p:spPr>
          <a:xfrm>
            <a:off x="5769864" y="4023360"/>
            <a:ext cx="2788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70448" y="4105656"/>
            <a:ext cx="2587752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95</a:t>
            </a:r>
            <a:endParaRPr lang="en-US" sz="1520" dirty="0"/>
          </a:p>
        </p:txBody>
      </p:sp>
      <p:sp>
        <p:nvSpPr>
          <p:cNvPr id="47" name="Shape 45"/>
          <p:cNvSpPr/>
          <p:nvPr/>
        </p:nvSpPr>
        <p:spPr>
          <a:xfrm>
            <a:off x="8558784" y="4023360"/>
            <a:ext cx="293522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659368" y="4105656"/>
            <a:ext cx="2734056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</a:t>
            </a:r>
            <a:endParaRPr lang="en-US" sz="1520" dirty="0"/>
          </a:p>
        </p:txBody>
      </p:sp>
      <p:sp>
        <p:nvSpPr>
          <p:cNvPr id="49" name="Shape 47"/>
          <p:cNvSpPr/>
          <p:nvPr/>
        </p:nvSpPr>
        <p:spPr>
          <a:xfrm>
            <a:off x="704088" y="5907024"/>
            <a:ext cx="10799064" cy="466344"/>
          </a:xfrm>
          <a:prstGeom prst="roundRect">
            <a:avLst>
              <a:gd name="adj" fmla="val 19608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96112" y="6016752"/>
            <a:ext cx="103784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= 4 satır (gözlem) ve d = 3 sütun (özellik).</a:t>
            </a:r>
            <a:endParaRPr lang="en-US" sz="14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5.1 · ÇOK DEĞIŞKENLI VERI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 matrisi X nasıl okunur?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FORMÜLÜ OKUYALIM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1463040"/>
            <a:ext cx="10799064" cy="1234440"/>
          </a:xfrm>
          <a:prstGeom prst="roundRect">
            <a:avLst>
              <a:gd name="adj" fmla="val 7407"/>
            </a:avLst>
          </a:prstGeom>
          <a:solidFill>
            <a:srgbClr val="11283D"/>
          </a:solidFill>
          <a:ln w="12700">
            <a:solidFill>
              <a:srgbClr val="11283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737360"/>
            <a:ext cx="1013155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= [(2,60,50); (4,75,65); (6,90,80); (8,95,90)]</a:t>
            </a:r>
            <a:endParaRPr lang="en-US" sz="2080" dirty="0"/>
          </a:p>
        </p:txBody>
      </p:sp>
      <p:sp>
        <p:nvSpPr>
          <p:cNvPr id="11" name="Text 9"/>
          <p:cNvSpPr/>
          <p:nvPr/>
        </p:nvSpPr>
        <p:spPr>
          <a:xfrm>
            <a:off x="777240" y="2953512"/>
            <a:ext cx="1065276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X, 4 × 3 boyutlu bir veri matrisidir.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68096" y="3694176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3776472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1. satır = 1. öğrencinin üç özelliği</a:t>
            </a:r>
            <a:endParaRPr lang="en-US" sz="1660" dirty="0"/>
          </a:p>
        </p:txBody>
      </p:sp>
      <p:sp>
        <p:nvSpPr>
          <p:cNvPr id="14" name="Shape 12"/>
          <p:cNvSpPr/>
          <p:nvPr/>
        </p:nvSpPr>
        <p:spPr>
          <a:xfrm>
            <a:off x="768096" y="4251960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4334256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2. sütun = bütün öğrencilerin devam oranı: (60,75,90,95)</a:t>
            </a:r>
            <a:endParaRPr lang="en-US" sz="1660" dirty="0"/>
          </a:p>
        </p:txBody>
      </p:sp>
      <p:sp>
        <p:nvSpPr>
          <p:cNvPr id="16" name="Shape 14"/>
          <p:cNvSpPr/>
          <p:nvPr/>
        </p:nvSpPr>
        <p:spPr>
          <a:xfrm>
            <a:off x="768096" y="4809744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4892040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Gözlem vektörü x⁽¹⁾ = (2,60,50)ᵀ</a:t>
            </a:r>
            <a:endParaRPr lang="en-US" sz="16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5.1 · ÇOK DEĞIŞKENLI VERI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Sınıflandırma mı, regresyon mu?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KARŞILAŞTIRMA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1527048"/>
            <a:ext cx="5294376" cy="4306824"/>
          </a:xfrm>
          <a:prstGeom prst="roundRect">
            <a:avLst>
              <a:gd name="adj" fmla="val 2123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1691640"/>
            <a:ext cx="487375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2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Sınıflandırma (Classification)</a:t>
            </a:r>
            <a:endParaRPr lang="en-US" sz="1720" dirty="0"/>
          </a:p>
        </p:txBody>
      </p:sp>
      <p:sp>
        <p:nvSpPr>
          <p:cNvPr id="11" name="Text 9"/>
          <p:cNvSpPr/>
          <p:nvPr/>
        </p:nvSpPr>
        <p:spPr>
          <a:xfrm>
            <a:off x="905256" y="2185416"/>
            <a:ext cx="4873752" cy="3456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Çıktı, kategorik bir sınıftır.</a:t>
            </a:r>
            <a:endParaRPr lang="en-US" sz="1760" dirty="0"/>
          </a:p>
          <a:p>
            <a:pPr algn="l" indent="0" marL="0">
              <a:buNone/>
            </a:pPr>
            <a:endParaRPr lang="en-US" sz="1760" dirty="0"/>
          </a:p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Örnek: Geçti / Kaldı</a:t>
            </a:r>
            <a:endParaRPr lang="en-US" sz="1760" dirty="0"/>
          </a:p>
          <a:p>
            <a:pPr algn="l" indent="0" marL="0">
              <a:buNone/>
            </a:pPr>
            <a:endParaRPr lang="en-US" sz="1760" dirty="0"/>
          </a:p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∈ {Başarılı, Başarısız}</a:t>
            </a:r>
            <a:endParaRPr lang="en-US" sz="1760" dirty="0"/>
          </a:p>
        </p:txBody>
      </p:sp>
      <p:sp>
        <p:nvSpPr>
          <p:cNvPr id="12" name="Shape 10"/>
          <p:cNvSpPr/>
          <p:nvPr/>
        </p:nvSpPr>
        <p:spPr>
          <a:xfrm>
            <a:off x="6245352" y="1527048"/>
            <a:ext cx="5266944" cy="4306824"/>
          </a:xfrm>
          <a:prstGeom prst="roundRect">
            <a:avLst>
              <a:gd name="adj" fmla="val 2123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5664" y="1691640"/>
            <a:ext cx="48463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2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Regresyon (Regression)</a:t>
            </a:r>
            <a:endParaRPr lang="en-US" sz="1720" dirty="0"/>
          </a:p>
        </p:txBody>
      </p:sp>
      <p:sp>
        <p:nvSpPr>
          <p:cNvPr id="14" name="Text 12"/>
          <p:cNvSpPr/>
          <p:nvPr/>
        </p:nvSpPr>
        <p:spPr>
          <a:xfrm>
            <a:off x="6455664" y="2185416"/>
            <a:ext cx="4846320" cy="3456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Çıktı, sürekli sayısal bir değerdir.</a:t>
            </a:r>
            <a:endParaRPr lang="en-US" sz="1760" dirty="0"/>
          </a:p>
          <a:p>
            <a:pPr algn="l" indent="0" marL="0">
              <a:buNone/>
            </a:pPr>
            <a:endParaRPr lang="en-US" sz="1760" dirty="0"/>
          </a:p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Örnek: Sınav notu = 82,5</a:t>
            </a:r>
            <a:endParaRPr lang="en-US" sz="1760" dirty="0"/>
          </a:p>
          <a:p>
            <a:pPr algn="l" indent="0" marL="0">
              <a:buNone/>
            </a:pPr>
            <a:endParaRPr lang="en-US" sz="1760" dirty="0"/>
          </a:p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∈ ℝ</a:t>
            </a:r>
            <a:endParaRPr lang="en-US" sz="1760" dirty="0"/>
          </a:p>
        </p:txBody>
      </p:sp>
      <p:sp>
        <p:nvSpPr>
          <p:cNvPr id="15" name="Shape 13"/>
          <p:cNvSpPr/>
          <p:nvPr/>
        </p:nvSpPr>
        <p:spPr>
          <a:xfrm>
            <a:off x="694944" y="5971032"/>
            <a:ext cx="10826496" cy="484632"/>
          </a:xfrm>
          <a:prstGeom prst="roundRect">
            <a:avLst>
              <a:gd name="adj" fmla="val 18868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" y="6053328"/>
            <a:ext cx="1039672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Aynı giriş özellikleri farklı öğrenme problemlerinde kullanılabilir.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5.1 · ÇOK DEĞIŞKENLI VERI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Sayısal, kategorik ve ölçek farkları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KAVRAM VE AÇIKLAMA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1472184"/>
            <a:ext cx="10863072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80" b="1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Bir özelliğin türünü tanımak, doğru ön işleme için gereklidir.</a:t>
            </a:r>
            <a:endParaRPr lang="en-US" sz="1980" dirty="0"/>
          </a:p>
        </p:txBody>
      </p:sp>
      <p:sp>
        <p:nvSpPr>
          <p:cNvPr id="10" name="Shape 8"/>
          <p:cNvSpPr/>
          <p:nvPr/>
        </p:nvSpPr>
        <p:spPr>
          <a:xfrm>
            <a:off x="685800" y="2221992"/>
            <a:ext cx="10835640" cy="1033272"/>
          </a:xfrm>
          <a:prstGeom prst="roundRect">
            <a:avLst>
              <a:gd name="adj" fmla="val 8850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386584"/>
            <a:ext cx="1041501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2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Sayısal özellik</a:t>
            </a:r>
            <a:endParaRPr lang="en-US" sz="1720" dirty="0"/>
          </a:p>
        </p:txBody>
      </p:sp>
      <p:sp>
        <p:nvSpPr>
          <p:cNvPr id="12" name="Text 10"/>
          <p:cNvSpPr/>
          <p:nvPr/>
        </p:nvSpPr>
        <p:spPr>
          <a:xfrm>
            <a:off x="896112" y="2880360"/>
            <a:ext cx="10415016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1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Yaş: 23 yıl. Gelir: 80.000 TL. Ölçekleri farklıdır; karşılaştırmadan önce standartlaştırma gerekebilir.</a:t>
            </a:r>
            <a:endParaRPr lang="en-US" sz="1710" dirty="0"/>
          </a:p>
        </p:txBody>
      </p:sp>
      <p:sp>
        <p:nvSpPr>
          <p:cNvPr id="13" name="Shape 11"/>
          <p:cNvSpPr/>
          <p:nvPr/>
        </p:nvSpPr>
        <p:spPr>
          <a:xfrm>
            <a:off x="685800" y="3401568"/>
            <a:ext cx="10835640" cy="1033272"/>
          </a:xfrm>
          <a:prstGeom prst="roundRect">
            <a:avLst>
              <a:gd name="adj" fmla="val 8850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566160"/>
            <a:ext cx="1041501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2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Kategorik özellik</a:t>
            </a:r>
            <a:endParaRPr lang="en-US" sz="1720" dirty="0"/>
          </a:p>
        </p:txBody>
      </p:sp>
      <p:sp>
        <p:nvSpPr>
          <p:cNvPr id="15" name="Text 13"/>
          <p:cNvSpPr/>
          <p:nvPr/>
        </p:nvSpPr>
        <p:spPr>
          <a:xfrm>
            <a:off x="896112" y="4059936"/>
            <a:ext cx="10415016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1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Medeni durum: Bekâr / Evli. Sayısal büyüklük olarak değil, kategori olarak ele alınır.</a:t>
            </a:r>
            <a:endParaRPr lang="en-US" sz="1710" dirty="0"/>
          </a:p>
        </p:txBody>
      </p:sp>
      <p:sp>
        <p:nvSpPr>
          <p:cNvPr id="16" name="Shape 14"/>
          <p:cNvSpPr/>
          <p:nvPr/>
        </p:nvSpPr>
        <p:spPr>
          <a:xfrm>
            <a:off x="685800" y="4581144"/>
            <a:ext cx="10835640" cy="1033272"/>
          </a:xfrm>
          <a:prstGeom prst="roundRect">
            <a:avLst>
              <a:gd name="adj" fmla="val 8850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745736"/>
            <a:ext cx="1041501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2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Önemli varsayım</a:t>
            </a:r>
            <a:endParaRPr lang="en-US" sz="1720" dirty="0"/>
          </a:p>
        </p:txBody>
      </p:sp>
      <p:sp>
        <p:nvSpPr>
          <p:cNvPr id="18" name="Text 16"/>
          <p:cNvSpPr/>
          <p:nvPr/>
        </p:nvSpPr>
        <p:spPr>
          <a:xfrm>
            <a:off x="896112" y="5239512"/>
            <a:ext cx="10415016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1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Gözlemlerin bağımsız olması, aynı gözlem içindeki özelliklerin birbirinden bağımsız olduğu anlamına GELMEZ.</a:t>
            </a:r>
            <a:endParaRPr lang="en-US" sz="1710" dirty="0"/>
          </a:p>
        </p:txBody>
      </p:sp>
      <p:sp>
        <p:nvSpPr>
          <p:cNvPr id="19" name="Shape 17"/>
          <p:cNvSpPr/>
          <p:nvPr/>
        </p:nvSpPr>
        <p:spPr>
          <a:xfrm>
            <a:off x="685800" y="5824728"/>
            <a:ext cx="10835640" cy="566928"/>
          </a:xfrm>
          <a:prstGeom prst="roundRect">
            <a:avLst>
              <a:gd name="adj" fmla="val 16129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934456"/>
            <a:ext cx="103784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3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 FİKİR  Özellik vektörü x = (x₁, x₂, …, x_d).</a:t>
            </a:r>
            <a:endParaRPr lang="en-US" sz="15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28B50"/>
          </a:solidFill>
          <a:ln w="12700">
            <a:solidFill>
              <a:srgbClr val="D28B5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512064"/>
            <a:ext cx="10058400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A4D3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ÜNİTE / ÇOK DEĞİŞKENLİ YÖNTEMLER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94944" y="1371600"/>
            <a:ext cx="4114800" cy="1225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0" b="1" dirty="0">
                <a:solidFill>
                  <a:srgbClr val="83CE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5.2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713232" y="2761488"/>
            <a:ext cx="1069848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Parametre Tahmini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722376" y="3977640"/>
            <a:ext cx="10460736" cy="0"/>
          </a:xfrm>
          <a:prstGeom prst="line">
            <a:avLst/>
          </a:prstGeom>
          <a:noFill/>
          <a:ln w="19050">
            <a:solidFill>
              <a:srgbClr val="4871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4370832"/>
            <a:ext cx="9966960" cy="9509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D7E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Veriyi ortalama, varyans, kovaryans ve korelasyonla özetleme.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128248" y="6473952"/>
            <a:ext cx="438912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9CB9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5.2 · PARAMETRE TAHMINI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Ortalama vektörü (Mean Vector)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FORMÜLÜ OKUYALIM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1463040"/>
            <a:ext cx="10799064" cy="1234440"/>
          </a:xfrm>
          <a:prstGeom prst="roundRect">
            <a:avLst>
              <a:gd name="adj" fmla="val 7407"/>
            </a:avLst>
          </a:prstGeom>
          <a:solidFill>
            <a:srgbClr val="11283D"/>
          </a:solidFill>
          <a:ln w="12700">
            <a:solidFill>
              <a:srgbClr val="11283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737360"/>
            <a:ext cx="1013155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μ = E[x] = (μ₁, μ₂, …, μ_d)ᵀ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777240" y="2953512"/>
            <a:ext cx="1065276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 özellik sütununun ortalamasını ayrı ayrı alırız.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68096" y="3694176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3776472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μ₁: birinci özelliğin ortalaması</a:t>
            </a:r>
            <a:endParaRPr lang="en-US" sz="1660" dirty="0"/>
          </a:p>
        </p:txBody>
      </p:sp>
      <p:sp>
        <p:nvSpPr>
          <p:cNvPr id="14" name="Shape 12"/>
          <p:cNvSpPr/>
          <p:nvPr/>
        </p:nvSpPr>
        <p:spPr>
          <a:xfrm>
            <a:off x="768096" y="4251960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4334256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μ₂: ikinci özelliğin ortalaması</a:t>
            </a:r>
            <a:endParaRPr lang="en-US" sz="1660" dirty="0"/>
          </a:p>
        </p:txBody>
      </p:sp>
      <p:sp>
        <p:nvSpPr>
          <p:cNvPr id="16" name="Shape 14"/>
          <p:cNvSpPr/>
          <p:nvPr/>
        </p:nvSpPr>
        <p:spPr>
          <a:xfrm>
            <a:off x="768096" y="4809744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4892040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d boyutta d elemanlı bir ortalama vektörü bulunur.</a:t>
            </a:r>
            <a:endParaRPr lang="en-US" sz="16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5.2 · PARAMETRE TAHMINI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Ortalama vektörü: öğrenciler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ADIM ADIM ÇÖZÜMLÜ ÖRNEK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4088" y="1408176"/>
            <a:ext cx="10799064" cy="548640"/>
          </a:xfrm>
          <a:prstGeom prst="roundRect">
            <a:avLst>
              <a:gd name="adj" fmla="val 16667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508760"/>
            <a:ext cx="103784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Çalışma saati: 1, 2, 3    |    Not: 50, 70, 90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04088" y="2130552"/>
            <a:ext cx="10799064" cy="1219200"/>
          </a:xfrm>
          <a:prstGeom prst="roundRect">
            <a:avLst>
              <a:gd name="adj" fmla="val 7500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" y="2249424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2295144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89304" y="2249424"/>
            <a:ext cx="10003536" cy="999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Çalışma ortalaması = (1 + 2 + 3) / 3 = 2</a:t>
            </a:r>
            <a:endParaRPr lang="en-US" sz="1920" dirty="0"/>
          </a:p>
        </p:txBody>
      </p:sp>
      <p:sp>
        <p:nvSpPr>
          <p:cNvPr id="15" name="Shape 13"/>
          <p:cNvSpPr/>
          <p:nvPr/>
        </p:nvSpPr>
        <p:spPr>
          <a:xfrm>
            <a:off x="704088" y="3514344"/>
            <a:ext cx="10799064" cy="1219200"/>
          </a:xfrm>
          <a:prstGeom prst="roundRect">
            <a:avLst>
              <a:gd name="adj" fmla="val 7500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" y="3633216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3678936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289304" y="3633216"/>
            <a:ext cx="10003536" cy="999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ortalaması = (50 + 70 + 90) / 3 = 70</a:t>
            </a:r>
            <a:endParaRPr lang="en-US" sz="1920" dirty="0"/>
          </a:p>
        </p:txBody>
      </p:sp>
      <p:sp>
        <p:nvSpPr>
          <p:cNvPr id="19" name="Shape 17"/>
          <p:cNvSpPr/>
          <p:nvPr/>
        </p:nvSpPr>
        <p:spPr>
          <a:xfrm>
            <a:off x="704088" y="4898136"/>
            <a:ext cx="10799064" cy="1219200"/>
          </a:xfrm>
          <a:prstGeom prst="roundRect">
            <a:avLst>
              <a:gd name="adj" fmla="val 7500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" y="501700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" y="5062728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289304" y="5017008"/>
            <a:ext cx="10003536" cy="999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Ortalama vektörü m = (2,70)ᵀ</a:t>
            </a:r>
            <a:endParaRPr lang="en-US" sz="1920" dirty="0"/>
          </a:p>
        </p:txBody>
      </p:sp>
      <p:sp>
        <p:nvSpPr>
          <p:cNvPr id="23" name="Shape 21"/>
          <p:cNvSpPr/>
          <p:nvPr/>
        </p:nvSpPr>
        <p:spPr>
          <a:xfrm>
            <a:off x="704088" y="6254496"/>
            <a:ext cx="10799064" cy="256032"/>
          </a:xfrm>
          <a:prstGeom prst="roundRect">
            <a:avLst>
              <a:gd name="adj" fmla="val 35714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" y="6281928"/>
            <a:ext cx="10396728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Ortalama vektörü, iki boyutlu dağılımın merkezini gösterir.</a:t>
            </a:r>
            <a:endParaRPr lang="en-US" sz="12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5.2 · PARAMETRE TAHMINI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Varyans ve kovaryans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KARŞILAŞTIRMA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1527048"/>
            <a:ext cx="5294376" cy="4306824"/>
          </a:xfrm>
          <a:prstGeom prst="roundRect">
            <a:avLst>
              <a:gd name="adj" fmla="val 2123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1691640"/>
            <a:ext cx="487375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2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Varyans: tek değişken</a:t>
            </a:r>
            <a:endParaRPr lang="en-US" sz="1720" dirty="0"/>
          </a:p>
        </p:txBody>
      </p:sp>
      <p:sp>
        <p:nvSpPr>
          <p:cNvPr id="11" name="Text 9"/>
          <p:cNvSpPr/>
          <p:nvPr/>
        </p:nvSpPr>
        <p:spPr>
          <a:xfrm>
            <a:off x="905256" y="2185416"/>
            <a:ext cx="4873752" cy="3456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Var(X) = E[(X − μ)²]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Bir özelliğin kendi ortalamasından ne kadar uzaklaştığını ölçer.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Örnek: (69,70,71) ile (30,70,110) aynı ortalamaya ama farklı varyansa sahiptir.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45352" y="1527048"/>
            <a:ext cx="5266944" cy="4306824"/>
          </a:xfrm>
          <a:prstGeom prst="roundRect">
            <a:avLst>
              <a:gd name="adj" fmla="val 2123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5664" y="1691640"/>
            <a:ext cx="48463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2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Kovaryans: iki değişken</a:t>
            </a:r>
            <a:endParaRPr lang="en-US" sz="1720" dirty="0"/>
          </a:p>
        </p:txBody>
      </p:sp>
      <p:sp>
        <p:nvSpPr>
          <p:cNvPr id="14" name="Text 12"/>
          <p:cNvSpPr/>
          <p:nvPr/>
        </p:nvSpPr>
        <p:spPr>
          <a:xfrm>
            <a:off x="6455664" y="2185416"/>
            <a:ext cx="4846320" cy="3456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Cov(X,Y) = E[(X − μₓ)(Y − μᵧ)]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Pozitif: Birlikte artma eğilimi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Negatif: Ters yönlü değişim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Sıfır: Doğrusal birlikte değişim yok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94944" y="5971032"/>
            <a:ext cx="10826496" cy="484632"/>
          </a:xfrm>
          <a:prstGeom prst="roundRect">
            <a:avLst>
              <a:gd name="adj" fmla="val 18868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" y="6053328"/>
            <a:ext cx="1039672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Cov(X,Y) = Cov(Y,X); Cov(X,X) = Var(X).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5.2 · PARAMETRE TAHMINI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 grafik: kovaryans neyi değiştirir?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KAYNAK ŞEKLİN YORUMU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4088" y="1426464"/>
            <a:ext cx="6812280" cy="4507992"/>
          </a:xfrm>
          <a:prstGeom prst="roundRect">
            <a:avLst>
              <a:gd name="adj" fmla="val 2028"/>
            </a:avLst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pic>
        <p:nvPicPr>
          <p:cNvPr id="10" name="Image 0" descr="/mnt/data/ek_kovarya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554480"/>
            <a:ext cx="6556248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818120" y="1426464"/>
            <a:ext cx="3666744" cy="4507992"/>
          </a:xfrm>
          <a:prstGeom prst="roundRect">
            <a:avLst>
              <a:gd name="adj" fmla="val 2494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01000" y="1609344"/>
            <a:ext cx="3300984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Grafik nasıl okunur?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001000" y="2112264"/>
            <a:ext cx="301752" cy="301752"/>
          </a:xfrm>
          <a:prstGeom prst="roundRect">
            <a:avLst>
              <a:gd name="adj" fmla="val 30303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60436" y="2153412"/>
            <a:ext cx="17373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30" dirty="0"/>
          </a:p>
        </p:txBody>
      </p:sp>
      <p:sp>
        <p:nvSpPr>
          <p:cNvPr id="15" name="Text 12"/>
          <p:cNvSpPr/>
          <p:nvPr/>
        </p:nvSpPr>
        <p:spPr>
          <a:xfrm>
            <a:off x="8421624" y="2084832"/>
            <a:ext cx="282549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Dairesel kontur: varyanslar eşit, kovaryans 0.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001000" y="3054096"/>
            <a:ext cx="301752" cy="301752"/>
          </a:xfrm>
          <a:prstGeom prst="roundRect">
            <a:avLst>
              <a:gd name="adj" fmla="val 30303"/>
            </a:avLst>
          </a:prstGeom>
          <a:solidFill>
            <a:srgbClr val="487FA7"/>
          </a:solidFill>
          <a:ln w="12700">
            <a:solidFill>
              <a:srgbClr val="487FA7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60436" y="3095244"/>
            <a:ext cx="17373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30" dirty="0"/>
          </a:p>
        </p:txBody>
      </p:sp>
      <p:sp>
        <p:nvSpPr>
          <p:cNvPr id="18" name="Text 15"/>
          <p:cNvSpPr/>
          <p:nvPr/>
        </p:nvSpPr>
        <p:spPr>
          <a:xfrm>
            <a:off x="8421624" y="3026664"/>
            <a:ext cx="282549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Yatay / dikey elips: varyanslar farklı.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001000" y="3995928"/>
            <a:ext cx="301752" cy="301752"/>
          </a:xfrm>
          <a:prstGeom prst="roundRect">
            <a:avLst>
              <a:gd name="adj" fmla="val 30303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060436" y="4037076"/>
            <a:ext cx="17373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30" dirty="0"/>
          </a:p>
        </p:txBody>
      </p:sp>
      <p:sp>
        <p:nvSpPr>
          <p:cNvPr id="21" name="Text 18"/>
          <p:cNvSpPr/>
          <p:nvPr/>
        </p:nvSpPr>
        <p:spPr>
          <a:xfrm>
            <a:off x="8421624" y="3968496"/>
            <a:ext cx="282549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Eğik elips: iki özellik arasında korelasyon var.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704088" y="6016752"/>
            <a:ext cx="10808208" cy="448056"/>
          </a:xfrm>
          <a:prstGeom prst="roundRect">
            <a:avLst>
              <a:gd name="adj" fmla="val 20408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77824" y="6089904"/>
            <a:ext cx="1045159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Dağılımın uzanma yönünü kovaryans, yayılımını varyans belirler.</a:t>
            </a:r>
            <a:endParaRPr lang="en-US" sz="133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5.2 · PARAMETRE TAHMINI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Kovaryans matrisi Σ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FORMÜLÜ OKUYALIM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1463040"/>
            <a:ext cx="10799064" cy="1234440"/>
          </a:xfrm>
          <a:prstGeom prst="roundRect">
            <a:avLst>
              <a:gd name="adj" fmla="val 7407"/>
            </a:avLst>
          </a:prstGeom>
          <a:solidFill>
            <a:srgbClr val="11283D"/>
          </a:solidFill>
          <a:ln w="12700">
            <a:solidFill>
              <a:srgbClr val="11283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737360"/>
            <a:ext cx="1013155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Σ = [[Var(X₁), Cov(X₁,X₂)]; [Cov(X₂,X₁), Var(X₂)]]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7240" y="2953512"/>
            <a:ext cx="1065276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Köşegende varyans, diğer hücrelerde kovaryans bulunur.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68096" y="3694176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3776472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Örnek: Σ = [[4,3],[3,9]]</a:t>
            </a:r>
            <a:endParaRPr lang="en-US" sz="1660" dirty="0"/>
          </a:p>
        </p:txBody>
      </p:sp>
      <p:sp>
        <p:nvSpPr>
          <p:cNvPr id="14" name="Shape 12"/>
          <p:cNvSpPr/>
          <p:nvPr/>
        </p:nvSpPr>
        <p:spPr>
          <a:xfrm>
            <a:off x="768096" y="4251960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4334256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Var(X₁) = 4, Var(X₂) = 9, Cov(X₁,X₂) = 3</a:t>
            </a:r>
            <a:endParaRPr lang="en-US" sz="1660" dirty="0"/>
          </a:p>
        </p:txBody>
      </p:sp>
      <p:sp>
        <p:nvSpPr>
          <p:cNvPr id="16" name="Shape 14"/>
          <p:cNvSpPr/>
          <p:nvPr/>
        </p:nvSpPr>
        <p:spPr>
          <a:xfrm>
            <a:off x="768096" y="4809744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4892040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Matris simetriktir; üst sağ ve alt sol elemanlar eşittir.</a:t>
            </a:r>
            <a:endParaRPr lang="en-US" sz="166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5.2 · PARAMETRE TAHMINI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Korelasyon: ölçü biriminden bağımsız ilişki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FORMÜLÜ OKUYALIM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1463040"/>
            <a:ext cx="10799064" cy="1234440"/>
          </a:xfrm>
          <a:prstGeom prst="roundRect">
            <a:avLst>
              <a:gd name="adj" fmla="val 7407"/>
            </a:avLst>
          </a:prstGeom>
          <a:solidFill>
            <a:srgbClr val="11283D"/>
          </a:solidFill>
          <a:ln w="12700">
            <a:solidFill>
              <a:srgbClr val="11283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737360"/>
            <a:ext cx="1013155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ρᵢⱼ = Cov(Xᵢ,Xⱼ) / (σᵢσⱼ)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777240" y="2953512"/>
            <a:ext cx="1065276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Korelasyon −1 ile +1 arasındadır.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68096" y="3694176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3776472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ρ = +1: mükemmel pozitif doğrusal ilişki</a:t>
            </a:r>
            <a:endParaRPr lang="en-US" sz="1660" dirty="0"/>
          </a:p>
        </p:txBody>
      </p:sp>
      <p:sp>
        <p:nvSpPr>
          <p:cNvPr id="14" name="Shape 12"/>
          <p:cNvSpPr/>
          <p:nvPr/>
        </p:nvSpPr>
        <p:spPr>
          <a:xfrm>
            <a:off x="768096" y="4251960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4334256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ρ = −1: mükemmel negatif doğrusal ilişki</a:t>
            </a:r>
            <a:endParaRPr lang="en-US" sz="1660" dirty="0"/>
          </a:p>
        </p:txBody>
      </p:sp>
      <p:sp>
        <p:nvSpPr>
          <p:cNvPr id="16" name="Shape 14"/>
          <p:cNvSpPr/>
          <p:nvPr/>
        </p:nvSpPr>
        <p:spPr>
          <a:xfrm>
            <a:off x="768096" y="4809744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4892040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ρ = 0: doğrusal ilişki yok; bağımsızlık her zaman çıkmaz.</a:t>
            </a:r>
            <a:endParaRPr lang="en-US" sz="166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5.2 · PARAMETRE TAHMINI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Korelasyon: tek hesapta üç kavram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ADIM ADIM ÇÖZÜMLÜ ÖRNEK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4088" y="1408176"/>
            <a:ext cx="10799064" cy="548640"/>
          </a:xfrm>
          <a:prstGeom prst="roundRect">
            <a:avLst>
              <a:gd name="adj" fmla="val 16667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508760"/>
            <a:ext cx="103784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Var(X₁) = 4, Var(X₂) = 9, Cov(X₁,X₂) = 3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04088" y="2130552"/>
            <a:ext cx="10799064" cy="1219200"/>
          </a:xfrm>
          <a:prstGeom prst="roundRect">
            <a:avLst>
              <a:gd name="adj" fmla="val 7500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" y="2249424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2295144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89304" y="2249424"/>
            <a:ext cx="10003536" cy="999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Standart sapma σ₁ = √4 = 2</a:t>
            </a:r>
            <a:endParaRPr lang="en-US" sz="1920" dirty="0"/>
          </a:p>
        </p:txBody>
      </p:sp>
      <p:sp>
        <p:nvSpPr>
          <p:cNvPr id="15" name="Shape 13"/>
          <p:cNvSpPr/>
          <p:nvPr/>
        </p:nvSpPr>
        <p:spPr>
          <a:xfrm>
            <a:off x="704088" y="3514344"/>
            <a:ext cx="10799064" cy="1219200"/>
          </a:xfrm>
          <a:prstGeom prst="roundRect">
            <a:avLst>
              <a:gd name="adj" fmla="val 7500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" y="3633216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3678936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289304" y="3633216"/>
            <a:ext cx="10003536" cy="999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Standart sapma σ₂ = √9 = 3</a:t>
            </a:r>
            <a:endParaRPr lang="en-US" sz="1920" dirty="0"/>
          </a:p>
        </p:txBody>
      </p:sp>
      <p:sp>
        <p:nvSpPr>
          <p:cNvPr id="19" name="Shape 17"/>
          <p:cNvSpPr/>
          <p:nvPr/>
        </p:nvSpPr>
        <p:spPr>
          <a:xfrm>
            <a:off x="704088" y="4898136"/>
            <a:ext cx="10799064" cy="1219200"/>
          </a:xfrm>
          <a:prstGeom prst="roundRect">
            <a:avLst>
              <a:gd name="adj" fmla="val 7500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" y="501700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" y="5062728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289304" y="5017008"/>
            <a:ext cx="10003536" cy="999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Korelasyon ρ = 3 / (2 × 3) = 0,5</a:t>
            </a:r>
            <a:endParaRPr lang="en-US" sz="1920" dirty="0"/>
          </a:p>
        </p:txBody>
      </p:sp>
      <p:sp>
        <p:nvSpPr>
          <p:cNvPr id="23" name="Shape 21"/>
          <p:cNvSpPr/>
          <p:nvPr/>
        </p:nvSpPr>
        <p:spPr>
          <a:xfrm>
            <a:off x="704088" y="6254496"/>
            <a:ext cx="10799064" cy="256032"/>
          </a:xfrm>
          <a:prstGeom prst="roundRect">
            <a:avLst>
              <a:gd name="adj" fmla="val 35714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" y="6281928"/>
            <a:ext cx="10396728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Sonuç: Orta büyüklükte pozitif doğrusal ilişki.</a:t>
            </a:r>
            <a:endParaRPr lang="en-US" sz="123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5.2 · PARAMETRE TAHMINI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Örneklemde parametre tahmini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FORMÜLÜ OKUYALIM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1463040"/>
            <a:ext cx="10799064" cy="1234440"/>
          </a:xfrm>
          <a:prstGeom prst="roundRect">
            <a:avLst>
              <a:gd name="adj" fmla="val 7407"/>
            </a:avLst>
          </a:prstGeom>
          <a:solidFill>
            <a:srgbClr val="11283D"/>
          </a:solidFill>
          <a:ln w="12700">
            <a:solidFill>
              <a:srgbClr val="11283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737360"/>
            <a:ext cx="1013155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mᵢ = Σₜ xᵢ⁽ᵗ⁾ / N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77240" y="2953512"/>
            <a:ext cx="1065276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Ortalama ve kovaryans gözlemlerden hesaplanır.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68096" y="3694176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3776472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Varyans: sᵢ² = Σₜ(xᵢ⁽ᵗ⁾ − mᵢ)² / N</a:t>
            </a:r>
            <a:endParaRPr lang="en-US" sz="1660" dirty="0"/>
          </a:p>
        </p:txBody>
      </p:sp>
      <p:sp>
        <p:nvSpPr>
          <p:cNvPr id="14" name="Shape 12"/>
          <p:cNvSpPr/>
          <p:nvPr/>
        </p:nvSpPr>
        <p:spPr>
          <a:xfrm>
            <a:off x="768096" y="4251960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4334256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Kovaryans: sᵢⱼ = Σₜ(xᵢ⁽ᵗ⁾ − mᵢ)(xⱼ⁽ᵗ⁾ − mⱼ) / N</a:t>
            </a:r>
            <a:endParaRPr lang="en-US" sz="1660" dirty="0"/>
          </a:p>
        </p:txBody>
      </p:sp>
      <p:sp>
        <p:nvSpPr>
          <p:cNvPr id="16" name="Shape 14"/>
          <p:cNvSpPr/>
          <p:nvPr/>
        </p:nvSpPr>
        <p:spPr>
          <a:xfrm>
            <a:off x="768096" y="4809744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4892040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Bu formüller ML tahminidir; klasik yanlı olmayan örneklem varyansında N−1 vardır.</a:t>
            </a:r>
            <a:endParaRPr lang="en-US" sz="166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5.2 · PARAMETRE TAHMINI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Kovaryans örneği: başlangıç verileri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ÖZET TABLO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1554480"/>
            <a:ext cx="2011680" cy="493776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1645920"/>
            <a:ext cx="184708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Gözlem</a:t>
            </a:r>
            <a:endParaRPr lang="en-US" sz="1430" dirty="0"/>
          </a:p>
        </p:txBody>
      </p:sp>
      <p:sp>
        <p:nvSpPr>
          <p:cNvPr id="11" name="Shape 9"/>
          <p:cNvSpPr/>
          <p:nvPr/>
        </p:nvSpPr>
        <p:spPr>
          <a:xfrm>
            <a:off x="2706624" y="1554480"/>
            <a:ext cx="1645920" cy="493776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98064" y="1645920"/>
            <a:ext cx="148132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X₁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4352544" y="1554480"/>
            <a:ext cx="1645920" cy="493776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43984" y="1645920"/>
            <a:ext cx="148132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X₂</a:t>
            </a:r>
            <a:endParaRPr lang="en-US" sz="1430" dirty="0"/>
          </a:p>
        </p:txBody>
      </p:sp>
      <p:sp>
        <p:nvSpPr>
          <p:cNvPr id="15" name="Shape 13"/>
          <p:cNvSpPr/>
          <p:nvPr/>
        </p:nvSpPr>
        <p:spPr>
          <a:xfrm>
            <a:off x="5998464" y="1554480"/>
            <a:ext cx="2743200" cy="493776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9904" y="1645920"/>
            <a:ext cx="257860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X₁ − m₁</a:t>
            </a:r>
            <a:endParaRPr lang="en-US" sz="1430" dirty="0"/>
          </a:p>
        </p:txBody>
      </p:sp>
      <p:sp>
        <p:nvSpPr>
          <p:cNvPr id="17" name="Shape 15"/>
          <p:cNvSpPr/>
          <p:nvPr/>
        </p:nvSpPr>
        <p:spPr>
          <a:xfrm>
            <a:off x="8741664" y="1554480"/>
            <a:ext cx="2752344" cy="493776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33104" y="1645920"/>
            <a:ext cx="258775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X₂ − m₂</a:t>
            </a:r>
            <a:endParaRPr lang="en-US" sz="1430" dirty="0"/>
          </a:p>
        </p:txBody>
      </p:sp>
      <p:sp>
        <p:nvSpPr>
          <p:cNvPr id="19" name="Shape 17"/>
          <p:cNvSpPr/>
          <p:nvPr/>
        </p:nvSpPr>
        <p:spPr>
          <a:xfrm>
            <a:off x="694944" y="2048256"/>
            <a:ext cx="2011680" cy="694944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2130552"/>
            <a:ext cx="1810512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20" dirty="0"/>
          </a:p>
        </p:txBody>
      </p:sp>
      <p:sp>
        <p:nvSpPr>
          <p:cNvPr id="21" name="Shape 19"/>
          <p:cNvSpPr/>
          <p:nvPr/>
        </p:nvSpPr>
        <p:spPr>
          <a:xfrm>
            <a:off x="2706624" y="2048256"/>
            <a:ext cx="1645920" cy="694944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07208" y="2130552"/>
            <a:ext cx="1444752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20" dirty="0"/>
          </a:p>
        </p:txBody>
      </p:sp>
      <p:sp>
        <p:nvSpPr>
          <p:cNvPr id="23" name="Shape 21"/>
          <p:cNvSpPr/>
          <p:nvPr/>
        </p:nvSpPr>
        <p:spPr>
          <a:xfrm>
            <a:off x="4352544" y="2048256"/>
            <a:ext cx="1645920" cy="694944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53128" y="2130552"/>
            <a:ext cx="1444752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20" dirty="0"/>
          </a:p>
        </p:txBody>
      </p:sp>
      <p:sp>
        <p:nvSpPr>
          <p:cNvPr id="25" name="Shape 23"/>
          <p:cNvSpPr/>
          <p:nvPr/>
        </p:nvSpPr>
        <p:spPr>
          <a:xfrm>
            <a:off x="5998464" y="2048256"/>
            <a:ext cx="2743200" cy="694944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99048" y="2130552"/>
            <a:ext cx="2542032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</a:t>
            </a:r>
            <a:endParaRPr lang="en-US" sz="1520" dirty="0"/>
          </a:p>
        </p:txBody>
      </p:sp>
      <p:sp>
        <p:nvSpPr>
          <p:cNvPr id="27" name="Shape 25"/>
          <p:cNvSpPr/>
          <p:nvPr/>
        </p:nvSpPr>
        <p:spPr>
          <a:xfrm>
            <a:off x="8741664" y="2048256"/>
            <a:ext cx="2752344" cy="694944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42248" y="2130552"/>
            <a:ext cx="2551176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</a:t>
            </a:r>
            <a:endParaRPr lang="en-US" sz="1520" dirty="0"/>
          </a:p>
        </p:txBody>
      </p:sp>
      <p:sp>
        <p:nvSpPr>
          <p:cNvPr id="29" name="Shape 27"/>
          <p:cNvSpPr/>
          <p:nvPr/>
        </p:nvSpPr>
        <p:spPr>
          <a:xfrm>
            <a:off x="694944" y="2743200"/>
            <a:ext cx="20116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2825496"/>
            <a:ext cx="1810512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20" dirty="0"/>
          </a:p>
        </p:txBody>
      </p:sp>
      <p:sp>
        <p:nvSpPr>
          <p:cNvPr id="31" name="Shape 29"/>
          <p:cNvSpPr/>
          <p:nvPr/>
        </p:nvSpPr>
        <p:spPr>
          <a:xfrm>
            <a:off x="2706624" y="2743200"/>
            <a:ext cx="1645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07208" y="2825496"/>
            <a:ext cx="1444752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20" dirty="0"/>
          </a:p>
        </p:txBody>
      </p:sp>
      <p:sp>
        <p:nvSpPr>
          <p:cNvPr id="33" name="Shape 31"/>
          <p:cNvSpPr/>
          <p:nvPr/>
        </p:nvSpPr>
        <p:spPr>
          <a:xfrm>
            <a:off x="4352544" y="2743200"/>
            <a:ext cx="1645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53128" y="2825496"/>
            <a:ext cx="1444752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20" dirty="0"/>
          </a:p>
        </p:txBody>
      </p:sp>
      <p:sp>
        <p:nvSpPr>
          <p:cNvPr id="35" name="Shape 33"/>
          <p:cNvSpPr/>
          <p:nvPr/>
        </p:nvSpPr>
        <p:spPr>
          <a:xfrm>
            <a:off x="5998464" y="2743200"/>
            <a:ext cx="27432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99048" y="2825496"/>
            <a:ext cx="2542032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520" dirty="0"/>
          </a:p>
        </p:txBody>
      </p:sp>
      <p:sp>
        <p:nvSpPr>
          <p:cNvPr id="37" name="Shape 35"/>
          <p:cNvSpPr/>
          <p:nvPr/>
        </p:nvSpPr>
        <p:spPr>
          <a:xfrm>
            <a:off x="8741664" y="2743200"/>
            <a:ext cx="2752344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842248" y="2825496"/>
            <a:ext cx="2551176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20" dirty="0"/>
          </a:p>
        </p:txBody>
      </p:sp>
      <p:sp>
        <p:nvSpPr>
          <p:cNvPr id="39" name="Shape 37"/>
          <p:cNvSpPr/>
          <p:nvPr/>
        </p:nvSpPr>
        <p:spPr>
          <a:xfrm>
            <a:off x="694944" y="3438144"/>
            <a:ext cx="2011680" cy="694944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" y="3520440"/>
            <a:ext cx="1810512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20" dirty="0"/>
          </a:p>
        </p:txBody>
      </p:sp>
      <p:sp>
        <p:nvSpPr>
          <p:cNvPr id="41" name="Shape 39"/>
          <p:cNvSpPr/>
          <p:nvPr/>
        </p:nvSpPr>
        <p:spPr>
          <a:xfrm>
            <a:off x="2706624" y="3438144"/>
            <a:ext cx="1645920" cy="694944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07208" y="3520440"/>
            <a:ext cx="1444752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20" dirty="0"/>
          </a:p>
        </p:txBody>
      </p:sp>
      <p:sp>
        <p:nvSpPr>
          <p:cNvPr id="43" name="Shape 41"/>
          <p:cNvSpPr/>
          <p:nvPr/>
        </p:nvSpPr>
        <p:spPr>
          <a:xfrm>
            <a:off x="4352544" y="3438144"/>
            <a:ext cx="1645920" cy="694944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53128" y="3520440"/>
            <a:ext cx="1444752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20" dirty="0"/>
          </a:p>
        </p:txBody>
      </p:sp>
      <p:sp>
        <p:nvSpPr>
          <p:cNvPr id="45" name="Shape 43"/>
          <p:cNvSpPr/>
          <p:nvPr/>
        </p:nvSpPr>
        <p:spPr>
          <a:xfrm>
            <a:off x="5998464" y="3438144"/>
            <a:ext cx="2743200" cy="694944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99048" y="3520440"/>
            <a:ext cx="2542032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20" dirty="0"/>
          </a:p>
        </p:txBody>
      </p:sp>
      <p:sp>
        <p:nvSpPr>
          <p:cNvPr id="47" name="Shape 45"/>
          <p:cNvSpPr/>
          <p:nvPr/>
        </p:nvSpPr>
        <p:spPr>
          <a:xfrm>
            <a:off x="8741664" y="3438144"/>
            <a:ext cx="2752344" cy="694944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842248" y="3520440"/>
            <a:ext cx="2551176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520" dirty="0"/>
          </a:p>
        </p:txBody>
      </p:sp>
      <p:sp>
        <p:nvSpPr>
          <p:cNvPr id="49" name="Shape 47"/>
          <p:cNvSpPr/>
          <p:nvPr/>
        </p:nvSpPr>
        <p:spPr>
          <a:xfrm>
            <a:off x="704088" y="5907024"/>
            <a:ext cx="10799064" cy="466344"/>
          </a:xfrm>
          <a:prstGeom prst="roundRect">
            <a:avLst>
              <a:gd name="adj" fmla="val 19608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96112" y="6016752"/>
            <a:ext cx="103784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Önce ortalamalar: m₁ = (1+2+3)/3 = 2, m₂ = (2+4+3)/3 = 3.</a:t>
            </a:r>
            <a:endParaRPr lang="en-US" sz="14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5.2 · PARAMETRE TAHMINI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Kovaryans örneği: varyanslar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ADIM ADIM ÇÖZÜMLÜ ÖRNEK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4088" y="1408176"/>
            <a:ext cx="10799064" cy="548640"/>
          </a:xfrm>
          <a:prstGeom prst="roundRect">
            <a:avLst>
              <a:gd name="adj" fmla="val 16667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508760"/>
            <a:ext cx="103784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Merkezlenmiş veriler: (−1,−1), (0,1), (1,0)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04088" y="2130552"/>
            <a:ext cx="10799064" cy="1219200"/>
          </a:xfrm>
          <a:prstGeom prst="roundRect">
            <a:avLst>
              <a:gd name="adj" fmla="val 7500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" y="2249424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2295144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89304" y="2249424"/>
            <a:ext cx="10003536" cy="999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s₁² = [ (−1)² + 0² + 1² ] / 3</a:t>
            </a:r>
            <a:endParaRPr lang="en-US" sz="1920" dirty="0"/>
          </a:p>
        </p:txBody>
      </p:sp>
      <p:sp>
        <p:nvSpPr>
          <p:cNvPr id="15" name="Shape 13"/>
          <p:cNvSpPr/>
          <p:nvPr/>
        </p:nvSpPr>
        <p:spPr>
          <a:xfrm>
            <a:off x="704088" y="3514344"/>
            <a:ext cx="10799064" cy="1219200"/>
          </a:xfrm>
          <a:prstGeom prst="roundRect">
            <a:avLst>
              <a:gd name="adj" fmla="val 7500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" y="3633216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3678936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289304" y="3633216"/>
            <a:ext cx="10003536" cy="999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s₁² = (1 + 0 + 1) / 3 = 2/3</a:t>
            </a:r>
            <a:endParaRPr lang="en-US" sz="1920" dirty="0"/>
          </a:p>
        </p:txBody>
      </p:sp>
      <p:sp>
        <p:nvSpPr>
          <p:cNvPr id="19" name="Shape 17"/>
          <p:cNvSpPr/>
          <p:nvPr/>
        </p:nvSpPr>
        <p:spPr>
          <a:xfrm>
            <a:off x="704088" y="4898136"/>
            <a:ext cx="10799064" cy="1219200"/>
          </a:xfrm>
          <a:prstGeom prst="roundRect">
            <a:avLst>
              <a:gd name="adj" fmla="val 7500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" y="501700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" y="5062728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289304" y="5017008"/>
            <a:ext cx="10003536" cy="999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s₂² = [ (−1)² + 1² + 0² ] / 3 = 2/3</a:t>
            </a:r>
            <a:endParaRPr lang="en-US" sz="1920" dirty="0"/>
          </a:p>
        </p:txBody>
      </p:sp>
      <p:sp>
        <p:nvSpPr>
          <p:cNvPr id="23" name="Shape 21"/>
          <p:cNvSpPr/>
          <p:nvPr/>
        </p:nvSpPr>
        <p:spPr>
          <a:xfrm>
            <a:off x="704088" y="6254496"/>
            <a:ext cx="10799064" cy="256032"/>
          </a:xfrm>
          <a:prstGeom prst="roundRect">
            <a:avLst>
              <a:gd name="adj" fmla="val 35714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" y="6281928"/>
            <a:ext cx="10396728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 iki sütunun tahmini varyansı 2/3.</a:t>
            </a:r>
            <a:endParaRPr lang="en-US" sz="123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5.2 · PARAMETRE TAHMINI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Kovaryans örneği: kovaryans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ADIM ADIM ÇÖZÜMLÜ ÖRNEK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4088" y="1408176"/>
            <a:ext cx="10799064" cy="548640"/>
          </a:xfrm>
          <a:prstGeom prst="roundRect">
            <a:avLst>
              <a:gd name="adj" fmla="val 16667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508760"/>
            <a:ext cx="103784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Önce her gözlemdeki iki sapmayı çarpalım.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04088" y="2130552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" y="2249424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2295144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89304" y="2249424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Gözlem 1: (−1) × (−1) = 1</a:t>
            </a:r>
            <a:endParaRPr lang="en-US" sz="1920" dirty="0"/>
          </a:p>
        </p:txBody>
      </p:sp>
      <p:sp>
        <p:nvSpPr>
          <p:cNvPr id="15" name="Shape 13"/>
          <p:cNvSpPr/>
          <p:nvPr/>
        </p:nvSpPr>
        <p:spPr>
          <a:xfrm>
            <a:off x="704088" y="3168396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" y="328726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3332988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289304" y="3287268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Gözlem 2: 0 × 1 = 0</a:t>
            </a:r>
            <a:endParaRPr lang="en-US" sz="1920" dirty="0"/>
          </a:p>
        </p:txBody>
      </p:sp>
      <p:sp>
        <p:nvSpPr>
          <p:cNvPr id="19" name="Shape 17"/>
          <p:cNvSpPr/>
          <p:nvPr/>
        </p:nvSpPr>
        <p:spPr>
          <a:xfrm>
            <a:off x="704088" y="4206240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" y="4325112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" y="4370832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289304" y="4325112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Gözlem 3: 1 × 0 = 0</a:t>
            </a:r>
            <a:endParaRPr lang="en-US" sz="1920" dirty="0"/>
          </a:p>
        </p:txBody>
      </p:sp>
      <p:sp>
        <p:nvSpPr>
          <p:cNvPr id="23" name="Shape 21"/>
          <p:cNvSpPr/>
          <p:nvPr/>
        </p:nvSpPr>
        <p:spPr>
          <a:xfrm>
            <a:off x="704088" y="5244084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" y="5362956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" y="5408676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289304" y="5362956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s₁₂ = (1 + 0 + 0) / 3 = 1/3</a:t>
            </a:r>
            <a:endParaRPr lang="en-US" sz="1920" dirty="0"/>
          </a:p>
        </p:txBody>
      </p:sp>
      <p:sp>
        <p:nvSpPr>
          <p:cNvPr id="27" name="Shape 25"/>
          <p:cNvSpPr/>
          <p:nvPr/>
        </p:nvSpPr>
        <p:spPr>
          <a:xfrm>
            <a:off x="704088" y="6254496"/>
            <a:ext cx="10799064" cy="256032"/>
          </a:xfrm>
          <a:prstGeom prst="roundRect">
            <a:avLst>
              <a:gd name="adj" fmla="val 35714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6112" y="6281928"/>
            <a:ext cx="10396728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Kovaryans pozitiftir.</a:t>
            </a:r>
            <a:endParaRPr lang="en-US" sz="123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5.2 · PARAMETRE TAHMINI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Kovaryans örneği: matris ve korelasyon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ADIM ADIM ÇÖZÜMLÜ ÖRNEK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4088" y="1408176"/>
            <a:ext cx="10799064" cy="548640"/>
          </a:xfrm>
          <a:prstGeom prst="roundRect">
            <a:avLst>
              <a:gd name="adj" fmla="val 16667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508760"/>
            <a:ext cx="103784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Artık s₁² = s₂² = 2/3 ve s₁₂ = 1/3 biliyoruz.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04088" y="2130552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" y="2249424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2295144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89304" y="2249424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 = [[2/3, 1/3], [1/3, 2/3]]</a:t>
            </a:r>
            <a:endParaRPr lang="en-US" sz="1920" dirty="0"/>
          </a:p>
        </p:txBody>
      </p:sp>
      <p:sp>
        <p:nvSpPr>
          <p:cNvPr id="15" name="Shape 13"/>
          <p:cNvSpPr/>
          <p:nvPr/>
        </p:nvSpPr>
        <p:spPr>
          <a:xfrm>
            <a:off x="704088" y="3168396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" y="328726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3332988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289304" y="3287268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s₁ = √(2/3), s₂ = √(2/3)</a:t>
            </a:r>
            <a:endParaRPr lang="en-US" sz="1920" dirty="0"/>
          </a:p>
        </p:txBody>
      </p:sp>
      <p:sp>
        <p:nvSpPr>
          <p:cNvPr id="19" name="Shape 17"/>
          <p:cNvSpPr/>
          <p:nvPr/>
        </p:nvSpPr>
        <p:spPr>
          <a:xfrm>
            <a:off x="704088" y="4206240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" y="4325112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" y="4370832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289304" y="4325112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r₁₂ = (1/3) / [√(2/3) × √(2/3)]</a:t>
            </a:r>
            <a:endParaRPr lang="en-US" sz="1920" dirty="0"/>
          </a:p>
        </p:txBody>
      </p:sp>
      <p:sp>
        <p:nvSpPr>
          <p:cNvPr id="23" name="Shape 21"/>
          <p:cNvSpPr/>
          <p:nvPr/>
        </p:nvSpPr>
        <p:spPr>
          <a:xfrm>
            <a:off x="704088" y="5244084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" y="5362956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" y="5408676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289304" y="5362956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r₁₂ = (1/3) / (2/3) = 0,5</a:t>
            </a:r>
            <a:endParaRPr lang="en-US" sz="1920" dirty="0"/>
          </a:p>
        </p:txBody>
      </p:sp>
      <p:sp>
        <p:nvSpPr>
          <p:cNvPr id="27" name="Shape 25"/>
          <p:cNvSpPr/>
          <p:nvPr/>
        </p:nvSpPr>
        <p:spPr>
          <a:xfrm>
            <a:off x="704088" y="6254496"/>
            <a:ext cx="10799064" cy="256032"/>
          </a:xfrm>
          <a:prstGeom prst="roundRect">
            <a:avLst>
              <a:gd name="adj" fmla="val 35714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6112" y="6281928"/>
            <a:ext cx="10396728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Pozitif korelasyon var; N−1 kullanılsa da korelasyon değişmez.</a:t>
            </a:r>
            <a:endParaRPr lang="en-US" sz="123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5.2 · PARAMETRE TAHMINI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Kısa kontrol: kovaryans matrisi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SINIF İÇİ KISA ALIŞTIRMA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1591056"/>
            <a:ext cx="10789920" cy="2029968"/>
          </a:xfrm>
          <a:prstGeom prst="roundRect">
            <a:avLst>
              <a:gd name="adj" fmla="val 4505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865376"/>
            <a:ext cx="27432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SORU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87552" y="2350008"/>
            <a:ext cx="10058400" cy="9052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Σ = [[9, −3], [−3, 4]] ise standart sapmalar ve korelasyon nedir?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94944" y="3931920"/>
            <a:ext cx="10789920" cy="1517904"/>
          </a:xfrm>
          <a:prstGeom prst="roundRect">
            <a:avLst>
              <a:gd name="adj" fmla="val 6024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4169664"/>
            <a:ext cx="45720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4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ÇÖZÜM / CEVAP</a:t>
            </a:r>
            <a:endParaRPr lang="en-US" sz="1640" dirty="0"/>
          </a:p>
        </p:txBody>
      </p:sp>
      <p:sp>
        <p:nvSpPr>
          <p:cNvPr id="14" name="Text 12"/>
          <p:cNvSpPr/>
          <p:nvPr/>
        </p:nvSpPr>
        <p:spPr>
          <a:xfrm>
            <a:off x="987552" y="4572000"/>
            <a:ext cx="10067544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σ₁ = 3, σ₂ = 2; ρ = −3/(3×2) = −0,5.</a:t>
            </a:r>
            <a:endParaRPr lang="en-US" sz="1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28B50"/>
          </a:solidFill>
          <a:ln w="12700">
            <a:solidFill>
              <a:srgbClr val="D28B5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512064"/>
            <a:ext cx="10058400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A4D3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ÜNİTE / ÇOK DEĞİŞKENLİ YÖNTEMLER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94944" y="1371600"/>
            <a:ext cx="4114800" cy="1225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0" b="1" dirty="0">
                <a:solidFill>
                  <a:srgbClr val="83CE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5.3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713232" y="2761488"/>
            <a:ext cx="1069848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Eksik Değerlerin Tahmini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722376" y="3977640"/>
            <a:ext cx="10460736" cy="0"/>
          </a:xfrm>
          <a:prstGeom prst="line">
            <a:avLst/>
          </a:prstGeom>
          <a:noFill/>
          <a:ln w="19050">
            <a:solidFill>
              <a:srgbClr val="4871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4370832"/>
            <a:ext cx="9966960" cy="9509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D7E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Eksik veriyi silmek yerine, hangi bilgilerle tamamlayabiliriz?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128248" y="6473952"/>
            <a:ext cx="438912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9CB9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5.3 · EKSIK DEĞERLERIN TAHMINI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Eksik veri (Missing Value) nedir?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KAVRAM VE AÇIKLAMA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1472184"/>
            <a:ext cx="10863072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80" b="1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Bir gözlem var ama özelliklerden birinin değeri bilinmiyor.</a:t>
            </a:r>
            <a:endParaRPr lang="en-US" sz="1980" dirty="0"/>
          </a:p>
        </p:txBody>
      </p:sp>
      <p:sp>
        <p:nvSpPr>
          <p:cNvPr id="10" name="Shape 8"/>
          <p:cNvSpPr/>
          <p:nvPr/>
        </p:nvSpPr>
        <p:spPr>
          <a:xfrm>
            <a:off x="685800" y="2221992"/>
            <a:ext cx="10835640" cy="1033272"/>
          </a:xfrm>
          <a:prstGeom prst="roundRect">
            <a:avLst>
              <a:gd name="adj" fmla="val 8850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386584"/>
            <a:ext cx="1041501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2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Kayıt silme</a:t>
            </a:r>
            <a:endParaRPr lang="en-US" sz="1720" dirty="0"/>
          </a:p>
        </p:txBody>
      </p:sp>
      <p:sp>
        <p:nvSpPr>
          <p:cNvPr id="12" name="Text 10"/>
          <p:cNvSpPr/>
          <p:nvPr/>
        </p:nvSpPr>
        <p:spPr>
          <a:xfrm>
            <a:off x="896112" y="2880360"/>
            <a:ext cx="10415016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1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Eksik değer içeren gözlemi tamamen çıkarırız. Az verili çalışmalarda ciddi bilgi kaybı oluşabilir.</a:t>
            </a:r>
            <a:endParaRPr lang="en-US" sz="1710" dirty="0"/>
          </a:p>
        </p:txBody>
      </p:sp>
      <p:sp>
        <p:nvSpPr>
          <p:cNvPr id="13" name="Shape 11"/>
          <p:cNvSpPr/>
          <p:nvPr/>
        </p:nvSpPr>
        <p:spPr>
          <a:xfrm>
            <a:off x="685800" y="3401568"/>
            <a:ext cx="10835640" cy="1033272"/>
          </a:xfrm>
          <a:prstGeom prst="roundRect">
            <a:avLst>
              <a:gd name="adj" fmla="val 8850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566160"/>
            <a:ext cx="1041501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2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Imputation</a:t>
            </a:r>
            <a:endParaRPr lang="en-US" sz="1720" dirty="0"/>
          </a:p>
        </p:txBody>
      </p:sp>
      <p:sp>
        <p:nvSpPr>
          <p:cNvPr id="15" name="Text 13"/>
          <p:cNvSpPr/>
          <p:nvPr/>
        </p:nvSpPr>
        <p:spPr>
          <a:xfrm>
            <a:off x="896112" y="4059936"/>
            <a:ext cx="10415016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1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Eksik değeri ortalama, mod veya tahmin modeliyle doldururuz.</a:t>
            </a:r>
            <a:endParaRPr lang="en-US" sz="1710" dirty="0"/>
          </a:p>
        </p:txBody>
      </p:sp>
      <p:sp>
        <p:nvSpPr>
          <p:cNvPr id="16" name="Shape 14"/>
          <p:cNvSpPr/>
          <p:nvPr/>
        </p:nvSpPr>
        <p:spPr>
          <a:xfrm>
            <a:off x="685800" y="4581144"/>
            <a:ext cx="10835640" cy="1033272"/>
          </a:xfrm>
          <a:prstGeom prst="roundRect">
            <a:avLst>
              <a:gd name="adj" fmla="val 8850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745736"/>
            <a:ext cx="1041501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2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Eksiklik göstergesi</a:t>
            </a:r>
            <a:endParaRPr lang="en-US" sz="1720" dirty="0"/>
          </a:p>
        </p:txBody>
      </p:sp>
      <p:sp>
        <p:nvSpPr>
          <p:cNvPr id="18" name="Text 16"/>
          <p:cNvSpPr/>
          <p:nvPr/>
        </p:nvSpPr>
        <p:spPr>
          <a:xfrm>
            <a:off x="896112" y="5239512"/>
            <a:ext cx="10415016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1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Değerin eksik olması da anlam taşıyabilir. İkinci bir özellik (eksik = 1 / var = 0) eklenebilir.</a:t>
            </a:r>
            <a:endParaRPr lang="en-US" sz="1710" dirty="0"/>
          </a:p>
        </p:txBody>
      </p:sp>
      <p:sp>
        <p:nvSpPr>
          <p:cNvPr id="19" name="Shape 17"/>
          <p:cNvSpPr/>
          <p:nvPr/>
        </p:nvSpPr>
        <p:spPr>
          <a:xfrm>
            <a:off x="685800" y="5824728"/>
            <a:ext cx="10835640" cy="566928"/>
          </a:xfrm>
          <a:prstGeom prst="roundRect">
            <a:avLst>
              <a:gd name="adj" fmla="val 16129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934456"/>
            <a:ext cx="103784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3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 FİKİR  Yöntem seçimi, verinin türüne ve neden eksik olduğuna bağlıdır.</a:t>
            </a:r>
            <a:endParaRPr lang="en-US" sz="153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5.3 · EKSIK DEĞERLERIN TAHMINI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Eksik değer örneği: önce ve sonra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ÖZET TABLO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1554480"/>
            <a:ext cx="1828800" cy="493776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1645920"/>
            <a:ext cx="166420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Öğrenci</a:t>
            </a:r>
            <a:endParaRPr lang="en-US" sz="1430" dirty="0"/>
          </a:p>
        </p:txBody>
      </p:sp>
      <p:sp>
        <p:nvSpPr>
          <p:cNvPr id="11" name="Shape 9"/>
          <p:cNvSpPr/>
          <p:nvPr/>
        </p:nvSpPr>
        <p:spPr>
          <a:xfrm>
            <a:off x="2523744" y="1554480"/>
            <a:ext cx="2011680" cy="493776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15184" y="1645920"/>
            <a:ext cx="184708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Yaş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4535424" y="1554480"/>
            <a:ext cx="3383280" cy="493776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6864" y="1645920"/>
            <a:ext cx="321868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Orijinal not</a:t>
            </a:r>
            <a:endParaRPr lang="en-US" sz="1430" dirty="0"/>
          </a:p>
        </p:txBody>
      </p:sp>
      <p:sp>
        <p:nvSpPr>
          <p:cNvPr id="15" name="Shape 13"/>
          <p:cNvSpPr/>
          <p:nvPr/>
        </p:nvSpPr>
        <p:spPr>
          <a:xfrm>
            <a:off x="7918704" y="1554480"/>
            <a:ext cx="3575304" cy="493776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10144" y="1645920"/>
            <a:ext cx="341071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Ortalamayla doldurma</a:t>
            </a:r>
            <a:endParaRPr lang="en-US" sz="1430" dirty="0"/>
          </a:p>
        </p:txBody>
      </p:sp>
      <p:sp>
        <p:nvSpPr>
          <p:cNvPr id="17" name="Shape 15"/>
          <p:cNvSpPr/>
          <p:nvPr/>
        </p:nvSpPr>
        <p:spPr>
          <a:xfrm>
            <a:off x="694944" y="2048256"/>
            <a:ext cx="1828800" cy="640080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" y="2130552"/>
            <a:ext cx="1627632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520" dirty="0"/>
          </a:p>
        </p:txBody>
      </p:sp>
      <p:sp>
        <p:nvSpPr>
          <p:cNvPr id="19" name="Shape 17"/>
          <p:cNvSpPr/>
          <p:nvPr/>
        </p:nvSpPr>
        <p:spPr>
          <a:xfrm>
            <a:off x="2523744" y="2048256"/>
            <a:ext cx="2011680" cy="640080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24328" y="2130552"/>
            <a:ext cx="1810512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1520" dirty="0"/>
          </a:p>
        </p:txBody>
      </p:sp>
      <p:sp>
        <p:nvSpPr>
          <p:cNvPr id="21" name="Shape 19"/>
          <p:cNvSpPr/>
          <p:nvPr/>
        </p:nvSpPr>
        <p:spPr>
          <a:xfrm>
            <a:off x="4535424" y="2048256"/>
            <a:ext cx="3383280" cy="640080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36008" y="2130552"/>
            <a:ext cx="3182112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</a:t>
            </a:r>
            <a:endParaRPr lang="en-US" sz="1520" dirty="0"/>
          </a:p>
        </p:txBody>
      </p:sp>
      <p:sp>
        <p:nvSpPr>
          <p:cNvPr id="23" name="Shape 21"/>
          <p:cNvSpPr/>
          <p:nvPr/>
        </p:nvSpPr>
        <p:spPr>
          <a:xfrm>
            <a:off x="7918704" y="2048256"/>
            <a:ext cx="3575304" cy="640080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19288" y="2130552"/>
            <a:ext cx="3374136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</a:t>
            </a:r>
            <a:endParaRPr lang="en-US" sz="1520" dirty="0"/>
          </a:p>
        </p:txBody>
      </p:sp>
      <p:sp>
        <p:nvSpPr>
          <p:cNvPr id="25" name="Shape 23"/>
          <p:cNvSpPr/>
          <p:nvPr/>
        </p:nvSpPr>
        <p:spPr>
          <a:xfrm>
            <a:off x="694944" y="2688336"/>
            <a:ext cx="1828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2770632"/>
            <a:ext cx="1627632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520" dirty="0"/>
          </a:p>
        </p:txBody>
      </p:sp>
      <p:sp>
        <p:nvSpPr>
          <p:cNvPr id="27" name="Shape 25"/>
          <p:cNvSpPr/>
          <p:nvPr/>
        </p:nvSpPr>
        <p:spPr>
          <a:xfrm>
            <a:off x="2523744" y="2688336"/>
            <a:ext cx="2011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24328" y="2770632"/>
            <a:ext cx="1810512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1520" dirty="0"/>
          </a:p>
        </p:txBody>
      </p:sp>
      <p:sp>
        <p:nvSpPr>
          <p:cNvPr id="29" name="Shape 27"/>
          <p:cNvSpPr/>
          <p:nvPr/>
        </p:nvSpPr>
        <p:spPr>
          <a:xfrm>
            <a:off x="4535424" y="2688336"/>
            <a:ext cx="33832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36008" y="2770632"/>
            <a:ext cx="3182112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</a:t>
            </a:r>
            <a:endParaRPr lang="en-US" sz="1520" dirty="0"/>
          </a:p>
        </p:txBody>
      </p:sp>
      <p:sp>
        <p:nvSpPr>
          <p:cNvPr id="31" name="Shape 29"/>
          <p:cNvSpPr/>
          <p:nvPr/>
        </p:nvSpPr>
        <p:spPr>
          <a:xfrm>
            <a:off x="7918704" y="2688336"/>
            <a:ext cx="357530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19288" y="2770632"/>
            <a:ext cx="3374136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</a:t>
            </a:r>
            <a:endParaRPr lang="en-US" sz="1520" dirty="0"/>
          </a:p>
        </p:txBody>
      </p:sp>
      <p:sp>
        <p:nvSpPr>
          <p:cNvPr id="33" name="Shape 31"/>
          <p:cNvSpPr/>
          <p:nvPr/>
        </p:nvSpPr>
        <p:spPr>
          <a:xfrm>
            <a:off x="694944" y="3328416"/>
            <a:ext cx="1828800" cy="640080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5528" y="3410712"/>
            <a:ext cx="1627632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520" dirty="0"/>
          </a:p>
        </p:txBody>
      </p:sp>
      <p:sp>
        <p:nvSpPr>
          <p:cNvPr id="35" name="Shape 33"/>
          <p:cNvSpPr/>
          <p:nvPr/>
        </p:nvSpPr>
        <p:spPr>
          <a:xfrm>
            <a:off x="2523744" y="3328416"/>
            <a:ext cx="2011680" cy="640080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24328" y="3410712"/>
            <a:ext cx="1810512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1520" dirty="0"/>
          </a:p>
        </p:txBody>
      </p:sp>
      <p:sp>
        <p:nvSpPr>
          <p:cNvPr id="37" name="Shape 35"/>
          <p:cNvSpPr/>
          <p:nvPr/>
        </p:nvSpPr>
        <p:spPr>
          <a:xfrm>
            <a:off x="4535424" y="3328416"/>
            <a:ext cx="3383280" cy="640080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36008" y="3410712"/>
            <a:ext cx="3182112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Eksik</a:t>
            </a:r>
            <a:endParaRPr lang="en-US" sz="1520" dirty="0"/>
          </a:p>
        </p:txBody>
      </p:sp>
      <p:sp>
        <p:nvSpPr>
          <p:cNvPr id="39" name="Shape 37"/>
          <p:cNvSpPr/>
          <p:nvPr/>
        </p:nvSpPr>
        <p:spPr>
          <a:xfrm>
            <a:off x="7918704" y="3328416"/>
            <a:ext cx="3575304" cy="640080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19288" y="3410712"/>
            <a:ext cx="3374136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</a:t>
            </a:r>
            <a:endParaRPr lang="en-US" sz="1520" dirty="0"/>
          </a:p>
        </p:txBody>
      </p:sp>
      <p:sp>
        <p:nvSpPr>
          <p:cNvPr id="41" name="Shape 39"/>
          <p:cNvSpPr/>
          <p:nvPr/>
        </p:nvSpPr>
        <p:spPr>
          <a:xfrm>
            <a:off x="694944" y="3968496"/>
            <a:ext cx="1828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5528" y="4050792"/>
            <a:ext cx="1627632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520" dirty="0"/>
          </a:p>
        </p:txBody>
      </p:sp>
      <p:sp>
        <p:nvSpPr>
          <p:cNvPr id="43" name="Shape 41"/>
          <p:cNvSpPr/>
          <p:nvPr/>
        </p:nvSpPr>
        <p:spPr>
          <a:xfrm>
            <a:off x="2523744" y="3968496"/>
            <a:ext cx="2011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24328" y="4050792"/>
            <a:ext cx="1810512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1520" dirty="0"/>
          </a:p>
        </p:txBody>
      </p:sp>
      <p:sp>
        <p:nvSpPr>
          <p:cNvPr id="45" name="Shape 43"/>
          <p:cNvSpPr/>
          <p:nvPr/>
        </p:nvSpPr>
        <p:spPr>
          <a:xfrm>
            <a:off x="4535424" y="3968496"/>
            <a:ext cx="33832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36008" y="4050792"/>
            <a:ext cx="3182112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</a:t>
            </a:r>
            <a:endParaRPr lang="en-US" sz="1520" dirty="0"/>
          </a:p>
        </p:txBody>
      </p:sp>
      <p:sp>
        <p:nvSpPr>
          <p:cNvPr id="47" name="Shape 45"/>
          <p:cNvSpPr/>
          <p:nvPr/>
        </p:nvSpPr>
        <p:spPr>
          <a:xfrm>
            <a:off x="7918704" y="3968496"/>
            <a:ext cx="357530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019288" y="4050792"/>
            <a:ext cx="3374136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</a:t>
            </a:r>
            <a:endParaRPr lang="en-US" sz="1520" dirty="0"/>
          </a:p>
        </p:txBody>
      </p:sp>
      <p:sp>
        <p:nvSpPr>
          <p:cNvPr id="49" name="Shape 47"/>
          <p:cNvSpPr/>
          <p:nvPr/>
        </p:nvSpPr>
        <p:spPr>
          <a:xfrm>
            <a:off x="704088" y="5907024"/>
            <a:ext cx="10799064" cy="466344"/>
          </a:xfrm>
          <a:prstGeom prst="roundRect">
            <a:avLst>
              <a:gd name="adj" fmla="val 19608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96112" y="6016752"/>
            <a:ext cx="103784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Görülen notların ortalaması = (70 + 80 + 90)/3 = 80.</a:t>
            </a:r>
            <a:endParaRPr lang="en-US" sz="14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5.3 · EKSIK DEĞERLERIN TAHMINI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Eksik notu regresyonla doldurma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ADIM ADIM ÇÖZÜMLÜ ÖRNEK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4088" y="1408176"/>
            <a:ext cx="10799064" cy="548640"/>
          </a:xfrm>
          <a:prstGeom prst="roundRect">
            <a:avLst>
              <a:gd name="adj" fmla="val 16667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508760"/>
            <a:ext cx="103784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Çalışma saati x = 6; öğrenilmiş regresyon: y = 10x + 30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04088" y="2130552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" y="2249424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2295144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89304" y="2249424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Bilinen özelliği bul: x = 6 saat</a:t>
            </a:r>
            <a:endParaRPr lang="en-US" sz="1920" dirty="0"/>
          </a:p>
        </p:txBody>
      </p:sp>
      <p:sp>
        <p:nvSpPr>
          <p:cNvPr id="15" name="Shape 13"/>
          <p:cNvSpPr/>
          <p:nvPr/>
        </p:nvSpPr>
        <p:spPr>
          <a:xfrm>
            <a:off x="704088" y="3168396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" y="328726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3332988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289304" y="3287268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Regresyon formülünde yerine koy: 10 × 6 + 30</a:t>
            </a:r>
            <a:endParaRPr lang="en-US" sz="1920" dirty="0"/>
          </a:p>
        </p:txBody>
      </p:sp>
      <p:sp>
        <p:nvSpPr>
          <p:cNvPr id="19" name="Shape 17"/>
          <p:cNvSpPr/>
          <p:nvPr/>
        </p:nvSpPr>
        <p:spPr>
          <a:xfrm>
            <a:off x="704088" y="4206240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" y="4325112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" y="4370832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289304" y="4325112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Tahmin edilen not: 60 + 30 = 90</a:t>
            </a:r>
            <a:endParaRPr lang="en-US" sz="1920" dirty="0"/>
          </a:p>
        </p:txBody>
      </p:sp>
      <p:sp>
        <p:nvSpPr>
          <p:cNvPr id="23" name="Shape 21"/>
          <p:cNvSpPr/>
          <p:nvPr/>
        </p:nvSpPr>
        <p:spPr>
          <a:xfrm>
            <a:off x="704088" y="5244084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" y="5362956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" y="5408676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289304" y="5362956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Ortalama yöntemi: (50 + 70 + 110)/3 ≈ 76,67</a:t>
            </a:r>
            <a:endParaRPr lang="en-US" sz="1920" dirty="0"/>
          </a:p>
        </p:txBody>
      </p:sp>
      <p:sp>
        <p:nvSpPr>
          <p:cNvPr id="27" name="Shape 25"/>
          <p:cNvSpPr/>
          <p:nvPr/>
        </p:nvSpPr>
        <p:spPr>
          <a:xfrm>
            <a:off x="704088" y="6254496"/>
            <a:ext cx="10799064" cy="256032"/>
          </a:xfrm>
          <a:prstGeom prst="roundRect">
            <a:avLst>
              <a:gd name="adj" fmla="val 35714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6112" y="6281928"/>
            <a:ext cx="10396728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Regresyon, diğer sütunların verdiği bilgiyi kullanır.</a:t>
            </a:r>
            <a:endParaRPr lang="en-US" sz="123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5.3 · EKSIK DEĞERLERIN TAHMINI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Eksiklik bilgi taşır mı?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KARŞILAŞTIRMA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1527048"/>
            <a:ext cx="5294376" cy="4306824"/>
          </a:xfrm>
          <a:prstGeom prst="roundRect">
            <a:avLst>
              <a:gd name="adj" fmla="val 2123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1691640"/>
            <a:ext cx="487375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2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Eksik ≠ sıfır</a:t>
            </a:r>
            <a:endParaRPr lang="en-US" sz="1720" dirty="0"/>
          </a:p>
        </p:txBody>
      </p:sp>
      <p:sp>
        <p:nvSpPr>
          <p:cNvPr id="11" name="Text 9"/>
          <p:cNvSpPr/>
          <p:nvPr/>
        </p:nvSpPr>
        <p:spPr>
          <a:xfrm>
            <a:off x="905256" y="2185416"/>
            <a:ext cx="4873752" cy="3456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Gelir açıklanmaması ile gelirin 0 TL olması aynı şey değildir.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İki sütun kullanılabilir: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GelirTahmini = …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GelirEksik = 1 / 0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245352" y="1527048"/>
            <a:ext cx="5266944" cy="4306824"/>
          </a:xfrm>
          <a:prstGeom prst="roundRect">
            <a:avLst>
              <a:gd name="adj" fmla="val 2123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5664" y="1691640"/>
            <a:ext cx="48463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2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 sızıntısı (Data Leakage)</a:t>
            </a:r>
            <a:endParaRPr lang="en-US" sz="1720" dirty="0"/>
          </a:p>
        </p:txBody>
      </p:sp>
      <p:sp>
        <p:nvSpPr>
          <p:cNvPr id="14" name="Text 12"/>
          <p:cNvSpPr/>
          <p:nvPr/>
        </p:nvSpPr>
        <p:spPr>
          <a:xfrm>
            <a:off x="6455664" y="2185416"/>
            <a:ext cx="4846320" cy="3456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Ortalama, mod veya imputasyon modeli SADECE eğitim seti üzerinde öğrenilir.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ve test verilerinde eğitim setinde öğrenilen dönüşüm uygulanır.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94944" y="5971032"/>
            <a:ext cx="10826496" cy="484632"/>
          </a:xfrm>
          <a:prstGeom prst="roundRect">
            <a:avLst>
              <a:gd name="adj" fmla="val 18868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" y="6053328"/>
            <a:ext cx="1039672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kümesinin ortalamasını kullanmak, performans ölçümüne geleceğe ait bilgi karıştırır.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5.3 · EKSIK DEĞERLERIN TAHMINI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Kontrol: eksik değer stratejisi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SINIF İÇİ KISA ALIŞTIRMA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1591056"/>
            <a:ext cx="10789920" cy="2029968"/>
          </a:xfrm>
          <a:prstGeom prst="roundRect">
            <a:avLst>
              <a:gd name="adj" fmla="val 4505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865376"/>
            <a:ext cx="27432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SORU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87552" y="2350008"/>
            <a:ext cx="10058400" cy="9052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 kümesindeki “Şehir” değişkeni kategorik; “Gelir” sayısaldır. Basit doldurma seçenekleri nelerdir?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94944" y="3931920"/>
            <a:ext cx="10789920" cy="1517904"/>
          </a:xfrm>
          <a:prstGeom prst="roundRect">
            <a:avLst>
              <a:gd name="adj" fmla="val 6024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4169664"/>
            <a:ext cx="45720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4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ÇÖZÜM / CEVAP</a:t>
            </a:r>
            <a:endParaRPr lang="en-US" sz="1640" dirty="0"/>
          </a:p>
        </p:txBody>
      </p:sp>
      <p:sp>
        <p:nvSpPr>
          <p:cNvPr id="14" name="Text 12"/>
          <p:cNvSpPr/>
          <p:nvPr/>
        </p:nvSpPr>
        <p:spPr>
          <a:xfrm>
            <a:off x="987552" y="4572000"/>
            <a:ext cx="10067544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Şehir → en sık görülen kategori (mod); Gelir → eğitim kümesi ortalaması veya tahmin modeli.</a:t>
            </a:r>
            <a:endParaRPr lang="en-US" sz="1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1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28B50"/>
          </a:solidFill>
          <a:ln w="12700">
            <a:solidFill>
              <a:srgbClr val="D28B5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512064"/>
            <a:ext cx="10058400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A4D3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ÜNİTE / ÇOK DEĞİŞKENLİ YÖNTEMLER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94944" y="1371600"/>
            <a:ext cx="4114800" cy="1225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0" b="1" dirty="0">
                <a:solidFill>
                  <a:srgbClr val="83CE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5.4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713232" y="2761488"/>
            <a:ext cx="1069848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Çok Değişkenli Normal Dağılım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722376" y="3977640"/>
            <a:ext cx="10460736" cy="0"/>
          </a:xfrm>
          <a:prstGeom prst="line">
            <a:avLst/>
          </a:prstGeom>
          <a:noFill/>
          <a:ln w="19050">
            <a:solidFill>
              <a:srgbClr val="4871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4370832"/>
            <a:ext cx="9966960" cy="9509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D7E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Dağılımın merkezini μ, şeklini ve yönünü Σ belirler.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128248" y="6473952"/>
            <a:ext cx="438912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9CB9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5.4 · ÇOK DEĞIŞKENLI NORMAL DAĞILIM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5.1 — İki değişkenli normal dağılım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KAYNAK ŞEKLİN YORUMU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4088" y="1426464"/>
            <a:ext cx="6766560" cy="4507992"/>
          </a:xfrm>
          <a:prstGeom prst="roundRect">
            <a:avLst>
              <a:gd name="adj" fmla="val 2028"/>
            </a:avLst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pic>
        <p:nvPicPr>
          <p:cNvPr id="10" name="Image 0" descr="/mnt/data/image(9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554480"/>
            <a:ext cx="6510528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772400" y="1426464"/>
            <a:ext cx="3712464" cy="4507992"/>
          </a:xfrm>
          <a:prstGeom prst="roundRect">
            <a:avLst>
              <a:gd name="adj" fmla="val 2463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55280" y="1609344"/>
            <a:ext cx="3346704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Grafik nasıl okunur?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7955280" y="2112264"/>
            <a:ext cx="301752" cy="301752"/>
          </a:xfrm>
          <a:prstGeom prst="roundRect">
            <a:avLst>
              <a:gd name="adj" fmla="val 30303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14716" y="2153412"/>
            <a:ext cx="17373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30" dirty="0"/>
          </a:p>
        </p:txBody>
      </p:sp>
      <p:sp>
        <p:nvSpPr>
          <p:cNvPr id="15" name="Text 12"/>
          <p:cNvSpPr/>
          <p:nvPr/>
        </p:nvSpPr>
        <p:spPr>
          <a:xfrm>
            <a:off x="8375904" y="2084832"/>
            <a:ext cx="287121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Yatay eksenler: x₁ ve x₂ özellikleri.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955280" y="3054096"/>
            <a:ext cx="301752" cy="301752"/>
          </a:xfrm>
          <a:prstGeom prst="roundRect">
            <a:avLst>
              <a:gd name="adj" fmla="val 30303"/>
            </a:avLst>
          </a:prstGeom>
          <a:solidFill>
            <a:srgbClr val="487FA7"/>
          </a:solidFill>
          <a:ln w="12700">
            <a:solidFill>
              <a:srgbClr val="487FA7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14716" y="3095244"/>
            <a:ext cx="17373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30" dirty="0"/>
          </a:p>
        </p:txBody>
      </p:sp>
      <p:sp>
        <p:nvSpPr>
          <p:cNvPr id="18" name="Text 15"/>
          <p:cNvSpPr/>
          <p:nvPr/>
        </p:nvSpPr>
        <p:spPr>
          <a:xfrm>
            <a:off x="8375904" y="3026664"/>
            <a:ext cx="287121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Dikey eksen: p(x₁, x₂), olasılık yoğunluğu.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955280" y="3995928"/>
            <a:ext cx="301752" cy="301752"/>
          </a:xfrm>
          <a:prstGeom prst="roundRect">
            <a:avLst>
              <a:gd name="adj" fmla="val 30303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014716" y="4037076"/>
            <a:ext cx="17373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30" dirty="0"/>
          </a:p>
        </p:txBody>
      </p:sp>
      <p:sp>
        <p:nvSpPr>
          <p:cNvPr id="21" name="Text 18"/>
          <p:cNvSpPr/>
          <p:nvPr/>
        </p:nvSpPr>
        <p:spPr>
          <a:xfrm>
            <a:off x="8375904" y="3968496"/>
            <a:ext cx="287121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yüksek nokta merkez çevresindedir; tek nokta olasılığı değildir.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704088" y="6016752"/>
            <a:ext cx="10808208" cy="448056"/>
          </a:xfrm>
          <a:prstGeom prst="roundRect">
            <a:avLst>
              <a:gd name="adj" fmla="val 20408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77824" y="6089904"/>
            <a:ext cx="1045159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Tepe, yüksek olasılık yoğunluğunu; yayılım, kovaryans yapısını gösterir.</a:t>
            </a:r>
            <a:endParaRPr lang="en-US" sz="133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5.4 · ÇOK DEĞIŞKENLI NORMAL DAĞILIM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Çok değişkenli Gaussian yoğunluğu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FORMÜLÜ OKUYALIM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1463040"/>
            <a:ext cx="10799064" cy="1234440"/>
          </a:xfrm>
          <a:prstGeom prst="roundRect">
            <a:avLst>
              <a:gd name="adj" fmla="val 7407"/>
            </a:avLst>
          </a:prstGeom>
          <a:solidFill>
            <a:srgbClr val="11283D"/>
          </a:solidFill>
          <a:ln w="12700">
            <a:solidFill>
              <a:srgbClr val="11283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737360"/>
            <a:ext cx="1013155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p(x) = exp[−½(x−μ)ᵀΣ⁻¹(x−μ)] / [(2π)ᵈᐟ² |Σ|¹ᐟ²]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77240" y="2953512"/>
            <a:ext cx="1065276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~ N_d(μ, Σ) ile gösterilir.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68096" y="3694176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3776472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μ: dağılımın merkezi (ortalama vektörü)</a:t>
            </a:r>
            <a:endParaRPr lang="en-US" sz="1660" dirty="0"/>
          </a:p>
        </p:txBody>
      </p:sp>
      <p:sp>
        <p:nvSpPr>
          <p:cNvPr id="14" name="Shape 12"/>
          <p:cNvSpPr/>
          <p:nvPr/>
        </p:nvSpPr>
        <p:spPr>
          <a:xfrm>
            <a:off x="768096" y="4251960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4334256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Σ: dağılımın şekli, ölçeği ve yönelimi</a:t>
            </a:r>
            <a:endParaRPr lang="en-US" sz="1660" dirty="0"/>
          </a:p>
        </p:txBody>
      </p:sp>
      <p:sp>
        <p:nvSpPr>
          <p:cNvPr id="16" name="Shape 14"/>
          <p:cNvSpPr/>
          <p:nvPr/>
        </p:nvSpPr>
        <p:spPr>
          <a:xfrm>
            <a:off x="768096" y="4809744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4892040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Σ⁻¹: kovaryans matrisinin tersi; |Σ|: determinant</a:t>
            </a:r>
            <a:endParaRPr lang="en-US" sz="166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5.4 · ÇOK DEĞIŞKENLI NORMAL DAĞILIM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Formüldeki iki ana bileşen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KARŞILAŞTIRMA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1527048"/>
            <a:ext cx="5294376" cy="4306824"/>
          </a:xfrm>
          <a:prstGeom prst="roundRect">
            <a:avLst>
              <a:gd name="adj" fmla="val 2123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1691640"/>
            <a:ext cx="487375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2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Ölçek / normalleştirme</a:t>
            </a:r>
            <a:endParaRPr lang="en-US" sz="1720" dirty="0"/>
          </a:p>
        </p:txBody>
      </p:sp>
      <p:sp>
        <p:nvSpPr>
          <p:cNvPr id="11" name="Text 9"/>
          <p:cNvSpPr/>
          <p:nvPr/>
        </p:nvSpPr>
        <p:spPr>
          <a:xfrm>
            <a:off x="905256" y="2185416"/>
            <a:ext cx="4873752" cy="3456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[(2π)^(d/2) √|Σ|]</a:t>
            </a:r>
            <a:endParaRPr lang="en-US" sz="1760" dirty="0"/>
          </a:p>
          <a:p>
            <a:pPr algn="l" indent="0" marL="0">
              <a:buNone/>
            </a:pPr>
            <a:endParaRPr lang="en-US" sz="1760" dirty="0"/>
          </a:p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Yoğunluk fonksiyonunun tüm uzaydaki integralinin 1 olmasını sağlar.</a:t>
            </a:r>
            <a:endParaRPr lang="en-US" sz="1760" dirty="0"/>
          </a:p>
          <a:p>
            <a:pPr algn="l" indent="0" marL="0">
              <a:buNone/>
            </a:pPr>
            <a:endParaRPr lang="en-US" sz="1760" dirty="0"/>
          </a:p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Dağılımın ne kadar yaygın olduğunu etkiler.</a:t>
            </a:r>
            <a:endParaRPr lang="en-US" sz="1760" dirty="0"/>
          </a:p>
        </p:txBody>
      </p:sp>
      <p:sp>
        <p:nvSpPr>
          <p:cNvPr id="12" name="Shape 10"/>
          <p:cNvSpPr/>
          <p:nvPr/>
        </p:nvSpPr>
        <p:spPr>
          <a:xfrm>
            <a:off x="6245352" y="1527048"/>
            <a:ext cx="5266944" cy="4306824"/>
          </a:xfrm>
          <a:prstGeom prst="roundRect">
            <a:avLst>
              <a:gd name="adj" fmla="val 2123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5664" y="1691640"/>
            <a:ext cx="48463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2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Uzaklık / üstel bölüm</a:t>
            </a:r>
            <a:endParaRPr lang="en-US" sz="1720" dirty="0"/>
          </a:p>
        </p:txBody>
      </p:sp>
      <p:sp>
        <p:nvSpPr>
          <p:cNvPr id="14" name="Text 12"/>
          <p:cNvSpPr/>
          <p:nvPr/>
        </p:nvSpPr>
        <p:spPr>
          <a:xfrm>
            <a:off x="6455664" y="2185416"/>
            <a:ext cx="4846320" cy="3456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exp[−½(x−μ)ᵀΣ⁻¹(x−μ)]</a:t>
            </a:r>
            <a:endParaRPr lang="en-US" sz="1760" dirty="0"/>
          </a:p>
          <a:p>
            <a:pPr algn="l" indent="0" marL="0">
              <a:buNone/>
            </a:pPr>
            <a:endParaRPr lang="en-US" sz="1760" dirty="0"/>
          </a:p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Bir noktanın merkeze kovaryans yapısı açısından uzaklığını içerir.</a:t>
            </a:r>
            <a:endParaRPr lang="en-US" sz="1760" dirty="0"/>
          </a:p>
          <a:p>
            <a:pPr algn="l" indent="0" marL="0">
              <a:buNone/>
            </a:pPr>
            <a:endParaRPr lang="en-US" sz="1760" dirty="0"/>
          </a:p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Uzak noktaların yoğunluğu düşer.</a:t>
            </a:r>
            <a:endParaRPr lang="en-US" sz="1760" dirty="0"/>
          </a:p>
        </p:txBody>
      </p:sp>
      <p:sp>
        <p:nvSpPr>
          <p:cNvPr id="15" name="Shape 13"/>
          <p:cNvSpPr/>
          <p:nvPr/>
        </p:nvSpPr>
        <p:spPr>
          <a:xfrm>
            <a:off x="694944" y="5971032"/>
            <a:ext cx="10826496" cy="484632"/>
          </a:xfrm>
          <a:prstGeom prst="roundRect">
            <a:avLst>
              <a:gd name="adj" fmla="val 18868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" y="6053328"/>
            <a:ext cx="1039672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Dağılımın merkezden uzaklaştıkça azaldığını düşün.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5.4 · ÇOK DEĞIŞKENLI NORMAL DAĞILIM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Mahalanobis uzaklığı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FORMÜLÜ OKUYALIM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1463040"/>
            <a:ext cx="10799064" cy="1234440"/>
          </a:xfrm>
          <a:prstGeom prst="roundRect">
            <a:avLst>
              <a:gd name="adj" fmla="val 7407"/>
            </a:avLst>
          </a:prstGeom>
          <a:solidFill>
            <a:srgbClr val="11283D"/>
          </a:solidFill>
          <a:ln w="12700">
            <a:solidFill>
              <a:srgbClr val="11283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737360"/>
            <a:ext cx="1013155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Dᴍ²(x, μ) = (x−μ)ᵀΣ⁻¹(x−μ)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77240" y="2953512"/>
            <a:ext cx="1065276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Varyans ve kovaryansı hesaba katan uzaklık.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68096" y="3694176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3776472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Öklid: Dᴇ = √Σᵢ(xᵢ−μᵢ)²</a:t>
            </a:r>
            <a:endParaRPr lang="en-US" sz="1660" dirty="0"/>
          </a:p>
        </p:txBody>
      </p:sp>
      <p:sp>
        <p:nvSpPr>
          <p:cNvPr id="14" name="Shape 12"/>
          <p:cNvSpPr/>
          <p:nvPr/>
        </p:nvSpPr>
        <p:spPr>
          <a:xfrm>
            <a:off x="768096" y="4251960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4334256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Mahalanobis: Dᴍ = √[(x−μ)ᵀΣ⁻¹(x−μ)]</a:t>
            </a:r>
            <a:endParaRPr lang="en-US" sz="1660" dirty="0"/>
          </a:p>
        </p:txBody>
      </p:sp>
      <p:sp>
        <p:nvSpPr>
          <p:cNvPr id="16" name="Shape 14"/>
          <p:cNvSpPr/>
          <p:nvPr/>
        </p:nvSpPr>
        <p:spPr>
          <a:xfrm>
            <a:off x="768096" y="4809744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4892040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Büyük varyanslı yöndeki aynı ham sapma daha az sıra dışı olabilir.</a:t>
            </a:r>
            <a:endParaRPr lang="en-US" sz="166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5.4 · ÇOK DEĞIŞKENLI NORMAL DAĞILIM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Mahalanobis: örnek başlangıcı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ADIM ADIM ÇÖZÜMLÜ ÖRNEK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4088" y="1408176"/>
            <a:ext cx="10799064" cy="548640"/>
          </a:xfrm>
          <a:prstGeom prst="roundRect">
            <a:avLst>
              <a:gd name="adj" fmla="val 16667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508760"/>
            <a:ext cx="103784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μ = (0,0)ᵀ ; Σ = diag(1,9) ; x = (1,3)ᵀ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04088" y="2130552"/>
            <a:ext cx="10799064" cy="1219200"/>
          </a:xfrm>
          <a:prstGeom prst="roundRect">
            <a:avLst>
              <a:gd name="adj" fmla="val 7500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" y="2249424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2295144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89304" y="2249424"/>
            <a:ext cx="10003536" cy="999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Öklid: Dᴇ = √(1² + 3²) = √10 ≈ 3,16</a:t>
            </a:r>
            <a:endParaRPr lang="en-US" sz="1920" dirty="0"/>
          </a:p>
        </p:txBody>
      </p:sp>
      <p:sp>
        <p:nvSpPr>
          <p:cNvPr id="15" name="Shape 13"/>
          <p:cNvSpPr/>
          <p:nvPr/>
        </p:nvSpPr>
        <p:spPr>
          <a:xfrm>
            <a:off x="704088" y="3514344"/>
            <a:ext cx="10799064" cy="1219200"/>
          </a:xfrm>
          <a:prstGeom prst="roundRect">
            <a:avLst>
              <a:gd name="adj" fmla="val 7500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" y="3633216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3678936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289304" y="3633216"/>
            <a:ext cx="10003536" cy="999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Kovaryansın tersi: Σ⁻¹ = diag(1, 1/9)</a:t>
            </a:r>
            <a:endParaRPr lang="en-US" sz="1920" dirty="0"/>
          </a:p>
        </p:txBody>
      </p:sp>
      <p:sp>
        <p:nvSpPr>
          <p:cNvPr id="19" name="Shape 17"/>
          <p:cNvSpPr/>
          <p:nvPr/>
        </p:nvSpPr>
        <p:spPr>
          <a:xfrm>
            <a:off x="704088" y="4898136"/>
            <a:ext cx="10799064" cy="1219200"/>
          </a:xfrm>
          <a:prstGeom prst="roundRect">
            <a:avLst>
              <a:gd name="adj" fmla="val 7500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" y="501700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" y="5062728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289304" y="5017008"/>
            <a:ext cx="10003536" cy="999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Önce merkez farkı: x − μ = (1,3)ᵀ</a:t>
            </a:r>
            <a:endParaRPr lang="en-US" sz="1920" dirty="0"/>
          </a:p>
        </p:txBody>
      </p:sp>
      <p:sp>
        <p:nvSpPr>
          <p:cNvPr id="23" name="Shape 21"/>
          <p:cNvSpPr/>
          <p:nvPr/>
        </p:nvSpPr>
        <p:spPr>
          <a:xfrm>
            <a:off x="704088" y="6254496"/>
            <a:ext cx="10799064" cy="256032"/>
          </a:xfrm>
          <a:prstGeom prst="roundRect">
            <a:avLst>
              <a:gd name="adj" fmla="val 35714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" y="6281928"/>
            <a:ext cx="10396728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 yöndeki standart sapma farklıdır: σ₁ = 1, σ₂ = 3.</a:t>
            </a:r>
            <a:endParaRPr lang="en-US" sz="123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5.4 · ÇOK DEĞIŞKENLI NORMAL DAĞILIM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Mahalanobis: matris çarpımı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ADIM ADIM ÇÖZÜMLÜ ÖRNEK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4088" y="1408176"/>
            <a:ext cx="10799064" cy="548640"/>
          </a:xfrm>
          <a:prstGeom prst="roundRect">
            <a:avLst>
              <a:gd name="adj" fmla="val 16667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508760"/>
            <a:ext cx="103784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(x−μ)ᵀΣ⁻¹(x−μ) = [1,3] diag(1,1/9) [1,3]ᵀ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04088" y="2130552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" y="2249424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2295144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89304" y="2249424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 çarpım: [1,3] × diag(1,1/9) = [1,1/3]</a:t>
            </a:r>
            <a:endParaRPr lang="en-US" sz="1920" dirty="0"/>
          </a:p>
        </p:txBody>
      </p:sp>
      <p:sp>
        <p:nvSpPr>
          <p:cNvPr id="15" name="Shape 13"/>
          <p:cNvSpPr/>
          <p:nvPr/>
        </p:nvSpPr>
        <p:spPr>
          <a:xfrm>
            <a:off x="704088" y="3168396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" y="328726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3332988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289304" y="3287268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 çarpım: [1,1/3] × [1,3]ᵀ</a:t>
            </a:r>
            <a:endParaRPr lang="en-US" sz="1920" dirty="0"/>
          </a:p>
        </p:txBody>
      </p:sp>
      <p:sp>
        <p:nvSpPr>
          <p:cNvPr id="19" name="Shape 17"/>
          <p:cNvSpPr/>
          <p:nvPr/>
        </p:nvSpPr>
        <p:spPr>
          <a:xfrm>
            <a:off x="704088" y="4206240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" y="4325112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" y="4370832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289304" y="4325112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Dᴍ² = (1 × 1) + ((1/3) × 3) = 2</a:t>
            </a:r>
            <a:endParaRPr lang="en-US" sz="1920" dirty="0"/>
          </a:p>
        </p:txBody>
      </p:sp>
      <p:sp>
        <p:nvSpPr>
          <p:cNvPr id="23" name="Shape 21"/>
          <p:cNvSpPr/>
          <p:nvPr/>
        </p:nvSpPr>
        <p:spPr>
          <a:xfrm>
            <a:off x="704088" y="5244084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" y="5362956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" y="5408676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289304" y="5362956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Dᴍ = √2 ≈ 1,41</a:t>
            </a:r>
            <a:endParaRPr lang="en-US" sz="1920" dirty="0"/>
          </a:p>
        </p:txBody>
      </p:sp>
      <p:sp>
        <p:nvSpPr>
          <p:cNvPr id="27" name="Shape 25"/>
          <p:cNvSpPr/>
          <p:nvPr/>
        </p:nvSpPr>
        <p:spPr>
          <a:xfrm>
            <a:off x="704088" y="6254496"/>
            <a:ext cx="10799064" cy="256032"/>
          </a:xfrm>
          <a:prstGeom prst="roundRect">
            <a:avLst>
              <a:gd name="adj" fmla="val 35714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6112" y="6281928"/>
            <a:ext cx="10396728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Dᴇ = 3,16 ve Dᴍ = 1,41 farklı ölçeklerin uzaklık ölçüleridir.</a:t>
            </a:r>
            <a:endParaRPr lang="en-US" sz="123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5.4 · ÇOK DEĞIŞKENLI NORMAL DAĞILIM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5.2 — Eş yoğunluk konturları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KAYNAK ŞEKLİN YORUMU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4088" y="1426464"/>
            <a:ext cx="6821424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pic>
        <p:nvPicPr>
          <p:cNvPr id="10" name="Image 0" descr="/mnt/data/image(8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554480"/>
            <a:ext cx="6565392" cy="43159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827264" y="1426464"/>
            <a:ext cx="3657600" cy="4572000"/>
          </a:xfrm>
          <a:prstGeom prst="roundRect">
            <a:avLst>
              <a:gd name="adj" fmla="val 2500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10144" y="1609344"/>
            <a:ext cx="32918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Grafik nasıl okunur?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010144" y="2112264"/>
            <a:ext cx="301752" cy="301752"/>
          </a:xfrm>
          <a:prstGeom prst="roundRect">
            <a:avLst>
              <a:gd name="adj" fmla="val 30303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69580" y="2153412"/>
            <a:ext cx="17373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30" dirty="0"/>
          </a:p>
        </p:txBody>
      </p:sp>
      <p:sp>
        <p:nvSpPr>
          <p:cNvPr id="15" name="Text 12"/>
          <p:cNvSpPr/>
          <p:nvPr/>
        </p:nvSpPr>
        <p:spPr>
          <a:xfrm>
            <a:off x="8430768" y="2084832"/>
            <a:ext cx="2816352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 üst: Cov = 0, Var₁ = Var₂ → daire.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010144" y="3054096"/>
            <a:ext cx="301752" cy="301752"/>
          </a:xfrm>
          <a:prstGeom prst="roundRect">
            <a:avLst>
              <a:gd name="adj" fmla="val 30303"/>
            </a:avLst>
          </a:prstGeom>
          <a:solidFill>
            <a:srgbClr val="487FA7"/>
          </a:solidFill>
          <a:ln w="12700">
            <a:solidFill>
              <a:srgbClr val="487FA7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69580" y="3095244"/>
            <a:ext cx="17373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30" dirty="0"/>
          </a:p>
        </p:txBody>
      </p:sp>
      <p:sp>
        <p:nvSpPr>
          <p:cNvPr id="18" name="Text 15"/>
          <p:cNvSpPr/>
          <p:nvPr/>
        </p:nvSpPr>
        <p:spPr>
          <a:xfrm>
            <a:off x="8430768" y="3026664"/>
            <a:ext cx="2816352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Sağ üst: Cov = 0, Var₁ &gt; Var₂ → yatay elips.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010144" y="3995928"/>
            <a:ext cx="301752" cy="301752"/>
          </a:xfrm>
          <a:prstGeom prst="roundRect">
            <a:avLst>
              <a:gd name="adj" fmla="val 30303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069580" y="4037076"/>
            <a:ext cx="17373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30" dirty="0"/>
          </a:p>
        </p:txBody>
      </p:sp>
      <p:sp>
        <p:nvSpPr>
          <p:cNvPr id="21" name="Text 18"/>
          <p:cNvSpPr/>
          <p:nvPr/>
        </p:nvSpPr>
        <p:spPr>
          <a:xfrm>
            <a:off x="8430768" y="3968496"/>
            <a:ext cx="2816352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Alt: pozitif Cov → yükselen; negatif Cov → alçalan eğim.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704088" y="6016752"/>
            <a:ext cx="10808208" cy="448056"/>
          </a:xfrm>
          <a:prstGeom prst="roundRect">
            <a:avLst>
              <a:gd name="adj" fmla="val 20408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77824" y="6089904"/>
            <a:ext cx="1045159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Daire / elipsin biçimi varyansa, eğimi kovaryansa bağlıdır.</a:t>
            </a:r>
            <a:endParaRPr lang="en-US" sz="133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5.4 · ÇOK DEĞIŞKENLI NORMAL DAĞILIM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İki değişkenin kovaryans matrisi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FORMÜLÜ OKUYALIM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1463040"/>
            <a:ext cx="10799064" cy="1234440"/>
          </a:xfrm>
          <a:prstGeom prst="roundRect">
            <a:avLst>
              <a:gd name="adj" fmla="val 7407"/>
            </a:avLst>
          </a:prstGeom>
          <a:solidFill>
            <a:srgbClr val="11283D"/>
          </a:solidFill>
          <a:ln w="12700">
            <a:solidFill>
              <a:srgbClr val="11283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737360"/>
            <a:ext cx="1013155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Σ = [[σ₁², ρσ₁σ₂], [ρσ₁σ₂, σ₂²]]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777240" y="2953512"/>
            <a:ext cx="1065276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Beş parametre: μ₁, μ₂, σ₁², σ₂², ρ.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68096" y="3694176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3776472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ρ &gt; 0: pozitif eğimli elips</a:t>
            </a:r>
            <a:endParaRPr lang="en-US" sz="1660" dirty="0"/>
          </a:p>
        </p:txBody>
      </p:sp>
      <p:sp>
        <p:nvSpPr>
          <p:cNvPr id="14" name="Shape 12"/>
          <p:cNvSpPr/>
          <p:nvPr/>
        </p:nvSpPr>
        <p:spPr>
          <a:xfrm>
            <a:off x="768096" y="4251960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4334256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ρ &lt; 0: negatif eğimli elips</a:t>
            </a:r>
            <a:endParaRPr lang="en-US" sz="1660" dirty="0"/>
          </a:p>
        </p:txBody>
      </p:sp>
      <p:sp>
        <p:nvSpPr>
          <p:cNvPr id="16" name="Shape 14"/>
          <p:cNvSpPr/>
          <p:nvPr/>
        </p:nvSpPr>
        <p:spPr>
          <a:xfrm>
            <a:off x="768096" y="4809744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4892040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ρ = 0: Gaussian durumda bağımsız bileşenler</a:t>
            </a:r>
            <a:endParaRPr lang="en-US" sz="166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5.4 · ÇOK DEĞIŞKENLI NORMAL DAĞILIM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Z-normalizasyonu ve elips denklemi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FORMÜLÜ OKUYALIM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1463040"/>
            <a:ext cx="10799064" cy="1234440"/>
          </a:xfrm>
          <a:prstGeom prst="roundRect">
            <a:avLst>
              <a:gd name="adj" fmla="val 7407"/>
            </a:avLst>
          </a:prstGeom>
          <a:solidFill>
            <a:srgbClr val="11283D"/>
          </a:solidFill>
          <a:ln w="12700">
            <a:solidFill>
              <a:srgbClr val="11283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737360"/>
            <a:ext cx="1013155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zᵢ = (xᵢ−μᵢ)/σᵢ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77240" y="2953512"/>
            <a:ext cx="1065276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Standartlaştırılmış birimlerle karşılaştırma yaparız.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68096" y="3694176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3776472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Örnek 1: (80−70)/10 = 1</a:t>
            </a:r>
            <a:endParaRPr lang="en-US" sz="1660" dirty="0"/>
          </a:p>
        </p:txBody>
      </p:sp>
      <p:sp>
        <p:nvSpPr>
          <p:cNvPr id="14" name="Shape 12"/>
          <p:cNvSpPr/>
          <p:nvPr/>
        </p:nvSpPr>
        <p:spPr>
          <a:xfrm>
            <a:off x="768096" y="4251960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4334256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Örnek 2: (180−160)/20 = 1</a:t>
            </a:r>
            <a:endParaRPr lang="en-US" sz="1660" dirty="0"/>
          </a:p>
        </p:txBody>
      </p:sp>
      <p:sp>
        <p:nvSpPr>
          <p:cNvPr id="16" name="Shape 14"/>
          <p:cNvSpPr/>
          <p:nvPr/>
        </p:nvSpPr>
        <p:spPr>
          <a:xfrm>
            <a:off x="768096" y="4809744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4892040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Eş yoğunluk: z₁² − 2ρz₁z₂ + z₂² = sabit</a:t>
            </a:r>
            <a:endParaRPr lang="en-US" sz="166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5.4 · ÇOK DEĞIŞKENLI NORMAL DAĞILIM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İki değişkenli normal yoğunluk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FORMÜLÜ OKUYALIM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1463040"/>
            <a:ext cx="10799064" cy="1234440"/>
          </a:xfrm>
          <a:prstGeom prst="roundRect">
            <a:avLst>
              <a:gd name="adj" fmla="val 7407"/>
            </a:avLst>
          </a:prstGeom>
          <a:solidFill>
            <a:srgbClr val="11283D"/>
          </a:solidFill>
          <a:ln w="12700">
            <a:solidFill>
              <a:srgbClr val="11283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737360"/>
            <a:ext cx="1013155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p(x₁,x₂) = exp[−(z₁²−2ρz₁z₂+z₂²)/(2(1−ρ²))] / [2πσ₁σ₂√(1−ρ²)]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777240" y="2953512"/>
            <a:ext cx="1065276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İki değişkeni birlikte ele alan yoğunluk.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68096" y="3694176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3776472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Çapraz terim −2ρz₁z₂ korelasyonu dikkate alır.</a:t>
            </a:r>
            <a:endParaRPr lang="en-US" sz="1660" dirty="0"/>
          </a:p>
        </p:txBody>
      </p:sp>
      <p:sp>
        <p:nvSpPr>
          <p:cNvPr id="14" name="Shape 12"/>
          <p:cNvSpPr/>
          <p:nvPr/>
        </p:nvSpPr>
        <p:spPr>
          <a:xfrm>
            <a:off x="768096" y="4251960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4334256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−1 &lt; ρ &lt; 1 ise terslenebilir, normal bir kovaryans matrisi vardır.</a:t>
            </a:r>
            <a:endParaRPr lang="en-US" sz="1660" dirty="0"/>
          </a:p>
        </p:txBody>
      </p:sp>
      <p:sp>
        <p:nvSpPr>
          <p:cNvPr id="16" name="Shape 14"/>
          <p:cNvSpPr/>
          <p:nvPr/>
        </p:nvSpPr>
        <p:spPr>
          <a:xfrm>
            <a:off x="768096" y="4809744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4892040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Kaynakta bir satırda + işareti görülse de doğru elips ifadesinde − kullanılır.</a:t>
            </a:r>
            <a:endParaRPr lang="en-US" sz="166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5.4 · ÇOK DEĞIŞKENLI NORMAL DAĞILIM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Determinant: tekil matris nasıl tanınır?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ADIM ADIM ÇÖZÜMLÜ ÖRNEK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4088" y="1408176"/>
            <a:ext cx="10799064" cy="548640"/>
          </a:xfrm>
          <a:prstGeom prst="roundRect">
            <a:avLst>
              <a:gd name="adj" fmla="val 16667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508760"/>
            <a:ext cx="103784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İki boyutlu matris: det([[a,b],[c,d]]) = ad − bc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04088" y="2130552"/>
            <a:ext cx="10799064" cy="1219200"/>
          </a:xfrm>
          <a:prstGeom prst="roundRect">
            <a:avLst>
              <a:gd name="adj" fmla="val 7500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" y="2249424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2295144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89304" y="2249424"/>
            <a:ext cx="10003536" cy="999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Σ₁ = [[4,2],[2,4]] → |Σ₁| = 16 − 4 = 12</a:t>
            </a:r>
            <a:endParaRPr lang="en-US" sz="1920" dirty="0"/>
          </a:p>
        </p:txBody>
      </p:sp>
      <p:sp>
        <p:nvSpPr>
          <p:cNvPr id="15" name="Shape 13"/>
          <p:cNvSpPr/>
          <p:nvPr/>
        </p:nvSpPr>
        <p:spPr>
          <a:xfrm>
            <a:off x="704088" y="3514344"/>
            <a:ext cx="10799064" cy="1219200"/>
          </a:xfrm>
          <a:prstGeom prst="roundRect">
            <a:avLst>
              <a:gd name="adj" fmla="val 7500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" y="3633216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3678936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289304" y="3633216"/>
            <a:ext cx="10003536" cy="999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Σ₂ = [[4,8],[8,16]] → |Σ₂| = 64 − 64 = 0</a:t>
            </a:r>
            <a:endParaRPr lang="en-US" sz="1920" dirty="0"/>
          </a:p>
        </p:txBody>
      </p:sp>
      <p:sp>
        <p:nvSpPr>
          <p:cNvPr id="19" name="Shape 17"/>
          <p:cNvSpPr/>
          <p:nvPr/>
        </p:nvSpPr>
        <p:spPr>
          <a:xfrm>
            <a:off x="704088" y="4898136"/>
            <a:ext cx="10799064" cy="1219200"/>
          </a:xfrm>
          <a:prstGeom prst="roundRect">
            <a:avLst>
              <a:gd name="adj" fmla="val 7500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" y="501700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" y="5062728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289304" y="5017008"/>
            <a:ext cx="10003536" cy="999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|Σ₂| = 0 olduğu için Σ₂ tekildir; sıradan ters matrisi yoktur.</a:t>
            </a:r>
            <a:endParaRPr lang="en-US" sz="1920" dirty="0"/>
          </a:p>
        </p:txBody>
      </p:sp>
      <p:sp>
        <p:nvSpPr>
          <p:cNvPr id="23" name="Shape 21"/>
          <p:cNvSpPr/>
          <p:nvPr/>
        </p:nvSpPr>
        <p:spPr>
          <a:xfrm>
            <a:off x="704088" y="6254496"/>
            <a:ext cx="10799064" cy="256032"/>
          </a:xfrm>
          <a:prstGeom prst="roundRect">
            <a:avLst>
              <a:gd name="adj" fmla="val 35714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" y="6281928"/>
            <a:ext cx="10396728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Tam doğrusal bağımlılık veya sıfır varyans, tekilliğe yol açabilir.</a:t>
            </a:r>
            <a:endParaRPr lang="en-US" sz="123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5.4 · ÇOK DEĞIŞKENLI NORMAL DAĞILIM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 dağılımın önemli özellikleri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KARŞILAŞTIRMA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1527048"/>
            <a:ext cx="5294376" cy="4306824"/>
          </a:xfrm>
          <a:prstGeom prst="roundRect">
            <a:avLst>
              <a:gd name="adj" fmla="val 2123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1691640"/>
            <a:ext cx="487375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2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Bağımsız bileşenler</a:t>
            </a:r>
            <a:endParaRPr lang="en-US" sz="1720" dirty="0"/>
          </a:p>
        </p:txBody>
      </p:sp>
      <p:sp>
        <p:nvSpPr>
          <p:cNvPr id="11" name="Text 9"/>
          <p:cNvSpPr/>
          <p:nvPr/>
        </p:nvSpPr>
        <p:spPr>
          <a:xfrm>
            <a:off x="905256" y="2185416"/>
            <a:ext cx="4873752" cy="3456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Eğer Σ köşegense ve x çok değişkenli normalse, özellikler bağımsızdır.</a:t>
            </a:r>
            <a:endParaRPr lang="en-US" sz="1760" dirty="0"/>
          </a:p>
          <a:p>
            <a:pPr algn="l" indent="0" marL="0">
              <a:buNone/>
            </a:pPr>
            <a:endParaRPr lang="en-US" sz="1760" dirty="0"/>
          </a:p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p(x) = ∏ pᵢ(xᵢ)</a:t>
            </a:r>
            <a:endParaRPr lang="en-US" sz="1760" dirty="0"/>
          </a:p>
          <a:p>
            <a:pPr algn="l" indent="0" marL="0">
              <a:buNone/>
            </a:pPr>
            <a:endParaRPr lang="en-US" sz="1760" dirty="0"/>
          </a:p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Ortak yoğunluk, tek değişkenli yoğunlukların çarpımıdır.</a:t>
            </a:r>
            <a:endParaRPr lang="en-US" sz="1760" dirty="0"/>
          </a:p>
        </p:txBody>
      </p:sp>
      <p:sp>
        <p:nvSpPr>
          <p:cNvPr id="12" name="Shape 10"/>
          <p:cNvSpPr/>
          <p:nvPr/>
        </p:nvSpPr>
        <p:spPr>
          <a:xfrm>
            <a:off x="6245352" y="1527048"/>
            <a:ext cx="5266944" cy="4306824"/>
          </a:xfrm>
          <a:prstGeom prst="roundRect">
            <a:avLst>
              <a:gd name="adj" fmla="val 2123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5664" y="1691640"/>
            <a:ext cx="48463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2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 dağılımlar</a:t>
            </a:r>
            <a:endParaRPr lang="en-US" sz="1720" dirty="0"/>
          </a:p>
        </p:txBody>
      </p:sp>
      <p:sp>
        <p:nvSpPr>
          <p:cNvPr id="14" name="Text 12"/>
          <p:cNvSpPr/>
          <p:nvPr/>
        </p:nvSpPr>
        <p:spPr>
          <a:xfrm>
            <a:off x="6455664" y="2185416"/>
            <a:ext cx="4846320" cy="3456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~ N_d(μ,Σ) ise her bir bileşen tek değişkenli normaldir.</a:t>
            </a:r>
            <a:endParaRPr lang="en-US" sz="1760" dirty="0"/>
          </a:p>
          <a:p>
            <a:pPr algn="l" indent="0" marL="0">
              <a:buNone/>
            </a:pPr>
            <a:endParaRPr lang="en-US" sz="1760" dirty="0"/>
          </a:p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 k boyutlu alt küme k değişkenli normaldir.</a:t>
            </a:r>
            <a:endParaRPr lang="en-US" sz="1760" dirty="0"/>
          </a:p>
          <a:p>
            <a:pPr algn="l" indent="0" marL="0">
              <a:buNone/>
            </a:pPr>
            <a:endParaRPr lang="en-US" sz="1760" dirty="0"/>
          </a:p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Tersi her zaman doğru değildir.</a:t>
            </a:r>
            <a:endParaRPr lang="en-US" sz="1760" dirty="0"/>
          </a:p>
        </p:txBody>
      </p:sp>
      <p:sp>
        <p:nvSpPr>
          <p:cNvPr id="15" name="Shape 13"/>
          <p:cNvSpPr/>
          <p:nvPr/>
        </p:nvSpPr>
        <p:spPr>
          <a:xfrm>
            <a:off x="694944" y="5971032"/>
            <a:ext cx="10826496" cy="484632"/>
          </a:xfrm>
          <a:prstGeom prst="roundRect">
            <a:avLst>
              <a:gd name="adj" fmla="val 18868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" y="6053328"/>
            <a:ext cx="1039672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“Her bileşen normal” demek “ortak dağılım çok değişkenli normal” demek değildir.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5.4 · ÇOK DEĞIŞKENLI NORMAL DAĞILIM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Doğrusal izdüşüm de normaldir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FORMÜLÜ OKUYALIM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1463040"/>
            <a:ext cx="10799064" cy="1234440"/>
          </a:xfrm>
          <a:prstGeom prst="roundRect">
            <a:avLst>
              <a:gd name="adj" fmla="val 7407"/>
            </a:avLst>
          </a:prstGeom>
          <a:solidFill>
            <a:srgbClr val="11283D"/>
          </a:solidFill>
          <a:ln w="12700">
            <a:solidFill>
              <a:srgbClr val="11283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737360"/>
            <a:ext cx="1013155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wᵀx ~ N(wᵀμ, wᵀΣw)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777240" y="2953512"/>
            <a:ext cx="1065276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 boyutlu normal dağılımı tek boyuta yansıtabiliriz.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68096" y="3694176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3776472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Ortalama: E[wᵀx] = wᵀμ</a:t>
            </a:r>
            <a:endParaRPr lang="en-US" sz="1660" dirty="0"/>
          </a:p>
        </p:txBody>
      </p:sp>
      <p:sp>
        <p:nvSpPr>
          <p:cNvPr id="14" name="Shape 12"/>
          <p:cNvSpPr/>
          <p:nvPr/>
        </p:nvSpPr>
        <p:spPr>
          <a:xfrm>
            <a:off x="768096" y="4251960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4334256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Varyans: Var(wᵀx) = wᵀΣw</a:t>
            </a:r>
            <a:endParaRPr lang="en-US" sz="1660" dirty="0"/>
          </a:p>
        </p:txBody>
      </p:sp>
      <p:sp>
        <p:nvSpPr>
          <p:cNvPr id="16" name="Shape 14"/>
          <p:cNvSpPr/>
          <p:nvPr/>
        </p:nvSpPr>
        <p:spPr>
          <a:xfrm>
            <a:off x="768096" y="4809744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4892040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Genel k boyutlu dönüşüm: Wᵀx ~ N_k(Wᵀμ, WᵀΣW)</a:t>
            </a:r>
            <a:endParaRPr lang="en-US" sz="166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5.4 · ÇOK DEĞIŞKENLI NORMAL DAĞILIM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İzdüşüm örneği: yeni ortalama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ADIM ADIM ÇÖZÜMLÜ ÖRNEK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44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4088" y="1408176"/>
            <a:ext cx="10799064" cy="548640"/>
          </a:xfrm>
          <a:prstGeom prst="roundRect">
            <a:avLst>
              <a:gd name="adj" fmla="val 16667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508760"/>
            <a:ext cx="103784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μ = (2,3)ᵀ; Σ = [[1,0.5],[0.5,1]]; w = (1,1)ᵀ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04088" y="2130552"/>
            <a:ext cx="10799064" cy="1219200"/>
          </a:xfrm>
          <a:prstGeom prst="roundRect">
            <a:avLst>
              <a:gd name="adj" fmla="val 7500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" y="2249424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2295144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89304" y="2249424"/>
            <a:ext cx="10003536" cy="999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Yeni değişken: Y = wᵀx = X₁ + X₂</a:t>
            </a:r>
            <a:endParaRPr lang="en-US" sz="1920" dirty="0"/>
          </a:p>
        </p:txBody>
      </p:sp>
      <p:sp>
        <p:nvSpPr>
          <p:cNvPr id="15" name="Shape 13"/>
          <p:cNvSpPr/>
          <p:nvPr/>
        </p:nvSpPr>
        <p:spPr>
          <a:xfrm>
            <a:off x="704088" y="3514344"/>
            <a:ext cx="10799064" cy="1219200"/>
          </a:xfrm>
          <a:prstGeom prst="roundRect">
            <a:avLst>
              <a:gd name="adj" fmla="val 7500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" y="3633216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3678936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289304" y="3633216"/>
            <a:ext cx="10003536" cy="999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Ortalama: E[Y] = wᵀμ = [1,1] [2,3]ᵀ</a:t>
            </a:r>
            <a:endParaRPr lang="en-US" sz="1920" dirty="0"/>
          </a:p>
        </p:txBody>
      </p:sp>
      <p:sp>
        <p:nvSpPr>
          <p:cNvPr id="19" name="Shape 17"/>
          <p:cNvSpPr/>
          <p:nvPr/>
        </p:nvSpPr>
        <p:spPr>
          <a:xfrm>
            <a:off x="704088" y="4898136"/>
            <a:ext cx="10799064" cy="1219200"/>
          </a:xfrm>
          <a:prstGeom prst="roundRect">
            <a:avLst>
              <a:gd name="adj" fmla="val 7500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" y="501700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" y="5062728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289304" y="5017008"/>
            <a:ext cx="10003536" cy="999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E[Y] = 1×2 + 1×3 = 5</a:t>
            </a:r>
            <a:endParaRPr lang="en-US" sz="1920" dirty="0"/>
          </a:p>
        </p:txBody>
      </p:sp>
      <p:sp>
        <p:nvSpPr>
          <p:cNvPr id="23" name="Shape 21"/>
          <p:cNvSpPr/>
          <p:nvPr/>
        </p:nvSpPr>
        <p:spPr>
          <a:xfrm>
            <a:off x="704088" y="6254496"/>
            <a:ext cx="10799064" cy="256032"/>
          </a:xfrm>
          <a:prstGeom prst="roundRect">
            <a:avLst>
              <a:gd name="adj" fmla="val 35714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" y="6281928"/>
            <a:ext cx="10396728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Yeni tek boyutlu normal dağılımın ortalaması 5.</a:t>
            </a:r>
            <a:endParaRPr lang="en-US" sz="123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5.4 · ÇOK DEĞIŞKENLI NORMAL DAĞILIM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İzdüşüm örneği: yeni varyans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ADIM ADIM ÇÖZÜMLÜ ÖRNEK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4088" y="1408176"/>
            <a:ext cx="10799064" cy="548640"/>
          </a:xfrm>
          <a:prstGeom prst="roundRect">
            <a:avLst>
              <a:gd name="adj" fmla="val 16667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508760"/>
            <a:ext cx="103784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Σ = [[1,0.5],[0.5,1]] ve w = (1,1)ᵀ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04088" y="2130552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" y="2249424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2295144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89304" y="2249424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Σw = [[1,0.5],[0.5,1]] [1,1]ᵀ = [1.5,1.5]ᵀ</a:t>
            </a:r>
            <a:endParaRPr lang="en-US" sz="1920" dirty="0"/>
          </a:p>
        </p:txBody>
      </p:sp>
      <p:sp>
        <p:nvSpPr>
          <p:cNvPr id="15" name="Shape 13"/>
          <p:cNvSpPr/>
          <p:nvPr/>
        </p:nvSpPr>
        <p:spPr>
          <a:xfrm>
            <a:off x="704088" y="3168396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" y="328726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3332988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289304" y="3287268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wᵀΣw = [1,1] [1.5,1.5]ᵀ</a:t>
            </a:r>
            <a:endParaRPr lang="en-US" sz="1920" dirty="0"/>
          </a:p>
        </p:txBody>
      </p:sp>
      <p:sp>
        <p:nvSpPr>
          <p:cNvPr id="19" name="Shape 17"/>
          <p:cNvSpPr/>
          <p:nvPr/>
        </p:nvSpPr>
        <p:spPr>
          <a:xfrm>
            <a:off x="704088" y="4206240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" y="4325112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" y="4370832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289304" y="4325112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Var(Y) = 1.5 + 1.5 = 3</a:t>
            </a:r>
            <a:endParaRPr lang="en-US" sz="1920" dirty="0"/>
          </a:p>
        </p:txBody>
      </p:sp>
      <p:sp>
        <p:nvSpPr>
          <p:cNvPr id="23" name="Shape 21"/>
          <p:cNvSpPr/>
          <p:nvPr/>
        </p:nvSpPr>
        <p:spPr>
          <a:xfrm>
            <a:off x="704088" y="5244084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" y="5362956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" y="5408676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289304" y="5362956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Sonuç: Y ~ N(5,3)</a:t>
            </a:r>
            <a:endParaRPr lang="en-US" sz="1920" dirty="0"/>
          </a:p>
        </p:txBody>
      </p:sp>
      <p:sp>
        <p:nvSpPr>
          <p:cNvPr id="27" name="Shape 25"/>
          <p:cNvSpPr/>
          <p:nvPr/>
        </p:nvSpPr>
        <p:spPr>
          <a:xfrm>
            <a:off x="704088" y="6254496"/>
            <a:ext cx="10799064" cy="256032"/>
          </a:xfrm>
          <a:prstGeom prst="roundRect">
            <a:avLst>
              <a:gd name="adj" fmla="val 35714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6112" y="6281928"/>
            <a:ext cx="10396728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örnek, boyut azaltmanın matematiksel temelini gösterir.</a:t>
            </a:r>
            <a:endParaRPr lang="en-US" sz="123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5.4 · ÇOK DEĞIŞKENLI NORMAL DAĞILIM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Kontrol: korelasyon ve dağılım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SINIF İÇİ KISA ALIŞTIRMA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1591056"/>
            <a:ext cx="10789920" cy="2029968"/>
          </a:xfrm>
          <a:prstGeom prst="roundRect">
            <a:avLst>
              <a:gd name="adj" fmla="val 4505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865376"/>
            <a:ext cx="27432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SORU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87552" y="2350008"/>
            <a:ext cx="10058400" cy="9052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ρ = +1 ise determinant ne olur? ρ = 0 ise Gaussian durumda bileşenler için ne söylenir?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94944" y="3931920"/>
            <a:ext cx="10789920" cy="1517904"/>
          </a:xfrm>
          <a:prstGeom prst="roundRect">
            <a:avLst>
              <a:gd name="adj" fmla="val 6024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4169664"/>
            <a:ext cx="45720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4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ÇÖZÜM / CEVAP</a:t>
            </a:r>
            <a:endParaRPr lang="en-US" sz="1640" dirty="0"/>
          </a:p>
        </p:txBody>
      </p:sp>
      <p:sp>
        <p:nvSpPr>
          <p:cNvPr id="14" name="Text 12"/>
          <p:cNvSpPr/>
          <p:nvPr/>
        </p:nvSpPr>
        <p:spPr>
          <a:xfrm>
            <a:off x="987552" y="4572000"/>
            <a:ext cx="10067544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ρ = ±1 → det(Σ)=0 (tekil). ρ=0 → iki değişkenli Gaussian durumda bağımsızlık.</a:t>
            </a:r>
            <a:endParaRPr lang="en-US" sz="19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1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28B50"/>
          </a:solidFill>
          <a:ln w="12700">
            <a:solidFill>
              <a:srgbClr val="D28B5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512064"/>
            <a:ext cx="10058400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A4D3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ÜNİTE / ÇOK DEĞİŞKENLİ YÖNTEMLER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94944" y="1371600"/>
            <a:ext cx="4114800" cy="1225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0" b="1" dirty="0">
                <a:solidFill>
                  <a:srgbClr val="83CE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5.5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713232" y="2761488"/>
            <a:ext cx="1069848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Çok Değişkenli Sınıflandırma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722376" y="3977640"/>
            <a:ext cx="10460736" cy="0"/>
          </a:xfrm>
          <a:prstGeom prst="line">
            <a:avLst/>
          </a:prstGeom>
          <a:noFill/>
          <a:ln w="19050">
            <a:solidFill>
              <a:srgbClr val="4871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4370832"/>
            <a:ext cx="9966960" cy="9509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D7E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Dağılımları sınıflara göre modelle, Bayes puanlarını karşılaştır.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128248" y="6473952"/>
            <a:ext cx="438912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9CB9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47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5.5 · ÇOK DEĞIŞKENLI SINIFLANDIRMA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Araç alımından sınıflandırma örneği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KARŞILAŞTIRMA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48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1527048"/>
            <a:ext cx="5294376" cy="4306824"/>
          </a:xfrm>
          <a:prstGeom prst="roundRect">
            <a:avLst>
              <a:gd name="adj" fmla="val 2123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1691640"/>
            <a:ext cx="487375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2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Özellikler</a:t>
            </a:r>
            <a:endParaRPr lang="en-US" sz="1720" dirty="0"/>
          </a:p>
        </p:txBody>
      </p:sp>
      <p:sp>
        <p:nvSpPr>
          <p:cNvPr id="11" name="Text 9"/>
          <p:cNvSpPr/>
          <p:nvPr/>
        </p:nvSpPr>
        <p:spPr>
          <a:xfrm>
            <a:off x="905256" y="2185416"/>
            <a:ext cx="4873752" cy="3456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= (Yaş, Gelir)ᵀ</a:t>
            </a:r>
            <a:endParaRPr lang="en-US" sz="1760" dirty="0"/>
          </a:p>
          <a:p>
            <a:pPr algn="l" indent="0" marL="0">
              <a:buNone/>
            </a:pPr>
            <a:endParaRPr lang="en-US" sz="1760" dirty="0"/>
          </a:p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C₁: Ekonomik otomobil</a:t>
            </a:r>
            <a:endParaRPr lang="en-US" sz="1760" dirty="0"/>
          </a:p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C₂: Lüks otomobil</a:t>
            </a:r>
            <a:endParaRPr lang="en-US" sz="1760" dirty="0"/>
          </a:p>
          <a:p>
            <a:pPr algn="l" indent="0" marL="0">
              <a:buNone/>
            </a:pPr>
            <a:endParaRPr lang="en-US" sz="1760" dirty="0"/>
          </a:p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Bir müşteri bir vektördür.</a:t>
            </a:r>
            <a:endParaRPr lang="en-US" sz="1760" dirty="0"/>
          </a:p>
        </p:txBody>
      </p:sp>
      <p:sp>
        <p:nvSpPr>
          <p:cNvPr id="12" name="Shape 10"/>
          <p:cNvSpPr/>
          <p:nvPr/>
        </p:nvSpPr>
        <p:spPr>
          <a:xfrm>
            <a:off x="6245352" y="1527048"/>
            <a:ext cx="5266944" cy="4306824"/>
          </a:xfrm>
          <a:prstGeom prst="roundRect">
            <a:avLst>
              <a:gd name="adj" fmla="val 2123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5664" y="1691640"/>
            <a:ext cx="48463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2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Sınıf parametreleri</a:t>
            </a:r>
            <a:endParaRPr lang="en-US" sz="1720" dirty="0"/>
          </a:p>
        </p:txBody>
      </p:sp>
      <p:sp>
        <p:nvSpPr>
          <p:cNvPr id="14" name="Text 12"/>
          <p:cNvSpPr/>
          <p:nvPr/>
        </p:nvSpPr>
        <p:spPr>
          <a:xfrm>
            <a:off x="6455664" y="2185416"/>
            <a:ext cx="4846320" cy="3456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μ₁ = (25,30000)ᵀ</a:t>
            </a:r>
            <a:endParaRPr lang="en-US" sz="1760" dirty="0"/>
          </a:p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μ₂ = (45,90000)ᵀ</a:t>
            </a:r>
            <a:endParaRPr lang="en-US" sz="1760" dirty="0"/>
          </a:p>
          <a:p>
            <a:pPr algn="l" indent="0" marL="0">
              <a:buNone/>
            </a:pPr>
            <a:endParaRPr lang="en-US" sz="1760" dirty="0"/>
          </a:p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Σᵢ: i. grupta yaş/gelir varyansı ve aralarındaki kovaryans.</a:t>
            </a:r>
            <a:endParaRPr lang="en-US" sz="1760" dirty="0"/>
          </a:p>
        </p:txBody>
      </p:sp>
      <p:sp>
        <p:nvSpPr>
          <p:cNvPr id="15" name="Shape 13"/>
          <p:cNvSpPr/>
          <p:nvPr/>
        </p:nvSpPr>
        <p:spPr>
          <a:xfrm>
            <a:off x="694944" y="5971032"/>
            <a:ext cx="10826496" cy="484632"/>
          </a:xfrm>
          <a:prstGeom prst="roundRect">
            <a:avLst>
              <a:gd name="adj" fmla="val 18868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" y="6053328"/>
            <a:ext cx="1039672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Soru: Yeni müşteri hangi sınıfa ait olma bakımından daha olası?</a:t>
            </a:r>
            <a:endParaRPr lang="en-US" sz="1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5.5 · ÇOK DEĞIŞKENLI SINIFLANDIRMA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Sınıfa koşullu Gaussian yoğunluk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FORMÜLÜ OKUYALIM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49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1463040"/>
            <a:ext cx="10799064" cy="1234440"/>
          </a:xfrm>
          <a:prstGeom prst="roundRect">
            <a:avLst>
              <a:gd name="adj" fmla="val 7407"/>
            </a:avLst>
          </a:prstGeom>
          <a:solidFill>
            <a:srgbClr val="11283D"/>
          </a:solidFill>
          <a:ln w="12700">
            <a:solidFill>
              <a:srgbClr val="11283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737360"/>
            <a:ext cx="1013155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p(x|Cᵢ) = exp[−½(x−μᵢ)ᵀΣᵢ⁻¹(x−μᵢ)] / [(2π)ᵈᐟ² √|Σᵢ|]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777240" y="2953512"/>
            <a:ext cx="1065276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 sınıfın ortalama ve kovaryansını ayrı modelleyebiliriz.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68096" y="3694176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3776472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P(Cᵢ): sınıfın önsel olasılığı</a:t>
            </a:r>
            <a:endParaRPr lang="en-US" sz="1660" dirty="0"/>
          </a:p>
        </p:txBody>
      </p:sp>
      <p:sp>
        <p:nvSpPr>
          <p:cNvPr id="14" name="Shape 12"/>
          <p:cNvSpPr/>
          <p:nvPr/>
        </p:nvSpPr>
        <p:spPr>
          <a:xfrm>
            <a:off x="768096" y="4251960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4334256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p(x|Cᵢ): o sınıfa özgü veri yoğunluğu</a:t>
            </a:r>
            <a:endParaRPr lang="en-US" sz="1660" dirty="0"/>
          </a:p>
        </p:txBody>
      </p:sp>
      <p:sp>
        <p:nvSpPr>
          <p:cNvPr id="16" name="Shape 14"/>
          <p:cNvSpPr/>
          <p:nvPr/>
        </p:nvSpPr>
        <p:spPr>
          <a:xfrm>
            <a:off x="768096" y="4809744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4892040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P(Cᵢ|x): gözlemin sınıfa ait sonsal olasılığı</a:t>
            </a:r>
            <a:endParaRPr lang="en-US" sz="166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5.5 · ÇOK DEĞIŞKENLI SINIFLANDIRMA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Bayes ayırt edici fonksiyonu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FORMÜLÜ OKUYALIM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1463040"/>
            <a:ext cx="10799064" cy="1234440"/>
          </a:xfrm>
          <a:prstGeom prst="roundRect">
            <a:avLst>
              <a:gd name="adj" fmla="val 7407"/>
            </a:avLst>
          </a:prstGeom>
          <a:solidFill>
            <a:srgbClr val="11283D"/>
          </a:solidFill>
          <a:ln w="12700">
            <a:solidFill>
              <a:srgbClr val="11283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737360"/>
            <a:ext cx="1013155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gᵢ(x) = log p(x|Cᵢ) + log P(Cᵢ)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777240" y="2953512"/>
            <a:ext cx="1065276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yüksek gᵢ(x) değerini veren sınıf seçilir.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68096" y="3694176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3776472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Bayes: P(Cᵢ|x) = p(x|Cᵢ)P(Cᵢ)/p(x)</a:t>
            </a:r>
            <a:endParaRPr lang="en-US" sz="1660" dirty="0"/>
          </a:p>
        </p:txBody>
      </p:sp>
      <p:sp>
        <p:nvSpPr>
          <p:cNvPr id="14" name="Shape 12"/>
          <p:cNvSpPr/>
          <p:nvPr/>
        </p:nvSpPr>
        <p:spPr>
          <a:xfrm>
            <a:off x="768096" y="4251960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4334256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p(x) bütün sınıflarda ortaktır; sınıf kıyaslamasından çıkar.</a:t>
            </a:r>
            <a:endParaRPr lang="en-US" sz="1660" dirty="0"/>
          </a:p>
        </p:txBody>
      </p:sp>
      <p:sp>
        <p:nvSpPr>
          <p:cNvPr id="16" name="Shape 14"/>
          <p:cNvSpPr/>
          <p:nvPr/>
        </p:nvSpPr>
        <p:spPr>
          <a:xfrm>
            <a:off x="768096" y="4809744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4892040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Logaritma çarpımları toplam hâline getirir.</a:t>
            </a:r>
            <a:endParaRPr lang="en-US" sz="166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5.5 · ÇOK DEĞIŞKENLI SINIFLANDIRMA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Gaussian ayırt edici fonksiyon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FORMÜLÜ OKUYALIM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1463040"/>
            <a:ext cx="10799064" cy="1234440"/>
          </a:xfrm>
          <a:prstGeom prst="roundRect">
            <a:avLst>
              <a:gd name="adj" fmla="val 7407"/>
            </a:avLst>
          </a:prstGeom>
          <a:solidFill>
            <a:srgbClr val="11283D"/>
          </a:solidFill>
          <a:ln w="12700">
            <a:solidFill>
              <a:srgbClr val="11283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737360"/>
            <a:ext cx="1013155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gᵢ = −½log|Σᵢ| −½(x−μᵢ)ᵀΣᵢ⁻¹(x−μᵢ) + log P(Cᵢ)</a:t>
            </a:r>
            <a:endParaRPr lang="en-US" sz="2450" dirty="0"/>
          </a:p>
        </p:txBody>
      </p:sp>
      <p:sp>
        <p:nvSpPr>
          <p:cNvPr id="11" name="Text 9"/>
          <p:cNvSpPr/>
          <p:nvPr/>
        </p:nvSpPr>
        <p:spPr>
          <a:xfrm>
            <a:off x="777240" y="2953512"/>
            <a:ext cx="1065276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Tüm sınıflara ortak olan −(d/2)log(2π) çıkarıldı.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68096" y="3694176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3776472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Determinant: sınıfın yoğunluk ölçeği</a:t>
            </a:r>
            <a:endParaRPr lang="en-US" sz="1660" dirty="0"/>
          </a:p>
        </p:txBody>
      </p:sp>
      <p:sp>
        <p:nvSpPr>
          <p:cNvPr id="14" name="Shape 12"/>
          <p:cNvSpPr/>
          <p:nvPr/>
        </p:nvSpPr>
        <p:spPr>
          <a:xfrm>
            <a:off x="768096" y="4251960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4334256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Mahalanobis terimi: merkeze göre uzaklık</a:t>
            </a:r>
            <a:endParaRPr lang="en-US" sz="1660" dirty="0"/>
          </a:p>
        </p:txBody>
      </p:sp>
      <p:sp>
        <p:nvSpPr>
          <p:cNvPr id="16" name="Shape 14"/>
          <p:cNvSpPr/>
          <p:nvPr/>
        </p:nvSpPr>
        <p:spPr>
          <a:xfrm>
            <a:off x="768096" y="4809744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4892040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Önsel: sınıfın baştan ne kadar olası olduğu</a:t>
            </a:r>
            <a:endParaRPr lang="en-US" sz="166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5.5 · ÇOK DEĞIŞKENLI SINIFLANDIRMA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Sınıfa özgü parametreleri öğrenme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FORMÜLÜ OKUYALIM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1463040"/>
            <a:ext cx="10799064" cy="1234440"/>
          </a:xfrm>
          <a:prstGeom prst="roundRect">
            <a:avLst>
              <a:gd name="adj" fmla="val 7407"/>
            </a:avLst>
          </a:prstGeom>
          <a:solidFill>
            <a:srgbClr val="11283D"/>
          </a:solidFill>
          <a:ln w="12700">
            <a:solidFill>
              <a:srgbClr val="11283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737360"/>
            <a:ext cx="1013155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P̂(Cᵢ)=nᵢ/N ; mᵢ=(Σₜ rᵢ⁽ᵗ⁾x⁽ᵗ⁾)/nᵢ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77240" y="2953512"/>
            <a:ext cx="1065276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rᵢ⁽ᵗ⁾ = 1 ise gözlem i. sınıfa aittir.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68096" y="3694176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3776472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nᵢ = Σₜ rᵢ⁽ᵗ⁾, sınıftaki örnek sayısıdır.</a:t>
            </a:r>
            <a:endParaRPr lang="en-US" sz="1660" dirty="0"/>
          </a:p>
        </p:txBody>
      </p:sp>
      <p:sp>
        <p:nvSpPr>
          <p:cNvPr id="14" name="Shape 12"/>
          <p:cNvSpPr/>
          <p:nvPr/>
        </p:nvSpPr>
        <p:spPr>
          <a:xfrm>
            <a:off x="768096" y="4251960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4334256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Sᵢ = (1/nᵢ) Σₜ rᵢ⁽ᵗ⁾(x⁽ᵗ⁾−mᵢ)(x⁽ᵗ⁾−mᵢ)ᵀ</a:t>
            </a:r>
            <a:endParaRPr lang="en-US" sz="1660" dirty="0"/>
          </a:p>
        </p:txBody>
      </p:sp>
      <p:sp>
        <p:nvSpPr>
          <p:cNvPr id="16" name="Shape 14"/>
          <p:cNvSpPr/>
          <p:nvPr/>
        </p:nvSpPr>
        <p:spPr>
          <a:xfrm>
            <a:off x="768096" y="4809744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4892040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Her sınıf için ortalama ve kovaryans ayrı tahmin edilir.</a:t>
            </a:r>
            <a:endParaRPr lang="en-US" sz="166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5.5 · ÇOK DEĞIŞKENLI SINIFLANDIRMA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Araba müşterisi: eğitim verileri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ÖZET TABLO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1554480"/>
            <a:ext cx="1920240" cy="493776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1645920"/>
            <a:ext cx="175564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Müşteri</a:t>
            </a:r>
            <a:endParaRPr lang="en-US" sz="1430" dirty="0"/>
          </a:p>
        </p:txBody>
      </p:sp>
      <p:sp>
        <p:nvSpPr>
          <p:cNvPr id="11" name="Shape 9"/>
          <p:cNvSpPr/>
          <p:nvPr/>
        </p:nvSpPr>
        <p:spPr>
          <a:xfrm>
            <a:off x="2615184" y="1554480"/>
            <a:ext cx="1828800" cy="493776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06624" y="1645920"/>
            <a:ext cx="166420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Yaş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4443984" y="1554480"/>
            <a:ext cx="3017520" cy="493776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35424" y="1645920"/>
            <a:ext cx="285292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Gelir (bin TL)</a:t>
            </a:r>
            <a:endParaRPr lang="en-US" sz="1430" dirty="0"/>
          </a:p>
        </p:txBody>
      </p:sp>
      <p:sp>
        <p:nvSpPr>
          <p:cNvPr id="15" name="Shape 13"/>
          <p:cNvSpPr/>
          <p:nvPr/>
        </p:nvSpPr>
        <p:spPr>
          <a:xfrm>
            <a:off x="7461504" y="1554480"/>
            <a:ext cx="4032504" cy="493776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52944" y="1645920"/>
            <a:ext cx="386791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Sınıf</a:t>
            </a:r>
            <a:endParaRPr lang="en-US" sz="1430" dirty="0"/>
          </a:p>
        </p:txBody>
      </p:sp>
      <p:sp>
        <p:nvSpPr>
          <p:cNvPr id="17" name="Shape 15"/>
          <p:cNvSpPr/>
          <p:nvPr/>
        </p:nvSpPr>
        <p:spPr>
          <a:xfrm>
            <a:off x="694944" y="2048256"/>
            <a:ext cx="1920240" cy="448056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" y="2130552"/>
            <a:ext cx="1719072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20" dirty="0"/>
          </a:p>
        </p:txBody>
      </p:sp>
      <p:sp>
        <p:nvSpPr>
          <p:cNvPr id="19" name="Shape 17"/>
          <p:cNvSpPr/>
          <p:nvPr/>
        </p:nvSpPr>
        <p:spPr>
          <a:xfrm>
            <a:off x="2615184" y="2048256"/>
            <a:ext cx="1828800" cy="448056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15768" y="2130552"/>
            <a:ext cx="1627632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1520" dirty="0"/>
          </a:p>
        </p:txBody>
      </p:sp>
      <p:sp>
        <p:nvSpPr>
          <p:cNvPr id="21" name="Shape 19"/>
          <p:cNvSpPr/>
          <p:nvPr/>
        </p:nvSpPr>
        <p:spPr>
          <a:xfrm>
            <a:off x="4443984" y="2048256"/>
            <a:ext cx="3017520" cy="448056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44568" y="2130552"/>
            <a:ext cx="2816352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1520" dirty="0"/>
          </a:p>
        </p:txBody>
      </p:sp>
      <p:sp>
        <p:nvSpPr>
          <p:cNvPr id="23" name="Shape 21"/>
          <p:cNvSpPr/>
          <p:nvPr/>
        </p:nvSpPr>
        <p:spPr>
          <a:xfrm>
            <a:off x="7461504" y="2048256"/>
            <a:ext cx="4032504" cy="448056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62088" y="2130552"/>
            <a:ext cx="383133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Ekonomik</a:t>
            </a:r>
            <a:endParaRPr lang="en-US" sz="1520" dirty="0"/>
          </a:p>
        </p:txBody>
      </p:sp>
      <p:sp>
        <p:nvSpPr>
          <p:cNvPr id="25" name="Shape 23"/>
          <p:cNvSpPr/>
          <p:nvPr/>
        </p:nvSpPr>
        <p:spPr>
          <a:xfrm>
            <a:off x="694944" y="2496312"/>
            <a:ext cx="192024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2578608"/>
            <a:ext cx="1719072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20" dirty="0"/>
          </a:p>
        </p:txBody>
      </p:sp>
      <p:sp>
        <p:nvSpPr>
          <p:cNvPr id="27" name="Shape 25"/>
          <p:cNvSpPr/>
          <p:nvPr/>
        </p:nvSpPr>
        <p:spPr>
          <a:xfrm>
            <a:off x="2615184" y="2496312"/>
            <a:ext cx="182880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15768" y="2578608"/>
            <a:ext cx="1627632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1520" dirty="0"/>
          </a:p>
        </p:txBody>
      </p:sp>
      <p:sp>
        <p:nvSpPr>
          <p:cNvPr id="29" name="Shape 27"/>
          <p:cNvSpPr/>
          <p:nvPr/>
        </p:nvSpPr>
        <p:spPr>
          <a:xfrm>
            <a:off x="4443984" y="2496312"/>
            <a:ext cx="301752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44568" y="2578608"/>
            <a:ext cx="2816352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1520" dirty="0"/>
          </a:p>
        </p:txBody>
      </p:sp>
      <p:sp>
        <p:nvSpPr>
          <p:cNvPr id="31" name="Shape 29"/>
          <p:cNvSpPr/>
          <p:nvPr/>
        </p:nvSpPr>
        <p:spPr>
          <a:xfrm>
            <a:off x="7461504" y="2496312"/>
            <a:ext cx="4032504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62088" y="2578608"/>
            <a:ext cx="383133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Ekonomik</a:t>
            </a:r>
            <a:endParaRPr lang="en-US" sz="1520" dirty="0"/>
          </a:p>
        </p:txBody>
      </p:sp>
      <p:sp>
        <p:nvSpPr>
          <p:cNvPr id="33" name="Shape 31"/>
          <p:cNvSpPr/>
          <p:nvPr/>
        </p:nvSpPr>
        <p:spPr>
          <a:xfrm>
            <a:off x="694944" y="2944368"/>
            <a:ext cx="1920240" cy="448056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5528" y="3026664"/>
            <a:ext cx="1719072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20" dirty="0"/>
          </a:p>
        </p:txBody>
      </p:sp>
      <p:sp>
        <p:nvSpPr>
          <p:cNvPr id="35" name="Shape 33"/>
          <p:cNvSpPr/>
          <p:nvPr/>
        </p:nvSpPr>
        <p:spPr>
          <a:xfrm>
            <a:off x="2615184" y="2944368"/>
            <a:ext cx="1828800" cy="448056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15768" y="3026664"/>
            <a:ext cx="1627632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1520" dirty="0"/>
          </a:p>
        </p:txBody>
      </p:sp>
      <p:sp>
        <p:nvSpPr>
          <p:cNvPr id="37" name="Shape 35"/>
          <p:cNvSpPr/>
          <p:nvPr/>
        </p:nvSpPr>
        <p:spPr>
          <a:xfrm>
            <a:off x="4443984" y="2944368"/>
            <a:ext cx="3017520" cy="448056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44568" y="3026664"/>
            <a:ext cx="2816352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</a:t>
            </a:r>
            <a:endParaRPr lang="en-US" sz="1520" dirty="0"/>
          </a:p>
        </p:txBody>
      </p:sp>
      <p:sp>
        <p:nvSpPr>
          <p:cNvPr id="39" name="Shape 37"/>
          <p:cNvSpPr/>
          <p:nvPr/>
        </p:nvSpPr>
        <p:spPr>
          <a:xfrm>
            <a:off x="7461504" y="2944368"/>
            <a:ext cx="4032504" cy="448056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62088" y="3026664"/>
            <a:ext cx="383133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Ekonomik</a:t>
            </a:r>
            <a:endParaRPr lang="en-US" sz="1520" dirty="0"/>
          </a:p>
        </p:txBody>
      </p:sp>
      <p:sp>
        <p:nvSpPr>
          <p:cNvPr id="41" name="Shape 39"/>
          <p:cNvSpPr/>
          <p:nvPr/>
        </p:nvSpPr>
        <p:spPr>
          <a:xfrm>
            <a:off x="694944" y="3392424"/>
            <a:ext cx="192024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5528" y="3474720"/>
            <a:ext cx="1719072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20" dirty="0"/>
          </a:p>
        </p:txBody>
      </p:sp>
      <p:sp>
        <p:nvSpPr>
          <p:cNvPr id="43" name="Shape 41"/>
          <p:cNvSpPr/>
          <p:nvPr/>
        </p:nvSpPr>
        <p:spPr>
          <a:xfrm>
            <a:off x="2615184" y="3392424"/>
            <a:ext cx="182880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15768" y="3474720"/>
            <a:ext cx="1627632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1520" dirty="0"/>
          </a:p>
        </p:txBody>
      </p:sp>
      <p:sp>
        <p:nvSpPr>
          <p:cNvPr id="45" name="Shape 43"/>
          <p:cNvSpPr/>
          <p:nvPr/>
        </p:nvSpPr>
        <p:spPr>
          <a:xfrm>
            <a:off x="4443984" y="3392424"/>
            <a:ext cx="301752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44568" y="3474720"/>
            <a:ext cx="2816352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</a:t>
            </a:r>
            <a:endParaRPr lang="en-US" sz="1520" dirty="0"/>
          </a:p>
        </p:txBody>
      </p:sp>
      <p:sp>
        <p:nvSpPr>
          <p:cNvPr id="47" name="Shape 45"/>
          <p:cNvSpPr/>
          <p:nvPr/>
        </p:nvSpPr>
        <p:spPr>
          <a:xfrm>
            <a:off x="7461504" y="3392424"/>
            <a:ext cx="4032504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562088" y="3474720"/>
            <a:ext cx="383133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Lüks</a:t>
            </a:r>
            <a:endParaRPr lang="en-US" sz="1520" dirty="0"/>
          </a:p>
        </p:txBody>
      </p:sp>
      <p:sp>
        <p:nvSpPr>
          <p:cNvPr id="49" name="Shape 47"/>
          <p:cNvSpPr/>
          <p:nvPr/>
        </p:nvSpPr>
        <p:spPr>
          <a:xfrm>
            <a:off x="694944" y="3840480"/>
            <a:ext cx="1920240" cy="448056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95528" y="3922776"/>
            <a:ext cx="1719072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520" dirty="0"/>
          </a:p>
        </p:txBody>
      </p:sp>
      <p:sp>
        <p:nvSpPr>
          <p:cNvPr id="51" name="Shape 49"/>
          <p:cNvSpPr/>
          <p:nvPr/>
        </p:nvSpPr>
        <p:spPr>
          <a:xfrm>
            <a:off x="2615184" y="3840480"/>
            <a:ext cx="1828800" cy="448056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15768" y="3922776"/>
            <a:ext cx="1627632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</a:t>
            </a:r>
            <a:endParaRPr lang="en-US" sz="1520" dirty="0"/>
          </a:p>
        </p:txBody>
      </p:sp>
      <p:sp>
        <p:nvSpPr>
          <p:cNvPr id="53" name="Shape 51"/>
          <p:cNvSpPr/>
          <p:nvPr/>
        </p:nvSpPr>
        <p:spPr>
          <a:xfrm>
            <a:off x="4443984" y="3840480"/>
            <a:ext cx="3017520" cy="448056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44568" y="3922776"/>
            <a:ext cx="2816352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</a:t>
            </a:r>
            <a:endParaRPr lang="en-US" sz="1520" dirty="0"/>
          </a:p>
        </p:txBody>
      </p:sp>
      <p:sp>
        <p:nvSpPr>
          <p:cNvPr id="55" name="Shape 53"/>
          <p:cNvSpPr/>
          <p:nvPr/>
        </p:nvSpPr>
        <p:spPr>
          <a:xfrm>
            <a:off x="7461504" y="3840480"/>
            <a:ext cx="4032504" cy="448056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562088" y="3922776"/>
            <a:ext cx="383133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Lüks</a:t>
            </a:r>
            <a:endParaRPr lang="en-US" sz="1520" dirty="0"/>
          </a:p>
        </p:txBody>
      </p:sp>
      <p:sp>
        <p:nvSpPr>
          <p:cNvPr id="57" name="Shape 55"/>
          <p:cNvSpPr/>
          <p:nvPr/>
        </p:nvSpPr>
        <p:spPr>
          <a:xfrm>
            <a:off x="694944" y="4288536"/>
            <a:ext cx="192024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95528" y="4370832"/>
            <a:ext cx="1719072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520" dirty="0"/>
          </a:p>
        </p:txBody>
      </p:sp>
      <p:sp>
        <p:nvSpPr>
          <p:cNvPr id="59" name="Shape 57"/>
          <p:cNvSpPr/>
          <p:nvPr/>
        </p:nvSpPr>
        <p:spPr>
          <a:xfrm>
            <a:off x="2615184" y="4288536"/>
            <a:ext cx="182880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15768" y="4370832"/>
            <a:ext cx="1627632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</a:t>
            </a:r>
            <a:endParaRPr lang="en-US" sz="1520" dirty="0"/>
          </a:p>
        </p:txBody>
      </p:sp>
      <p:sp>
        <p:nvSpPr>
          <p:cNvPr id="61" name="Shape 59"/>
          <p:cNvSpPr/>
          <p:nvPr/>
        </p:nvSpPr>
        <p:spPr>
          <a:xfrm>
            <a:off x="4443984" y="4288536"/>
            <a:ext cx="301752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44568" y="4370832"/>
            <a:ext cx="2816352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</a:t>
            </a:r>
            <a:endParaRPr lang="en-US" sz="1520" dirty="0"/>
          </a:p>
        </p:txBody>
      </p:sp>
      <p:sp>
        <p:nvSpPr>
          <p:cNvPr id="63" name="Shape 61"/>
          <p:cNvSpPr/>
          <p:nvPr/>
        </p:nvSpPr>
        <p:spPr>
          <a:xfrm>
            <a:off x="7461504" y="4288536"/>
            <a:ext cx="4032504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562088" y="4370832"/>
            <a:ext cx="383133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Lüks</a:t>
            </a:r>
            <a:endParaRPr lang="en-US" sz="1520" dirty="0"/>
          </a:p>
        </p:txBody>
      </p:sp>
      <p:sp>
        <p:nvSpPr>
          <p:cNvPr id="65" name="Shape 63"/>
          <p:cNvSpPr/>
          <p:nvPr/>
        </p:nvSpPr>
        <p:spPr>
          <a:xfrm>
            <a:off x="704088" y="5907024"/>
            <a:ext cx="10799064" cy="466344"/>
          </a:xfrm>
          <a:prstGeom prst="roundRect">
            <a:avLst>
              <a:gd name="adj" fmla="val 19608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96112" y="6016752"/>
            <a:ext cx="103784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 sınıfta 3 gözlem: P̂(C₁)=P̂(C₂)=3/6=0,5.</a:t>
            </a:r>
            <a:endParaRPr lang="en-US" sz="142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5.5 · ÇOK DEĞIŞKENLI SINIFLANDIRMA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Araba müşterisi: sınıf ortalamaları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ADIM ADIM ÇÖZÜMLÜ ÖRNEK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54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4088" y="1408176"/>
            <a:ext cx="10799064" cy="548640"/>
          </a:xfrm>
          <a:prstGeom prst="roundRect">
            <a:avLst>
              <a:gd name="adj" fmla="val 16667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508760"/>
            <a:ext cx="103784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C₁ = 3 ekonomik; C₂ = 3 lüks müşteri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04088" y="2130552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" y="2249424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2295144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89304" y="2249424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m₁ yaş = (20+25+30)/3 = 25</a:t>
            </a:r>
            <a:endParaRPr lang="en-US" sz="1920" dirty="0"/>
          </a:p>
        </p:txBody>
      </p:sp>
      <p:sp>
        <p:nvSpPr>
          <p:cNvPr id="15" name="Shape 13"/>
          <p:cNvSpPr/>
          <p:nvPr/>
        </p:nvSpPr>
        <p:spPr>
          <a:xfrm>
            <a:off x="704088" y="3168396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" y="328726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3332988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289304" y="3287268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m₁ gelir = (30+40+50)/3 = 40</a:t>
            </a:r>
            <a:endParaRPr lang="en-US" sz="1920" dirty="0"/>
          </a:p>
        </p:txBody>
      </p:sp>
      <p:sp>
        <p:nvSpPr>
          <p:cNvPr id="19" name="Shape 17"/>
          <p:cNvSpPr/>
          <p:nvPr/>
        </p:nvSpPr>
        <p:spPr>
          <a:xfrm>
            <a:off x="704088" y="4206240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" y="4325112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" y="4370832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289304" y="4325112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m₂ yaş = (40+45+50)/3 = 45</a:t>
            </a:r>
            <a:endParaRPr lang="en-US" sz="1920" dirty="0"/>
          </a:p>
        </p:txBody>
      </p:sp>
      <p:sp>
        <p:nvSpPr>
          <p:cNvPr id="23" name="Shape 21"/>
          <p:cNvSpPr/>
          <p:nvPr/>
        </p:nvSpPr>
        <p:spPr>
          <a:xfrm>
            <a:off x="704088" y="5244084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" y="5362956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" y="5408676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289304" y="5362956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m₂ gelir = (80+90+100)/3 = 90</a:t>
            </a:r>
            <a:endParaRPr lang="en-US" sz="1920" dirty="0"/>
          </a:p>
        </p:txBody>
      </p:sp>
      <p:sp>
        <p:nvSpPr>
          <p:cNvPr id="27" name="Shape 25"/>
          <p:cNvSpPr/>
          <p:nvPr/>
        </p:nvSpPr>
        <p:spPr>
          <a:xfrm>
            <a:off x="704088" y="6254496"/>
            <a:ext cx="10799064" cy="256032"/>
          </a:xfrm>
          <a:prstGeom prst="roundRect">
            <a:avLst>
              <a:gd name="adj" fmla="val 35714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6112" y="6281928"/>
            <a:ext cx="10396728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m₁ = (25,40)ᵀ ve m₂ = (45,90)ᵀ; gelir bin TL cinsindedir.</a:t>
            </a:r>
            <a:endParaRPr lang="en-US" sz="123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5.5 · ÇOK DEĞIŞKENLI SINIFLANDIRMA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Araba müşterisi: kovaryans kontrolü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ADIM ADIM ÇÖZÜMLÜ ÖRNEK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4088" y="1408176"/>
            <a:ext cx="10799064" cy="548640"/>
          </a:xfrm>
          <a:prstGeom prst="roundRect">
            <a:avLst>
              <a:gd name="adj" fmla="val 16667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508760"/>
            <a:ext cx="103784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Ekonomik grup: (20,30), (25,40), (30,50); m₁=(25,40)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04088" y="2130552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" y="2249424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2295144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89304" y="2249424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Ortalamadan farklar: (−5,−10), (0,0), (5,10)</a:t>
            </a:r>
            <a:endParaRPr lang="en-US" sz="1920" dirty="0"/>
          </a:p>
        </p:txBody>
      </p:sp>
      <p:sp>
        <p:nvSpPr>
          <p:cNvPr id="15" name="Shape 13"/>
          <p:cNvSpPr/>
          <p:nvPr/>
        </p:nvSpPr>
        <p:spPr>
          <a:xfrm>
            <a:off x="704088" y="3168396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" y="328726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3332988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289304" y="3287268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Yaş varyansı = (25+0+25)/3 ≈ 16,67</a:t>
            </a:r>
            <a:endParaRPr lang="en-US" sz="1920" dirty="0"/>
          </a:p>
        </p:txBody>
      </p:sp>
      <p:sp>
        <p:nvSpPr>
          <p:cNvPr id="19" name="Shape 17"/>
          <p:cNvSpPr/>
          <p:nvPr/>
        </p:nvSpPr>
        <p:spPr>
          <a:xfrm>
            <a:off x="704088" y="4206240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" y="4325112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" y="4370832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289304" y="4325112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Gelir varyansı = (100+0+100)/3 ≈ 66,67</a:t>
            </a:r>
            <a:endParaRPr lang="en-US" sz="1920" dirty="0"/>
          </a:p>
        </p:txBody>
      </p:sp>
      <p:sp>
        <p:nvSpPr>
          <p:cNvPr id="23" name="Shape 21"/>
          <p:cNvSpPr/>
          <p:nvPr/>
        </p:nvSpPr>
        <p:spPr>
          <a:xfrm>
            <a:off x="704088" y="5244084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" y="5362956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" y="5408676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289304" y="5362956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Kovaryans = (50+0+50)/3 ≈ 33,33</a:t>
            </a:r>
            <a:endParaRPr lang="en-US" sz="1920" dirty="0"/>
          </a:p>
        </p:txBody>
      </p:sp>
      <p:sp>
        <p:nvSpPr>
          <p:cNvPr id="27" name="Shape 25"/>
          <p:cNvSpPr/>
          <p:nvPr/>
        </p:nvSpPr>
        <p:spPr>
          <a:xfrm>
            <a:off x="704088" y="6254496"/>
            <a:ext cx="10799064" cy="256032"/>
          </a:xfrm>
          <a:prstGeom prst="roundRect">
            <a:avLst>
              <a:gd name="adj" fmla="val 35714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6112" y="6281928"/>
            <a:ext cx="10396728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S₁ = [[16,67,33,33],[33,33,66,67]], determinantı 0 → tekil.</a:t>
            </a:r>
            <a:endParaRPr lang="en-US" sz="123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5.5 · ÇOK DEĞIŞKENLI SINIFLANDIRMA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QDA — Karesel Ayırt Edici Analiz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FORMÜLÜ OKUYALIM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1463040"/>
            <a:ext cx="10799064" cy="1234440"/>
          </a:xfrm>
          <a:prstGeom prst="roundRect">
            <a:avLst>
              <a:gd name="adj" fmla="val 7407"/>
            </a:avLst>
          </a:prstGeom>
          <a:solidFill>
            <a:srgbClr val="11283D"/>
          </a:solidFill>
          <a:ln w="12700">
            <a:solidFill>
              <a:srgbClr val="11283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737360"/>
            <a:ext cx="1013155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gᵢ(x) = xᵀWᵢx + wᵢᵀx + wᵢ₀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777240" y="2953512"/>
            <a:ext cx="1065276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 sınıfın kendi kovaryansı vardır: S₁, S₂, …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68096" y="3694176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3776472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Wᵢ = −½ Sᵢ⁻¹ ; wᵢ = Sᵢ⁻¹mᵢ</a:t>
            </a:r>
            <a:endParaRPr lang="en-US" sz="1660" dirty="0"/>
          </a:p>
        </p:txBody>
      </p:sp>
      <p:sp>
        <p:nvSpPr>
          <p:cNvPr id="14" name="Shape 12"/>
          <p:cNvSpPr/>
          <p:nvPr/>
        </p:nvSpPr>
        <p:spPr>
          <a:xfrm>
            <a:off x="768096" y="4251960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4334256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xᵀSᵢ⁻¹x ifadesi karesel terimler oluşturur.</a:t>
            </a:r>
            <a:endParaRPr lang="en-US" sz="1660" dirty="0"/>
          </a:p>
        </p:txBody>
      </p:sp>
      <p:sp>
        <p:nvSpPr>
          <p:cNvPr id="16" name="Shape 14"/>
          <p:cNvSpPr/>
          <p:nvPr/>
        </p:nvSpPr>
        <p:spPr>
          <a:xfrm>
            <a:off x="768096" y="4809744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4892040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Karar sınırı genellikle eğriseldir.</a:t>
            </a:r>
            <a:endParaRPr lang="en-US" sz="166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5.5 · ÇOK DEĞIŞKENLI SINIFLANDIRMA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5.3 — Farklı kovaryanslar (QDA)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KAYNAK ŞEKLİN YORUMU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57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4088" y="1426464"/>
            <a:ext cx="598932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pic>
        <p:nvPicPr>
          <p:cNvPr id="10" name="Image 0" descr="/mnt/data/image(10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554480"/>
            <a:ext cx="5733288" cy="43159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995160" y="1426464"/>
            <a:ext cx="4489704" cy="4572000"/>
          </a:xfrm>
          <a:prstGeom prst="roundRect">
            <a:avLst>
              <a:gd name="adj" fmla="val 2037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78040" y="1609344"/>
            <a:ext cx="4123944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grafiğin anlamı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7178040" y="2112264"/>
            <a:ext cx="301752" cy="301752"/>
          </a:xfrm>
          <a:prstGeom prst="roundRect">
            <a:avLst>
              <a:gd name="adj" fmla="val 30303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237476" y="2153412"/>
            <a:ext cx="17373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30" dirty="0"/>
          </a:p>
        </p:txBody>
      </p:sp>
      <p:sp>
        <p:nvSpPr>
          <p:cNvPr id="15" name="Text 12"/>
          <p:cNvSpPr/>
          <p:nvPr/>
        </p:nvSpPr>
        <p:spPr>
          <a:xfrm>
            <a:off x="7598664" y="2084832"/>
            <a:ext cx="364845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Üst yüzey: iki sınıfa ait koşullu olasılık yoğunlukları.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178040" y="3054096"/>
            <a:ext cx="301752" cy="301752"/>
          </a:xfrm>
          <a:prstGeom prst="roundRect">
            <a:avLst>
              <a:gd name="adj" fmla="val 30303"/>
            </a:avLst>
          </a:prstGeom>
          <a:solidFill>
            <a:srgbClr val="487FA7"/>
          </a:solidFill>
          <a:ln w="12700">
            <a:solidFill>
              <a:srgbClr val="487FA7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37476" y="3095244"/>
            <a:ext cx="17373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30" dirty="0"/>
          </a:p>
        </p:txBody>
      </p:sp>
      <p:sp>
        <p:nvSpPr>
          <p:cNvPr id="18" name="Text 15"/>
          <p:cNvSpPr/>
          <p:nvPr/>
        </p:nvSpPr>
        <p:spPr>
          <a:xfrm>
            <a:off x="7598664" y="3026664"/>
            <a:ext cx="364845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Orta yüzey: bir sınıfın sonsal olasılığı (0–1).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178040" y="3995928"/>
            <a:ext cx="301752" cy="301752"/>
          </a:xfrm>
          <a:prstGeom prst="roundRect">
            <a:avLst>
              <a:gd name="adj" fmla="val 30303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237476" y="4037076"/>
            <a:ext cx="17373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30" dirty="0"/>
          </a:p>
        </p:txBody>
      </p:sp>
      <p:sp>
        <p:nvSpPr>
          <p:cNvPr id="21" name="Text 18"/>
          <p:cNvSpPr/>
          <p:nvPr/>
        </p:nvSpPr>
        <p:spPr>
          <a:xfrm>
            <a:off x="7598664" y="3968496"/>
            <a:ext cx="364845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 şekil: iki elips grubu ve eğrisel ayırt edici sınır.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704088" y="6016752"/>
            <a:ext cx="10808208" cy="448056"/>
          </a:xfrm>
          <a:prstGeom prst="roundRect">
            <a:avLst>
              <a:gd name="adj" fmla="val 20408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77824" y="6089904"/>
            <a:ext cx="1045159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 sınıfın Sᵢ matrisi farklıysa karar sınırı eğrisel olabilir.</a:t>
            </a:r>
            <a:endParaRPr lang="en-US" sz="133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5.5 · ÇOK DEĞIŞKENLI SINIFLANDIRMA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QDA: esneklik ve maliyet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KARŞILAŞTIRMA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58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1527048"/>
            <a:ext cx="5294376" cy="4306824"/>
          </a:xfrm>
          <a:prstGeom prst="roundRect">
            <a:avLst>
              <a:gd name="adj" fmla="val 2123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1691640"/>
            <a:ext cx="487375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2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Avantaj</a:t>
            </a:r>
            <a:endParaRPr lang="en-US" sz="1720" dirty="0"/>
          </a:p>
        </p:txBody>
      </p:sp>
      <p:sp>
        <p:nvSpPr>
          <p:cNvPr id="11" name="Text 9"/>
          <p:cNvSpPr/>
          <p:nvPr/>
        </p:nvSpPr>
        <p:spPr>
          <a:xfrm>
            <a:off x="905256" y="2185416"/>
            <a:ext cx="4873752" cy="3456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Sınıfların farklı yönlere yayılmasını öğrenebilir.</a:t>
            </a:r>
            <a:endParaRPr lang="en-US" sz="1760" dirty="0"/>
          </a:p>
          <a:p>
            <a:pPr algn="l" indent="0" marL="0">
              <a:buNone/>
            </a:pPr>
            <a:endParaRPr lang="en-US" sz="1760" dirty="0"/>
          </a:p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 sınıfın elips şekli ayrı olabilir.</a:t>
            </a:r>
            <a:endParaRPr lang="en-US" sz="1760" dirty="0"/>
          </a:p>
          <a:p>
            <a:pPr algn="l" indent="0" marL="0">
              <a:buNone/>
            </a:pPr>
            <a:endParaRPr lang="en-US" sz="1760" dirty="0"/>
          </a:p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Eğrisel karar sınırları üretebilir.</a:t>
            </a:r>
            <a:endParaRPr lang="en-US" sz="1760" dirty="0"/>
          </a:p>
        </p:txBody>
      </p:sp>
      <p:sp>
        <p:nvSpPr>
          <p:cNvPr id="12" name="Shape 10"/>
          <p:cNvSpPr/>
          <p:nvPr/>
        </p:nvSpPr>
        <p:spPr>
          <a:xfrm>
            <a:off x="6245352" y="1527048"/>
            <a:ext cx="5266944" cy="4306824"/>
          </a:xfrm>
          <a:prstGeom prst="roundRect">
            <a:avLst>
              <a:gd name="adj" fmla="val 2123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5664" y="1691640"/>
            <a:ext cx="48463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2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1720" dirty="0"/>
          </a:p>
        </p:txBody>
      </p:sp>
      <p:sp>
        <p:nvSpPr>
          <p:cNvPr id="14" name="Text 12"/>
          <p:cNvSpPr/>
          <p:nvPr/>
        </p:nvSpPr>
        <p:spPr>
          <a:xfrm>
            <a:off x="6455664" y="2185416"/>
            <a:ext cx="4846320" cy="3456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 sınıfa ayrı kovaryans öğrenilir.</a:t>
            </a:r>
            <a:endParaRPr lang="en-US" sz="1760" dirty="0"/>
          </a:p>
          <a:p>
            <a:pPr algn="l" indent="0" marL="0">
              <a:buNone/>
            </a:pPr>
            <a:endParaRPr lang="en-US" sz="1760" dirty="0"/>
          </a:p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Parametre sayısı: K × d(d+1)/2</a:t>
            </a:r>
            <a:endParaRPr lang="en-US" sz="1760" dirty="0"/>
          </a:p>
          <a:p>
            <a:pPr algn="l" indent="0" marL="0">
              <a:buNone/>
            </a:pPr>
            <a:endParaRPr lang="en-US" sz="1760" dirty="0"/>
          </a:p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 büyük, örnek sayısı küçükse Sᵢ tekil veya kararsız olabilir.</a:t>
            </a:r>
            <a:endParaRPr lang="en-US" sz="1760" dirty="0"/>
          </a:p>
        </p:txBody>
      </p:sp>
      <p:sp>
        <p:nvSpPr>
          <p:cNvPr id="15" name="Shape 13"/>
          <p:cNvSpPr/>
          <p:nvPr/>
        </p:nvSpPr>
        <p:spPr>
          <a:xfrm>
            <a:off x="694944" y="5971032"/>
            <a:ext cx="10826496" cy="484632"/>
          </a:xfrm>
          <a:prstGeom prst="roundRect">
            <a:avLst>
              <a:gd name="adj" fmla="val 18868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" y="6053328"/>
            <a:ext cx="1039672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Örnek: K=3 ve d=10 için 3×55=165 kovaryans parametresi.</a:t>
            </a:r>
            <a:endParaRPr lang="en-US" sz="14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5.5 · ÇOK DEĞIŞKENLI SINIFLANDIRMA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LDA — Ortak Kovaryans Varsayımı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FORMÜLÜ OKUYALIM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59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1463040"/>
            <a:ext cx="10799064" cy="1234440"/>
          </a:xfrm>
          <a:prstGeom prst="roundRect">
            <a:avLst>
              <a:gd name="adj" fmla="val 7407"/>
            </a:avLst>
          </a:prstGeom>
          <a:solidFill>
            <a:srgbClr val="11283D"/>
          </a:solidFill>
          <a:ln w="12700">
            <a:solidFill>
              <a:srgbClr val="11283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737360"/>
            <a:ext cx="1013155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 = Σᵢ P̂(Cᵢ)Sᵢ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77240" y="2953512"/>
            <a:ext cx="1065276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 sınıfın merkezi farklı, kovaryansı ortak kabul edilir.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68096" y="3694176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3776472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gᵢ(x) = −½(x−mᵢ)ᵀS⁻¹(x−mᵢ) + log P̂(Cᵢ)</a:t>
            </a:r>
            <a:endParaRPr lang="en-US" sz="1660" dirty="0"/>
          </a:p>
        </p:txBody>
      </p:sp>
      <p:sp>
        <p:nvSpPr>
          <p:cNvPr id="14" name="Shape 12"/>
          <p:cNvSpPr/>
          <p:nvPr/>
        </p:nvSpPr>
        <p:spPr>
          <a:xfrm>
            <a:off x="768096" y="4251960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4334256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Ortak xᵀS⁻¹x terimi sınıflar arasında gider.</a:t>
            </a:r>
            <a:endParaRPr lang="en-US" sz="1660" dirty="0"/>
          </a:p>
        </p:txBody>
      </p:sp>
      <p:sp>
        <p:nvSpPr>
          <p:cNvPr id="16" name="Shape 14"/>
          <p:cNvSpPr/>
          <p:nvPr/>
        </p:nvSpPr>
        <p:spPr>
          <a:xfrm>
            <a:off x="768096" y="4809744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4892040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Kalan ayırt edici fonksiyon doğrusal olur.</a:t>
            </a:r>
            <a:endParaRPr lang="en-US" sz="166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5.5 · ÇOK DEĞIŞKENLI SINIFLANDIRMA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LDA neden düz sınır çizer?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FORMÜLÜ OKUYALIM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1463040"/>
            <a:ext cx="10799064" cy="1234440"/>
          </a:xfrm>
          <a:prstGeom prst="roundRect">
            <a:avLst>
              <a:gd name="adj" fmla="val 7407"/>
            </a:avLst>
          </a:prstGeom>
          <a:solidFill>
            <a:srgbClr val="11283D"/>
          </a:solidFill>
          <a:ln w="12700">
            <a:solidFill>
              <a:srgbClr val="11283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737360"/>
            <a:ext cx="1013155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gᵢ(x) = wᵢᵀx + wᵢ₀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777240" y="2953512"/>
            <a:ext cx="1065276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wᵢ = S⁻¹mᵢ; wᵢ₀ = −½mᵢᵀS⁻¹mᵢ + log P̂(Cᵢ)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68096" y="3694176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3776472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İki sınıfın sınırında g₁(x) = g₂(x).</a:t>
            </a:r>
            <a:endParaRPr lang="en-US" sz="1660" dirty="0"/>
          </a:p>
        </p:txBody>
      </p:sp>
      <p:sp>
        <p:nvSpPr>
          <p:cNvPr id="14" name="Shape 12"/>
          <p:cNvSpPr/>
          <p:nvPr/>
        </p:nvSpPr>
        <p:spPr>
          <a:xfrm>
            <a:off x="768096" y="4251960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4334256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(w₁−w₂)ᵀx + (w₁₀−w₂₀) = 0</a:t>
            </a:r>
            <a:endParaRPr lang="en-US" sz="1660" dirty="0"/>
          </a:p>
        </p:txBody>
      </p:sp>
      <p:sp>
        <p:nvSpPr>
          <p:cNvPr id="16" name="Shape 14"/>
          <p:cNvSpPr/>
          <p:nvPr/>
        </p:nvSpPr>
        <p:spPr>
          <a:xfrm>
            <a:off x="768096" y="4809744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4892040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İki boyutta doğru, d boyutta hiperdüzlem.</a:t>
            </a:r>
            <a:endParaRPr lang="en-US" sz="166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5.5 · ÇOK DEĞIŞKENLI SINIFLANDIRMA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5.4 — Ortak kovaryans (LDA)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KAYNAK ŞEKLİN YORUMU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4088" y="1426464"/>
            <a:ext cx="6583680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pic>
        <p:nvPicPr>
          <p:cNvPr id="10" name="Image 0" descr="/mnt/data/image(20261024-15453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554480"/>
            <a:ext cx="6327648" cy="413308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589520" y="1426464"/>
            <a:ext cx="3895344" cy="4389120"/>
          </a:xfrm>
          <a:prstGeom prst="roundRect">
            <a:avLst>
              <a:gd name="adj" fmla="val 2347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0" y="1609344"/>
            <a:ext cx="3529584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Grafik nasıl okunur?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7772400" y="2112264"/>
            <a:ext cx="301752" cy="301752"/>
          </a:xfrm>
          <a:prstGeom prst="roundRect">
            <a:avLst>
              <a:gd name="adj" fmla="val 30303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31836" y="2153412"/>
            <a:ext cx="17373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30" dirty="0"/>
          </a:p>
        </p:txBody>
      </p:sp>
      <p:sp>
        <p:nvSpPr>
          <p:cNvPr id="15" name="Text 12"/>
          <p:cNvSpPr/>
          <p:nvPr/>
        </p:nvSpPr>
        <p:spPr>
          <a:xfrm>
            <a:off x="8193024" y="2084832"/>
            <a:ext cx="305409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Elipslerin şekli ve eğimi aynıdır.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772400" y="3054096"/>
            <a:ext cx="301752" cy="301752"/>
          </a:xfrm>
          <a:prstGeom prst="roundRect">
            <a:avLst>
              <a:gd name="adj" fmla="val 30303"/>
            </a:avLst>
          </a:prstGeom>
          <a:solidFill>
            <a:srgbClr val="487FA7"/>
          </a:solidFill>
          <a:ln w="12700">
            <a:solidFill>
              <a:srgbClr val="487FA7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31836" y="3095244"/>
            <a:ext cx="17373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30" dirty="0"/>
          </a:p>
        </p:txBody>
      </p:sp>
      <p:sp>
        <p:nvSpPr>
          <p:cNvPr id="18" name="Text 15"/>
          <p:cNvSpPr/>
          <p:nvPr/>
        </p:nvSpPr>
        <p:spPr>
          <a:xfrm>
            <a:off x="8193024" y="3026664"/>
            <a:ext cx="305409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Merkezleri farklıdır; farklı sınıfları gösterir.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772400" y="3995928"/>
            <a:ext cx="301752" cy="301752"/>
          </a:xfrm>
          <a:prstGeom prst="roundRect">
            <a:avLst>
              <a:gd name="adj" fmla="val 30303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831836" y="4037076"/>
            <a:ext cx="17373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30" dirty="0"/>
          </a:p>
        </p:txBody>
      </p:sp>
      <p:sp>
        <p:nvSpPr>
          <p:cNvPr id="21" name="Text 18"/>
          <p:cNvSpPr/>
          <p:nvPr/>
        </p:nvSpPr>
        <p:spPr>
          <a:xfrm>
            <a:off x="8193024" y="3968496"/>
            <a:ext cx="305409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Ortadaki düz çizgi: doğrusal ayırt edici sınır.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704088" y="6016752"/>
            <a:ext cx="10808208" cy="448056"/>
          </a:xfrm>
          <a:prstGeom prst="roundRect">
            <a:avLst>
              <a:gd name="adj" fmla="val 20408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77824" y="6089904"/>
            <a:ext cx="1045159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Ortak kovaryans + farklı merkezler → doğrusal karar sınırı.</a:t>
            </a:r>
            <a:endParaRPr lang="en-US" sz="133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5.5 · ÇOK DEĞIŞKENLI SINIFLANDIRMA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LDA örneği: Mahalanobis karşılaştır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ADIM ADIM ÇÖZÜMLÜ ÖRNEK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4088" y="1408176"/>
            <a:ext cx="10799064" cy="548640"/>
          </a:xfrm>
          <a:prstGeom prst="roundRect">
            <a:avLst>
              <a:gd name="adj" fmla="val 16667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508760"/>
            <a:ext cx="103784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m₁=(1,3), m₂=(3,1), S=I, x=(1,5;2,5), önseller eşit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04088" y="2130552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" y="2249424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2295144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89304" y="2249424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D₁² = (1,5−1)² + (2,5−3)²</a:t>
            </a:r>
            <a:endParaRPr lang="en-US" sz="1920" dirty="0"/>
          </a:p>
        </p:txBody>
      </p:sp>
      <p:sp>
        <p:nvSpPr>
          <p:cNvPr id="15" name="Shape 13"/>
          <p:cNvSpPr/>
          <p:nvPr/>
        </p:nvSpPr>
        <p:spPr>
          <a:xfrm>
            <a:off x="704088" y="3168396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" y="328726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3332988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289304" y="3287268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D₁² = 0,25 + 0,25 = 0,50</a:t>
            </a:r>
            <a:endParaRPr lang="en-US" sz="1920" dirty="0"/>
          </a:p>
        </p:txBody>
      </p:sp>
      <p:sp>
        <p:nvSpPr>
          <p:cNvPr id="19" name="Shape 17"/>
          <p:cNvSpPr/>
          <p:nvPr/>
        </p:nvSpPr>
        <p:spPr>
          <a:xfrm>
            <a:off x="704088" y="4206240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" y="4325112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" y="4370832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289304" y="4325112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D₂² = (1,5−3)² + (2,5−1)²</a:t>
            </a:r>
            <a:endParaRPr lang="en-US" sz="1920" dirty="0"/>
          </a:p>
        </p:txBody>
      </p:sp>
      <p:sp>
        <p:nvSpPr>
          <p:cNvPr id="23" name="Shape 21"/>
          <p:cNvSpPr/>
          <p:nvPr/>
        </p:nvSpPr>
        <p:spPr>
          <a:xfrm>
            <a:off x="704088" y="5244084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" y="5362956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" y="5408676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289304" y="5362956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D₂² = 2,25 + 2,25 = 4,50</a:t>
            </a:r>
            <a:endParaRPr lang="en-US" sz="1920" dirty="0"/>
          </a:p>
        </p:txBody>
      </p:sp>
      <p:sp>
        <p:nvSpPr>
          <p:cNvPr id="27" name="Shape 25"/>
          <p:cNvSpPr/>
          <p:nvPr/>
        </p:nvSpPr>
        <p:spPr>
          <a:xfrm>
            <a:off x="704088" y="6254496"/>
            <a:ext cx="10799064" cy="256032"/>
          </a:xfrm>
          <a:prstGeom prst="roundRect">
            <a:avLst>
              <a:gd name="adj" fmla="val 35714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6112" y="6281928"/>
            <a:ext cx="10396728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0,50 &lt; 4,50 olduğundan gözlem C₁ seçilir.</a:t>
            </a:r>
            <a:endParaRPr lang="en-US" sz="123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5.5 · ÇOK DEĞIŞKENLI SINIFLANDIRMA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Önsel olasılıklar sonucu değiştirir mi?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ADIM ADIM ÇÖZÜMLÜ ÖRNEK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4088" y="1408176"/>
            <a:ext cx="10799064" cy="548640"/>
          </a:xfrm>
          <a:prstGeom prst="roundRect">
            <a:avLst>
              <a:gd name="adj" fmla="val 16667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508760"/>
            <a:ext cx="103784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Önceki x aynı; P(C₁)=0,1 ve P(C₂)=0,9 olsun.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04088" y="2130552"/>
            <a:ext cx="10799064" cy="1219200"/>
          </a:xfrm>
          <a:prstGeom prst="roundRect">
            <a:avLst>
              <a:gd name="adj" fmla="val 7500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" y="2249424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2295144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89304" y="2249424"/>
            <a:ext cx="10003536" cy="999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g₁ = −½(0,50) + ln(0,1) = −0,25 − 2,303 = −2,553</a:t>
            </a:r>
            <a:endParaRPr lang="en-US" sz="1920" dirty="0"/>
          </a:p>
        </p:txBody>
      </p:sp>
      <p:sp>
        <p:nvSpPr>
          <p:cNvPr id="15" name="Shape 13"/>
          <p:cNvSpPr/>
          <p:nvPr/>
        </p:nvSpPr>
        <p:spPr>
          <a:xfrm>
            <a:off x="704088" y="3514344"/>
            <a:ext cx="10799064" cy="1219200"/>
          </a:xfrm>
          <a:prstGeom prst="roundRect">
            <a:avLst>
              <a:gd name="adj" fmla="val 7500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" y="3633216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3678936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289304" y="3633216"/>
            <a:ext cx="10003536" cy="999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g₂ = −½(4,50) + ln(0,9) = −2,25 − 0,105 = −2,355</a:t>
            </a:r>
            <a:endParaRPr lang="en-US" sz="1920" dirty="0"/>
          </a:p>
        </p:txBody>
      </p:sp>
      <p:sp>
        <p:nvSpPr>
          <p:cNvPr id="19" name="Shape 17"/>
          <p:cNvSpPr/>
          <p:nvPr/>
        </p:nvSpPr>
        <p:spPr>
          <a:xfrm>
            <a:off x="704088" y="4898136"/>
            <a:ext cx="10799064" cy="1219200"/>
          </a:xfrm>
          <a:prstGeom prst="roundRect">
            <a:avLst>
              <a:gd name="adj" fmla="val 7500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" y="501700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" y="5062728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289304" y="5017008"/>
            <a:ext cx="10003536" cy="999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g₂ &gt; g₁ olduğundan sınıf C₂ seçilir.</a:t>
            </a:r>
            <a:endParaRPr lang="en-US" sz="1920" dirty="0"/>
          </a:p>
        </p:txBody>
      </p:sp>
      <p:sp>
        <p:nvSpPr>
          <p:cNvPr id="23" name="Shape 21"/>
          <p:cNvSpPr/>
          <p:nvPr/>
        </p:nvSpPr>
        <p:spPr>
          <a:xfrm>
            <a:off x="704088" y="6254496"/>
            <a:ext cx="10799064" cy="256032"/>
          </a:xfrm>
          <a:prstGeom prst="roundRect">
            <a:avLst>
              <a:gd name="adj" fmla="val 35714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" y="6281928"/>
            <a:ext cx="10396728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Önsel olasılıklar karar sınırını daha az olası sınıfa doğru kaydırabilir.</a:t>
            </a:r>
            <a:endParaRPr lang="en-US" sz="123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5.5 · ÇOK DEĞIŞKENLI SINIFLANDIRMA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Ortak köşegen kovaryans (Gaussian Naive Bayes özel durumu)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FORMÜLÜ OKUYALIM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64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1463040"/>
            <a:ext cx="10799064" cy="1234440"/>
          </a:xfrm>
          <a:prstGeom prst="roundRect">
            <a:avLst>
              <a:gd name="adj" fmla="val 7407"/>
            </a:avLst>
          </a:prstGeom>
          <a:solidFill>
            <a:srgbClr val="11283D"/>
          </a:solidFill>
          <a:ln w="12700">
            <a:solidFill>
              <a:srgbClr val="11283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737360"/>
            <a:ext cx="1013155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 = diag(s₁², s₂², …, s_d²)</a:t>
            </a:r>
            <a:endParaRPr lang="en-US" sz="2350" dirty="0"/>
          </a:p>
        </p:txBody>
      </p:sp>
      <p:sp>
        <p:nvSpPr>
          <p:cNvPr id="11" name="Text 9"/>
          <p:cNvSpPr/>
          <p:nvPr/>
        </p:nvSpPr>
        <p:spPr>
          <a:xfrm>
            <a:off x="777240" y="2953512"/>
            <a:ext cx="1065276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Köşegen dışı kovaryanslar sıfır kabul edilir.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68096" y="3694176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3776472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gᵢ = −½ Σⱼ ((xⱼ−mᵢⱼ)/sⱼ)² + log P̂(Cᵢ)</a:t>
            </a:r>
            <a:endParaRPr lang="en-US" sz="1660" dirty="0"/>
          </a:p>
        </p:txBody>
      </p:sp>
      <p:sp>
        <p:nvSpPr>
          <p:cNvPr id="14" name="Shape 12"/>
          <p:cNvSpPr/>
          <p:nvPr/>
        </p:nvSpPr>
        <p:spPr>
          <a:xfrm>
            <a:off x="768096" y="4251960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4334256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Özellikler sınıfa koşullu bağımsız kabul edilir.</a:t>
            </a:r>
            <a:endParaRPr lang="en-US" sz="1660" dirty="0"/>
          </a:p>
        </p:txBody>
      </p:sp>
      <p:sp>
        <p:nvSpPr>
          <p:cNvPr id="16" name="Shape 14"/>
          <p:cNvSpPr/>
          <p:nvPr/>
        </p:nvSpPr>
        <p:spPr>
          <a:xfrm>
            <a:off x="768096" y="4809744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4892040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Ortak köşegende yalnızca d varyans parametresi vardır.</a:t>
            </a:r>
            <a:endParaRPr lang="en-US" sz="166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5.5 · ÇOK DEĞIŞKENLI SINIFLANDIRMA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5.5 — Köşegen kovaryans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KAYNAK ŞEKLİN YORUMU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65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4088" y="1426464"/>
            <a:ext cx="6537960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pic>
        <p:nvPicPr>
          <p:cNvPr id="10" name="Image 0" descr="/mnt/data/image(20261024-154538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554480"/>
            <a:ext cx="6281928" cy="413308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543800" y="1426464"/>
            <a:ext cx="3941064" cy="4389120"/>
          </a:xfrm>
          <a:prstGeom prst="roundRect">
            <a:avLst>
              <a:gd name="adj" fmla="val 2320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26680" y="1609344"/>
            <a:ext cx="3575304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Grafik nasıl okunur?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7726680" y="2112264"/>
            <a:ext cx="301752" cy="301752"/>
          </a:xfrm>
          <a:prstGeom prst="roundRect">
            <a:avLst>
              <a:gd name="adj" fmla="val 30303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86116" y="2153412"/>
            <a:ext cx="17373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30" dirty="0"/>
          </a:p>
        </p:txBody>
      </p:sp>
      <p:sp>
        <p:nvSpPr>
          <p:cNvPr id="15" name="Text 12"/>
          <p:cNvSpPr/>
          <p:nvPr/>
        </p:nvSpPr>
        <p:spPr>
          <a:xfrm>
            <a:off x="8147304" y="2084832"/>
            <a:ext cx="309981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Cov(X₁,X₂)=0 varsayılır.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726680" y="3054096"/>
            <a:ext cx="301752" cy="301752"/>
          </a:xfrm>
          <a:prstGeom prst="roundRect">
            <a:avLst>
              <a:gd name="adj" fmla="val 30303"/>
            </a:avLst>
          </a:prstGeom>
          <a:solidFill>
            <a:srgbClr val="487FA7"/>
          </a:solidFill>
          <a:ln w="12700">
            <a:solidFill>
              <a:srgbClr val="487FA7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86116" y="3095244"/>
            <a:ext cx="17373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30" dirty="0"/>
          </a:p>
        </p:txBody>
      </p:sp>
      <p:sp>
        <p:nvSpPr>
          <p:cNvPr id="18" name="Text 15"/>
          <p:cNvSpPr/>
          <p:nvPr/>
        </p:nvSpPr>
        <p:spPr>
          <a:xfrm>
            <a:off x="8147304" y="3026664"/>
            <a:ext cx="309981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Var(X₁) ile Var(X₂) eşit olmak zorunda değildir.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726680" y="3995928"/>
            <a:ext cx="301752" cy="301752"/>
          </a:xfrm>
          <a:prstGeom prst="roundRect">
            <a:avLst>
              <a:gd name="adj" fmla="val 30303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86116" y="4037076"/>
            <a:ext cx="17373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30" dirty="0"/>
          </a:p>
        </p:txBody>
      </p:sp>
      <p:sp>
        <p:nvSpPr>
          <p:cNvPr id="21" name="Text 18"/>
          <p:cNvSpPr/>
          <p:nvPr/>
        </p:nvSpPr>
        <p:spPr>
          <a:xfrm>
            <a:off x="8147304" y="3968496"/>
            <a:ext cx="309981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Ortak kovaryans nedeniyle karar sınırı yine doğrusaldır.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704088" y="6016752"/>
            <a:ext cx="10808208" cy="448056"/>
          </a:xfrm>
          <a:prstGeom prst="roundRect">
            <a:avLst>
              <a:gd name="adj" fmla="val 20408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77824" y="6089904"/>
            <a:ext cx="1045159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Farklı özellik varyansları, eksenlere paralel elipsler üretir.</a:t>
            </a:r>
            <a:endParaRPr lang="en-US" sz="133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5.5 · ÇOK DEĞIŞKENLI SINIFLANDIRMA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Eşit varyans ve en yakın ortalama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FORMÜLÜ OKUYALIM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1463040"/>
            <a:ext cx="10799064" cy="1234440"/>
          </a:xfrm>
          <a:prstGeom prst="roundRect">
            <a:avLst>
              <a:gd name="adj" fmla="val 7407"/>
            </a:avLst>
          </a:prstGeom>
          <a:solidFill>
            <a:srgbClr val="11283D"/>
          </a:solidFill>
          <a:ln w="12700">
            <a:solidFill>
              <a:srgbClr val="11283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737360"/>
            <a:ext cx="1013155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 = s² I  ⇒  gᵢ(x) = −||x−mᵢ||²/(2s²) + log P̂(Cᵢ)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777240" y="2953512"/>
            <a:ext cx="1065276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Önsel olasılıklar eşitse en yakın ortalamaya gideriz.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68096" y="3694176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3776472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Mahalanobis uzaklığı, ortak ölçekli Öklid uzaklığına iner.</a:t>
            </a:r>
            <a:endParaRPr lang="en-US" sz="1660" dirty="0"/>
          </a:p>
        </p:txBody>
      </p:sp>
      <p:sp>
        <p:nvSpPr>
          <p:cNvPr id="14" name="Shape 12"/>
          <p:cNvSpPr/>
          <p:nvPr/>
        </p:nvSpPr>
        <p:spPr>
          <a:xfrm>
            <a:off x="768096" y="4251960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4334256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Dağılımın eş yoğunluk eğrileri daireseldir.</a:t>
            </a:r>
            <a:endParaRPr lang="en-US" sz="1660" dirty="0"/>
          </a:p>
        </p:txBody>
      </p:sp>
      <p:sp>
        <p:nvSpPr>
          <p:cNvPr id="16" name="Shape 14"/>
          <p:cNvSpPr/>
          <p:nvPr/>
        </p:nvSpPr>
        <p:spPr>
          <a:xfrm>
            <a:off x="768096" y="4809744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4892040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Öğrenilen kovaryans parametresi yalnızca s² olur.</a:t>
            </a:r>
            <a:endParaRPr lang="en-US" sz="166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5.5 · ÇOK DEĞIŞKENLI SINIFLANDIRMA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5.6 — Eşit varyanslı sınıflar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KAYNAK ŞEKLİN YORUMU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67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4088" y="1426464"/>
            <a:ext cx="6583680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pic>
        <p:nvPicPr>
          <p:cNvPr id="10" name="Image 0" descr="/mnt/data/image(20261024-154547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554480"/>
            <a:ext cx="6327648" cy="413308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589520" y="1426464"/>
            <a:ext cx="3895344" cy="4389120"/>
          </a:xfrm>
          <a:prstGeom prst="roundRect">
            <a:avLst>
              <a:gd name="adj" fmla="val 2347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0" y="1609344"/>
            <a:ext cx="3529584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Grafik nasıl okunur?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7772400" y="2112264"/>
            <a:ext cx="301752" cy="301752"/>
          </a:xfrm>
          <a:prstGeom prst="roundRect">
            <a:avLst>
              <a:gd name="adj" fmla="val 30303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31836" y="2153412"/>
            <a:ext cx="17373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30" dirty="0"/>
          </a:p>
        </p:txBody>
      </p:sp>
      <p:sp>
        <p:nvSpPr>
          <p:cNvPr id="15" name="Text 12"/>
          <p:cNvSpPr/>
          <p:nvPr/>
        </p:nvSpPr>
        <p:spPr>
          <a:xfrm>
            <a:off x="8193024" y="2084832"/>
            <a:ext cx="305409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Bütün özelliklerin varyansı eşittir.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772400" y="3054096"/>
            <a:ext cx="301752" cy="301752"/>
          </a:xfrm>
          <a:prstGeom prst="roundRect">
            <a:avLst>
              <a:gd name="adj" fmla="val 30303"/>
            </a:avLst>
          </a:prstGeom>
          <a:solidFill>
            <a:srgbClr val="487FA7"/>
          </a:solidFill>
          <a:ln w="12700">
            <a:solidFill>
              <a:srgbClr val="487FA7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31836" y="3095244"/>
            <a:ext cx="17373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30" dirty="0"/>
          </a:p>
        </p:txBody>
      </p:sp>
      <p:sp>
        <p:nvSpPr>
          <p:cNvPr id="18" name="Text 15"/>
          <p:cNvSpPr/>
          <p:nvPr/>
        </p:nvSpPr>
        <p:spPr>
          <a:xfrm>
            <a:off x="8193024" y="3026664"/>
            <a:ext cx="305409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İki sınıfın dağılım genişliği aynıdır.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772400" y="3995928"/>
            <a:ext cx="301752" cy="301752"/>
          </a:xfrm>
          <a:prstGeom prst="roundRect">
            <a:avLst>
              <a:gd name="adj" fmla="val 30303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831836" y="4037076"/>
            <a:ext cx="17373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30" dirty="0"/>
          </a:p>
        </p:txBody>
      </p:sp>
      <p:sp>
        <p:nvSpPr>
          <p:cNvPr id="21" name="Text 18"/>
          <p:cNvSpPr/>
          <p:nvPr/>
        </p:nvSpPr>
        <p:spPr>
          <a:xfrm>
            <a:off x="8193024" y="3968496"/>
            <a:ext cx="305409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Sınır, eşit önsellerde merkezlere eşit uzaklıktaki doğru olur.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704088" y="6016752"/>
            <a:ext cx="10808208" cy="448056"/>
          </a:xfrm>
          <a:prstGeom prst="roundRect">
            <a:avLst>
              <a:gd name="adj" fmla="val 20408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77824" y="6089904"/>
            <a:ext cx="1045159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İki boyutta küresel Gaussian, dairesel kontur oluşturur.</a:t>
            </a:r>
            <a:endParaRPr lang="en-US" sz="133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5.5 · ÇOK DEĞIŞKENLI SINIFLANDIRMA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yakın ortalama: adım adım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ADIM ADIM ÇÖZÜMLÜ ÖRNEK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4088" y="1408176"/>
            <a:ext cx="10799064" cy="548640"/>
          </a:xfrm>
          <a:prstGeom prst="roundRect">
            <a:avLst>
              <a:gd name="adj" fmla="val 16667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508760"/>
            <a:ext cx="103784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m₁=(2,3), m₂=(8,7), x=(3,4)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04088" y="2130552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" y="2249424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2295144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89304" y="2249424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D₁ = √[(3−2)²+(4−3)²]</a:t>
            </a:r>
            <a:endParaRPr lang="en-US" sz="1920" dirty="0"/>
          </a:p>
        </p:txBody>
      </p:sp>
      <p:sp>
        <p:nvSpPr>
          <p:cNvPr id="15" name="Shape 13"/>
          <p:cNvSpPr/>
          <p:nvPr/>
        </p:nvSpPr>
        <p:spPr>
          <a:xfrm>
            <a:off x="704088" y="3168396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" y="328726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3332988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289304" y="3287268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D₁ = √(1+1) = √2 ≈ 1,41</a:t>
            </a:r>
            <a:endParaRPr lang="en-US" sz="1920" dirty="0"/>
          </a:p>
        </p:txBody>
      </p:sp>
      <p:sp>
        <p:nvSpPr>
          <p:cNvPr id="19" name="Shape 17"/>
          <p:cNvSpPr/>
          <p:nvPr/>
        </p:nvSpPr>
        <p:spPr>
          <a:xfrm>
            <a:off x="704088" y="4206240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" y="4325112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" y="4370832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289304" y="4325112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D₂ = √[(3−8)²+(4−7)²]</a:t>
            </a:r>
            <a:endParaRPr lang="en-US" sz="1920" dirty="0"/>
          </a:p>
        </p:txBody>
      </p:sp>
      <p:sp>
        <p:nvSpPr>
          <p:cNvPr id="23" name="Shape 21"/>
          <p:cNvSpPr/>
          <p:nvPr/>
        </p:nvSpPr>
        <p:spPr>
          <a:xfrm>
            <a:off x="704088" y="5244084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" y="5362956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" y="5408676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289304" y="5362956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D₂ = √(25+9) = √34 ≈ 5,83</a:t>
            </a:r>
            <a:endParaRPr lang="en-US" sz="1920" dirty="0"/>
          </a:p>
        </p:txBody>
      </p:sp>
      <p:sp>
        <p:nvSpPr>
          <p:cNvPr id="27" name="Shape 25"/>
          <p:cNvSpPr/>
          <p:nvPr/>
        </p:nvSpPr>
        <p:spPr>
          <a:xfrm>
            <a:off x="704088" y="6254496"/>
            <a:ext cx="10799064" cy="256032"/>
          </a:xfrm>
          <a:prstGeom prst="roundRect">
            <a:avLst>
              <a:gd name="adj" fmla="val 35714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6112" y="6281928"/>
            <a:ext cx="10396728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yakın sınıf merkezi m₁ → C₁ seçilir.</a:t>
            </a:r>
            <a:endParaRPr lang="en-US" sz="123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5.5 · ÇOK DEĞIŞKENLI SINIFLANDIRMA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yakın ortalama: noktasal çarpım bağı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FORMÜLÜ OKUYALIM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69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1463040"/>
            <a:ext cx="10799064" cy="1234440"/>
          </a:xfrm>
          <a:prstGeom prst="roundRect">
            <a:avLst>
              <a:gd name="adj" fmla="val 7407"/>
            </a:avLst>
          </a:prstGeom>
          <a:solidFill>
            <a:srgbClr val="11283D"/>
          </a:solidFill>
          <a:ln w="12700">
            <a:solidFill>
              <a:srgbClr val="11283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737360"/>
            <a:ext cx="1013155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−||x−mᵢ||² = −xᵀx + 2mᵢᵀx − mᵢᵀmᵢ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7240" y="2953512"/>
            <a:ext cx="1065276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Sınıflar arasında ortak −xᵀx terimi çıkarılır.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68096" y="3694176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3776472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Pozitif ölçekle: gᵢ(x) = mᵢᵀx − ½||mᵢ||²</a:t>
            </a:r>
            <a:endParaRPr lang="en-US" sz="1660" dirty="0"/>
          </a:p>
        </p:txBody>
      </p:sp>
      <p:sp>
        <p:nvSpPr>
          <p:cNvPr id="14" name="Shape 12"/>
          <p:cNvSpPr/>
          <p:nvPr/>
        </p:nvSpPr>
        <p:spPr>
          <a:xfrm>
            <a:off x="768096" y="4251960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4334256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Normlar benzerse yaklaşık olarak gᵢ(x) ≈ mᵢᵀx</a:t>
            </a:r>
            <a:endParaRPr lang="en-US" sz="1660" dirty="0"/>
          </a:p>
        </p:txBody>
      </p:sp>
      <p:sp>
        <p:nvSpPr>
          <p:cNvPr id="16" name="Shape 14"/>
          <p:cNvSpPr/>
          <p:nvPr/>
        </p:nvSpPr>
        <p:spPr>
          <a:xfrm>
            <a:off x="768096" y="4809744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4892040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Bu yaklaşım, prototip / template matching fikrine bağlanır.</a:t>
            </a:r>
            <a:endParaRPr lang="en-US" sz="166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5.5 · ÇOK DEĞIŞKENLI SINIFLANDIRMA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QDA mı, LDA mı?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KARŞILAŞTIRMA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1527048"/>
            <a:ext cx="5294376" cy="4306824"/>
          </a:xfrm>
          <a:prstGeom prst="roundRect">
            <a:avLst>
              <a:gd name="adj" fmla="val 2123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1691640"/>
            <a:ext cx="487375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2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QDA: ayrı Σᵢ</a:t>
            </a:r>
            <a:endParaRPr lang="en-US" sz="1720" dirty="0"/>
          </a:p>
        </p:txBody>
      </p:sp>
      <p:sp>
        <p:nvSpPr>
          <p:cNvPr id="11" name="Text 9"/>
          <p:cNvSpPr/>
          <p:nvPr/>
        </p:nvSpPr>
        <p:spPr>
          <a:xfrm>
            <a:off x="905256" y="2185416"/>
            <a:ext cx="4873752" cy="3456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Elipsler birbirinden farklı olabilir.</a:t>
            </a:r>
            <a:endParaRPr lang="en-US" sz="1760" dirty="0"/>
          </a:p>
          <a:p>
            <a:pPr algn="l" indent="0" marL="0">
              <a:buNone/>
            </a:pPr>
            <a:endParaRPr lang="en-US" sz="1760" dirty="0"/>
          </a:p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Karesel karar sınırı.</a:t>
            </a:r>
            <a:endParaRPr lang="en-US" sz="1760" dirty="0"/>
          </a:p>
          <a:p>
            <a:pPr algn="l" indent="0" marL="0">
              <a:buNone/>
            </a:pPr>
            <a:endParaRPr lang="en-US" sz="1760" dirty="0"/>
          </a:p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Daha çok kovaryans parametresi.</a:t>
            </a:r>
            <a:endParaRPr lang="en-US" sz="1760" dirty="0"/>
          </a:p>
          <a:p>
            <a:pPr algn="l" indent="0" marL="0">
              <a:buNone/>
            </a:pPr>
            <a:endParaRPr lang="en-US" sz="1760" dirty="0"/>
          </a:p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Daha fazla veriye ihtiyaç duyabilir.</a:t>
            </a:r>
            <a:endParaRPr lang="en-US" sz="1760" dirty="0"/>
          </a:p>
        </p:txBody>
      </p:sp>
      <p:sp>
        <p:nvSpPr>
          <p:cNvPr id="12" name="Shape 10"/>
          <p:cNvSpPr/>
          <p:nvPr/>
        </p:nvSpPr>
        <p:spPr>
          <a:xfrm>
            <a:off x="6245352" y="1527048"/>
            <a:ext cx="5266944" cy="4306824"/>
          </a:xfrm>
          <a:prstGeom prst="roundRect">
            <a:avLst>
              <a:gd name="adj" fmla="val 2123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5664" y="1691640"/>
            <a:ext cx="48463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2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LDA: ortak Σ</a:t>
            </a:r>
            <a:endParaRPr lang="en-US" sz="1720" dirty="0"/>
          </a:p>
        </p:txBody>
      </p:sp>
      <p:sp>
        <p:nvSpPr>
          <p:cNvPr id="14" name="Text 12"/>
          <p:cNvSpPr/>
          <p:nvPr/>
        </p:nvSpPr>
        <p:spPr>
          <a:xfrm>
            <a:off x="6455664" y="2185416"/>
            <a:ext cx="4846320" cy="3456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Elipslerin şekli ve yönü ortak.</a:t>
            </a:r>
            <a:endParaRPr lang="en-US" sz="1760" dirty="0"/>
          </a:p>
          <a:p>
            <a:pPr algn="l" indent="0" marL="0">
              <a:buNone/>
            </a:pPr>
            <a:endParaRPr lang="en-US" sz="1760" dirty="0"/>
          </a:p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Doğrusal karar sınırı.</a:t>
            </a:r>
            <a:endParaRPr lang="en-US" sz="1760" dirty="0"/>
          </a:p>
          <a:p>
            <a:pPr algn="l" indent="0" marL="0">
              <a:buNone/>
            </a:pPr>
            <a:endParaRPr lang="en-US" sz="1760" dirty="0"/>
          </a:p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Daha az kovaryans parametresi.</a:t>
            </a:r>
            <a:endParaRPr lang="en-US" sz="1760" dirty="0"/>
          </a:p>
          <a:p>
            <a:pPr algn="l" indent="0" marL="0">
              <a:buNone/>
            </a:pPr>
            <a:endParaRPr lang="en-US" sz="1760" dirty="0"/>
          </a:p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 veriyle daha kararlı olabilir.</a:t>
            </a:r>
            <a:endParaRPr lang="en-US" sz="1760" dirty="0"/>
          </a:p>
        </p:txBody>
      </p:sp>
      <p:sp>
        <p:nvSpPr>
          <p:cNvPr id="15" name="Shape 13"/>
          <p:cNvSpPr/>
          <p:nvPr/>
        </p:nvSpPr>
        <p:spPr>
          <a:xfrm>
            <a:off x="694944" y="5971032"/>
            <a:ext cx="10826496" cy="484632"/>
          </a:xfrm>
          <a:prstGeom prst="roundRect">
            <a:avLst>
              <a:gd name="adj" fmla="val 18868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" y="6053328"/>
            <a:ext cx="1039672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 zaman birinin daha iyi olduğunu söyleyemeyiz: çapraz doğrulamayla karşılaştırırız.</a:t>
            </a:r>
            <a:endParaRPr lang="en-US" sz="14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1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28B50"/>
          </a:solidFill>
          <a:ln w="12700">
            <a:solidFill>
              <a:srgbClr val="D28B5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512064"/>
            <a:ext cx="10058400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A4D3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ÜNİTE / ÇOK DEĞİŞKENLİ YÖNTEMLER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94944" y="1371600"/>
            <a:ext cx="4114800" cy="1225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0" b="1" dirty="0">
                <a:solidFill>
                  <a:srgbClr val="83CE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5.6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713232" y="2761488"/>
            <a:ext cx="1069848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Karmaşıklığı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722376" y="3977640"/>
            <a:ext cx="10460736" cy="0"/>
          </a:xfrm>
          <a:prstGeom prst="line">
            <a:avLst/>
          </a:prstGeom>
          <a:noFill/>
          <a:ln w="19050">
            <a:solidFill>
              <a:srgbClr val="4871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4370832"/>
            <a:ext cx="9966960" cy="9509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D7E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Daha çok esneklik, daha fazla parametre ve daha çok veri ihtiyacı.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128248" y="6473952"/>
            <a:ext cx="438912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9CB9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71</a:t>
            </a:r>
            <a:endParaRPr lang="en-US" sz="12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5.6 · MODEL KARMAŞIKLIĞI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Tablo 5.1 — Kovaryans varsayımları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ÖZET TABLO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1554480"/>
            <a:ext cx="3931920" cy="493776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1645920"/>
            <a:ext cx="376732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Varsayım</a:t>
            </a:r>
            <a:endParaRPr lang="en-US" sz="1430" dirty="0"/>
          </a:p>
        </p:txBody>
      </p:sp>
      <p:sp>
        <p:nvSpPr>
          <p:cNvPr id="11" name="Shape 9"/>
          <p:cNvSpPr/>
          <p:nvPr/>
        </p:nvSpPr>
        <p:spPr>
          <a:xfrm>
            <a:off x="4626864" y="1554480"/>
            <a:ext cx="4114800" cy="493776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8304" y="1645920"/>
            <a:ext cx="395020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Matris biçimi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8741664" y="1554480"/>
            <a:ext cx="2752344" cy="493776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33104" y="1645920"/>
            <a:ext cx="258775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Parametre sayısı</a:t>
            </a:r>
            <a:endParaRPr lang="en-US" sz="1430" dirty="0"/>
          </a:p>
        </p:txBody>
      </p:sp>
      <p:sp>
        <p:nvSpPr>
          <p:cNvPr id="15" name="Shape 13"/>
          <p:cNvSpPr/>
          <p:nvPr/>
        </p:nvSpPr>
        <p:spPr>
          <a:xfrm>
            <a:off x="694944" y="2048256"/>
            <a:ext cx="3931920" cy="704088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" y="2130552"/>
            <a:ext cx="3730752" cy="5394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3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Ortak, küresel</a:t>
            </a:r>
            <a:endParaRPr lang="en-US" sz="1530" dirty="0"/>
          </a:p>
        </p:txBody>
      </p:sp>
      <p:sp>
        <p:nvSpPr>
          <p:cNvPr id="17" name="Shape 15"/>
          <p:cNvSpPr/>
          <p:nvPr/>
        </p:nvSpPr>
        <p:spPr>
          <a:xfrm>
            <a:off x="4626864" y="2048256"/>
            <a:ext cx="4114800" cy="704088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27448" y="2130552"/>
            <a:ext cx="3913632" cy="5394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3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Sᵢ = s²I</a:t>
            </a:r>
            <a:endParaRPr lang="en-US" sz="1530" dirty="0"/>
          </a:p>
        </p:txBody>
      </p:sp>
      <p:sp>
        <p:nvSpPr>
          <p:cNvPr id="19" name="Shape 17"/>
          <p:cNvSpPr/>
          <p:nvPr/>
        </p:nvSpPr>
        <p:spPr>
          <a:xfrm>
            <a:off x="8741664" y="2048256"/>
            <a:ext cx="2752344" cy="704088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42248" y="2130552"/>
            <a:ext cx="2551176" cy="5394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3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30" dirty="0"/>
          </a:p>
        </p:txBody>
      </p:sp>
      <p:sp>
        <p:nvSpPr>
          <p:cNvPr id="21" name="Shape 19"/>
          <p:cNvSpPr/>
          <p:nvPr/>
        </p:nvSpPr>
        <p:spPr>
          <a:xfrm>
            <a:off x="694944" y="2752344"/>
            <a:ext cx="393192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" y="2834640"/>
            <a:ext cx="3730752" cy="5394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3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Ortak, köşegen</a:t>
            </a:r>
            <a:endParaRPr lang="en-US" sz="1530" dirty="0"/>
          </a:p>
        </p:txBody>
      </p:sp>
      <p:sp>
        <p:nvSpPr>
          <p:cNvPr id="23" name="Shape 21"/>
          <p:cNvSpPr/>
          <p:nvPr/>
        </p:nvSpPr>
        <p:spPr>
          <a:xfrm>
            <a:off x="4626864" y="2752344"/>
            <a:ext cx="411480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27448" y="2834640"/>
            <a:ext cx="3913632" cy="5394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3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Sᵢ = diag(s₁²,…,s_d²)</a:t>
            </a:r>
            <a:endParaRPr lang="en-US" sz="1530" dirty="0"/>
          </a:p>
        </p:txBody>
      </p:sp>
      <p:sp>
        <p:nvSpPr>
          <p:cNvPr id="25" name="Shape 23"/>
          <p:cNvSpPr/>
          <p:nvPr/>
        </p:nvSpPr>
        <p:spPr>
          <a:xfrm>
            <a:off x="8741664" y="2752344"/>
            <a:ext cx="2752344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42248" y="2834640"/>
            <a:ext cx="2551176" cy="5394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3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530" dirty="0"/>
          </a:p>
        </p:txBody>
      </p:sp>
      <p:sp>
        <p:nvSpPr>
          <p:cNvPr id="27" name="Shape 25"/>
          <p:cNvSpPr/>
          <p:nvPr/>
        </p:nvSpPr>
        <p:spPr>
          <a:xfrm>
            <a:off x="694944" y="3456432"/>
            <a:ext cx="3931920" cy="704088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5528" y="3538728"/>
            <a:ext cx="3730752" cy="5394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3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Ortak, genel</a:t>
            </a:r>
            <a:endParaRPr lang="en-US" sz="1530" dirty="0"/>
          </a:p>
        </p:txBody>
      </p:sp>
      <p:sp>
        <p:nvSpPr>
          <p:cNvPr id="29" name="Shape 27"/>
          <p:cNvSpPr/>
          <p:nvPr/>
        </p:nvSpPr>
        <p:spPr>
          <a:xfrm>
            <a:off x="4626864" y="3456432"/>
            <a:ext cx="4114800" cy="704088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27448" y="3538728"/>
            <a:ext cx="3913632" cy="5394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3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Sᵢ = S</a:t>
            </a:r>
            <a:endParaRPr lang="en-US" sz="1530" dirty="0"/>
          </a:p>
        </p:txBody>
      </p:sp>
      <p:sp>
        <p:nvSpPr>
          <p:cNvPr id="31" name="Shape 29"/>
          <p:cNvSpPr/>
          <p:nvPr/>
        </p:nvSpPr>
        <p:spPr>
          <a:xfrm>
            <a:off x="8741664" y="3456432"/>
            <a:ext cx="2752344" cy="704088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42248" y="3538728"/>
            <a:ext cx="2551176" cy="5394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3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d(d+1)/2</a:t>
            </a:r>
            <a:endParaRPr lang="en-US" sz="1530" dirty="0"/>
          </a:p>
        </p:txBody>
      </p:sp>
      <p:sp>
        <p:nvSpPr>
          <p:cNvPr id="33" name="Shape 31"/>
          <p:cNvSpPr/>
          <p:nvPr/>
        </p:nvSpPr>
        <p:spPr>
          <a:xfrm>
            <a:off x="694944" y="4160520"/>
            <a:ext cx="393192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5528" y="4242816"/>
            <a:ext cx="3730752" cy="5394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3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Sınıfa özel, genel</a:t>
            </a:r>
            <a:endParaRPr lang="en-US" sz="1530" dirty="0"/>
          </a:p>
        </p:txBody>
      </p:sp>
      <p:sp>
        <p:nvSpPr>
          <p:cNvPr id="35" name="Shape 33"/>
          <p:cNvSpPr/>
          <p:nvPr/>
        </p:nvSpPr>
        <p:spPr>
          <a:xfrm>
            <a:off x="4626864" y="4160520"/>
            <a:ext cx="411480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27448" y="4242816"/>
            <a:ext cx="3913632" cy="5394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3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 sınıfta farklı Sᵢ</a:t>
            </a:r>
            <a:endParaRPr lang="en-US" sz="1530" dirty="0"/>
          </a:p>
        </p:txBody>
      </p:sp>
      <p:sp>
        <p:nvSpPr>
          <p:cNvPr id="37" name="Shape 35"/>
          <p:cNvSpPr/>
          <p:nvPr/>
        </p:nvSpPr>
        <p:spPr>
          <a:xfrm>
            <a:off x="8741664" y="4160520"/>
            <a:ext cx="2752344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842248" y="4242816"/>
            <a:ext cx="2551176" cy="5394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3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 d(d+1)/2</a:t>
            </a:r>
            <a:endParaRPr lang="en-US" sz="1530" dirty="0"/>
          </a:p>
        </p:txBody>
      </p:sp>
      <p:sp>
        <p:nvSpPr>
          <p:cNvPr id="39" name="Shape 37"/>
          <p:cNvSpPr/>
          <p:nvPr/>
        </p:nvSpPr>
        <p:spPr>
          <a:xfrm>
            <a:off x="704088" y="5907024"/>
            <a:ext cx="10799064" cy="466344"/>
          </a:xfrm>
          <a:prstGeom prst="roundRect">
            <a:avLst>
              <a:gd name="adj" fmla="val 19608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96112" y="6016752"/>
            <a:ext cx="103784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Özellik ve sınıf sayısı yükseldikçe genel QDA daha pahalı hâle gelir.</a:t>
            </a:r>
            <a:endParaRPr lang="en-US" sz="142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5.6 · MODEL KARMAŞIKLIĞI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5.7 — Aynı veri, farklı sınırlar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KAYNAK ŞEKLİN YORUMU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4088" y="1426464"/>
            <a:ext cx="6144768" cy="4590288"/>
          </a:xfrm>
          <a:prstGeom prst="roundRect">
            <a:avLst>
              <a:gd name="adj" fmla="val 1992"/>
            </a:avLst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pic>
        <p:nvPicPr>
          <p:cNvPr id="10" name="Image 0" descr="/mnt/data/image(20261024-154604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554480"/>
            <a:ext cx="5888736" cy="433425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150608" y="1426464"/>
            <a:ext cx="4334256" cy="4590288"/>
          </a:xfrm>
          <a:prstGeom prst="roundRect">
            <a:avLst>
              <a:gd name="adj" fmla="val 2110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33488" y="1609344"/>
            <a:ext cx="3968496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Grafik nasıl okunur?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7333488" y="2112264"/>
            <a:ext cx="301752" cy="301752"/>
          </a:xfrm>
          <a:prstGeom prst="roundRect">
            <a:avLst>
              <a:gd name="adj" fmla="val 30303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92924" y="2153412"/>
            <a:ext cx="17373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30" dirty="0"/>
          </a:p>
        </p:txBody>
      </p:sp>
      <p:sp>
        <p:nvSpPr>
          <p:cNvPr id="15" name="Text 12"/>
          <p:cNvSpPr/>
          <p:nvPr/>
        </p:nvSpPr>
        <p:spPr>
          <a:xfrm>
            <a:off x="7754112" y="2084832"/>
            <a:ext cx="3493008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Üst: kuramsal olasılıklar ve sonsal sınır.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333488" y="3054096"/>
            <a:ext cx="301752" cy="301752"/>
          </a:xfrm>
          <a:prstGeom prst="roundRect">
            <a:avLst>
              <a:gd name="adj" fmla="val 30303"/>
            </a:avLst>
          </a:prstGeom>
          <a:solidFill>
            <a:srgbClr val="487FA7"/>
          </a:solidFill>
          <a:ln w="12700">
            <a:solidFill>
              <a:srgbClr val="487FA7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92924" y="3095244"/>
            <a:ext cx="17373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30" dirty="0"/>
          </a:p>
        </p:txBody>
      </p:sp>
      <p:sp>
        <p:nvSpPr>
          <p:cNvPr id="18" name="Text 15"/>
          <p:cNvSpPr/>
          <p:nvPr/>
        </p:nvSpPr>
        <p:spPr>
          <a:xfrm>
            <a:off x="7754112" y="3026664"/>
            <a:ext cx="3493008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Arbitrary: her sınıfa ayrı Σᵢ → eğrisel sınır.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333488" y="3995928"/>
            <a:ext cx="301752" cy="301752"/>
          </a:xfrm>
          <a:prstGeom prst="roundRect">
            <a:avLst>
              <a:gd name="adj" fmla="val 30303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92924" y="4037076"/>
            <a:ext cx="17373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30" dirty="0"/>
          </a:p>
        </p:txBody>
      </p:sp>
      <p:sp>
        <p:nvSpPr>
          <p:cNvPr id="21" name="Text 18"/>
          <p:cNvSpPr/>
          <p:nvPr/>
        </p:nvSpPr>
        <p:spPr>
          <a:xfrm>
            <a:off x="7754112" y="3968496"/>
            <a:ext cx="3493008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/ diagonal / equal: gittikçe güçlü kısıtlar.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704088" y="6016752"/>
            <a:ext cx="10808208" cy="448056"/>
          </a:xfrm>
          <a:prstGeom prst="roundRect">
            <a:avLst>
              <a:gd name="adj" fmla="val 20408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77824" y="6089904"/>
            <a:ext cx="1045159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Kısıtlar değiştikçe aynı veri için tahmin edilen sınır da değişir.</a:t>
            </a:r>
            <a:endParaRPr lang="en-US" sz="133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5.6 · MODEL KARMAŞIKLIĞI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Bias–variance dengesi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KARŞILAŞTIRMA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74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1527048"/>
            <a:ext cx="5294376" cy="4306824"/>
          </a:xfrm>
          <a:prstGeom prst="roundRect">
            <a:avLst>
              <a:gd name="adj" fmla="val 2123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1691640"/>
            <a:ext cx="487375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2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Basit model</a:t>
            </a:r>
            <a:endParaRPr lang="en-US" sz="1720" dirty="0"/>
          </a:p>
        </p:txBody>
      </p:sp>
      <p:sp>
        <p:nvSpPr>
          <p:cNvPr id="11" name="Text 9"/>
          <p:cNvSpPr/>
          <p:nvPr/>
        </p:nvSpPr>
        <p:spPr>
          <a:xfrm>
            <a:off x="905256" y="2185416"/>
            <a:ext cx="4873752" cy="3456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 parametre</a:t>
            </a:r>
            <a:endParaRPr lang="en-US" sz="1760" dirty="0"/>
          </a:p>
          <a:p>
            <a:pPr algn="l" indent="0" marL="0">
              <a:buNone/>
            </a:pPr>
            <a:endParaRPr lang="en-US" sz="1760" dirty="0"/>
          </a:p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Daha yüksek yanlılık riski (underfitting)</a:t>
            </a:r>
            <a:endParaRPr lang="en-US" sz="1760" dirty="0"/>
          </a:p>
          <a:p>
            <a:pPr algn="l" indent="0" marL="0">
              <a:buNone/>
            </a:pPr>
            <a:endParaRPr lang="en-US" sz="1760" dirty="0"/>
          </a:p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Genellikle daha düşük tahmin varyansı</a:t>
            </a:r>
            <a:endParaRPr lang="en-US" sz="1760" dirty="0"/>
          </a:p>
          <a:p>
            <a:pPr algn="l" indent="0" marL="0">
              <a:buNone/>
            </a:pPr>
            <a:endParaRPr lang="en-US" sz="1760" dirty="0"/>
          </a:p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Örnek: ortak küresel kovaryans</a:t>
            </a:r>
            <a:endParaRPr lang="en-US" sz="1760" dirty="0"/>
          </a:p>
        </p:txBody>
      </p:sp>
      <p:sp>
        <p:nvSpPr>
          <p:cNvPr id="12" name="Shape 10"/>
          <p:cNvSpPr/>
          <p:nvPr/>
        </p:nvSpPr>
        <p:spPr>
          <a:xfrm>
            <a:off x="6245352" y="1527048"/>
            <a:ext cx="5266944" cy="4306824"/>
          </a:xfrm>
          <a:prstGeom prst="roundRect">
            <a:avLst>
              <a:gd name="adj" fmla="val 2123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5664" y="1691640"/>
            <a:ext cx="48463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2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Esnek model</a:t>
            </a:r>
            <a:endParaRPr lang="en-US" sz="1720" dirty="0"/>
          </a:p>
        </p:txBody>
      </p:sp>
      <p:sp>
        <p:nvSpPr>
          <p:cNvPr id="14" name="Text 12"/>
          <p:cNvSpPr/>
          <p:nvPr/>
        </p:nvSpPr>
        <p:spPr>
          <a:xfrm>
            <a:off x="6455664" y="2185416"/>
            <a:ext cx="4846320" cy="3456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Çok parametre</a:t>
            </a:r>
            <a:endParaRPr lang="en-US" sz="1760" dirty="0"/>
          </a:p>
          <a:p>
            <a:pPr algn="l" indent="0" marL="0">
              <a:buNone/>
            </a:pPr>
            <a:endParaRPr lang="en-US" sz="1760" dirty="0"/>
          </a:p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Daha düşük yapısal kısıt</a:t>
            </a:r>
            <a:endParaRPr lang="en-US" sz="1760" dirty="0"/>
          </a:p>
          <a:p>
            <a:pPr algn="l" indent="0" marL="0">
              <a:buNone/>
            </a:pPr>
            <a:endParaRPr lang="en-US" sz="1760" dirty="0"/>
          </a:p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Küçük veride yüksek varyans / overfitting riski</a:t>
            </a:r>
            <a:endParaRPr lang="en-US" sz="1760" dirty="0"/>
          </a:p>
          <a:p>
            <a:pPr algn="l" indent="0" marL="0">
              <a:buNone/>
            </a:pPr>
            <a:endParaRPr lang="en-US" sz="1760" dirty="0"/>
          </a:p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Örnek: sınıfa özgü genel Σᵢ</a:t>
            </a:r>
            <a:endParaRPr lang="en-US" sz="1760" dirty="0"/>
          </a:p>
        </p:txBody>
      </p:sp>
      <p:sp>
        <p:nvSpPr>
          <p:cNvPr id="15" name="Shape 13"/>
          <p:cNvSpPr/>
          <p:nvPr/>
        </p:nvSpPr>
        <p:spPr>
          <a:xfrm>
            <a:off x="694944" y="5971032"/>
            <a:ext cx="10826496" cy="484632"/>
          </a:xfrm>
          <a:prstGeom prst="roundRect">
            <a:avLst>
              <a:gd name="adj" fmla="val 18868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" y="6053328"/>
            <a:ext cx="1039672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iyi varsayımı test kümesiyle seçmeyiz; validation veya çapraz doğrulama kullanırız.</a:t>
            </a:r>
            <a:endParaRPr lang="en-US" sz="14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5.6 · MODEL KARMAŞIKLIĞI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RDA — Düzenlileştirilmiş Ayırt Edici Analiz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FORMÜLÜ OKUYALIM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1463040"/>
            <a:ext cx="10799064" cy="1234440"/>
          </a:xfrm>
          <a:prstGeom prst="roundRect">
            <a:avLst>
              <a:gd name="adj" fmla="val 7407"/>
            </a:avLst>
          </a:prstGeom>
          <a:solidFill>
            <a:srgbClr val="11283D"/>
          </a:solidFill>
          <a:ln w="12700">
            <a:solidFill>
              <a:srgbClr val="11283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737360"/>
            <a:ext cx="1013155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Sᵢ′ = αs²I + βS + (1−α−β)Sᵢ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77240" y="2953512"/>
            <a:ext cx="1065276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Üç kovaryans varsayımının ağırlıklı birleşimi.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68096" y="3694176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3776472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α=0, β=0 → QDA: Sᵢ′=Sᵢ</a:t>
            </a:r>
            <a:endParaRPr lang="en-US" sz="1660" dirty="0"/>
          </a:p>
        </p:txBody>
      </p:sp>
      <p:sp>
        <p:nvSpPr>
          <p:cNvPr id="14" name="Shape 12"/>
          <p:cNvSpPr/>
          <p:nvPr/>
        </p:nvSpPr>
        <p:spPr>
          <a:xfrm>
            <a:off x="768096" y="4251960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4334256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α=0, β=1 → LDA: Sᵢ′=S</a:t>
            </a:r>
            <a:endParaRPr lang="en-US" sz="1660" dirty="0"/>
          </a:p>
        </p:txBody>
      </p:sp>
      <p:sp>
        <p:nvSpPr>
          <p:cNvPr id="16" name="Shape 14"/>
          <p:cNvSpPr/>
          <p:nvPr/>
        </p:nvSpPr>
        <p:spPr>
          <a:xfrm>
            <a:off x="768096" y="4809744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4892040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α=1, β=0 → küresel: Sᵢ′=s²I</a:t>
            </a:r>
            <a:endParaRPr lang="en-US" sz="166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5.6 · MODEL KARMAŞIKLIĞI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RDA örneği: hangi ağırlıklar?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ADIM ADIM ÇÖZÜMLÜ ÖRNEK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4088" y="1408176"/>
            <a:ext cx="10799064" cy="548640"/>
          </a:xfrm>
          <a:prstGeom prst="roundRect">
            <a:avLst>
              <a:gd name="adj" fmla="val 16667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508760"/>
            <a:ext cx="103784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α = 0,2; β = 0,3; üçüncü katsayı 1−α−β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04088" y="2130552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" y="2249424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2295144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89304" y="2249424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1 − 0,2 − 0,3 = 0,5</a:t>
            </a:r>
            <a:endParaRPr lang="en-US" sz="1920" dirty="0"/>
          </a:p>
        </p:txBody>
      </p:sp>
      <p:sp>
        <p:nvSpPr>
          <p:cNvPr id="15" name="Shape 13"/>
          <p:cNvSpPr/>
          <p:nvPr/>
        </p:nvSpPr>
        <p:spPr>
          <a:xfrm>
            <a:off x="704088" y="3168396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" y="328726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3332988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289304" y="3287268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Sᵢ = [[4,2],[2,9]]; S = [[5,1],[1,5]]</a:t>
            </a:r>
            <a:endParaRPr lang="en-US" sz="1920" dirty="0"/>
          </a:p>
        </p:txBody>
      </p:sp>
      <p:sp>
        <p:nvSpPr>
          <p:cNvPr id="19" name="Shape 17"/>
          <p:cNvSpPr/>
          <p:nvPr/>
        </p:nvSpPr>
        <p:spPr>
          <a:xfrm>
            <a:off x="704088" y="4206240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" y="4325112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" y="4370832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289304" y="4325112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s²I = [[4,0],[0,4]]</a:t>
            </a:r>
            <a:endParaRPr lang="en-US" sz="1920" dirty="0"/>
          </a:p>
        </p:txBody>
      </p:sp>
      <p:sp>
        <p:nvSpPr>
          <p:cNvPr id="23" name="Shape 21"/>
          <p:cNvSpPr/>
          <p:nvPr/>
        </p:nvSpPr>
        <p:spPr>
          <a:xfrm>
            <a:off x="704088" y="5244084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" y="5362956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" y="5408676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289304" y="5362956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Sᵢ′ = 0,2(s²I) + 0,3S + 0,5Sᵢ</a:t>
            </a:r>
            <a:endParaRPr lang="en-US" sz="1920" dirty="0"/>
          </a:p>
        </p:txBody>
      </p:sp>
      <p:sp>
        <p:nvSpPr>
          <p:cNvPr id="27" name="Shape 25"/>
          <p:cNvSpPr/>
          <p:nvPr/>
        </p:nvSpPr>
        <p:spPr>
          <a:xfrm>
            <a:off x="704088" y="6254496"/>
            <a:ext cx="10799064" cy="256032"/>
          </a:xfrm>
          <a:prstGeom prst="roundRect">
            <a:avLst>
              <a:gd name="adj" fmla="val 35714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6112" y="6281928"/>
            <a:ext cx="10396728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Bütün ağırlıklar sıfırdan büyük ve toplamları 1.</a:t>
            </a:r>
            <a:endParaRPr lang="en-US" sz="123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5.6 · MODEL KARMAŞIKLIĞI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RDA örneği: üç çarpım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ADIM ADIM ÇÖZÜMLÜ ÖRNEK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77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4088" y="1408176"/>
            <a:ext cx="10799064" cy="548640"/>
          </a:xfrm>
          <a:prstGeom prst="roundRect">
            <a:avLst>
              <a:gd name="adj" fmla="val 16667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508760"/>
            <a:ext cx="103784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Sᵢ′ = 0,2(s²I) + 0,3S + 0,5Sᵢ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04088" y="2130552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" y="2249424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2295144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89304" y="2249424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0,2(s²I) = [[0,8;0],[0;0,8]]</a:t>
            </a:r>
            <a:endParaRPr lang="en-US" sz="1920" dirty="0"/>
          </a:p>
        </p:txBody>
      </p:sp>
      <p:sp>
        <p:nvSpPr>
          <p:cNvPr id="15" name="Shape 13"/>
          <p:cNvSpPr/>
          <p:nvPr/>
        </p:nvSpPr>
        <p:spPr>
          <a:xfrm>
            <a:off x="704088" y="3168396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" y="328726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3332988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289304" y="3287268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0,3S = [[1,5;0,3],[0,3;1,5]]</a:t>
            </a:r>
            <a:endParaRPr lang="en-US" sz="1920" dirty="0"/>
          </a:p>
        </p:txBody>
      </p:sp>
      <p:sp>
        <p:nvSpPr>
          <p:cNvPr id="19" name="Shape 17"/>
          <p:cNvSpPr/>
          <p:nvPr/>
        </p:nvSpPr>
        <p:spPr>
          <a:xfrm>
            <a:off x="704088" y="4206240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" y="4325112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" y="4370832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289304" y="4325112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0,5Sᵢ = [[2;1],[1;4,5]]</a:t>
            </a:r>
            <a:endParaRPr lang="en-US" sz="1920" dirty="0"/>
          </a:p>
        </p:txBody>
      </p:sp>
      <p:sp>
        <p:nvSpPr>
          <p:cNvPr id="23" name="Shape 21"/>
          <p:cNvSpPr/>
          <p:nvPr/>
        </p:nvSpPr>
        <p:spPr>
          <a:xfrm>
            <a:off x="704088" y="5244084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" y="5362956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" y="5408676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289304" y="5362956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Terimleri hücre hücre topla → [[4,3;1,3],[1,3;6,8]]</a:t>
            </a:r>
            <a:endParaRPr lang="en-US" sz="1920" dirty="0"/>
          </a:p>
        </p:txBody>
      </p:sp>
      <p:sp>
        <p:nvSpPr>
          <p:cNvPr id="27" name="Shape 25"/>
          <p:cNvSpPr/>
          <p:nvPr/>
        </p:nvSpPr>
        <p:spPr>
          <a:xfrm>
            <a:off x="704088" y="6254496"/>
            <a:ext cx="10799064" cy="256032"/>
          </a:xfrm>
          <a:prstGeom prst="roundRect">
            <a:avLst>
              <a:gd name="adj" fmla="val 35714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6112" y="6281928"/>
            <a:ext cx="10396728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Sᵢ′ = [[4,3, 1,3],[1,3, 6,8]] (ondalık virgüllerle).</a:t>
            </a:r>
            <a:endParaRPr lang="en-US" sz="123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5.6 · MODEL KARMAŞIKLIĞI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 etmek neden önemli?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KARŞILAŞTIRMA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78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1527048"/>
            <a:ext cx="5294376" cy="4306824"/>
          </a:xfrm>
          <a:prstGeom prst="roundRect">
            <a:avLst>
              <a:gd name="adj" fmla="val 2123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1691640"/>
            <a:ext cx="487375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2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Ham Öklid uzaklığı</a:t>
            </a:r>
            <a:endParaRPr lang="en-US" sz="1720" dirty="0"/>
          </a:p>
        </p:txBody>
      </p:sp>
      <p:sp>
        <p:nvSpPr>
          <p:cNvPr id="11" name="Text 9"/>
          <p:cNvSpPr/>
          <p:nvPr/>
        </p:nvSpPr>
        <p:spPr>
          <a:xfrm>
            <a:off x="905256" y="2185416"/>
            <a:ext cx="4873752" cy="3456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kişisi: 20 yaş, 30.000 TL</a:t>
            </a:r>
            <a:endParaRPr lang="en-US" sz="1760" dirty="0"/>
          </a:p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kişisi: 25 yaş, 80.000 TL</a:t>
            </a:r>
            <a:endParaRPr lang="en-US" sz="1760" dirty="0"/>
          </a:p>
          <a:p>
            <a:pPr algn="l" indent="0" marL="0">
              <a:buNone/>
            </a:pPr>
            <a:endParaRPr lang="en-US" sz="1760" dirty="0"/>
          </a:p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 = √(5² + 50.000²)</a:t>
            </a:r>
            <a:endParaRPr lang="en-US" sz="1760" dirty="0"/>
          </a:p>
          <a:p>
            <a:pPr algn="l" indent="0" marL="0">
              <a:buNone/>
            </a:pPr>
            <a:endParaRPr lang="en-US" sz="1760" dirty="0"/>
          </a:p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Gelir sayısal olarak uzaklığı domine eder.</a:t>
            </a:r>
            <a:endParaRPr lang="en-US" sz="1760" dirty="0"/>
          </a:p>
        </p:txBody>
      </p:sp>
      <p:sp>
        <p:nvSpPr>
          <p:cNvPr id="12" name="Shape 10"/>
          <p:cNvSpPr/>
          <p:nvPr/>
        </p:nvSpPr>
        <p:spPr>
          <a:xfrm>
            <a:off x="6245352" y="1527048"/>
            <a:ext cx="5266944" cy="4306824"/>
          </a:xfrm>
          <a:prstGeom prst="roundRect">
            <a:avLst>
              <a:gd name="adj" fmla="val 2123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5664" y="1691640"/>
            <a:ext cx="48463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2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Z-normalizasyonu</a:t>
            </a:r>
            <a:endParaRPr lang="en-US" sz="1720" dirty="0"/>
          </a:p>
        </p:txBody>
      </p:sp>
      <p:sp>
        <p:nvSpPr>
          <p:cNvPr id="14" name="Text 12"/>
          <p:cNvSpPr/>
          <p:nvPr/>
        </p:nvSpPr>
        <p:spPr>
          <a:xfrm>
            <a:off x="6455664" y="2185416"/>
            <a:ext cx="4846320" cy="3456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 = (x − μ)/σ</a:t>
            </a:r>
            <a:endParaRPr lang="en-US" sz="1760" dirty="0"/>
          </a:p>
          <a:p>
            <a:pPr algn="l" indent="0" marL="0">
              <a:buNone/>
            </a:pPr>
            <a:endParaRPr lang="en-US" sz="1760" dirty="0"/>
          </a:p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 özelliğin ortalamasını 0, standart sapmasını 1 yapar.</a:t>
            </a:r>
            <a:endParaRPr lang="en-US" sz="1760" dirty="0"/>
          </a:p>
          <a:p>
            <a:pPr algn="l" indent="0" marL="0">
              <a:buNone/>
            </a:pPr>
            <a:endParaRPr lang="en-US" sz="1760" dirty="0"/>
          </a:p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Ancak z-normalizasyonu korelasyonu ortadan kaldırmaz.</a:t>
            </a:r>
            <a:endParaRPr lang="en-US" sz="1760" dirty="0"/>
          </a:p>
        </p:txBody>
      </p:sp>
      <p:sp>
        <p:nvSpPr>
          <p:cNvPr id="15" name="Shape 13"/>
          <p:cNvSpPr/>
          <p:nvPr/>
        </p:nvSpPr>
        <p:spPr>
          <a:xfrm>
            <a:off x="694944" y="5971032"/>
            <a:ext cx="10826496" cy="484632"/>
          </a:xfrm>
          <a:prstGeom prst="roundRect">
            <a:avLst>
              <a:gd name="adj" fmla="val 18868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" y="6053328"/>
            <a:ext cx="1039672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Korelasyon önemliyse Mahalanobis uzaklığı daha uygun olabilir.</a:t>
            </a:r>
            <a:endParaRPr lang="en-US" sz="14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5.6 · MODEL KARMAŞIKLIĞI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Kontrol: model karmaşıklığı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SINIF İÇİ KISA ALIŞTIRMA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79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1591056"/>
            <a:ext cx="10789920" cy="2029968"/>
          </a:xfrm>
          <a:prstGeom prst="roundRect">
            <a:avLst>
              <a:gd name="adj" fmla="val 4505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865376"/>
            <a:ext cx="27432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SORU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87552" y="2350008"/>
            <a:ext cx="10058400" cy="9052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 = 3 sınıf ve d = 10 özellik için ortak tam kovaryans ve sınıfa özgü tam kovaryans kaç parametre gerektirir?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94944" y="3931920"/>
            <a:ext cx="10789920" cy="1517904"/>
          </a:xfrm>
          <a:prstGeom prst="roundRect">
            <a:avLst>
              <a:gd name="adj" fmla="val 6024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4169664"/>
            <a:ext cx="45720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4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ÇÖZÜM / CEVAP</a:t>
            </a:r>
            <a:endParaRPr lang="en-US" sz="1640" dirty="0"/>
          </a:p>
        </p:txBody>
      </p:sp>
      <p:sp>
        <p:nvSpPr>
          <p:cNvPr id="14" name="Text 12"/>
          <p:cNvSpPr/>
          <p:nvPr/>
        </p:nvSpPr>
        <p:spPr>
          <a:xfrm>
            <a:off x="987552" y="4572000"/>
            <a:ext cx="10067544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Ortak: 10×11/2=55. Sınıfa özgü: 3×55=165 kovaryans parametresi.</a:t>
            </a:r>
            <a:endParaRPr lang="en-US" sz="195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11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28B50"/>
          </a:solidFill>
          <a:ln w="12700">
            <a:solidFill>
              <a:srgbClr val="D28B5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512064"/>
            <a:ext cx="10058400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A4D3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ÜNİTE / ÇOK DEĞİŞKENLİ YÖNTEMLER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94944" y="1371600"/>
            <a:ext cx="4114800" cy="1225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0" b="1" dirty="0">
                <a:solidFill>
                  <a:srgbClr val="83CE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5.7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713232" y="2761488"/>
            <a:ext cx="1069848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Ayrık Özellikler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722376" y="3977640"/>
            <a:ext cx="10460736" cy="0"/>
          </a:xfrm>
          <a:prstGeom prst="line">
            <a:avLst/>
          </a:prstGeom>
          <a:noFill/>
          <a:ln w="19050">
            <a:solidFill>
              <a:srgbClr val="4871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4370832"/>
            <a:ext cx="9966960" cy="9509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D7E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Sayı olmayan özelliklerle olasılıksal sınıflandırma.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128248" y="6473952"/>
            <a:ext cx="438912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9CB9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</a:t>
            </a:r>
            <a:endParaRPr lang="en-US" sz="12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5.7 · AYRIK ÖZELLIKLER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Ayrık veri türleri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KARŞILAŞTIRMA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1527048"/>
            <a:ext cx="5294376" cy="4306824"/>
          </a:xfrm>
          <a:prstGeom prst="roundRect">
            <a:avLst>
              <a:gd name="adj" fmla="val 2123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1691640"/>
            <a:ext cx="487375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2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İkili / Bernoulli</a:t>
            </a:r>
            <a:endParaRPr lang="en-US" sz="1720" dirty="0"/>
          </a:p>
        </p:txBody>
      </p:sp>
      <p:sp>
        <p:nvSpPr>
          <p:cNvPr id="11" name="Text 9"/>
          <p:cNvSpPr/>
          <p:nvPr/>
        </p:nvSpPr>
        <p:spPr>
          <a:xfrm>
            <a:off x="905256" y="2185416"/>
            <a:ext cx="4873752" cy="3456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E-postada “bedava” var mı?</a:t>
            </a:r>
            <a:endParaRPr lang="en-US" sz="1760" dirty="0"/>
          </a:p>
          <a:p>
            <a:pPr algn="l" indent="0" marL="0">
              <a:buNone/>
            </a:pPr>
            <a:endParaRPr lang="en-US" sz="1760" dirty="0"/>
          </a:p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= Evet</a:t>
            </a:r>
            <a:endParaRPr lang="en-US" sz="1760" dirty="0"/>
          </a:p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= Hayır</a:t>
            </a:r>
            <a:endParaRPr lang="en-US" sz="1760" dirty="0"/>
          </a:p>
          <a:p>
            <a:pPr algn="l" indent="0" marL="0">
              <a:buNone/>
            </a:pPr>
            <a:endParaRPr lang="en-US" sz="1760" dirty="0"/>
          </a:p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pᵢⱼ = P(xⱼ=1 | Cᵢ)</a:t>
            </a:r>
            <a:endParaRPr lang="en-US" sz="1760" dirty="0"/>
          </a:p>
        </p:txBody>
      </p:sp>
      <p:sp>
        <p:nvSpPr>
          <p:cNvPr id="12" name="Shape 10"/>
          <p:cNvSpPr/>
          <p:nvPr/>
        </p:nvSpPr>
        <p:spPr>
          <a:xfrm>
            <a:off x="6245352" y="1527048"/>
            <a:ext cx="5266944" cy="4306824"/>
          </a:xfrm>
          <a:prstGeom prst="roundRect">
            <a:avLst>
              <a:gd name="adj" fmla="val 2123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5664" y="1691640"/>
            <a:ext cx="48463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2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Çok kategorili</a:t>
            </a:r>
            <a:endParaRPr lang="en-US" sz="1720" dirty="0"/>
          </a:p>
        </p:txBody>
      </p:sp>
      <p:sp>
        <p:nvSpPr>
          <p:cNvPr id="14" name="Text 12"/>
          <p:cNvSpPr/>
          <p:nvPr/>
        </p:nvSpPr>
        <p:spPr>
          <a:xfrm>
            <a:off x="6455664" y="2185416"/>
            <a:ext cx="4846320" cy="3456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Renk ∈ {Kırmızı, Mavi, Yeşil, Siyah}</a:t>
            </a:r>
            <a:endParaRPr lang="en-US" sz="1760" dirty="0"/>
          </a:p>
          <a:p>
            <a:pPr algn="l" indent="0" marL="0">
              <a:buNone/>
            </a:pPr>
            <a:endParaRPr lang="en-US" sz="1760" dirty="0"/>
          </a:p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Bir özellik birçok değerden birini alabilir.</a:t>
            </a:r>
            <a:endParaRPr lang="en-US" sz="1760" dirty="0"/>
          </a:p>
          <a:p>
            <a:pPr algn="l" indent="0" marL="0">
              <a:buNone/>
            </a:pPr>
            <a:endParaRPr lang="en-US" sz="1760" dirty="0"/>
          </a:p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Gösterge değişkenleriyle temsil edilir.</a:t>
            </a:r>
            <a:endParaRPr lang="en-US" sz="1760" dirty="0"/>
          </a:p>
        </p:txBody>
      </p:sp>
      <p:sp>
        <p:nvSpPr>
          <p:cNvPr id="15" name="Shape 13"/>
          <p:cNvSpPr/>
          <p:nvPr/>
        </p:nvSpPr>
        <p:spPr>
          <a:xfrm>
            <a:off x="694944" y="5971032"/>
            <a:ext cx="10826496" cy="484632"/>
          </a:xfrm>
          <a:prstGeom prst="roundRect">
            <a:avLst>
              <a:gd name="adj" fmla="val 18868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" y="6053328"/>
            <a:ext cx="1039672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Ayrık veriyi Gaussian varsayımı yerine uygun olasılık modeliyle açıklarız.</a:t>
            </a:r>
            <a:endParaRPr lang="en-US" sz="14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5.7 · AYRIK ÖZELLIKLER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Bernoulli Naive Bayes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FORMÜLÜ OKUYALIM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1463040"/>
            <a:ext cx="10799064" cy="1234440"/>
          </a:xfrm>
          <a:prstGeom prst="roundRect">
            <a:avLst>
              <a:gd name="adj" fmla="val 7407"/>
            </a:avLst>
          </a:prstGeom>
          <a:solidFill>
            <a:srgbClr val="11283D"/>
          </a:solidFill>
          <a:ln w="12700">
            <a:solidFill>
              <a:srgbClr val="11283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737360"/>
            <a:ext cx="1013155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p(x|Cᵢ) = ∏ⱼ pᵢⱼˣʲ (1−pᵢⱼ)¹⁻ˣʲ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77240" y="2953512"/>
            <a:ext cx="1065276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Özellikler ikili ve sınıfa koşullu bağımsızdır.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68096" y="3694176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3776472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xⱼ=1 ise pᵢⱼ çarpılır.</a:t>
            </a:r>
            <a:endParaRPr lang="en-US" sz="1660" dirty="0"/>
          </a:p>
        </p:txBody>
      </p:sp>
      <p:sp>
        <p:nvSpPr>
          <p:cNvPr id="14" name="Shape 12"/>
          <p:cNvSpPr/>
          <p:nvPr/>
        </p:nvSpPr>
        <p:spPr>
          <a:xfrm>
            <a:off x="768096" y="4251960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4334256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xⱼ=0 ise (1−pᵢⱼ) çarpılır.</a:t>
            </a:r>
            <a:endParaRPr lang="en-US" sz="1660" dirty="0"/>
          </a:p>
        </p:txBody>
      </p:sp>
      <p:sp>
        <p:nvSpPr>
          <p:cNvPr id="16" name="Shape 14"/>
          <p:cNvSpPr/>
          <p:nvPr/>
        </p:nvSpPr>
        <p:spPr>
          <a:xfrm>
            <a:off x="768096" y="4809744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4892040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Ayırt edici puan, logaritma ile toplam hâline gelir.</a:t>
            </a:r>
            <a:endParaRPr lang="en-US" sz="166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5.7 · AYRIK ÖZELLIKLER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Spam örneği: öğrenilmiş olasılıklar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ÖZET TABLO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1554480"/>
            <a:ext cx="5760720" cy="493776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1645920"/>
            <a:ext cx="559612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Olasılık</a:t>
            </a:r>
            <a:endParaRPr lang="en-US" sz="1430" dirty="0"/>
          </a:p>
        </p:txBody>
      </p:sp>
      <p:sp>
        <p:nvSpPr>
          <p:cNvPr id="11" name="Shape 9"/>
          <p:cNvSpPr/>
          <p:nvPr/>
        </p:nvSpPr>
        <p:spPr>
          <a:xfrm>
            <a:off x="6455664" y="1554480"/>
            <a:ext cx="2523744" cy="493776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47104" y="1645920"/>
            <a:ext cx="235915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Spam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8979408" y="1554480"/>
            <a:ext cx="2514600" cy="493776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70848" y="1645920"/>
            <a:ext cx="235000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</a:t>
            </a:r>
            <a:endParaRPr lang="en-US" sz="1430" dirty="0"/>
          </a:p>
        </p:txBody>
      </p:sp>
      <p:sp>
        <p:nvSpPr>
          <p:cNvPr id="15" name="Shape 13"/>
          <p:cNvSpPr/>
          <p:nvPr/>
        </p:nvSpPr>
        <p:spPr>
          <a:xfrm>
            <a:off x="694944" y="2048256"/>
            <a:ext cx="5760720" cy="777240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" y="2130552"/>
            <a:ext cx="5559552" cy="6126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P(bedava=1 | Sınıf)</a:t>
            </a:r>
            <a:endParaRPr lang="en-US" sz="1520" dirty="0"/>
          </a:p>
        </p:txBody>
      </p:sp>
      <p:sp>
        <p:nvSpPr>
          <p:cNvPr id="17" name="Shape 15"/>
          <p:cNvSpPr/>
          <p:nvPr/>
        </p:nvSpPr>
        <p:spPr>
          <a:xfrm>
            <a:off x="6455664" y="2048256"/>
            <a:ext cx="2523744" cy="777240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56248" y="2130552"/>
            <a:ext cx="2322576" cy="6126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0,80</a:t>
            </a:r>
            <a:endParaRPr lang="en-US" sz="1520" dirty="0"/>
          </a:p>
        </p:txBody>
      </p:sp>
      <p:sp>
        <p:nvSpPr>
          <p:cNvPr id="19" name="Shape 17"/>
          <p:cNvSpPr/>
          <p:nvPr/>
        </p:nvSpPr>
        <p:spPr>
          <a:xfrm>
            <a:off x="8979408" y="2048256"/>
            <a:ext cx="2514600" cy="777240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79992" y="2130552"/>
            <a:ext cx="2313432" cy="6126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0,10</a:t>
            </a:r>
            <a:endParaRPr lang="en-US" sz="1520" dirty="0"/>
          </a:p>
        </p:txBody>
      </p:sp>
      <p:sp>
        <p:nvSpPr>
          <p:cNvPr id="21" name="Shape 19"/>
          <p:cNvSpPr/>
          <p:nvPr/>
        </p:nvSpPr>
        <p:spPr>
          <a:xfrm>
            <a:off x="694944" y="2825496"/>
            <a:ext cx="5760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" y="2907792"/>
            <a:ext cx="5559552" cy="6126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P(ödül=1 | Sınıf)</a:t>
            </a:r>
            <a:endParaRPr lang="en-US" sz="1520" dirty="0"/>
          </a:p>
        </p:txBody>
      </p:sp>
      <p:sp>
        <p:nvSpPr>
          <p:cNvPr id="23" name="Shape 21"/>
          <p:cNvSpPr/>
          <p:nvPr/>
        </p:nvSpPr>
        <p:spPr>
          <a:xfrm>
            <a:off x="6455664" y="2825496"/>
            <a:ext cx="252374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56248" y="2907792"/>
            <a:ext cx="2322576" cy="6126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0,60</a:t>
            </a:r>
            <a:endParaRPr lang="en-US" sz="1520" dirty="0"/>
          </a:p>
        </p:txBody>
      </p:sp>
      <p:sp>
        <p:nvSpPr>
          <p:cNvPr id="25" name="Shape 23"/>
          <p:cNvSpPr/>
          <p:nvPr/>
        </p:nvSpPr>
        <p:spPr>
          <a:xfrm>
            <a:off x="8979408" y="2825496"/>
            <a:ext cx="2514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79992" y="2907792"/>
            <a:ext cx="2313432" cy="6126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0,05</a:t>
            </a:r>
            <a:endParaRPr lang="en-US" sz="1520" dirty="0"/>
          </a:p>
        </p:txBody>
      </p:sp>
      <p:sp>
        <p:nvSpPr>
          <p:cNvPr id="27" name="Shape 25"/>
          <p:cNvSpPr/>
          <p:nvPr/>
        </p:nvSpPr>
        <p:spPr>
          <a:xfrm>
            <a:off x="694944" y="3602736"/>
            <a:ext cx="5760720" cy="777240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5528" y="3685032"/>
            <a:ext cx="5559552" cy="6126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P(Sınıf)</a:t>
            </a:r>
            <a:endParaRPr lang="en-US" sz="1520" dirty="0"/>
          </a:p>
        </p:txBody>
      </p:sp>
      <p:sp>
        <p:nvSpPr>
          <p:cNvPr id="29" name="Shape 27"/>
          <p:cNvSpPr/>
          <p:nvPr/>
        </p:nvSpPr>
        <p:spPr>
          <a:xfrm>
            <a:off x="6455664" y="3602736"/>
            <a:ext cx="2523744" cy="777240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56248" y="3685032"/>
            <a:ext cx="2322576" cy="6126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0,40</a:t>
            </a:r>
            <a:endParaRPr lang="en-US" sz="1520" dirty="0"/>
          </a:p>
        </p:txBody>
      </p:sp>
      <p:sp>
        <p:nvSpPr>
          <p:cNvPr id="31" name="Shape 29"/>
          <p:cNvSpPr/>
          <p:nvPr/>
        </p:nvSpPr>
        <p:spPr>
          <a:xfrm>
            <a:off x="8979408" y="3602736"/>
            <a:ext cx="2514600" cy="777240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79992" y="3685032"/>
            <a:ext cx="2313432" cy="6126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0,60</a:t>
            </a:r>
            <a:endParaRPr lang="en-US" sz="1520" dirty="0"/>
          </a:p>
        </p:txBody>
      </p:sp>
      <p:sp>
        <p:nvSpPr>
          <p:cNvPr id="33" name="Shape 31"/>
          <p:cNvSpPr/>
          <p:nvPr/>
        </p:nvSpPr>
        <p:spPr>
          <a:xfrm>
            <a:off x="704088" y="5907024"/>
            <a:ext cx="10799064" cy="466344"/>
          </a:xfrm>
          <a:prstGeom prst="roundRect">
            <a:avLst>
              <a:gd name="adj" fmla="val 19608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6112" y="6016752"/>
            <a:ext cx="103784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Yeni e-postada her iki kelime de mevcut: x = (1,1).</a:t>
            </a:r>
            <a:endParaRPr lang="en-US" sz="142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5.7 · AYRIK ÖZELLIKLER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Spam sınıflandırma: koşullu yoğunluk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ADIM ADIM ÇÖZÜMLÜ ÖRNEK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84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4088" y="1408176"/>
            <a:ext cx="10799064" cy="548640"/>
          </a:xfrm>
          <a:prstGeom prst="roundRect">
            <a:avLst>
              <a:gd name="adj" fmla="val 16667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508760"/>
            <a:ext cx="103784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İki kelime var → x=(1,1)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04088" y="2130552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" y="2249424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2295144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89304" y="2249424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p(x|Spam) = 0,8 × 0,6 = 0,48</a:t>
            </a:r>
            <a:endParaRPr lang="en-US" sz="1920" dirty="0"/>
          </a:p>
        </p:txBody>
      </p:sp>
      <p:sp>
        <p:nvSpPr>
          <p:cNvPr id="15" name="Shape 13"/>
          <p:cNvSpPr/>
          <p:nvPr/>
        </p:nvSpPr>
        <p:spPr>
          <a:xfrm>
            <a:off x="704088" y="3168396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" y="328726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3332988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289304" y="3287268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p(x|Normal) = 0,1 × 0,05 = 0,005</a:t>
            </a:r>
            <a:endParaRPr lang="en-US" sz="1920" dirty="0"/>
          </a:p>
        </p:txBody>
      </p:sp>
      <p:sp>
        <p:nvSpPr>
          <p:cNvPr id="19" name="Shape 17"/>
          <p:cNvSpPr/>
          <p:nvPr/>
        </p:nvSpPr>
        <p:spPr>
          <a:xfrm>
            <a:off x="704088" y="4206240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" y="4325112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" y="4370832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289304" y="4325112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Önsel ile çarp: Spam → 0,48×0,4 = 0,192</a:t>
            </a:r>
            <a:endParaRPr lang="en-US" sz="1920" dirty="0"/>
          </a:p>
        </p:txBody>
      </p:sp>
      <p:sp>
        <p:nvSpPr>
          <p:cNvPr id="23" name="Shape 21"/>
          <p:cNvSpPr/>
          <p:nvPr/>
        </p:nvSpPr>
        <p:spPr>
          <a:xfrm>
            <a:off x="704088" y="5244084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" y="5362956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" y="5408676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289304" y="5362956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Önsel ile çarp: Normal → 0,005×0,6 = 0,003</a:t>
            </a:r>
            <a:endParaRPr lang="en-US" sz="1920" dirty="0"/>
          </a:p>
        </p:txBody>
      </p:sp>
      <p:sp>
        <p:nvSpPr>
          <p:cNvPr id="27" name="Shape 25"/>
          <p:cNvSpPr/>
          <p:nvPr/>
        </p:nvSpPr>
        <p:spPr>
          <a:xfrm>
            <a:off x="704088" y="6254496"/>
            <a:ext cx="10799064" cy="256032"/>
          </a:xfrm>
          <a:prstGeom prst="roundRect">
            <a:avLst>
              <a:gd name="adj" fmla="val 35714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6112" y="6281928"/>
            <a:ext cx="10396728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Sınıf skoru daha büyük: Spam.</a:t>
            </a:r>
            <a:endParaRPr lang="en-US" sz="123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5.7 · AYRIK ÖZELLIKLER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Spam sınıflandırma: sonsal olasılık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ADIM ADIM ÇÖZÜMLÜ ÖRNEK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85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4088" y="1408176"/>
            <a:ext cx="10799064" cy="548640"/>
          </a:xfrm>
          <a:prstGeom prst="roundRect">
            <a:avLst>
              <a:gd name="adj" fmla="val 16667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508760"/>
            <a:ext cx="103784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Spam için ağırlık 0,192; Normal için 0,003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04088" y="2130552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" y="2249424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2295144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89304" y="2249424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Payda = 0,192 + 0,003 = 0,195</a:t>
            </a:r>
            <a:endParaRPr lang="en-US" sz="1920" dirty="0"/>
          </a:p>
        </p:txBody>
      </p:sp>
      <p:sp>
        <p:nvSpPr>
          <p:cNvPr id="15" name="Shape 13"/>
          <p:cNvSpPr/>
          <p:nvPr/>
        </p:nvSpPr>
        <p:spPr>
          <a:xfrm>
            <a:off x="704088" y="3168396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" y="328726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3332988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289304" y="3287268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P(Spam|x) = 0,192 / 0,195</a:t>
            </a:r>
            <a:endParaRPr lang="en-US" sz="1920" dirty="0"/>
          </a:p>
        </p:txBody>
      </p:sp>
      <p:sp>
        <p:nvSpPr>
          <p:cNvPr id="19" name="Shape 17"/>
          <p:cNvSpPr/>
          <p:nvPr/>
        </p:nvSpPr>
        <p:spPr>
          <a:xfrm>
            <a:off x="704088" y="4206240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" y="4325112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" y="4370832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289304" y="4325112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P(Spam|x) ≈ 0,9846</a:t>
            </a:r>
            <a:endParaRPr lang="en-US" sz="1920" dirty="0"/>
          </a:p>
        </p:txBody>
      </p:sp>
      <p:sp>
        <p:nvSpPr>
          <p:cNvPr id="23" name="Shape 21"/>
          <p:cNvSpPr/>
          <p:nvPr/>
        </p:nvSpPr>
        <p:spPr>
          <a:xfrm>
            <a:off x="704088" y="5244084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" y="5362956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" y="5408676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289304" y="5362956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P(Normal|x) ≈ 0,0154</a:t>
            </a:r>
            <a:endParaRPr lang="en-US" sz="1920" dirty="0"/>
          </a:p>
        </p:txBody>
      </p:sp>
      <p:sp>
        <p:nvSpPr>
          <p:cNvPr id="27" name="Shape 25"/>
          <p:cNvSpPr/>
          <p:nvPr/>
        </p:nvSpPr>
        <p:spPr>
          <a:xfrm>
            <a:off x="704088" y="6254496"/>
            <a:ext cx="10799064" cy="256032"/>
          </a:xfrm>
          <a:prstGeom prst="roundRect">
            <a:avLst>
              <a:gd name="adj" fmla="val 35714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6112" y="6281928"/>
            <a:ext cx="10396728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Varsayımlara göre e-postanın spam olasılığı yaklaşık %98,46.</a:t>
            </a:r>
            <a:endParaRPr lang="en-US" sz="123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5.7 · AYRIK ÖZELLIKLER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 of Words: haberleri vektöre çevirme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ÖZET TABLO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1554480"/>
            <a:ext cx="5669280" cy="493776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1645920"/>
            <a:ext cx="550468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Haber</a:t>
            </a:r>
            <a:endParaRPr lang="en-US" sz="1430" dirty="0"/>
          </a:p>
        </p:txBody>
      </p:sp>
      <p:sp>
        <p:nvSpPr>
          <p:cNvPr id="11" name="Shape 9"/>
          <p:cNvSpPr/>
          <p:nvPr/>
        </p:nvSpPr>
        <p:spPr>
          <a:xfrm>
            <a:off x="6364224" y="1554480"/>
            <a:ext cx="1709928" cy="493776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55664" y="1645920"/>
            <a:ext cx="154533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futbol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8074152" y="1554480"/>
            <a:ext cx="1709928" cy="493776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65592" y="1645920"/>
            <a:ext cx="154533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seçim</a:t>
            </a:r>
            <a:endParaRPr lang="en-US" sz="1430" dirty="0"/>
          </a:p>
        </p:txBody>
      </p:sp>
      <p:sp>
        <p:nvSpPr>
          <p:cNvPr id="15" name="Shape 13"/>
          <p:cNvSpPr/>
          <p:nvPr/>
        </p:nvSpPr>
        <p:spPr>
          <a:xfrm>
            <a:off x="9784080" y="1554480"/>
            <a:ext cx="1709928" cy="493776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0" y="1645920"/>
            <a:ext cx="154533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ekonomi</a:t>
            </a:r>
            <a:endParaRPr lang="en-US" sz="1430" dirty="0"/>
          </a:p>
        </p:txBody>
      </p:sp>
      <p:sp>
        <p:nvSpPr>
          <p:cNvPr id="17" name="Shape 15"/>
          <p:cNvSpPr/>
          <p:nvPr/>
        </p:nvSpPr>
        <p:spPr>
          <a:xfrm>
            <a:off x="694944" y="2048256"/>
            <a:ext cx="5669280" cy="713232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" y="2130552"/>
            <a:ext cx="5468112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Futbol takımı galip geldi</a:t>
            </a:r>
            <a:endParaRPr lang="en-US" sz="1520" dirty="0"/>
          </a:p>
        </p:txBody>
      </p:sp>
      <p:sp>
        <p:nvSpPr>
          <p:cNvPr id="19" name="Shape 17"/>
          <p:cNvSpPr/>
          <p:nvPr/>
        </p:nvSpPr>
        <p:spPr>
          <a:xfrm>
            <a:off x="6364224" y="2048256"/>
            <a:ext cx="1709928" cy="713232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64808" y="2130552"/>
            <a:ext cx="15087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20" dirty="0"/>
          </a:p>
        </p:txBody>
      </p:sp>
      <p:sp>
        <p:nvSpPr>
          <p:cNvPr id="21" name="Shape 19"/>
          <p:cNvSpPr/>
          <p:nvPr/>
        </p:nvSpPr>
        <p:spPr>
          <a:xfrm>
            <a:off x="8074152" y="2048256"/>
            <a:ext cx="1709928" cy="713232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74736" y="2130552"/>
            <a:ext cx="15087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520" dirty="0"/>
          </a:p>
        </p:txBody>
      </p:sp>
      <p:sp>
        <p:nvSpPr>
          <p:cNvPr id="23" name="Shape 21"/>
          <p:cNvSpPr/>
          <p:nvPr/>
        </p:nvSpPr>
        <p:spPr>
          <a:xfrm>
            <a:off x="9784080" y="2048256"/>
            <a:ext cx="1709928" cy="713232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84664" y="2130552"/>
            <a:ext cx="15087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520" dirty="0"/>
          </a:p>
        </p:txBody>
      </p:sp>
      <p:sp>
        <p:nvSpPr>
          <p:cNvPr id="25" name="Shape 23"/>
          <p:cNvSpPr/>
          <p:nvPr/>
        </p:nvSpPr>
        <p:spPr>
          <a:xfrm>
            <a:off x="694944" y="2761488"/>
            <a:ext cx="56692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2843784"/>
            <a:ext cx="5468112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Seçim ve ekonomi tartışıldı</a:t>
            </a:r>
            <a:endParaRPr lang="en-US" sz="1520" dirty="0"/>
          </a:p>
        </p:txBody>
      </p:sp>
      <p:sp>
        <p:nvSpPr>
          <p:cNvPr id="27" name="Shape 25"/>
          <p:cNvSpPr/>
          <p:nvPr/>
        </p:nvSpPr>
        <p:spPr>
          <a:xfrm>
            <a:off x="6364224" y="2761488"/>
            <a:ext cx="170992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64808" y="2843784"/>
            <a:ext cx="15087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520" dirty="0"/>
          </a:p>
        </p:txBody>
      </p:sp>
      <p:sp>
        <p:nvSpPr>
          <p:cNvPr id="29" name="Shape 27"/>
          <p:cNvSpPr/>
          <p:nvPr/>
        </p:nvSpPr>
        <p:spPr>
          <a:xfrm>
            <a:off x="8074152" y="2761488"/>
            <a:ext cx="170992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74736" y="2843784"/>
            <a:ext cx="15087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20" dirty="0"/>
          </a:p>
        </p:txBody>
      </p:sp>
      <p:sp>
        <p:nvSpPr>
          <p:cNvPr id="31" name="Shape 29"/>
          <p:cNvSpPr/>
          <p:nvPr/>
        </p:nvSpPr>
        <p:spPr>
          <a:xfrm>
            <a:off x="9784080" y="2761488"/>
            <a:ext cx="170992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84664" y="2843784"/>
            <a:ext cx="15087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20" dirty="0"/>
          </a:p>
        </p:txBody>
      </p:sp>
      <p:sp>
        <p:nvSpPr>
          <p:cNvPr id="33" name="Shape 31"/>
          <p:cNvSpPr/>
          <p:nvPr/>
        </p:nvSpPr>
        <p:spPr>
          <a:xfrm>
            <a:off x="694944" y="3474720"/>
            <a:ext cx="5669280" cy="713232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5528" y="3557016"/>
            <a:ext cx="5468112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Futbol ekonomisi büyüyor</a:t>
            </a:r>
            <a:endParaRPr lang="en-US" sz="1520" dirty="0"/>
          </a:p>
        </p:txBody>
      </p:sp>
      <p:sp>
        <p:nvSpPr>
          <p:cNvPr id="35" name="Shape 33"/>
          <p:cNvSpPr/>
          <p:nvPr/>
        </p:nvSpPr>
        <p:spPr>
          <a:xfrm>
            <a:off x="6364224" y="3474720"/>
            <a:ext cx="1709928" cy="713232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64808" y="3557016"/>
            <a:ext cx="15087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20" dirty="0"/>
          </a:p>
        </p:txBody>
      </p:sp>
      <p:sp>
        <p:nvSpPr>
          <p:cNvPr id="37" name="Shape 35"/>
          <p:cNvSpPr/>
          <p:nvPr/>
        </p:nvSpPr>
        <p:spPr>
          <a:xfrm>
            <a:off x="8074152" y="3474720"/>
            <a:ext cx="1709928" cy="713232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74736" y="3557016"/>
            <a:ext cx="15087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520" dirty="0"/>
          </a:p>
        </p:txBody>
      </p:sp>
      <p:sp>
        <p:nvSpPr>
          <p:cNvPr id="39" name="Shape 37"/>
          <p:cNvSpPr/>
          <p:nvPr/>
        </p:nvSpPr>
        <p:spPr>
          <a:xfrm>
            <a:off x="9784080" y="3474720"/>
            <a:ext cx="1709928" cy="713232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884664" y="3557016"/>
            <a:ext cx="15087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20" dirty="0"/>
          </a:p>
        </p:txBody>
      </p:sp>
      <p:sp>
        <p:nvSpPr>
          <p:cNvPr id="41" name="Shape 39"/>
          <p:cNvSpPr/>
          <p:nvPr/>
        </p:nvSpPr>
        <p:spPr>
          <a:xfrm>
            <a:off x="704088" y="5907024"/>
            <a:ext cx="10799064" cy="466344"/>
          </a:xfrm>
          <a:prstGeom prst="roundRect">
            <a:avLst>
              <a:gd name="adj" fmla="val 19608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96112" y="6016752"/>
            <a:ext cx="103784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Kelime sırası ve cümle yapısı kaybolur; yalnızca kelimenin varlığı tutulur.</a:t>
            </a:r>
            <a:endParaRPr lang="en-US" sz="142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5.7 · AYRIK ÖZELLIKLER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Bernoulli parametre tahmini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FORMÜLÜ OKUYALIM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87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1463040"/>
            <a:ext cx="10799064" cy="1234440"/>
          </a:xfrm>
          <a:prstGeom prst="roundRect">
            <a:avLst>
              <a:gd name="adj" fmla="val 7407"/>
            </a:avLst>
          </a:prstGeom>
          <a:solidFill>
            <a:srgbClr val="11283D"/>
          </a:solidFill>
          <a:ln w="12700">
            <a:solidFill>
              <a:srgbClr val="11283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737360"/>
            <a:ext cx="1013155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p̂ᵢⱼ = (Σₜ xⱼ⁽ᵗ⁾ rᵢ⁽ᵗ⁾) / (Σₜ rᵢ⁽ᵗ⁾)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777240" y="2953512"/>
            <a:ext cx="1065276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i. sınıf içindeki j. kelime görülme oranı.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68096" y="3694176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3776472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Bir kelime tüm sınıflarda eşit sık görülüyorsa ayırt ediciliği düşüktür.</a:t>
            </a:r>
            <a:endParaRPr lang="en-US" sz="1660" dirty="0"/>
          </a:p>
        </p:txBody>
      </p:sp>
      <p:sp>
        <p:nvSpPr>
          <p:cNvPr id="14" name="Shape 12"/>
          <p:cNvSpPr/>
          <p:nvPr/>
        </p:nvSpPr>
        <p:spPr>
          <a:xfrm>
            <a:off x="768096" y="4251960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4334256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Belge sınıflandırma, spam filtreleme ve bazı biyoinformatik görevlerinde kullanılır.</a:t>
            </a:r>
            <a:endParaRPr lang="en-US" sz="1660" dirty="0"/>
          </a:p>
        </p:txBody>
      </p:sp>
      <p:sp>
        <p:nvSpPr>
          <p:cNvPr id="16" name="Shape 14"/>
          <p:cNvSpPr/>
          <p:nvPr/>
        </p:nvSpPr>
        <p:spPr>
          <a:xfrm>
            <a:off x="768096" y="4809744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4892040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Pratikte sıfır olasılıklara karşı Laplace yumuşatma yararlıdır.</a:t>
            </a:r>
            <a:endParaRPr lang="en-US" sz="166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5.7 · AYRIK ÖZELLIKLER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One-Hot Encoding: renk özelliği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ÖZET TABLO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88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1554480"/>
            <a:ext cx="3246120" cy="493776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1645920"/>
            <a:ext cx="308152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Renk</a:t>
            </a:r>
            <a:endParaRPr lang="en-US" sz="1430" dirty="0"/>
          </a:p>
        </p:txBody>
      </p:sp>
      <p:sp>
        <p:nvSpPr>
          <p:cNvPr id="11" name="Shape 9"/>
          <p:cNvSpPr/>
          <p:nvPr/>
        </p:nvSpPr>
        <p:spPr>
          <a:xfrm>
            <a:off x="3941064" y="1554480"/>
            <a:ext cx="1883664" cy="493776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32504" y="1645920"/>
            <a:ext cx="171907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Kırmızı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5824728" y="1554480"/>
            <a:ext cx="1883664" cy="493776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16168" y="1645920"/>
            <a:ext cx="171907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Mavi</a:t>
            </a:r>
            <a:endParaRPr lang="en-US" sz="1430" dirty="0"/>
          </a:p>
        </p:txBody>
      </p:sp>
      <p:sp>
        <p:nvSpPr>
          <p:cNvPr id="15" name="Shape 13"/>
          <p:cNvSpPr/>
          <p:nvPr/>
        </p:nvSpPr>
        <p:spPr>
          <a:xfrm>
            <a:off x="7708392" y="1554480"/>
            <a:ext cx="1883664" cy="493776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99832" y="1645920"/>
            <a:ext cx="171907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Yeşil</a:t>
            </a:r>
            <a:endParaRPr lang="en-US" sz="1430" dirty="0"/>
          </a:p>
        </p:txBody>
      </p:sp>
      <p:sp>
        <p:nvSpPr>
          <p:cNvPr id="17" name="Shape 15"/>
          <p:cNvSpPr/>
          <p:nvPr/>
        </p:nvSpPr>
        <p:spPr>
          <a:xfrm>
            <a:off x="9592056" y="1554480"/>
            <a:ext cx="1901952" cy="493776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83496" y="1645920"/>
            <a:ext cx="17373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Siyah</a:t>
            </a:r>
            <a:endParaRPr lang="en-US" sz="1430" dirty="0"/>
          </a:p>
        </p:txBody>
      </p:sp>
      <p:sp>
        <p:nvSpPr>
          <p:cNvPr id="19" name="Shape 17"/>
          <p:cNvSpPr/>
          <p:nvPr/>
        </p:nvSpPr>
        <p:spPr>
          <a:xfrm>
            <a:off x="694944" y="2048256"/>
            <a:ext cx="3246120" cy="612648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2130552"/>
            <a:ext cx="3044952" cy="4480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Kırmızı</a:t>
            </a:r>
            <a:endParaRPr lang="en-US" sz="1520" dirty="0"/>
          </a:p>
        </p:txBody>
      </p:sp>
      <p:sp>
        <p:nvSpPr>
          <p:cNvPr id="21" name="Shape 19"/>
          <p:cNvSpPr/>
          <p:nvPr/>
        </p:nvSpPr>
        <p:spPr>
          <a:xfrm>
            <a:off x="3941064" y="2048256"/>
            <a:ext cx="1883664" cy="612648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41648" y="2130552"/>
            <a:ext cx="1682496" cy="4480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20" dirty="0"/>
          </a:p>
        </p:txBody>
      </p:sp>
      <p:sp>
        <p:nvSpPr>
          <p:cNvPr id="23" name="Shape 21"/>
          <p:cNvSpPr/>
          <p:nvPr/>
        </p:nvSpPr>
        <p:spPr>
          <a:xfrm>
            <a:off x="5824728" y="2048256"/>
            <a:ext cx="1883664" cy="612648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25312" y="2130552"/>
            <a:ext cx="1682496" cy="4480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520" dirty="0"/>
          </a:p>
        </p:txBody>
      </p:sp>
      <p:sp>
        <p:nvSpPr>
          <p:cNvPr id="25" name="Shape 23"/>
          <p:cNvSpPr/>
          <p:nvPr/>
        </p:nvSpPr>
        <p:spPr>
          <a:xfrm>
            <a:off x="7708392" y="2048256"/>
            <a:ext cx="1883664" cy="612648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08976" y="2130552"/>
            <a:ext cx="1682496" cy="4480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520" dirty="0"/>
          </a:p>
        </p:txBody>
      </p:sp>
      <p:sp>
        <p:nvSpPr>
          <p:cNvPr id="27" name="Shape 25"/>
          <p:cNvSpPr/>
          <p:nvPr/>
        </p:nvSpPr>
        <p:spPr>
          <a:xfrm>
            <a:off x="9592056" y="2048256"/>
            <a:ext cx="1901952" cy="612648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92640" y="2130552"/>
            <a:ext cx="1700784" cy="4480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520" dirty="0"/>
          </a:p>
        </p:txBody>
      </p:sp>
      <p:sp>
        <p:nvSpPr>
          <p:cNvPr id="29" name="Shape 27"/>
          <p:cNvSpPr/>
          <p:nvPr/>
        </p:nvSpPr>
        <p:spPr>
          <a:xfrm>
            <a:off x="694944" y="2660904"/>
            <a:ext cx="324612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2743200"/>
            <a:ext cx="3044952" cy="4480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Mavi</a:t>
            </a:r>
            <a:endParaRPr lang="en-US" sz="1520" dirty="0"/>
          </a:p>
        </p:txBody>
      </p:sp>
      <p:sp>
        <p:nvSpPr>
          <p:cNvPr id="31" name="Shape 29"/>
          <p:cNvSpPr/>
          <p:nvPr/>
        </p:nvSpPr>
        <p:spPr>
          <a:xfrm>
            <a:off x="3941064" y="2660904"/>
            <a:ext cx="1883664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41648" y="2743200"/>
            <a:ext cx="1682496" cy="4480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520" dirty="0"/>
          </a:p>
        </p:txBody>
      </p:sp>
      <p:sp>
        <p:nvSpPr>
          <p:cNvPr id="33" name="Shape 31"/>
          <p:cNvSpPr/>
          <p:nvPr/>
        </p:nvSpPr>
        <p:spPr>
          <a:xfrm>
            <a:off x="5824728" y="2660904"/>
            <a:ext cx="1883664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25312" y="2743200"/>
            <a:ext cx="1682496" cy="4480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20" dirty="0"/>
          </a:p>
        </p:txBody>
      </p:sp>
      <p:sp>
        <p:nvSpPr>
          <p:cNvPr id="35" name="Shape 33"/>
          <p:cNvSpPr/>
          <p:nvPr/>
        </p:nvSpPr>
        <p:spPr>
          <a:xfrm>
            <a:off x="7708392" y="2660904"/>
            <a:ext cx="1883664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08976" y="2743200"/>
            <a:ext cx="1682496" cy="4480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520" dirty="0"/>
          </a:p>
        </p:txBody>
      </p:sp>
      <p:sp>
        <p:nvSpPr>
          <p:cNvPr id="37" name="Shape 35"/>
          <p:cNvSpPr/>
          <p:nvPr/>
        </p:nvSpPr>
        <p:spPr>
          <a:xfrm>
            <a:off x="9592056" y="2660904"/>
            <a:ext cx="1901952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92640" y="2743200"/>
            <a:ext cx="1700784" cy="4480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520" dirty="0"/>
          </a:p>
        </p:txBody>
      </p:sp>
      <p:sp>
        <p:nvSpPr>
          <p:cNvPr id="39" name="Shape 37"/>
          <p:cNvSpPr/>
          <p:nvPr/>
        </p:nvSpPr>
        <p:spPr>
          <a:xfrm>
            <a:off x="694944" y="3273552"/>
            <a:ext cx="3246120" cy="612648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" y="3355848"/>
            <a:ext cx="3044952" cy="4480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Yeşil</a:t>
            </a:r>
            <a:endParaRPr lang="en-US" sz="1520" dirty="0"/>
          </a:p>
        </p:txBody>
      </p:sp>
      <p:sp>
        <p:nvSpPr>
          <p:cNvPr id="41" name="Shape 39"/>
          <p:cNvSpPr/>
          <p:nvPr/>
        </p:nvSpPr>
        <p:spPr>
          <a:xfrm>
            <a:off x="3941064" y="3273552"/>
            <a:ext cx="1883664" cy="612648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041648" y="3355848"/>
            <a:ext cx="1682496" cy="4480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520" dirty="0"/>
          </a:p>
        </p:txBody>
      </p:sp>
      <p:sp>
        <p:nvSpPr>
          <p:cNvPr id="43" name="Shape 41"/>
          <p:cNvSpPr/>
          <p:nvPr/>
        </p:nvSpPr>
        <p:spPr>
          <a:xfrm>
            <a:off x="5824728" y="3273552"/>
            <a:ext cx="1883664" cy="612648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25312" y="3355848"/>
            <a:ext cx="1682496" cy="4480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520" dirty="0"/>
          </a:p>
        </p:txBody>
      </p:sp>
      <p:sp>
        <p:nvSpPr>
          <p:cNvPr id="45" name="Shape 43"/>
          <p:cNvSpPr/>
          <p:nvPr/>
        </p:nvSpPr>
        <p:spPr>
          <a:xfrm>
            <a:off x="7708392" y="3273552"/>
            <a:ext cx="1883664" cy="612648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808976" y="3355848"/>
            <a:ext cx="1682496" cy="4480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20" dirty="0"/>
          </a:p>
        </p:txBody>
      </p:sp>
      <p:sp>
        <p:nvSpPr>
          <p:cNvPr id="47" name="Shape 45"/>
          <p:cNvSpPr/>
          <p:nvPr/>
        </p:nvSpPr>
        <p:spPr>
          <a:xfrm>
            <a:off x="9592056" y="3273552"/>
            <a:ext cx="1901952" cy="612648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692640" y="3355848"/>
            <a:ext cx="1700784" cy="4480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520" dirty="0"/>
          </a:p>
        </p:txBody>
      </p:sp>
      <p:sp>
        <p:nvSpPr>
          <p:cNvPr id="49" name="Shape 47"/>
          <p:cNvSpPr/>
          <p:nvPr/>
        </p:nvSpPr>
        <p:spPr>
          <a:xfrm>
            <a:off x="694944" y="3886200"/>
            <a:ext cx="324612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95528" y="3968496"/>
            <a:ext cx="3044952" cy="4480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Siyah</a:t>
            </a:r>
            <a:endParaRPr lang="en-US" sz="1520" dirty="0"/>
          </a:p>
        </p:txBody>
      </p:sp>
      <p:sp>
        <p:nvSpPr>
          <p:cNvPr id="51" name="Shape 49"/>
          <p:cNvSpPr/>
          <p:nvPr/>
        </p:nvSpPr>
        <p:spPr>
          <a:xfrm>
            <a:off x="3941064" y="3886200"/>
            <a:ext cx="1883664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041648" y="3968496"/>
            <a:ext cx="1682496" cy="4480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520" dirty="0"/>
          </a:p>
        </p:txBody>
      </p:sp>
      <p:sp>
        <p:nvSpPr>
          <p:cNvPr id="53" name="Shape 51"/>
          <p:cNvSpPr/>
          <p:nvPr/>
        </p:nvSpPr>
        <p:spPr>
          <a:xfrm>
            <a:off x="5824728" y="3886200"/>
            <a:ext cx="1883664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25312" y="3968496"/>
            <a:ext cx="1682496" cy="4480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520" dirty="0"/>
          </a:p>
        </p:txBody>
      </p:sp>
      <p:sp>
        <p:nvSpPr>
          <p:cNvPr id="55" name="Shape 53"/>
          <p:cNvSpPr/>
          <p:nvPr/>
        </p:nvSpPr>
        <p:spPr>
          <a:xfrm>
            <a:off x="7708392" y="3886200"/>
            <a:ext cx="1883664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808976" y="3968496"/>
            <a:ext cx="1682496" cy="4480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520" dirty="0"/>
          </a:p>
        </p:txBody>
      </p:sp>
      <p:sp>
        <p:nvSpPr>
          <p:cNvPr id="57" name="Shape 55"/>
          <p:cNvSpPr/>
          <p:nvPr/>
        </p:nvSpPr>
        <p:spPr>
          <a:xfrm>
            <a:off x="9592056" y="3886200"/>
            <a:ext cx="1901952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692640" y="3968496"/>
            <a:ext cx="1700784" cy="4480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20" dirty="0"/>
          </a:p>
        </p:txBody>
      </p:sp>
      <p:sp>
        <p:nvSpPr>
          <p:cNvPr id="59" name="Shape 57"/>
          <p:cNvSpPr/>
          <p:nvPr/>
        </p:nvSpPr>
        <p:spPr>
          <a:xfrm>
            <a:off x="704088" y="5907024"/>
            <a:ext cx="10799064" cy="466344"/>
          </a:xfrm>
          <a:prstGeom prst="roundRect">
            <a:avLst>
              <a:gd name="adj" fmla="val 19608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96112" y="6016752"/>
            <a:ext cx="103784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Örnek: Mavi → (0,1,0,0); aynı değişkende yalnızca bir gösterge 1 olur.</a:t>
            </a:r>
            <a:endParaRPr lang="en-US" sz="142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5.7 · AYRIK ÖZELLIKLER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Çok kategorili Naive Bayes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FORMÜLÜ OKUYALIM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89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1463040"/>
            <a:ext cx="10799064" cy="1234440"/>
          </a:xfrm>
          <a:prstGeom prst="roundRect">
            <a:avLst>
              <a:gd name="adj" fmla="val 7407"/>
            </a:avLst>
          </a:prstGeom>
          <a:solidFill>
            <a:srgbClr val="11283D"/>
          </a:solidFill>
          <a:ln w="12700">
            <a:solidFill>
              <a:srgbClr val="11283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737360"/>
            <a:ext cx="1013155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p(x|Cᵢ) = ∏ⱼ∏ₖ pᵢⱼₖᶻʲᵏ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77240" y="2953512"/>
            <a:ext cx="1065276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zⱼₖ=1 ise xⱼ, k. kategoriyi almıştır.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68096" y="3694176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3776472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pᵢⱼₖ = P(xⱼ = vₖ | Cᵢ)</a:t>
            </a:r>
            <a:endParaRPr lang="en-US" sz="1660" dirty="0"/>
          </a:p>
        </p:txBody>
      </p:sp>
      <p:sp>
        <p:nvSpPr>
          <p:cNvPr id="14" name="Shape 12"/>
          <p:cNvSpPr/>
          <p:nvPr/>
        </p:nvSpPr>
        <p:spPr>
          <a:xfrm>
            <a:off x="768096" y="4251960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4334256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gᵢ(x) = ΣⱼΣₖ zⱼₖ log(pᵢⱼₖ) + log P(Cᵢ)</a:t>
            </a:r>
            <a:endParaRPr lang="en-US" sz="1660" dirty="0"/>
          </a:p>
        </p:txBody>
      </p:sp>
      <p:sp>
        <p:nvSpPr>
          <p:cNvPr id="16" name="Shape 14"/>
          <p:cNvSpPr/>
          <p:nvPr/>
        </p:nvSpPr>
        <p:spPr>
          <a:xfrm>
            <a:off x="768096" y="4809744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4892040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p̂ᵢⱼₖ = Σₜ(zⱼₖ⁽ᵗ⁾rᵢ⁽ᵗ⁾) / Σₜ rᵢ⁽ᵗ⁾</a:t>
            </a:r>
            <a:endParaRPr lang="en-US" sz="166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11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28B50"/>
          </a:solidFill>
          <a:ln w="12700">
            <a:solidFill>
              <a:srgbClr val="D28B5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512064"/>
            <a:ext cx="10058400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A4D3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ÜNİTE / ÇOK DEĞİŞKENLİ YÖNTEMLER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94944" y="1371600"/>
            <a:ext cx="4114800" cy="1225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0" b="1" dirty="0">
                <a:solidFill>
                  <a:srgbClr val="83CE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5.8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713232" y="2761488"/>
            <a:ext cx="1069848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Çok Değişkenli Regresyon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722376" y="3977640"/>
            <a:ext cx="10460736" cy="0"/>
          </a:xfrm>
          <a:prstGeom prst="line">
            <a:avLst/>
          </a:prstGeom>
          <a:noFill/>
          <a:ln w="19050">
            <a:solidFill>
              <a:srgbClr val="4871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4370832"/>
            <a:ext cx="9966960" cy="9509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D7E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Birden çok özellikten tek bir sürekli çıktıyı tahmin etme.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128248" y="6473952"/>
            <a:ext cx="438912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9CB9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</a:t>
            </a:r>
            <a:endParaRPr lang="en-US" sz="12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5.8 · ÇOK DEĞIŞKENLI REGRESYON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Çoklu doğrusal regresyon modeli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FORMÜLÜ OKUYALIM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1463040"/>
            <a:ext cx="10799064" cy="1234440"/>
          </a:xfrm>
          <a:prstGeom prst="roundRect">
            <a:avLst>
              <a:gd name="adj" fmla="val 7407"/>
            </a:avLst>
          </a:prstGeom>
          <a:solidFill>
            <a:srgbClr val="11283D"/>
          </a:solidFill>
          <a:ln w="12700">
            <a:solidFill>
              <a:srgbClr val="11283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737360"/>
            <a:ext cx="1013155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 = w₀ + w₁x₁ + w₂x₂ + … + w_d x_d + ε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777240" y="2953512"/>
            <a:ext cx="1065276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Ağırlıklar, her özelliğin tahmine katkısını belirler.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68096" y="3694176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3776472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w₀: sabit terim (intercept)</a:t>
            </a:r>
            <a:endParaRPr lang="en-US" sz="1660" dirty="0"/>
          </a:p>
        </p:txBody>
      </p:sp>
      <p:sp>
        <p:nvSpPr>
          <p:cNvPr id="14" name="Shape 12"/>
          <p:cNvSpPr/>
          <p:nvPr/>
        </p:nvSpPr>
        <p:spPr>
          <a:xfrm>
            <a:off x="768096" y="4251960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4334256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wⱼ: j. özelliğin katsayısı</a:t>
            </a:r>
            <a:endParaRPr lang="en-US" sz="1660" dirty="0"/>
          </a:p>
        </p:txBody>
      </p:sp>
      <p:sp>
        <p:nvSpPr>
          <p:cNvPr id="16" name="Shape 14"/>
          <p:cNvSpPr/>
          <p:nvPr/>
        </p:nvSpPr>
        <p:spPr>
          <a:xfrm>
            <a:off x="768096" y="4809744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4892040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ε: hata/gürültü terimi</a:t>
            </a:r>
            <a:endParaRPr lang="en-US" sz="166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5.8 · ÇOK DEĞIŞKENLI REGRESYON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Sınav notu tahmini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ADIM ADIM ÇÖZÜMLÜ ÖRNEK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4088" y="1408176"/>
            <a:ext cx="10799064" cy="548640"/>
          </a:xfrm>
          <a:prstGeom prst="roundRect">
            <a:avLst>
              <a:gd name="adj" fmla="val 16667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508760"/>
            <a:ext cx="103784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Model: ŷ = 10 + 5x₁ + 0,3x₂ + 2x₃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04088" y="2130552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" y="2249424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2295144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89304" y="2249424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x₁ = 6 saat; x₂ = %80 devam; x₃ = 4 ödev</a:t>
            </a:r>
            <a:endParaRPr lang="en-US" sz="1920" dirty="0"/>
          </a:p>
        </p:txBody>
      </p:sp>
      <p:sp>
        <p:nvSpPr>
          <p:cNvPr id="15" name="Shape 13"/>
          <p:cNvSpPr/>
          <p:nvPr/>
        </p:nvSpPr>
        <p:spPr>
          <a:xfrm>
            <a:off x="704088" y="3168396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" y="328726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3332988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289304" y="3287268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ŷ = 10 + 5×6 + 0,3×80 + 2×4</a:t>
            </a:r>
            <a:endParaRPr lang="en-US" sz="1920" dirty="0"/>
          </a:p>
        </p:txBody>
      </p:sp>
      <p:sp>
        <p:nvSpPr>
          <p:cNvPr id="19" name="Shape 17"/>
          <p:cNvSpPr/>
          <p:nvPr/>
        </p:nvSpPr>
        <p:spPr>
          <a:xfrm>
            <a:off x="704088" y="4206240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" y="4325112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" y="4370832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289304" y="4325112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ŷ = 10 + 30 + 24 + 8 = 72</a:t>
            </a:r>
            <a:endParaRPr lang="en-US" sz="1920" dirty="0"/>
          </a:p>
        </p:txBody>
      </p:sp>
      <p:sp>
        <p:nvSpPr>
          <p:cNvPr id="23" name="Shape 21"/>
          <p:cNvSpPr/>
          <p:nvPr/>
        </p:nvSpPr>
        <p:spPr>
          <a:xfrm>
            <a:off x="704088" y="5244084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" y="5362956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" y="5408676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289304" y="5362956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Gerçek not 75 ise hata e = 75 − 72 = 3</a:t>
            </a:r>
            <a:endParaRPr lang="en-US" sz="1920" dirty="0"/>
          </a:p>
        </p:txBody>
      </p:sp>
      <p:sp>
        <p:nvSpPr>
          <p:cNvPr id="27" name="Shape 25"/>
          <p:cNvSpPr/>
          <p:nvPr/>
        </p:nvSpPr>
        <p:spPr>
          <a:xfrm>
            <a:off x="704088" y="6254496"/>
            <a:ext cx="10799064" cy="256032"/>
          </a:xfrm>
          <a:prstGeom prst="roundRect">
            <a:avLst>
              <a:gd name="adj" fmla="val 35714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6112" y="6281928"/>
            <a:ext cx="10396728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Hata küçüldükçe tahmin gerçek değere yaklaşır.</a:t>
            </a:r>
            <a:endParaRPr lang="en-US" sz="123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5.8 · ÇOK DEĞIŞKENLI REGRESYON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Hata fonksiyonu: en küçük kareler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FORMÜLÜ OKUYALIM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1463040"/>
            <a:ext cx="10799064" cy="1234440"/>
          </a:xfrm>
          <a:prstGeom prst="roundRect">
            <a:avLst>
              <a:gd name="adj" fmla="val 7407"/>
            </a:avLst>
          </a:prstGeom>
          <a:solidFill>
            <a:srgbClr val="11283D"/>
          </a:solidFill>
          <a:ln w="12700">
            <a:solidFill>
              <a:srgbClr val="11283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737360"/>
            <a:ext cx="1013155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E(w) = ½ Σₜ(r⁽ᵗ⁾ − ŷ⁽ᵗ⁾)²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777240" y="2953512"/>
            <a:ext cx="1065276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Gaussian sabit varyanslı gürültü altında ML ile ilişkilidir.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68096" y="3694176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3776472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MSE = (1/N) Σₜ(r⁽ᵗ⁾ − ŷ⁽ᵗ⁾)²</a:t>
            </a:r>
            <a:endParaRPr lang="en-US" sz="1660" dirty="0"/>
          </a:p>
        </p:txBody>
      </p:sp>
      <p:sp>
        <p:nvSpPr>
          <p:cNvPr id="14" name="Shape 12"/>
          <p:cNvSpPr/>
          <p:nvPr/>
        </p:nvSpPr>
        <p:spPr>
          <a:xfrm>
            <a:off x="768096" y="4251960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4334256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E(w) = (N/2) × MSE</a:t>
            </a:r>
            <a:endParaRPr lang="en-US" sz="1660" dirty="0"/>
          </a:p>
        </p:txBody>
      </p:sp>
      <p:sp>
        <p:nvSpPr>
          <p:cNvPr id="16" name="Shape 14"/>
          <p:cNvSpPr/>
          <p:nvPr/>
        </p:nvSpPr>
        <p:spPr>
          <a:xfrm>
            <a:off x="768096" y="4809744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4892040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İki fonksiyon aynı w parametrelerinde minimize edilir.</a:t>
            </a:r>
            <a:endParaRPr lang="en-US" sz="166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5.8 · ÇOK DEĞIŞKENLI REGRESYON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 denklem: türevden matris çözümüne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FORMÜLÜ OKUYALIM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94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1463040"/>
            <a:ext cx="10799064" cy="1234440"/>
          </a:xfrm>
          <a:prstGeom prst="roundRect">
            <a:avLst>
              <a:gd name="adj" fmla="val 7407"/>
            </a:avLst>
          </a:prstGeom>
          <a:solidFill>
            <a:srgbClr val="11283D"/>
          </a:solidFill>
          <a:ln w="12700">
            <a:solidFill>
              <a:srgbClr val="11283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737360"/>
            <a:ext cx="1013155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XᵀXw = Xᵀr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777240" y="2953512"/>
            <a:ext cx="1065276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Hata fonksiyonunu katsayılara göre türevleyip sıfıra eşitleriz.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68096" y="3694176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3776472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X: ilk sütunu 1 olan tasarım matrisi</a:t>
            </a:r>
            <a:endParaRPr lang="en-US" sz="1660" dirty="0"/>
          </a:p>
        </p:txBody>
      </p:sp>
      <p:sp>
        <p:nvSpPr>
          <p:cNvPr id="14" name="Shape 12"/>
          <p:cNvSpPr/>
          <p:nvPr/>
        </p:nvSpPr>
        <p:spPr>
          <a:xfrm>
            <a:off x="768096" y="4251960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4334256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w: katsayı vektörü (w₀,w₁,…,w_d)ᵀ</a:t>
            </a:r>
            <a:endParaRPr lang="en-US" sz="1660" dirty="0"/>
          </a:p>
        </p:txBody>
      </p:sp>
      <p:sp>
        <p:nvSpPr>
          <p:cNvPr id="16" name="Shape 14"/>
          <p:cNvSpPr/>
          <p:nvPr/>
        </p:nvSpPr>
        <p:spPr>
          <a:xfrm>
            <a:off x="768096" y="4809744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4892040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Ters varsa: w = (XᵀX)⁻¹Xᵀr</a:t>
            </a:r>
            <a:endParaRPr lang="en-US" sz="166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5.8 · ÇOK DEĞIŞKENLI REGRESYON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Regresyon örneği: veri tablosu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ÖZET TABLO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95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1554480"/>
            <a:ext cx="2743200" cy="493776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1645920"/>
            <a:ext cx="257860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Gözlem</a:t>
            </a:r>
            <a:endParaRPr lang="en-US" sz="1430" dirty="0"/>
          </a:p>
        </p:txBody>
      </p:sp>
      <p:sp>
        <p:nvSpPr>
          <p:cNvPr id="11" name="Shape 9"/>
          <p:cNvSpPr/>
          <p:nvPr/>
        </p:nvSpPr>
        <p:spPr>
          <a:xfrm>
            <a:off x="3438144" y="1554480"/>
            <a:ext cx="2651760" cy="493776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9584" y="1645920"/>
            <a:ext cx="248716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x₁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6089904" y="1554480"/>
            <a:ext cx="2651760" cy="493776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81344" y="1645920"/>
            <a:ext cx="248716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x₂</a:t>
            </a:r>
            <a:endParaRPr lang="en-US" sz="1430" dirty="0"/>
          </a:p>
        </p:txBody>
      </p:sp>
      <p:sp>
        <p:nvSpPr>
          <p:cNvPr id="15" name="Shape 13"/>
          <p:cNvSpPr/>
          <p:nvPr/>
        </p:nvSpPr>
        <p:spPr>
          <a:xfrm>
            <a:off x="8741664" y="1554480"/>
            <a:ext cx="2752344" cy="493776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33104" y="1645920"/>
            <a:ext cx="258775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Gerçek r</a:t>
            </a:r>
            <a:endParaRPr lang="en-US" sz="1430" dirty="0"/>
          </a:p>
        </p:txBody>
      </p:sp>
      <p:sp>
        <p:nvSpPr>
          <p:cNvPr id="17" name="Shape 15"/>
          <p:cNvSpPr/>
          <p:nvPr/>
        </p:nvSpPr>
        <p:spPr>
          <a:xfrm>
            <a:off x="694944" y="2048256"/>
            <a:ext cx="2743200" cy="630936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" y="2130552"/>
            <a:ext cx="2542032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20" dirty="0"/>
          </a:p>
        </p:txBody>
      </p:sp>
      <p:sp>
        <p:nvSpPr>
          <p:cNvPr id="19" name="Shape 17"/>
          <p:cNvSpPr/>
          <p:nvPr/>
        </p:nvSpPr>
        <p:spPr>
          <a:xfrm>
            <a:off x="3438144" y="2048256"/>
            <a:ext cx="2651760" cy="630936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38728" y="2130552"/>
            <a:ext cx="2450592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520" dirty="0"/>
          </a:p>
        </p:txBody>
      </p:sp>
      <p:sp>
        <p:nvSpPr>
          <p:cNvPr id="21" name="Shape 19"/>
          <p:cNvSpPr/>
          <p:nvPr/>
        </p:nvSpPr>
        <p:spPr>
          <a:xfrm>
            <a:off x="6089904" y="2048256"/>
            <a:ext cx="2651760" cy="630936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0488" y="2130552"/>
            <a:ext cx="2450592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520" dirty="0"/>
          </a:p>
        </p:txBody>
      </p:sp>
      <p:sp>
        <p:nvSpPr>
          <p:cNvPr id="23" name="Shape 21"/>
          <p:cNvSpPr/>
          <p:nvPr/>
        </p:nvSpPr>
        <p:spPr>
          <a:xfrm>
            <a:off x="8741664" y="2048256"/>
            <a:ext cx="2752344" cy="630936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42248" y="2130552"/>
            <a:ext cx="2551176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20" dirty="0"/>
          </a:p>
        </p:txBody>
      </p:sp>
      <p:sp>
        <p:nvSpPr>
          <p:cNvPr id="25" name="Shape 23"/>
          <p:cNvSpPr/>
          <p:nvPr/>
        </p:nvSpPr>
        <p:spPr>
          <a:xfrm>
            <a:off x="694944" y="2679192"/>
            <a:ext cx="2743200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2761488"/>
            <a:ext cx="2542032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20" dirty="0"/>
          </a:p>
        </p:txBody>
      </p:sp>
      <p:sp>
        <p:nvSpPr>
          <p:cNvPr id="27" name="Shape 25"/>
          <p:cNvSpPr/>
          <p:nvPr/>
        </p:nvSpPr>
        <p:spPr>
          <a:xfrm>
            <a:off x="3438144" y="2679192"/>
            <a:ext cx="2651760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38728" y="2761488"/>
            <a:ext cx="2450592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20" dirty="0"/>
          </a:p>
        </p:txBody>
      </p:sp>
      <p:sp>
        <p:nvSpPr>
          <p:cNvPr id="29" name="Shape 27"/>
          <p:cNvSpPr/>
          <p:nvPr/>
        </p:nvSpPr>
        <p:spPr>
          <a:xfrm>
            <a:off x="6089904" y="2679192"/>
            <a:ext cx="2651760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90488" y="2761488"/>
            <a:ext cx="2450592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520" dirty="0"/>
          </a:p>
        </p:txBody>
      </p:sp>
      <p:sp>
        <p:nvSpPr>
          <p:cNvPr id="31" name="Shape 29"/>
          <p:cNvSpPr/>
          <p:nvPr/>
        </p:nvSpPr>
        <p:spPr>
          <a:xfrm>
            <a:off x="8741664" y="2679192"/>
            <a:ext cx="2752344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42248" y="2761488"/>
            <a:ext cx="2551176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20" dirty="0"/>
          </a:p>
        </p:txBody>
      </p:sp>
      <p:sp>
        <p:nvSpPr>
          <p:cNvPr id="33" name="Shape 31"/>
          <p:cNvSpPr/>
          <p:nvPr/>
        </p:nvSpPr>
        <p:spPr>
          <a:xfrm>
            <a:off x="694944" y="3310128"/>
            <a:ext cx="2743200" cy="630936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5528" y="3392424"/>
            <a:ext cx="2542032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20" dirty="0"/>
          </a:p>
        </p:txBody>
      </p:sp>
      <p:sp>
        <p:nvSpPr>
          <p:cNvPr id="35" name="Shape 33"/>
          <p:cNvSpPr/>
          <p:nvPr/>
        </p:nvSpPr>
        <p:spPr>
          <a:xfrm>
            <a:off x="3438144" y="3310128"/>
            <a:ext cx="2651760" cy="630936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38728" y="3392424"/>
            <a:ext cx="2450592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520" dirty="0"/>
          </a:p>
        </p:txBody>
      </p:sp>
      <p:sp>
        <p:nvSpPr>
          <p:cNvPr id="37" name="Shape 35"/>
          <p:cNvSpPr/>
          <p:nvPr/>
        </p:nvSpPr>
        <p:spPr>
          <a:xfrm>
            <a:off x="6089904" y="3310128"/>
            <a:ext cx="2651760" cy="630936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90488" y="3392424"/>
            <a:ext cx="2450592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20" dirty="0"/>
          </a:p>
        </p:txBody>
      </p:sp>
      <p:sp>
        <p:nvSpPr>
          <p:cNvPr id="39" name="Shape 37"/>
          <p:cNvSpPr/>
          <p:nvPr/>
        </p:nvSpPr>
        <p:spPr>
          <a:xfrm>
            <a:off x="8741664" y="3310128"/>
            <a:ext cx="2752344" cy="630936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842248" y="3392424"/>
            <a:ext cx="2551176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20" dirty="0"/>
          </a:p>
        </p:txBody>
      </p:sp>
      <p:sp>
        <p:nvSpPr>
          <p:cNvPr id="41" name="Shape 39"/>
          <p:cNvSpPr/>
          <p:nvPr/>
        </p:nvSpPr>
        <p:spPr>
          <a:xfrm>
            <a:off x="694944" y="3941064"/>
            <a:ext cx="2743200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5528" y="4023360"/>
            <a:ext cx="2542032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20" dirty="0"/>
          </a:p>
        </p:txBody>
      </p:sp>
      <p:sp>
        <p:nvSpPr>
          <p:cNvPr id="43" name="Shape 41"/>
          <p:cNvSpPr/>
          <p:nvPr/>
        </p:nvSpPr>
        <p:spPr>
          <a:xfrm>
            <a:off x="3438144" y="3941064"/>
            <a:ext cx="2651760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38728" y="4023360"/>
            <a:ext cx="2450592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20" dirty="0"/>
          </a:p>
        </p:txBody>
      </p:sp>
      <p:sp>
        <p:nvSpPr>
          <p:cNvPr id="45" name="Shape 43"/>
          <p:cNvSpPr/>
          <p:nvPr/>
        </p:nvSpPr>
        <p:spPr>
          <a:xfrm>
            <a:off x="6089904" y="3941064"/>
            <a:ext cx="2651760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90488" y="4023360"/>
            <a:ext cx="2450592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20" dirty="0"/>
          </a:p>
        </p:txBody>
      </p:sp>
      <p:sp>
        <p:nvSpPr>
          <p:cNvPr id="47" name="Shape 45"/>
          <p:cNvSpPr/>
          <p:nvPr/>
        </p:nvSpPr>
        <p:spPr>
          <a:xfrm>
            <a:off x="8741664" y="3941064"/>
            <a:ext cx="2752344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842248" y="4023360"/>
            <a:ext cx="2551176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520" dirty="0"/>
          </a:p>
        </p:txBody>
      </p:sp>
      <p:sp>
        <p:nvSpPr>
          <p:cNvPr id="49" name="Shape 47"/>
          <p:cNvSpPr/>
          <p:nvPr/>
        </p:nvSpPr>
        <p:spPr>
          <a:xfrm>
            <a:off x="704088" y="5907024"/>
            <a:ext cx="10799064" cy="466344"/>
          </a:xfrm>
          <a:prstGeom prst="roundRect">
            <a:avLst>
              <a:gd name="adj" fmla="val 19608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96112" y="6016752"/>
            <a:ext cx="103784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Model: ŷ = w₀ + w₁x₁ + w₂x₂. Katsayıları bulalım.</a:t>
            </a:r>
            <a:endParaRPr lang="en-US" sz="142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5.8 · ÇOK DEĞIŞKENLI REGRESYON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 denklemler: X ve r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ADIM ADIM ÇÖZÜMLÜ ÖRNEK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4088" y="1408176"/>
            <a:ext cx="10799064" cy="548640"/>
          </a:xfrm>
          <a:prstGeom prst="roundRect">
            <a:avLst>
              <a:gd name="adj" fmla="val 16667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508760"/>
            <a:ext cx="103784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Tablodaki 4 gözlem, 2 özellik ve 1 sabit terim içerir.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04088" y="2130552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" y="2249424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2295144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89304" y="2249424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satır 1 = (1,0,0); satır 2 = (1,1,0)</a:t>
            </a:r>
            <a:endParaRPr lang="en-US" sz="1920" dirty="0"/>
          </a:p>
        </p:txBody>
      </p:sp>
      <p:sp>
        <p:nvSpPr>
          <p:cNvPr id="15" name="Shape 13"/>
          <p:cNvSpPr/>
          <p:nvPr/>
        </p:nvSpPr>
        <p:spPr>
          <a:xfrm>
            <a:off x="704088" y="3168396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" y="328726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3332988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289304" y="3287268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satır 3 = (1,0,1); satır 4 = (1,1,1)</a:t>
            </a:r>
            <a:endParaRPr lang="en-US" sz="1920" dirty="0"/>
          </a:p>
        </p:txBody>
      </p:sp>
      <p:sp>
        <p:nvSpPr>
          <p:cNvPr id="19" name="Shape 17"/>
          <p:cNvSpPr/>
          <p:nvPr/>
        </p:nvSpPr>
        <p:spPr>
          <a:xfrm>
            <a:off x="704088" y="4206240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" y="4325112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" y="4370832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289304" y="4325112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 = (1,3,4,6)ᵀ</a:t>
            </a:r>
            <a:endParaRPr lang="en-US" sz="1920" dirty="0"/>
          </a:p>
        </p:txBody>
      </p:sp>
      <p:sp>
        <p:nvSpPr>
          <p:cNvPr id="23" name="Shape 21"/>
          <p:cNvSpPr/>
          <p:nvPr/>
        </p:nvSpPr>
        <p:spPr>
          <a:xfrm>
            <a:off x="704088" y="5244084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" y="5362956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" y="5408676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289304" y="5362956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X: 4×3; w: 3×1; r: 4×1</a:t>
            </a:r>
            <a:endParaRPr lang="en-US" sz="1920" dirty="0"/>
          </a:p>
        </p:txBody>
      </p:sp>
      <p:sp>
        <p:nvSpPr>
          <p:cNvPr id="27" name="Shape 25"/>
          <p:cNvSpPr/>
          <p:nvPr/>
        </p:nvSpPr>
        <p:spPr>
          <a:xfrm>
            <a:off x="704088" y="6254496"/>
            <a:ext cx="10799064" cy="256032"/>
          </a:xfrm>
          <a:prstGeom prst="roundRect">
            <a:avLst>
              <a:gd name="adj" fmla="val 35714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6112" y="6281928"/>
            <a:ext cx="10396728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Xw çarpımı 4×1 tahmin vektörü verir.</a:t>
            </a:r>
            <a:endParaRPr lang="en-US" sz="123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5.8 · ÇOK DEĞIŞKENLI REGRESYON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 denklemler: XᵀX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ADIM ADIM ÇÖZÜMLÜ ÖRNEK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97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4088" y="1408176"/>
            <a:ext cx="10799064" cy="548640"/>
          </a:xfrm>
          <a:prstGeom prst="roundRect">
            <a:avLst>
              <a:gd name="adj" fmla="val 16667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508760"/>
            <a:ext cx="103784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= [(1,0,0); (1,1,0); (1,0,1); (1,1,1)]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04088" y="2130552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" y="2249424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2295144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89304" y="2249424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XᵀX: 3×3 bir matristir.</a:t>
            </a:r>
            <a:endParaRPr lang="en-US" sz="1920" dirty="0"/>
          </a:p>
        </p:txBody>
      </p:sp>
      <p:sp>
        <p:nvSpPr>
          <p:cNvPr id="15" name="Shape 13"/>
          <p:cNvSpPr/>
          <p:nvPr/>
        </p:nvSpPr>
        <p:spPr>
          <a:xfrm>
            <a:off x="704088" y="3168396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" y="328726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3332988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289304" y="3287268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(1,1) hücresi = 1+1+1+1 = 4</a:t>
            </a:r>
            <a:endParaRPr lang="en-US" sz="1920" dirty="0"/>
          </a:p>
        </p:txBody>
      </p:sp>
      <p:sp>
        <p:nvSpPr>
          <p:cNvPr id="19" name="Shape 17"/>
          <p:cNvSpPr/>
          <p:nvPr/>
        </p:nvSpPr>
        <p:spPr>
          <a:xfrm>
            <a:off x="704088" y="4206240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" y="4325112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" y="4370832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289304" y="4325112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(1,2) hücresi = 0+1+0+1 = 2</a:t>
            </a:r>
            <a:endParaRPr lang="en-US" sz="1920" dirty="0"/>
          </a:p>
        </p:txBody>
      </p:sp>
      <p:sp>
        <p:nvSpPr>
          <p:cNvPr id="23" name="Shape 21"/>
          <p:cNvSpPr/>
          <p:nvPr/>
        </p:nvSpPr>
        <p:spPr>
          <a:xfrm>
            <a:off x="704088" y="5244084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" y="5362956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" y="5408676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289304" y="5362956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Sonuç: XᵀX = [[4,2,2],[2,2,1],[2,1,2]]</a:t>
            </a:r>
            <a:endParaRPr lang="en-US" sz="1920" dirty="0"/>
          </a:p>
        </p:txBody>
      </p:sp>
      <p:sp>
        <p:nvSpPr>
          <p:cNvPr id="27" name="Shape 25"/>
          <p:cNvSpPr/>
          <p:nvPr/>
        </p:nvSpPr>
        <p:spPr>
          <a:xfrm>
            <a:off x="704088" y="6254496"/>
            <a:ext cx="10799064" cy="256032"/>
          </a:xfrm>
          <a:prstGeom prst="roundRect">
            <a:avLst>
              <a:gd name="adj" fmla="val 35714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6112" y="6281928"/>
            <a:ext cx="10396728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 hücre ilgili sütunların iç çarpımıdır.</a:t>
            </a:r>
            <a:endParaRPr lang="en-US" sz="123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5.8 · ÇOK DEĞIŞKENLI REGRESYON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 denklemler: Xᵀr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ADIM ADIM ÇÖZÜMLÜ ÖRNEK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98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4088" y="1408176"/>
            <a:ext cx="10799064" cy="548640"/>
          </a:xfrm>
          <a:prstGeom prst="roundRect">
            <a:avLst>
              <a:gd name="adj" fmla="val 16667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508760"/>
            <a:ext cx="103784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 = (1,3,4,6)ᵀ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04088" y="2130552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" y="2249424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2295144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89304" y="2249424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eleman: 1+3+4+6 = 14</a:t>
            </a:r>
            <a:endParaRPr lang="en-US" sz="1920" dirty="0"/>
          </a:p>
        </p:txBody>
      </p:sp>
      <p:sp>
        <p:nvSpPr>
          <p:cNvPr id="15" name="Shape 13"/>
          <p:cNvSpPr/>
          <p:nvPr/>
        </p:nvSpPr>
        <p:spPr>
          <a:xfrm>
            <a:off x="704088" y="3168396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" y="328726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3332988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289304" y="3287268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eleman: 0+3+0+6 = 9</a:t>
            </a:r>
            <a:endParaRPr lang="en-US" sz="1920" dirty="0"/>
          </a:p>
        </p:txBody>
      </p:sp>
      <p:sp>
        <p:nvSpPr>
          <p:cNvPr id="19" name="Shape 17"/>
          <p:cNvSpPr/>
          <p:nvPr/>
        </p:nvSpPr>
        <p:spPr>
          <a:xfrm>
            <a:off x="704088" y="4206240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" y="4325112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" y="4370832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289304" y="4325112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eleman: 0+0+4+6 = 10</a:t>
            </a:r>
            <a:endParaRPr lang="en-US" sz="1920" dirty="0"/>
          </a:p>
        </p:txBody>
      </p:sp>
      <p:sp>
        <p:nvSpPr>
          <p:cNvPr id="23" name="Shape 21"/>
          <p:cNvSpPr/>
          <p:nvPr/>
        </p:nvSpPr>
        <p:spPr>
          <a:xfrm>
            <a:off x="704088" y="5244084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" y="5362956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" y="5408676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289304" y="5362956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Sonuç: Xᵀr = (14,9,10)ᵀ</a:t>
            </a:r>
            <a:endParaRPr lang="en-US" sz="1920" dirty="0"/>
          </a:p>
        </p:txBody>
      </p:sp>
      <p:sp>
        <p:nvSpPr>
          <p:cNvPr id="27" name="Shape 25"/>
          <p:cNvSpPr/>
          <p:nvPr/>
        </p:nvSpPr>
        <p:spPr>
          <a:xfrm>
            <a:off x="704088" y="6254496"/>
            <a:ext cx="10799064" cy="256032"/>
          </a:xfrm>
          <a:prstGeom prst="roundRect">
            <a:avLst>
              <a:gd name="adj" fmla="val 35714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6112" y="6281928"/>
            <a:ext cx="10396728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Artık XᵀXw = Xᵀr için tüm sayıları biliyoruz.</a:t>
            </a:r>
            <a:endParaRPr lang="en-US" sz="123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5.8 · ÇOK DEĞIŞKENLI REGRESYON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Denklem sistemini yazalım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FORMÜLÜ OKUYALIM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1463040"/>
            <a:ext cx="10799064" cy="1234440"/>
          </a:xfrm>
          <a:prstGeom prst="roundRect">
            <a:avLst>
              <a:gd name="adj" fmla="val 7407"/>
            </a:avLst>
          </a:prstGeom>
          <a:solidFill>
            <a:srgbClr val="11283D"/>
          </a:solidFill>
          <a:ln w="12700">
            <a:solidFill>
              <a:srgbClr val="11283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737360"/>
            <a:ext cx="1013155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 2 2; 2 2 1; 2 1 2] w = [14; 9; 10]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777240" y="2953512"/>
            <a:ext cx="1065276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Matris eşitliği üç doğrusal denklem üretir.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68096" y="3694176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3776472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4w₀ + 2w₁ + 2w₂ = 14</a:t>
            </a:r>
            <a:endParaRPr lang="en-US" sz="1660" dirty="0"/>
          </a:p>
        </p:txBody>
      </p:sp>
      <p:sp>
        <p:nvSpPr>
          <p:cNvPr id="14" name="Shape 12"/>
          <p:cNvSpPr/>
          <p:nvPr/>
        </p:nvSpPr>
        <p:spPr>
          <a:xfrm>
            <a:off x="768096" y="4251960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4334256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2w₀ + 2w₁ + w₂ = 9</a:t>
            </a:r>
            <a:endParaRPr lang="en-US" sz="1660" dirty="0"/>
          </a:p>
        </p:txBody>
      </p:sp>
      <p:sp>
        <p:nvSpPr>
          <p:cNvPr id="16" name="Shape 14"/>
          <p:cNvSpPr/>
          <p:nvPr/>
        </p:nvSpPr>
        <p:spPr>
          <a:xfrm>
            <a:off x="768096" y="4809744"/>
            <a:ext cx="10661904" cy="448056"/>
          </a:xfrm>
          <a:prstGeom prst="roundRect">
            <a:avLst>
              <a:gd name="adj" fmla="val 20408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4892040"/>
            <a:ext cx="10104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2w₀ + w₁ + 2w₂ = 10</a:t>
            </a:r>
            <a:endParaRPr lang="en-US" sz="166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5.8 · ÇOK DEĞIŞKENLI REGRESYON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Katsayı çözümü: w₁ ve w₂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ADIM ADIM ÇÖZÜMLÜ ÖRNEK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4088" y="1408176"/>
            <a:ext cx="10799064" cy="548640"/>
          </a:xfrm>
          <a:prstGeom prst="roundRect">
            <a:avLst>
              <a:gd name="adj" fmla="val 16667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508760"/>
            <a:ext cx="103784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Üç denklemi eliminasyonla çözebiliriz.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04088" y="2130552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" y="2249424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2295144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89304" y="2249424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denklemi 2 ile çarp; 1. denklemi çıkar.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04088" y="3168396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" y="328726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3332988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289304" y="3287268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(4w₀+4w₁+2w₂) − (4w₀+2w₁+2w₂) = 18−14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04088" y="4206240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" y="4325112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" y="4370832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289304" y="4325112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2w₁ = 4  ⇒  w₁ = 2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04088" y="5244084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" y="5362956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" y="5408676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289304" y="5362956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denklemi 2 ile çarp; 1. denklemi çıkar → 2w₂ = 6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04088" y="6254496"/>
            <a:ext cx="10799064" cy="256032"/>
          </a:xfrm>
          <a:prstGeom prst="roundRect">
            <a:avLst>
              <a:gd name="adj" fmla="val 35714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6112" y="6281928"/>
            <a:ext cx="10396728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Sonuç: w₁ = 2, w₂ = 3.</a:t>
            </a:r>
            <a:endParaRPr lang="en-US" sz="123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5.8 · ÇOK DEĞIŞKENLI REGRESYON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Katsayı çözümü: w₀ ve model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ADIM ADIM ÇÖZÜMLÜ ÖRNEK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4088" y="1408176"/>
            <a:ext cx="10799064" cy="548640"/>
          </a:xfrm>
          <a:prstGeom prst="roundRect">
            <a:avLst>
              <a:gd name="adj" fmla="val 16667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508760"/>
            <a:ext cx="103784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Bulunan w₁ = 2, w₂ = 3 ilk denklemde kullanılır.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04088" y="2130552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" y="2249424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2295144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89304" y="2249424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4w₀ + 2(2) + 2(3) = 14</a:t>
            </a:r>
            <a:endParaRPr lang="en-US" sz="1920" dirty="0"/>
          </a:p>
        </p:txBody>
      </p:sp>
      <p:sp>
        <p:nvSpPr>
          <p:cNvPr id="15" name="Shape 13"/>
          <p:cNvSpPr/>
          <p:nvPr/>
        </p:nvSpPr>
        <p:spPr>
          <a:xfrm>
            <a:off x="704088" y="3168396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" y="328726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3332988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289304" y="3287268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4w₀ + 4 + 6 = 14</a:t>
            </a:r>
            <a:endParaRPr lang="en-US" sz="1920" dirty="0"/>
          </a:p>
        </p:txBody>
      </p:sp>
      <p:sp>
        <p:nvSpPr>
          <p:cNvPr id="19" name="Shape 17"/>
          <p:cNvSpPr/>
          <p:nvPr/>
        </p:nvSpPr>
        <p:spPr>
          <a:xfrm>
            <a:off x="704088" y="4206240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" y="4325112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" y="4370832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289304" y="4325112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4w₀ = 4  ⇒  w₀ = 1</a:t>
            </a:r>
            <a:endParaRPr lang="en-US" sz="1920" dirty="0"/>
          </a:p>
        </p:txBody>
      </p:sp>
      <p:sp>
        <p:nvSpPr>
          <p:cNvPr id="23" name="Shape 21"/>
          <p:cNvSpPr/>
          <p:nvPr/>
        </p:nvSpPr>
        <p:spPr>
          <a:xfrm>
            <a:off x="704088" y="5244084"/>
            <a:ext cx="10799064" cy="873252"/>
          </a:xfrm>
          <a:prstGeom prst="roundRect">
            <a:avLst>
              <a:gd name="adj" fmla="val 10471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" y="5362956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" y="5408676"/>
            <a:ext cx="23774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289304" y="5362956"/>
            <a:ext cx="10003536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Öğrenilmiş model: ŷ = 1 + 2x₁ + 3x₂</a:t>
            </a:r>
            <a:endParaRPr lang="en-US" sz="1920" dirty="0"/>
          </a:p>
        </p:txBody>
      </p:sp>
      <p:sp>
        <p:nvSpPr>
          <p:cNvPr id="27" name="Shape 25"/>
          <p:cNvSpPr/>
          <p:nvPr/>
        </p:nvSpPr>
        <p:spPr>
          <a:xfrm>
            <a:off x="704088" y="6254496"/>
            <a:ext cx="10799064" cy="256032"/>
          </a:xfrm>
          <a:prstGeom prst="roundRect">
            <a:avLst>
              <a:gd name="adj" fmla="val 35714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6112" y="6281928"/>
            <a:ext cx="10396728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 = (1,2,3)ᵀ.</a:t>
            </a:r>
            <a:endParaRPr lang="en-US" sz="123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5.8 · ÇOK DEĞIŞKENLI REGRESYON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Tahmin kontrolü ve MSE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ÖZET TABLO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1554480"/>
            <a:ext cx="2011680" cy="493776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1645920"/>
            <a:ext cx="184708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Gözlem</a:t>
            </a:r>
            <a:endParaRPr lang="en-US" sz="1430" dirty="0"/>
          </a:p>
        </p:txBody>
      </p:sp>
      <p:sp>
        <p:nvSpPr>
          <p:cNvPr id="11" name="Shape 9"/>
          <p:cNvSpPr/>
          <p:nvPr/>
        </p:nvSpPr>
        <p:spPr>
          <a:xfrm>
            <a:off x="2706624" y="1554480"/>
            <a:ext cx="1920240" cy="493776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98064" y="1645920"/>
            <a:ext cx="175564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Gerçek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4626864" y="1554480"/>
            <a:ext cx="4937760" cy="493776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18304" y="1645920"/>
            <a:ext cx="477316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hesabı</a:t>
            </a:r>
            <a:endParaRPr lang="en-US" sz="1430" dirty="0"/>
          </a:p>
        </p:txBody>
      </p:sp>
      <p:sp>
        <p:nvSpPr>
          <p:cNvPr id="15" name="Shape 13"/>
          <p:cNvSpPr/>
          <p:nvPr/>
        </p:nvSpPr>
        <p:spPr>
          <a:xfrm>
            <a:off x="9564624" y="1554480"/>
            <a:ext cx="1929384" cy="493776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56064" y="1645920"/>
            <a:ext cx="176479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Tahmin</a:t>
            </a:r>
            <a:endParaRPr lang="en-US" sz="1430" dirty="0"/>
          </a:p>
        </p:txBody>
      </p:sp>
      <p:sp>
        <p:nvSpPr>
          <p:cNvPr id="17" name="Shape 15"/>
          <p:cNvSpPr/>
          <p:nvPr/>
        </p:nvSpPr>
        <p:spPr>
          <a:xfrm>
            <a:off x="694944" y="2048256"/>
            <a:ext cx="2011680" cy="566928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" y="2130552"/>
            <a:ext cx="1810512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20" dirty="0"/>
          </a:p>
        </p:txBody>
      </p:sp>
      <p:sp>
        <p:nvSpPr>
          <p:cNvPr id="19" name="Shape 17"/>
          <p:cNvSpPr/>
          <p:nvPr/>
        </p:nvSpPr>
        <p:spPr>
          <a:xfrm>
            <a:off x="2706624" y="2048256"/>
            <a:ext cx="1920240" cy="566928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07208" y="2130552"/>
            <a:ext cx="1719072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20" dirty="0"/>
          </a:p>
        </p:txBody>
      </p:sp>
      <p:sp>
        <p:nvSpPr>
          <p:cNvPr id="21" name="Shape 19"/>
          <p:cNvSpPr/>
          <p:nvPr/>
        </p:nvSpPr>
        <p:spPr>
          <a:xfrm>
            <a:off x="4626864" y="2048256"/>
            <a:ext cx="4937760" cy="566928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27448" y="2130552"/>
            <a:ext cx="4736592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1+2×0+3×0</a:t>
            </a:r>
            <a:endParaRPr lang="en-US" sz="1520" dirty="0"/>
          </a:p>
        </p:txBody>
      </p:sp>
      <p:sp>
        <p:nvSpPr>
          <p:cNvPr id="23" name="Shape 21"/>
          <p:cNvSpPr/>
          <p:nvPr/>
        </p:nvSpPr>
        <p:spPr>
          <a:xfrm>
            <a:off x="9564624" y="2048256"/>
            <a:ext cx="1929384" cy="566928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65208" y="2130552"/>
            <a:ext cx="1728216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20" dirty="0"/>
          </a:p>
        </p:txBody>
      </p:sp>
      <p:sp>
        <p:nvSpPr>
          <p:cNvPr id="25" name="Shape 23"/>
          <p:cNvSpPr/>
          <p:nvPr/>
        </p:nvSpPr>
        <p:spPr>
          <a:xfrm>
            <a:off x="694944" y="2615184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2697480"/>
            <a:ext cx="1810512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20" dirty="0"/>
          </a:p>
        </p:txBody>
      </p:sp>
      <p:sp>
        <p:nvSpPr>
          <p:cNvPr id="27" name="Shape 25"/>
          <p:cNvSpPr/>
          <p:nvPr/>
        </p:nvSpPr>
        <p:spPr>
          <a:xfrm>
            <a:off x="2706624" y="2615184"/>
            <a:ext cx="1920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07208" y="2697480"/>
            <a:ext cx="1719072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20" dirty="0"/>
          </a:p>
        </p:txBody>
      </p:sp>
      <p:sp>
        <p:nvSpPr>
          <p:cNvPr id="29" name="Shape 27"/>
          <p:cNvSpPr/>
          <p:nvPr/>
        </p:nvSpPr>
        <p:spPr>
          <a:xfrm>
            <a:off x="4626864" y="2615184"/>
            <a:ext cx="49377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27448" y="2697480"/>
            <a:ext cx="4736592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1+2×1+3×0</a:t>
            </a:r>
            <a:endParaRPr lang="en-US" sz="1520" dirty="0"/>
          </a:p>
        </p:txBody>
      </p:sp>
      <p:sp>
        <p:nvSpPr>
          <p:cNvPr id="31" name="Shape 29"/>
          <p:cNvSpPr/>
          <p:nvPr/>
        </p:nvSpPr>
        <p:spPr>
          <a:xfrm>
            <a:off x="9564624" y="2615184"/>
            <a:ext cx="192938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65208" y="2697480"/>
            <a:ext cx="1728216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20" dirty="0"/>
          </a:p>
        </p:txBody>
      </p:sp>
      <p:sp>
        <p:nvSpPr>
          <p:cNvPr id="33" name="Shape 31"/>
          <p:cNvSpPr/>
          <p:nvPr/>
        </p:nvSpPr>
        <p:spPr>
          <a:xfrm>
            <a:off x="694944" y="3182112"/>
            <a:ext cx="2011680" cy="566928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5528" y="3264408"/>
            <a:ext cx="1810512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20" dirty="0"/>
          </a:p>
        </p:txBody>
      </p:sp>
      <p:sp>
        <p:nvSpPr>
          <p:cNvPr id="35" name="Shape 33"/>
          <p:cNvSpPr/>
          <p:nvPr/>
        </p:nvSpPr>
        <p:spPr>
          <a:xfrm>
            <a:off x="2706624" y="3182112"/>
            <a:ext cx="1920240" cy="566928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07208" y="3264408"/>
            <a:ext cx="1719072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20" dirty="0"/>
          </a:p>
        </p:txBody>
      </p:sp>
      <p:sp>
        <p:nvSpPr>
          <p:cNvPr id="37" name="Shape 35"/>
          <p:cNvSpPr/>
          <p:nvPr/>
        </p:nvSpPr>
        <p:spPr>
          <a:xfrm>
            <a:off x="4626864" y="3182112"/>
            <a:ext cx="4937760" cy="566928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27448" y="3264408"/>
            <a:ext cx="4736592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1+2×0+3×1</a:t>
            </a:r>
            <a:endParaRPr lang="en-US" sz="1520" dirty="0"/>
          </a:p>
        </p:txBody>
      </p:sp>
      <p:sp>
        <p:nvSpPr>
          <p:cNvPr id="39" name="Shape 37"/>
          <p:cNvSpPr/>
          <p:nvPr/>
        </p:nvSpPr>
        <p:spPr>
          <a:xfrm>
            <a:off x="9564624" y="3182112"/>
            <a:ext cx="1929384" cy="566928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65208" y="3264408"/>
            <a:ext cx="1728216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20" dirty="0"/>
          </a:p>
        </p:txBody>
      </p:sp>
      <p:sp>
        <p:nvSpPr>
          <p:cNvPr id="41" name="Shape 39"/>
          <p:cNvSpPr/>
          <p:nvPr/>
        </p:nvSpPr>
        <p:spPr>
          <a:xfrm>
            <a:off x="694944" y="3749040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5528" y="3831336"/>
            <a:ext cx="1810512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20" dirty="0"/>
          </a:p>
        </p:txBody>
      </p:sp>
      <p:sp>
        <p:nvSpPr>
          <p:cNvPr id="43" name="Shape 41"/>
          <p:cNvSpPr/>
          <p:nvPr/>
        </p:nvSpPr>
        <p:spPr>
          <a:xfrm>
            <a:off x="2706624" y="3749040"/>
            <a:ext cx="1920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807208" y="3831336"/>
            <a:ext cx="1719072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520" dirty="0"/>
          </a:p>
        </p:txBody>
      </p:sp>
      <p:sp>
        <p:nvSpPr>
          <p:cNvPr id="45" name="Shape 43"/>
          <p:cNvSpPr/>
          <p:nvPr/>
        </p:nvSpPr>
        <p:spPr>
          <a:xfrm>
            <a:off x="4626864" y="3749040"/>
            <a:ext cx="49377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27448" y="3831336"/>
            <a:ext cx="4736592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1+2×1+3×1</a:t>
            </a:r>
            <a:endParaRPr lang="en-US" sz="1520" dirty="0"/>
          </a:p>
        </p:txBody>
      </p:sp>
      <p:sp>
        <p:nvSpPr>
          <p:cNvPr id="47" name="Shape 45"/>
          <p:cNvSpPr/>
          <p:nvPr/>
        </p:nvSpPr>
        <p:spPr>
          <a:xfrm>
            <a:off x="9564624" y="3749040"/>
            <a:ext cx="192938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665208" y="3831336"/>
            <a:ext cx="1728216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520" dirty="0"/>
          </a:p>
        </p:txBody>
      </p:sp>
      <p:sp>
        <p:nvSpPr>
          <p:cNvPr id="49" name="Shape 47"/>
          <p:cNvSpPr/>
          <p:nvPr/>
        </p:nvSpPr>
        <p:spPr>
          <a:xfrm>
            <a:off x="704088" y="5907024"/>
            <a:ext cx="10799064" cy="466344"/>
          </a:xfrm>
          <a:prstGeom prst="roundRect">
            <a:avLst>
              <a:gd name="adj" fmla="val 19608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96112" y="6016752"/>
            <a:ext cx="103784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 hata 0 olduğundan eğitim kümesindeki MSE = (0+0+0+0)/4 = 0.</a:t>
            </a:r>
            <a:endParaRPr lang="en-US" sz="142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5.8 · ÇOK DEĞIŞKENLI REGRESYON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 grafik: doğrusal regresyon örneği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KAYNAK ŞEKLİN YORUMU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4088" y="1426464"/>
            <a:ext cx="6702552" cy="4489704"/>
          </a:xfrm>
          <a:prstGeom prst="roundRect">
            <a:avLst>
              <a:gd name="adj" fmla="val 2037"/>
            </a:avLst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pic>
        <p:nvPicPr>
          <p:cNvPr id="10" name="Image 0" descr="/mnt/data/ek_regresy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554480"/>
            <a:ext cx="6446520" cy="423367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708392" y="1426464"/>
            <a:ext cx="3776472" cy="4489704"/>
          </a:xfrm>
          <a:prstGeom prst="roundRect">
            <a:avLst>
              <a:gd name="adj" fmla="val 2421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91272" y="1609344"/>
            <a:ext cx="3410712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Grafik nasıl okunur?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7891272" y="2112264"/>
            <a:ext cx="301752" cy="301752"/>
          </a:xfrm>
          <a:prstGeom prst="roundRect">
            <a:avLst>
              <a:gd name="adj" fmla="val 30303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50708" y="2153412"/>
            <a:ext cx="17373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30" dirty="0"/>
          </a:p>
        </p:txBody>
      </p:sp>
      <p:sp>
        <p:nvSpPr>
          <p:cNvPr id="15" name="Text 12"/>
          <p:cNvSpPr/>
          <p:nvPr/>
        </p:nvSpPr>
        <p:spPr>
          <a:xfrm>
            <a:off x="8311896" y="2084832"/>
            <a:ext cx="2935224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Noktalar: gözlemler.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891272" y="3054096"/>
            <a:ext cx="301752" cy="301752"/>
          </a:xfrm>
          <a:prstGeom prst="roundRect">
            <a:avLst>
              <a:gd name="adj" fmla="val 30303"/>
            </a:avLst>
          </a:prstGeom>
          <a:solidFill>
            <a:srgbClr val="487FA7"/>
          </a:solidFill>
          <a:ln w="12700">
            <a:solidFill>
              <a:srgbClr val="487FA7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950708" y="3095244"/>
            <a:ext cx="17373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30" dirty="0"/>
          </a:p>
        </p:txBody>
      </p:sp>
      <p:sp>
        <p:nvSpPr>
          <p:cNvPr id="18" name="Text 15"/>
          <p:cNvSpPr/>
          <p:nvPr/>
        </p:nvSpPr>
        <p:spPr>
          <a:xfrm>
            <a:off x="8311896" y="3026664"/>
            <a:ext cx="2935224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Doğru / düzlem: modelin tahmini.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891272" y="3995928"/>
            <a:ext cx="301752" cy="301752"/>
          </a:xfrm>
          <a:prstGeom prst="roundRect">
            <a:avLst>
              <a:gd name="adj" fmla="val 30303"/>
            </a:avLst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50708" y="4037076"/>
            <a:ext cx="17373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30" dirty="0"/>
          </a:p>
        </p:txBody>
      </p:sp>
      <p:sp>
        <p:nvSpPr>
          <p:cNvPr id="21" name="Text 18"/>
          <p:cNvSpPr/>
          <p:nvPr/>
        </p:nvSpPr>
        <p:spPr>
          <a:xfrm>
            <a:off x="8311896" y="3968496"/>
            <a:ext cx="2935224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Düşey fark: hata; kareleri toplanarak minimize edilir.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704088" y="6016752"/>
            <a:ext cx="10808208" cy="448056"/>
          </a:xfrm>
          <a:prstGeom prst="roundRect">
            <a:avLst>
              <a:gd name="adj" fmla="val 20408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77824" y="6089904"/>
            <a:ext cx="1045159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Gerçek değerler ve model tahminlerinin ne kadar yaklaştığı izlenebilir.</a:t>
            </a:r>
            <a:endParaRPr lang="en-US" sz="133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5.8 · ÇOK DEĞIŞKENLI REGRESYON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Polinom ve taban (basis) fonksiyonları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KARŞILAŞTIRMA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104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1527048"/>
            <a:ext cx="5294376" cy="4306824"/>
          </a:xfrm>
          <a:prstGeom prst="roundRect">
            <a:avLst>
              <a:gd name="adj" fmla="val 2123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1691640"/>
            <a:ext cx="487375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2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Polinom regresyon</a:t>
            </a:r>
            <a:endParaRPr lang="en-US" sz="1720" dirty="0"/>
          </a:p>
        </p:txBody>
      </p:sp>
      <p:sp>
        <p:nvSpPr>
          <p:cNvPr id="11" name="Text 9"/>
          <p:cNvSpPr/>
          <p:nvPr/>
        </p:nvSpPr>
        <p:spPr>
          <a:xfrm>
            <a:off x="905256" y="2185416"/>
            <a:ext cx="4873752" cy="3456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ŷ = w₀ + w₁x + w₂x²</a:t>
            </a:r>
            <a:endParaRPr lang="en-US" sz="1760" dirty="0"/>
          </a:p>
          <a:p>
            <a:pPr algn="l" indent="0" marL="0">
              <a:buNone/>
            </a:pPr>
            <a:endParaRPr lang="en-US" sz="1760" dirty="0"/>
          </a:p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z₁=x, z₂=x² tanımlarsak</a:t>
            </a:r>
            <a:endParaRPr lang="en-US" sz="1760" dirty="0"/>
          </a:p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ŷ=w₀+w₁z₁+w₂z₂</a:t>
            </a:r>
            <a:endParaRPr lang="en-US" sz="1760" dirty="0"/>
          </a:p>
          <a:p>
            <a:pPr algn="l" indent="0" marL="0">
              <a:buNone/>
            </a:pPr>
            <a:endParaRPr lang="en-US" sz="1760" dirty="0"/>
          </a:p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Katsayılara göre hâlâ doğrusal.</a:t>
            </a:r>
            <a:endParaRPr lang="en-US" sz="1760" dirty="0"/>
          </a:p>
        </p:txBody>
      </p:sp>
      <p:sp>
        <p:nvSpPr>
          <p:cNvPr id="12" name="Shape 10"/>
          <p:cNvSpPr/>
          <p:nvPr/>
        </p:nvSpPr>
        <p:spPr>
          <a:xfrm>
            <a:off x="6245352" y="1527048"/>
            <a:ext cx="5266944" cy="4306824"/>
          </a:xfrm>
          <a:prstGeom prst="roundRect">
            <a:avLst>
              <a:gd name="adj" fmla="val 2123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5664" y="1691640"/>
            <a:ext cx="48463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2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Genel taban fonksiyonları</a:t>
            </a:r>
            <a:endParaRPr lang="en-US" sz="1720" dirty="0"/>
          </a:p>
        </p:txBody>
      </p:sp>
      <p:sp>
        <p:nvSpPr>
          <p:cNvPr id="14" name="Text 12"/>
          <p:cNvSpPr/>
          <p:nvPr/>
        </p:nvSpPr>
        <p:spPr>
          <a:xfrm>
            <a:off x="6455664" y="2185416"/>
            <a:ext cx="4846320" cy="3456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z₁ = sin(x), z₂ = exp(x²)</a:t>
            </a:r>
            <a:endParaRPr lang="en-US" sz="1760" dirty="0"/>
          </a:p>
          <a:p>
            <a:pPr algn="l" indent="0" marL="0">
              <a:buNone/>
            </a:pPr>
            <a:endParaRPr lang="en-US" sz="1760" dirty="0"/>
          </a:p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ŷ = w₀ + w₁z₁ + w₂z₂</a:t>
            </a:r>
            <a:endParaRPr lang="en-US" sz="1760" dirty="0"/>
          </a:p>
          <a:p>
            <a:pPr algn="l" indent="0" marL="0">
              <a:buNone/>
            </a:pPr>
            <a:endParaRPr lang="en-US" sz="1760" dirty="0"/>
          </a:p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Orijinal girdide doğrusal olmayan ilişki öğrenilebilir.</a:t>
            </a:r>
            <a:endParaRPr lang="en-US" sz="1760" dirty="0"/>
          </a:p>
        </p:txBody>
      </p:sp>
      <p:sp>
        <p:nvSpPr>
          <p:cNvPr id="15" name="Shape 13"/>
          <p:cNvSpPr/>
          <p:nvPr/>
        </p:nvSpPr>
        <p:spPr>
          <a:xfrm>
            <a:off x="694944" y="5971032"/>
            <a:ext cx="10826496" cy="484632"/>
          </a:xfrm>
          <a:prstGeom prst="roundRect">
            <a:avLst>
              <a:gd name="adj" fmla="val 18868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" y="6053328"/>
            <a:ext cx="1039672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Aynı normal denklem yeni oluşturulan özellik matrisi X için kullanılabilir.</a:t>
            </a:r>
            <a:endParaRPr lang="en-US" sz="14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5.8 · ÇOK DEĞIŞKENLI REGRESYON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Katsayıları nasıl yorumlarız?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KARŞILAŞTIRMA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105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1527048"/>
            <a:ext cx="5294376" cy="4306824"/>
          </a:xfrm>
          <a:prstGeom prst="roundRect">
            <a:avLst>
              <a:gd name="adj" fmla="val 2123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1691640"/>
            <a:ext cx="487375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2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Katsayı işaretleri</a:t>
            </a:r>
            <a:endParaRPr lang="en-US" sz="1720" dirty="0"/>
          </a:p>
        </p:txBody>
      </p:sp>
      <p:sp>
        <p:nvSpPr>
          <p:cNvPr id="11" name="Text 9"/>
          <p:cNvSpPr/>
          <p:nvPr/>
        </p:nvSpPr>
        <p:spPr>
          <a:xfrm>
            <a:off x="905256" y="2185416"/>
            <a:ext cx="4873752" cy="3456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Model: ŷ=10+5x₁−3x₂+0,1x₃</a:t>
            </a:r>
            <a:endParaRPr lang="en-US" sz="1760" dirty="0"/>
          </a:p>
          <a:p>
            <a:pPr algn="l" indent="0" marL="0">
              <a:buNone/>
            </a:pPr>
            <a:endParaRPr lang="en-US" sz="1760" dirty="0"/>
          </a:p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w₁ &gt; 0: diğerleri sabitken tahmin artar.</a:t>
            </a:r>
            <a:endParaRPr lang="en-US" sz="1760" dirty="0"/>
          </a:p>
          <a:p>
            <a:pPr algn="l" indent="0" marL="0">
              <a:buNone/>
            </a:pPr>
            <a:endParaRPr lang="en-US" sz="1760" dirty="0"/>
          </a:p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w₂ &lt; 0: diğerleri sabitken tahmin azalır.</a:t>
            </a:r>
            <a:endParaRPr lang="en-US" sz="1760" dirty="0"/>
          </a:p>
        </p:txBody>
      </p:sp>
      <p:sp>
        <p:nvSpPr>
          <p:cNvPr id="12" name="Shape 10"/>
          <p:cNvSpPr/>
          <p:nvPr/>
        </p:nvSpPr>
        <p:spPr>
          <a:xfrm>
            <a:off x="6245352" y="1527048"/>
            <a:ext cx="5266944" cy="4306824"/>
          </a:xfrm>
          <a:prstGeom prst="roundRect">
            <a:avLst>
              <a:gd name="adj" fmla="val 2123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5664" y="1691640"/>
            <a:ext cx="48463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2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Önemlilik ve ölçek</a:t>
            </a:r>
            <a:endParaRPr lang="en-US" sz="1720" dirty="0"/>
          </a:p>
        </p:txBody>
      </p:sp>
      <p:sp>
        <p:nvSpPr>
          <p:cNvPr id="14" name="Text 12"/>
          <p:cNvSpPr/>
          <p:nvPr/>
        </p:nvSpPr>
        <p:spPr>
          <a:xfrm>
            <a:off x="6455664" y="2185416"/>
            <a:ext cx="4846320" cy="3456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Özellikler farklı birimlerdeyse |wⱼ| değerlerini doğrudan kıyaslamak yanıltıcıdır.</a:t>
            </a:r>
            <a:endParaRPr lang="en-US" sz="1760" dirty="0"/>
          </a:p>
          <a:p>
            <a:pPr algn="l" indent="0" marL="0">
              <a:buNone/>
            </a:pPr>
            <a:endParaRPr lang="en-US" sz="1760" dirty="0"/>
          </a:p>
          <a:p>
            <a:pPr algn="l" indent="0" marL="0">
              <a:buNone/>
            </a:pPr>
            <a:r>
              <a:rPr lang="en-US" sz="176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Katsayı işaretleri tek başına nedensel etki kanıtlamaz.</a:t>
            </a:r>
            <a:endParaRPr lang="en-US" sz="1760" dirty="0"/>
          </a:p>
        </p:txBody>
      </p:sp>
      <p:sp>
        <p:nvSpPr>
          <p:cNvPr id="15" name="Shape 13"/>
          <p:cNvSpPr/>
          <p:nvPr/>
        </p:nvSpPr>
        <p:spPr>
          <a:xfrm>
            <a:off x="694944" y="5971032"/>
            <a:ext cx="10826496" cy="484632"/>
          </a:xfrm>
          <a:prstGeom prst="roundRect">
            <a:avLst>
              <a:gd name="adj" fmla="val 18868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" y="6053328"/>
            <a:ext cx="1039672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Birden fazla çıktı varsa ayrı regresyonlar veya ortak çok çıktılı modeller kurulabilir.</a:t>
            </a:r>
            <a:endParaRPr lang="en-US" sz="14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5.8 · ÇOK DEĞIŞKENLI REGRESYON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Kontrol: yeni girdiyle tahmin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SINIF İÇİ KISA ALIŞTIRMA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1591056"/>
            <a:ext cx="10789920" cy="2029968"/>
          </a:xfrm>
          <a:prstGeom prst="roundRect">
            <a:avLst>
              <a:gd name="adj" fmla="val 4505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865376"/>
            <a:ext cx="27432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SORU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87552" y="2350008"/>
            <a:ext cx="10058400" cy="9052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Öğrenilmiş model ŷ = 1 + 2x₁ + 3x₂. Yeni öğrenci için x₁=2, x₂=4 ise tahmin nedir?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94944" y="3931920"/>
            <a:ext cx="10789920" cy="1517904"/>
          </a:xfrm>
          <a:prstGeom prst="roundRect">
            <a:avLst>
              <a:gd name="adj" fmla="val 6024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4169664"/>
            <a:ext cx="45720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4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ÇÖZÜM / CEVAP</a:t>
            </a:r>
            <a:endParaRPr lang="en-US" sz="1640" dirty="0"/>
          </a:p>
        </p:txBody>
      </p:sp>
      <p:sp>
        <p:nvSpPr>
          <p:cNvPr id="14" name="Text 12"/>
          <p:cNvSpPr/>
          <p:nvPr/>
        </p:nvSpPr>
        <p:spPr>
          <a:xfrm>
            <a:off x="987552" y="4572000"/>
            <a:ext cx="10067544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ŷ = 1 + 2(2) + 3(4) = 1 + 4 + 12 = 17.</a:t>
            </a:r>
            <a:endParaRPr lang="en-US" sz="195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GENEL ÖZET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Bölümün ana modellerini karşılaştıralım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ÖZET TABLO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107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1554480"/>
            <a:ext cx="2743200" cy="493776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1645920"/>
            <a:ext cx="257860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430" dirty="0"/>
          </a:p>
        </p:txBody>
      </p:sp>
      <p:sp>
        <p:nvSpPr>
          <p:cNvPr id="11" name="Shape 9"/>
          <p:cNvSpPr/>
          <p:nvPr/>
        </p:nvSpPr>
        <p:spPr>
          <a:xfrm>
            <a:off x="3438144" y="1554480"/>
            <a:ext cx="5257800" cy="493776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9584" y="1645920"/>
            <a:ext cx="509320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Kovaryans / özellik varsayımı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8695944" y="1554480"/>
            <a:ext cx="2798064" cy="493776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87384" y="1645920"/>
            <a:ext cx="263347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Çıktı</a:t>
            </a:r>
            <a:endParaRPr lang="en-US" sz="1430" dirty="0"/>
          </a:p>
        </p:txBody>
      </p:sp>
      <p:sp>
        <p:nvSpPr>
          <p:cNvPr id="15" name="Shape 13"/>
          <p:cNvSpPr/>
          <p:nvPr/>
        </p:nvSpPr>
        <p:spPr>
          <a:xfrm>
            <a:off x="694944" y="2048256"/>
            <a:ext cx="2743200" cy="548640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" y="2130552"/>
            <a:ext cx="254203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QDA</a:t>
            </a:r>
            <a:endParaRPr lang="en-US" sz="1520" dirty="0"/>
          </a:p>
        </p:txBody>
      </p:sp>
      <p:sp>
        <p:nvSpPr>
          <p:cNvPr id="17" name="Shape 15"/>
          <p:cNvSpPr/>
          <p:nvPr/>
        </p:nvSpPr>
        <p:spPr>
          <a:xfrm>
            <a:off x="3438144" y="2048256"/>
            <a:ext cx="5257800" cy="548640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38728" y="2130552"/>
            <a:ext cx="505663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 sınıfa ayrı genel Sᵢ</a:t>
            </a:r>
            <a:endParaRPr lang="en-US" sz="1520" dirty="0"/>
          </a:p>
        </p:txBody>
      </p:sp>
      <p:sp>
        <p:nvSpPr>
          <p:cNvPr id="19" name="Shape 17"/>
          <p:cNvSpPr/>
          <p:nvPr/>
        </p:nvSpPr>
        <p:spPr>
          <a:xfrm>
            <a:off x="8695944" y="2048256"/>
            <a:ext cx="2798064" cy="548640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96528" y="2130552"/>
            <a:ext cx="259689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Eğrisel sınır</a:t>
            </a:r>
            <a:endParaRPr lang="en-US" sz="1520" dirty="0"/>
          </a:p>
        </p:txBody>
      </p:sp>
      <p:sp>
        <p:nvSpPr>
          <p:cNvPr id="21" name="Shape 19"/>
          <p:cNvSpPr/>
          <p:nvPr/>
        </p:nvSpPr>
        <p:spPr>
          <a:xfrm>
            <a:off x="694944" y="2596896"/>
            <a:ext cx="2743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" y="2679192"/>
            <a:ext cx="254203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LDA</a:t>
            </a:r>
            <a:endParaRPr lang="en-US" sz="1520" dirty="0"/>
          </a:p>
        </p:txBody>
      </p:sp>
      <p:sp>
        <p:nvSpPr>
          <p:cNvPr id="23" name="Shape 21"/>
          <p:cNvSpPr/>
          <p:nvPr/>
        </p:nvSpPr>
        <p:spPr>
          <a:xfrm>
            <a:off x="3438144" y="2596896"/>
            <a:ext cx="5257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38728" y="2679192"/>
            <a:ext cx="505663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Ortak genel S</a:t>
            </a:r>
            <a:endParaRPr lang="en-US" sz="1520" dirty="0"/>
          </a:p>
        </p:txBody>
      </p:sp>
      <p:sp>
        <p:nvSpPr>
          <p:cNvPr id="25" name="Shape 23"/>
          <p:cNvSpPr/>
          <p:nvPr/>
        </p:nvSpPr>
        <p:spPr>
          <a:xfrm>
            <a:off x="8695944" y="2596896"/>
            <a:ext cx="2798064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96528" y="2679192"/>
            <a:ext cx="259689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Doğrusal sınır</a:t>
            </a:r>
            <a:endParaRPr lang="en-US" sz="1520" dirty="0"/>
          </a:p>
        </p:txBody>
      </p:sp>
      <p:sp>
        <p:nvSpPr>
          <p:cNvPr id="27" name="Shape 25"/>
          <p:cNvSpPr/>
          <p:nvPr/>
        </p:nvSpPr>
        <p:spPr>
          <a:xfrm>
            <a:off x="694944" y="3145536"/>
            <a:ext cx="2743200" cy="548640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5528" y="3227832"/>
            <a:ext cx="254203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Gaussian NB (özel)</a:t>
            </a:r>
            <a:endParaRPr lang="en-US" sz="1520" dirty="0"/>
          </a:p>
        </p:txBody>
      </p:sp>
      <p:sp>
        <p:nvSpPr>
          <p:cNvPr id="29" name="Shape 27"/>
          <p:cNvSpPr/>
          <p:nvPr/>
        </p:nvSpPr>
        <p:spPr>
          <a:xfrm>
            <a:off x="3438144" y="3145536"/>
            <a:ext cx="5257800" cy="548640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38728" y="3227832"/>
            <a:ext cx="505663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Ortak köşegen S</a:t>
            </a:r>
            <a:endParaRPr lang="en-US" sz="1520" dirty="0"/>
          </a:p>
        </p:txBody>
      </p:sp>
      <p:sp>
        <p:nvSpPr>
          <p:cNvPr id="31" name="Shape 29"/>
          <p:cNvSpPr/>
          <p:nvPr/>
        </p:nvSpPr>
        <p:spPr>
          <a:xfrm>
            <a:off x="8695944" y="3145536"/>
            <a:ext cx="2798064" cy="548640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96528" y="3227832"/>
            <a:ext cx="259689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Doğrusal sınır</a:t>
            </a:r>
            <a:endParaRPr lang="en-US" sz="1520" dirty="0"/>
          </a:p>
        </p:txBody>
      </p:sp>
      <p:sp>
        <p:nvSpPr>
          <p:cNvPr id="33" name="Shape 31"/>
          <p:cNvSpPr/>
          <p:nvPr/>
        </p:nvSpPr>
        <p:spPr>
          <a:xfrm>
            <a:off x="694944" y="3694176"/>
            <a:ext cx="2743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5528" y="3776472"/>
            <a:ext cx="254203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yakın ortalama</a:t>
            </a:r>
            <a:endParaRPr lang="en-US" sz="1520" dirty="0"/>
          </a:p>
        </p:txBody>
      </p:sp>
      <p:sp>
        <p:nvSpPr>
          <p:cNvPr id="35" name="Shape 33"/>
          <p:cNvSpPr/>
          <p:nvPr/>
        </p:nvSpPr>
        <p:spPr>
          <a:xfrm>
            <a:off x="3438144" y="3694176"/>
            <a:ext cx="5257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38728" y="3776472"/>
            <a:ext cx="505663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Ortak küresel s²I</a:t>
            </a:r>
            <a:endParaRPr lang="en-US" sz="1520" dirty="0"/>
          </a:p>
        </p:txBody>
      </p:sp>
      <p:sp>
        <p:nvSpPr>
          <p:cNvPr id="37" name="Shape 35"/>
          <p:cNvSpPr/>
          <p:nvPr/>
        </p:nvSpPr>
        <p:spPr>
          <a:xfrm>
            <a:off x="8695944" y="3694176"/>
            <a:ext cx="2798064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96528" y="3776472"/>
            <a:ext cx="259689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yakın merkez</a:t>
            </a:r>
            <a:endParaRPr lang="en-US" sz="1520" dirty="0"/>
          </a:p>
        </p:txBody>
      </p:sp>
      <p:sp>
        <p:nvSpPr>
          <p:cNvPr id="39" name="Shape 37"/>
          <p:cNvSpPr/>
          <p:nvPr/>
        </p:nvSpPr>
        <p:spPr>
          <a:xfrm>
            <a:off x="694944" y="4242816"/>
            <a:ext cx="2743200" cy="548640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" y="4325112"/>
            <a:ext cx="254203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Bernoulli NB</a:t>
            </a:r>
            <a:endParaRPr lang="en-US" sz="1520" dirty="0"/>
          </a:p>
        </p:txBody>
      </p:sp>
      <p:sp>
        <p:nvSpPr>
          <p:cNvPr id="41" name="Shape 39"/>
          <p:cNvSpPr/>
          <p:nvPr/>
        </p:nvSpPr>
        <p:spPr>
          <a:xfrm>
            <a:off x="3438144" y="4242816"/>
            <a:ext cx="5257800" cy="548640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38728" y="4325112"/>
            <a:ext cx="505663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Bağımsız ikili özellikler</a:t>
            </a:r>
            <a:endParaRPr lang="en-US" sz="1520" dirty="0"/>
          </a:p>
        </p:txBody>
      </p:sp>
      <p:sp>
        <p:nvSpPr>
          <p:cNvPr id="43" name="Shape 41"/>
          <p:cNvSpPr/>
          <p:nvPr/>
        </p:nvSpPr>
        <p:spPr>
          <a:xfrm>
            <a:off x="8695944" y="4242816"/>
            <a:ext cx="2798064" cy="548640"/>
          </a:xfrm>
          <a:prstGeom prst="rect">
            <a:avLst/>
          </a:prstGeom>
          <a:solidFill>
            <a:srgbClr val="F6F9FC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796528" y="4325112"/>
            <a:ext cx="259689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Sınıf tahmini</a:t>
            </a:r>
            <a:endParaRPr lang="en-US" sz="1520" dirty="0"/>
          </a:p>
        </p:txBody>
      </p:sp>
      <p:sp>
        <p:nvSpPr>
          <p:cNvPr id="45" name="Shape 43"/>
          <p:cNvSpPr/>
          <p:nvPr/>
        </p:nvSpPr>
        <p:spPr>
          <a:xfrm>
            <a:off x="694944" y="4791456"/>
            <a:ext cx="2743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95528" y="4873752"/>
            <a:ext cx="254203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Çoklu regresyon</a:t>
            </a:r>
            <a:endParaRPr lang="en-US" sz="1520" dirty="0"/>
          </a:p>
        </p:txBody>
      </p:sp>
      <p:sp>
        <p:nvSpPr>
          <p:cNvPr id="47" name="Shape 45"/>
          <p:cNvSpPr/>
          <p:nvPr/>
        </p:nvSpPr>
        <p:spPr>
          <a:xfrm>
            <a:off x="3438144" y="4791456"/>
            <a:ext cx="5257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538728" y="4873752"/>
            <a:ext cx="505663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Lineer özellik birleşimi</a:t>
            </a:r>
            <a:endParaRPr lang="en-US" sz="1520" dirty="0"/>
          </a:p>
        </p:txBody>
      </p:sp>
      <p:sp>
        <p:nvSpPr>
          <p:cNvPr id="49" name="Shape 47"/>
          <p:cNvSpPr/>
          <p:nvPr/>
        </p:nvSpPr>
        <p:spPr>
          <a:xfrm>
            <a:off x="8695944" y="4791456"/>
            <a:ext cx="2798064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796528" y="4873752"/>
            <a:ext cx="259689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Sürekli sayı</a:t>
            </a:r>
            <a:endParaRPr lang="en-US" sz="1520" dirty="0"/>
          </a:p>
        </p:txBody>
      </p:sp>
      <p:sp>
        <p:nvSpPr>
          <p:cNvPr id="51" name="Shape 49"/>
          <p:cNvSpPr/>
          <p:nvPr/>
        </p:nvSpPr>
        <p:spPr>
          <a:xfrm>
            <a:off x="704088" y="5907024"/>
            <a:ext cx="10799064" cy="466344"/>
          </a:xfrm>
          <a:prstGeom prst="roundRect">
            <a:avLst>
              <a:gd name="adj" fmla="val 19608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96112" y="6016752"/>
            <a:ext cx="103784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Varyans varsayımları birer modelleme seçimi ve doğrulanması gereken yaklaşımlardır.</a:t>
            </a:r>
            <a:endParaRPr lang="en-US" sz="142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GENEL ÖZET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Bölümün akılda kalacak 6 fikri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KAVRAM VE AÇIKLAMA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108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1472184"/>
            <a:ext cx="10863072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80" b="1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 tekrar: Aynı hikâyenin farklı matematiksel adımları.</a:t>
            </a:r>
            <a:endParaRPr lang="en-US" sz="1980" dirty="0"/>
          </a:p>
        </p:txBody>
      </p:sp>
      <p:sp>
        <p:nvSpPr>
          <p:cNvPr id="10" name="Shape 8"/>
          <p:cNvSpPr/>
          <p:nvPr/>
        </p:nvSpPr>
        <p:spPr>
          <a:xfrm>
            <a:off x="685800" y="2221992"/>
            <a:ext cx="10835640" cy="1033272"/>
          </a:xfrm>
          <a:prstGeom prst="roundRect">
            <a:avLst>
              <a:gd name="adj" fmla="val 8850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386584"/>
            <a:ext cx="1041501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2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 ve olasılık</a:t>
            </a:r>
            <a:endParaRPr lang="en-US" sz="1720" dirty="0"/>
          </a:p>
        </p:txBody>
      </p:sp>
      <p:sp>
        <p:nvSpPr>
          <p:cNvPr id="12" name="Text 10"/>
          <p:cNvSpPr/>
          <p:nvPr/>
        </p:nvSpPr>
        <p:spPr>
          <a:xfrm>
            <a:off x="896112" y="2880360"/>
            <a:ext cx="10415016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1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X matrisi gözlemler × özellikler biçimindedir.   2. μ merkez, Σ yayılım ve bağımlılık yapısıdır.</a:t>
            </a:r>
            <a:endParaRPr lang="en-US" sz="1710" dirty="0"/>
          </a:p>
        </p:txBody>
      </p:sp>
      <p:sp>
        <p:nvSpPr>
          <p:cNvPr id="13" name="Shape 11"/>
          <p:cNvSpPr/>
          <p:nvPr/>
        </p:nvSpPr>
        <p:spPr>
          <a:xfrm>
            <a:off x="685800" y="3401568"/>
            <a:ext cx="10835640" cy="1033272"/>
          </a:xfrm>
          <a:prstGeom prst="roundRect">
            <a:avLst>
              <a:gd name="adj" fmla="val 8850"/>
            </a:avLst>
          </a:prstGeom>
          <a:solidFill>
            <a:srgbClr val="EEF5FA"/>
          </a:solidFill>
          <a:ln w="12700">
            <a:solidFill>
              <a:srgbClr val="EEF5F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566160"/>
            <a:ext cx="1041501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2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Sınıflandırma</a:t>
            </a:r>
            <a:endParaRPr lang="en-US" sz="1720" dirty="0"/>
          </a:p>
        </p:txBody>
      </p:sp>
      <p:sp>
        <p:nvSpPr>
          <p:cNvPr id="15" name="Text 13"/>
          <p:cNvSpPr/>
          <p:nvPr/>
        </p:nvSpPr>
        <p:spPr>
          <a:xfrm>
            <a:off x="896112" y="4059936"/>
            <a:ext cx="10415016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1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Mahalanobis ölçek ve kovaryansı önemser.   4. QDA / LDA / NB farklı kovaryans varsayımlarıdır.</a:t>
            </a:r>
            <a:endParaRPr lang="en-US" sz="1710" dirty="0"/>
          </a:p>
        </p:txBody>
      </p:sp>
      <p:sp>
        <p:nvSpPr>
          <p:cNvPr id="16" name="Shape 14"/>
          <p:cNvSpPr/>
          <p:nvPr/>
        </p:nvSpPr>
        <p:spPr>
          <a:xfrm>
            <a:off x="685800" y="4581144"/>
            <a:ext cx="10835640" cy="1033272"/>
          </a:xfrm>
          <a:prstGeom prst="roundRect">
            <a:avLst>
              <a:gd name="adj" fmla="val 8850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745736"/>
            <a:ext cx="1041501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2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Genelleme ve regresyon</a:t>
            </a:r>
            <a:endParaRPr lang="en-US" sz="1720" dirty="0"/>
          </a:p>
        </p:txBody>
      </p:sp>
      <p:sp>
        <p:nvSpPr>
          <p:cNvPr id="18" name="Text 16"/>
          <p:cNvSpPr/>
          <p:nvPr/>
        </p:nvSpPr>
        <p:spPr>
          <a:xfrm>
            <a:off x="896112" y="5239512"/>
            <a:ext cx="10415016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1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Karmaşıklık validasyonla seçilir.   6. Regresyonda amaç kareli hatayı azaltmaktır.</a:t>
            </a:r>
            <a:endParaRPr lang="en-US" sz="1710" dirty="0"/>
          </a:p>
        </p:txBody>
      </p:sp>
      <p:sp>
        <p:nvSpPr>
          <p:cNvPr id="19" name="Shape 17"/>
          <p:cNvSpPr/>
          <p:nvPr/>
        </p:nvSpPr>
        <p:spPr>
          <a:xfrm>
            <a:off x="685800" y="5824728"/>
            <a:ext cx="10835640" cy="566928"/>
          </a:xfrm>
          <a:prstGeom prst="roundRect">
            <a:avLst>
              <a:gd name="adj" fmla="val 16129"/>
            </a:avLst>
          </a:prstGeom>
          <a:solidFill>
            <a:srgbClr val="E5F3F2"/>
          </a:solidFill>
          <a:ln w="12700">
            <a:solidFill>
              <a:srgbClr val="E5F3F2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934456"/>
            <a:ext cx="103784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3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 FİKİR  Matematikteki her sembolün veride neyi temsil ettiğini açıklayabilmek hedefimiz.</a:t>
            </a:r>
            <a:endParaRPr lang="en-US" sz="153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77C86"/>
          </a:solidFill>
          <a:ln w="12700">
            <a:solidFill>
              <a:srgbClr val="077C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46888"/>
            <a:ext cx="6400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MAKİNE ÖĞRENMESİ  /  5. ÜNİTE</a:t>
            </a:r>
            <a:endParaRPr lang="en-US" sz="1030" dirty="0"/>
          </a:p>
        </p:txBody>
      </p:sp>
      <p:sp>
        <p:nvSpPr>
          <p:cNvPr id="4" name="Text 2"/>
          <p:cNvSpPr/>
          <p:nvPr/>
        </p:nvSpPr>
        <p:spPr>
          <a:xfrm>
            <a:off x="8458200" y="246888"/>
            <a:ext cx="3154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GENEL ÖZET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5216" y="612648"/>
            <a:ext cx="11027664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30" b="1" dirty="0">
                <a:solidFill>
                  <a:srgbClr val="11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Kaynakça ve sunum notu</a:t>
            </a:r>
            <a:endParaRPr lang="en-US" sz="2730" dirty="0"/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11000232" cy="0"/>
          </a:xfrm>
          <a:prstGeom prst="line">
            <a:avLst/>
          </a:prstGeom>
          <a:noFill/>
          <a:ln w="13970">
            <a:solidFill>
              <a:srgbClr val="D9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KAYNAKLAR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7664" y="6492240"/>
            <a:ext cx="5120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109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4088" y="1572768"/>
            <a:ext cx="10789920" cy="1874520"/>
          </a:xfrm>
          <a:prstGeom prst="roundRect">
            <a:avLst>
              <a:gd name="adj" fmla="val 4878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737360"/>
            <a:ext cx="1036929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2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Temel kaynak</a:t>
            </a:r>
            <a:endParaRPr lang="en-US" sz="1720" dirty="0"/>
          </a:p>
        </p:txBody>
      </p:sp>
      <p:sp>
        <p:nvSpPr>
          <p:cNvPr id="11" name="Text 9"/>
          <p:cNvSpPr/>
          <p:nvPr/>
        </p:nvSpPr>
        <p:spPr>
          <a:xfrm>
            <a:off x="914400" y="2231136"/>
            <a:ext cx="10369296" cy="10241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Ethem Alpaydın (2014), Introduction to Machine Learning, MIT Press.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Bölüm 5.1–5.8, sayfa 93–111. Bölümdeki Şekil 5.1–5.7 kullanıcı tarafından sağlanan kaynak görsellerdir.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04088" y="3630168"/>
            <a:ext cx="10789920" cy="1874520"/>
          </a:xfrm>
          <a:prstGeom prst="roundRect">
            <a:avLst>
              <a:gd name="adj" fmla="val 4878"/>
            </a:avLst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794760"/>
            <a:ext cx="1036929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2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sunumdaki öğretici katkılar</a:t>
            </a:r>
            <a:endParaRPr lang="en-US" sz="1720" dirty="0"/>
          </a:p>
        </p:txBody>
      </p:sp>
      <p:sp>
        <p:nvSpPr>
          <p:cNvPr id="14" name="Text 12"/>
          <p:cNvSpPr/>
          <p:nvPr/>
        </p:nvSpPr>
        <p:spPr>
          <a:xfrm>
            <a:off x="914400" y="4288536"/>
            <a:ext cx="10369296" cy="10241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Türkçe açıklamalar; sınıf içi tekrar soruları; adım adım çözümlü ortalama, kovaryans, Mahalanobis, sınıflandırma, RDA, Naive Bayes ve regresyon örnekleri; ek açıklayıcı grafikler.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13816" y="5824728"/>
            <a:ext cx="10424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7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KAPSAM: 5.1–5.8  |  5.9 ve sonraki metinler sağlanmamıştır.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109</Slides>
  <Notes>109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109</vt:i4>
      </vt:variant>
    </vt:vector>
  </HeadingPairs>
  <TitlesOfParts>
    <vt:vector size="1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Çok Değişkenli Yöntemler - Açıklamalı Ders Sunumu</dc:title>
  <dc:subject>5. Ünite Çok Değişkenli Yöntemler - 5.1-5.8</dc:subject>
  <dc:creator>Türkçe Makine Öğrenmesi Ders Notları</dc:creator>
  <cp:lastModifiedBy>Türkçe Makine Öğrenmesi Ders Notları</cp:lastModifiedBy>
  <cp:revision>1</cp:revision>
  <dcterms:created xsi:type="dcterms:W3CDTF">2026-10-25T14:21:16Z</dcterms:created>
  <dcterms:modified xsi:type="dcterms:W3CDTF">2026-10-25T14:21:16Z</dcterms:modified>
</cp:coreProperties>
</file>