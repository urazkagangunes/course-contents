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49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Ünite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Bayesçi Karar Teorisi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76656" y="19933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2E8F0"/>
                </a:solidFill>
              </a:rPr>
              <a:t>Belirsizlik altında olasılık, sınıflandırma, risk, reject ve association rules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13232" y="3035808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1E40AF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27248"/>
            <a:ext cx="4443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posterior = prior × likelihood / evidence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Ders slaytı · Türkçe anlatım + örnekler + alıştırmalar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derste neleri öğreneceğiz?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Öğrenci önce sezgiyi, sonra formülü, sonra karar kuralını görecek.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5544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1. Belirsizlik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87452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Veri neden olasılıkla modellenir?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15544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2. Bayes kuralı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187452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Prior, likelihood, evidence, posterior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75320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9912" y="15544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3. Sınıflandırma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9912" y="187452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Posterior en yüksek sınıfı seçme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3832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0392" y="352044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4. Kayıp ve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" y="384048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Her hata aynı maliyette değildir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33832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45152" y="352044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5. Reject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45152" y="384048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Model emin değilse karar vermeyebilir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75320" y="33832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39912" y="352044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6. Association rules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39912" y="384048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Support, confidence, lift, Apriori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fikir: eksik bilgi → olasılıksal karar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Makine öğrenmesi çoğu zaman tam bilgiyle değil, belirsizlikle çalışır.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2926080" cy="4434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3716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Gerçek dünya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1691640"/>
            <a:ext cx="2596896" cy="3886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Her şeyi ölçemeyiz: niyet, gelecek ekonomi, gizli fiziksel koşullar...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2926080" cy="4434840"/>
          </a:xfrm>
          <a:prstGeom prst="roundRect">
            <a:avLst>
              <a:gd name="adj" fmla="val 25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82312" y="13716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82312" y="1691640"/>
            <a:ext cx="2596896" cy="3886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Gözlemlediklerimizi rastgele değişkenlerle temsil ederiz.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1234440"/>
            <a:ext cx="2926080" cy="4434840"/>
          </a:xfrm>
          <a:prstGeom prst="roundRect">
            <a:avLst>
              <a:gd name="adj" fmla="val 25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68512" y="13716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Karar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68512" y="1691640"/>
            <a:ext cx="2596896" cy="3886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Olasılık + maliyet bilgisiyle en rasyonel eylemi seçeriz.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803904" y="3063240"/>
            <a:ext cx="594360" cy="32004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3063240"/>
            <a:ext cx="594360" cy="32004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Bölüm 3.1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Giriş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Rastgele süreç, gözlemlenemeyen değişkenler ve örneklem mantığı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Rastgele süreç nedir?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Bize rastgele görünen şey, çoğu zaman eksik bilgiden kaynaklanır.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429768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25880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x = f(z)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41148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z: göremediğimiz tüm koşullar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f(·): sonucu üreten gerçek süreç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x: gözlemlediğimiz sonuç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15000" y="1234440"/>
            <a:ext cx="5623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79592" y="1371600"/>
            <a:ext cx="529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Ders anlatımı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9592" y="1691640"/>
            <a:ext cx="5294376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Para atışı deterministik fizik yasalarına bağlı olabilir. Fakat bütün koşulları bilmediğimiz için sonucu olasılıkla modelleriz.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0" y="274320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79592" y="2880360"/>
            <a:ext cx="529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9592" y="3200400"/>
            <a:ext cx="529437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Madeni paranın başlangıç açısı, kuvvet yönü ve havadaki dönme hızı bilinirse sonuç teorik olarak tahmin edilebilir. Biz bilmediğimiz için “yazı gelme olasılığı” deriz.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para atışı neden rastgele görünür?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Sadece sonucu görüyoruz; sonucu belirleyen birçok değişken gizli kalıyor.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3716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Gizli değişkenler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91640"/>
            <a:ext cx="2414016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Paranın ağırlık dağılımı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İlk konum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Atış kuvveti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Hava direnci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Yakalanma biçimi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73752" y="13716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Gözlenen değişken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73752" y="1691640"/>
            <a:ext cx="2414016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X = 1 → Yazı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X = 0 → Tura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Bizim veri setimiz yalnızca bu sonuçları içerir.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32520" y="1234440"/>
            <a:ext cx="2468880" cy="4480560"/>
          </a:xfrm>
          <a:prstGeom prst="roundRect">
            <a:avLst>
              <a:gd name="adj" fmla="val 2963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97112" y="137160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97112" y="1691640"/>
            <a:ext cx="2139696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P(X=1)=p₀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P(X=0)=1−p₀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Sonuç artık Bernoulli değişkenidir.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03320" y="3246120"/>
            <a:ext cx="731520" cy="32004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46120"/>
            <a:ext cx="731520" cy="32004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Bernoulli dağılımı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İki sonuçlu olayları modellemek için kullanılır.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25880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P(X=1)=p₀     P(X=0)=1−p₀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X yalnızca 0 veya 1 değerini alır.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p₀, “başarı” olayının olasılığıdır.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Para atışı, evet/hayır, hasta/sağlıklı gibi durumlarda temel modeldir.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46520" y="123444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371600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11112" y="1691640"/>
            <a:ext cx="4517136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Bir kalite kontrol sensörü ürün için: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X = 1 → hatalı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X = 0 → sağlam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Eğer p₀ = 0.04 ise ürünlerin %4’ü hatalı beklenir.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Örneklemden olasılık tahmini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Gerçek p₀ bilinmiyorsa gözlemlerden tahmin ederiz.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234440"/>
            <a:ext cx="4809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p̂₀ = yazı sayısı / toplam atış sayısı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33172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Veri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651760"/>
            <a:ext cx="4700016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{Y, Y, Y, T, Y, T, T, Y, Y}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→ {1,1,1,0,1,0,0,1,1}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1143000"/>
            <a:ext cx="4846320" cy="2788920"/>
          </a:xfrm>
          <a:prstGeom prst="roundRect">
            <a:avLst>
              <a:gd name="adj" fmla="val 2623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1280160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Adım adım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1600200"/>
            <a:ext cx="4517136" cy="2240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Toplam atış: 9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Yazı sayısı: 6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p̂₀ = 6 / 9 = 0.667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Tahmin: yazı olasılığı yaklaşık %66.7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10332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Önemli: Tahmin, veri arttıkça daha güvenilir hale gelir; az veriyle p̂₀ dalgalanabilir.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Örneklem ve dağılım arasındaki fark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Makine öğrenmesi veriyi kullanarak bilinmeyen dağılıma yaklaşmaya çalışır.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3258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Gerçek dağılım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1645920"/>
            <a:ext cx="2962656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p(x)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Veriyi üreten bilinmeyen mekanizma. Genellikle doğrudan bilinmez.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80560" y="118872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13258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Örneklem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1645920"/>
            <a:ext cx="2962656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𝒳 = {x₁,...,xₙ}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Dağılımdan gelen sınırlı sayıda gözlem.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94192" y="13258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Tahmin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1645920"/>
            <a:ext cx="2962656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p̂(x)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Modelin veriyle öğrendiği yaklaşık dağılım.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96512" y="3154680"/>
            <a:ext cx="320040" cy="32004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45552" y="3154680"/>
            <a:ext cx="320040" cy="32004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Bölüm 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Sınıflandırma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Bayes kuralı ile sınıf olasılıklarını hesaplamak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Sınıflandırma problemi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Amaç: yeni bir gözlemi doğru sınıfa atamak.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8872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3258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Kredi örneği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45920"/>
            <a:ext cx="2871216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 = 1 → yüksek risk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 = 0 → düşük risk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Yeni başvuran müşterinin risk sınıfını tahmin etmek istiyoruz.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80560" y="118872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13258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Gözlenen özellikler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1645920"/>
            <a:ext cx="2871216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X₁ = yıllık gelir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X₂ = birikim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x = [x₁, x₂]ᵀ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75320" y="118872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9912" y="13258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Karar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9912" y="1645920"/>
            <a:ext cx="2871216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P(C=1|x) &gt; 0.5 ise yüksek risk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Aksi halde düşük risk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Özellik, sınıf ve posterior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Modelin gördüğü şey özellik; tahmin ettiği şey sınıftır.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234440"/>
            <a:ext cx="4535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P(C | x)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457200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Okunuşu: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“x özelliklerini gördükten sonra C sınıfının olasılığı”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Makine öğrenmesinde sınıflandırma çoğu zaman bu posterioru tahmin etmektir.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5074920" cy="3474720"/>
          </a:xfrm>
          <a:prstGeom prst="roundRect">
            <a:avLst>
              <a:gd name="adj" fmla="val 2105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128016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8232" y="1600200"/>
            <a:ext cx="4745736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Bir e-postanın kelimeleri x olsun.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C₁ = spam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C₂ = normal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Model aslında şunu sorar: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P(spam | kelimeler) kaç?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 kuralı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Veriyi gördükten sonra inancımızı güncelleriz.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23444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P(C|x) = p(x|C)P(C) / p(x)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46888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Prior  P(C)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1832" y="2788920"/>
            <a:ext cx="4745736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Veriyi görmeden önce sınıf olasılığı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233172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246888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Likelihood  p(x|C)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9672" y="2788920"/>
            <a:ext cx="4745736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Sınıf doğruysa bu veriyi görme olasılığı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" y="379476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Evidence  p(x)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1832" y="4114800"/>
            <a:ext cx="4745736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Bu verinin genel olarak görülme olasılığı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6576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9672" y="379476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Posterior  P(C|x)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9672" y="4114800"/>
            <a:ext cx="4745736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Veriyi gördükten sonraki sınıf olasılığı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Prior: gözlemden önceki bilgi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Bir sınıfın genel olarak ne kadar yaygın olduğunu söyler.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23444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P(C)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28600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Kredi örneği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606040"/>
            <a:ext cx="3328416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Bankanın geçmiş müşterilerinin %20’si yüksek riskli ise: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P(C=1)=0.20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P(C=0)=0.80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257800" y="1143000"/>
            <a:ext cx="5852160" cy="3794760"/>
          </a:xfrm>
          <a:prstGeom prst="roundRect">
            <a:avLst>
              <a:gd name="adj" fmla="val 1928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22392" y="12801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Yeni örnek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22392" y="1600200"/>
            <a:ext cx="5522976" cy="3246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Bir okulda öğrencilerin %30’u dersi tekrar alıyor olsun.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Bir öğrencinin notlarına bakmadan önce: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P(tekrar alıyor)=0.30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Bu bizim prior bilgimizdir.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Likelihood: sınıf doğruysa veri ne kadar olası?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Dikkat: p(x|C) ile P(C|x) aynı şey değildir.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23444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p(x|C)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663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19456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Okunuş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514600"/>
            <a:ext cx="4334256" cy="2240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“C sınıfına ait olduğunu biliyorsam, x gözlemini görme olasılığım nedir?”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128016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6792" y="1600200"/>
            <a:ext cx="4700016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 = spam ise şu kelimeleri görme olasılığı nedir?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“bedava”, “kazandınız”, “tıkla”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p(x|spam) yüksek olabilir.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Ama p(x|normal) düşük olabilir.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normalleştirme paydası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Aynı x gözlemi tüm sınıflar üzerinden oluşabilir.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097280"/>
            <a:ext cx="5166360" cy="685800"/>
          </a:xfrm>
          <a:prstGeom prst="roundRect">
            <a:avLst>
              <a:gd name="adj" fmla="val 10667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188720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p(x)=Σₖ p(x|Cₖ)P(Cₖ)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8920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Evidence, posteriorların toplamının 1 olmasını sağlar.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Sınıf seçerken çoğu zaman ortak payda olduğu için karşılaştırmada sadeleşebilir.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46520" y="1097280"/>
            <a:ext cx="4800600" cy="3474720"/>
          </a:xfrm>
          <a:prstGeom prst="roundRect">
            <a:avLst>
              <a:gd name="adj" fmla="val 2105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234440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11112" y="1554480"/>
            <a:ext cx="4471416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Bir röntgen görüntüsü x olsun. Bu görüntü: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hasta sınıfından gelebilir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sağlıklı sınıfından gelebilir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Evidence, x’in genel görülme olasılığıdır.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Posterior: gözlemden sonraki güncellenmiş olasılık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Bayes kuralının çıktısı budur.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6A34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234440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P(C|x)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6177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194560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Mantık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514600"/>
            <a:ext cx="4288536" cy="2240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Posterior = eski bilgi + veriden gelen kanıt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Öğrenci bunu “veriyi gördükten sonraki inanç” olarak düşünebilir.</a:t>
            </a:r>
            <a:endParaRPr lang="en-US" sz="1900" dirty="0"/>
          </a:p>
        </p:txBody>
      </p:sp>
      <p:pic>
        <p:nvPicPr>
          <p:cNvPr id="13" name="Image 0" descr="/mnt/data/unit3_slides_assets/bayes_update_dise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47949"/>
            <a:ext cx="5303520" cy="30305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 adım Bayes örneği: kredi riski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Sayıların nereden geldiğini tek tek yazalım.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078992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170432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P(Yüksek|x) = p(x|Yüksek)P(Yüksek) / p(x)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" y="201168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Verilenler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2331720"/>
            <a:ext cx="3054096" cy="3017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P(Yüksek)=0.30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P(Düşük)=0.70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p(x|Yüksek)=0.60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p(x|Düşük)=0.10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43400" y="18745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07992" y="201168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Evidence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07992" y="2331720"/>
            <a:ext cx="3054096" cy="3017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p(x)=0.60×0.30 + 0.10×0.70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p(x)=0.18+0.07=0.25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01000" y="18745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65592" y="201168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Posterior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65592" y="2331720"/>
            <a:ext cx="3054096" cy="3017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P(Yüksek|x)=0.18/0.25=0.72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P(Düşük|x)=0.07/0.25=0.28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Karar: yüksek risk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 sınıflı Bayes kuralı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İki sınıf yerine K tane sınıf olabilir.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234440"/>
            <a:ext cx="10296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P(Cᵢ|x)= p(x|Cᵢ)P(Cᵢ) / Σₖ p(x|Cₖ)P(Cₖ)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46888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Rakam tanıma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788920"/>
            <a:ext cx="4700016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Giriş: el yazısı rakam görüntüsü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Sınıflar: 0,1,2,...,9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Model her sınıf için posterior hesaplar.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55080" y="2331720"/>
            <a:ext cx="4846320" cy="2651760"/>
          </a:xfrm>
          <a:prstGeom prst="roundRect">
            <a:avLst>
              <a:gd name="adj" fmla="val 2759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2468880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 posterior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2788920"/>
            <a:ext cx="4517136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P(3|x)=0.10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P(8|x)=0.72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P(9|x)=0.12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Diğerleri düşük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Karar: 8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 sınıflandırıcısı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Minimum hata için posterioru en yüksek sınıf seçilir.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325880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Ĉ = argmaxᵢ P(Cᵢ|x)</a:t>
            </a:r>
            <a:endParaRPr lang="en-US" sz="3200" dirty="0"/>
          </a:p>
        </p:txBody>
      </p:sp>
      <p:pic>
        <p:nvPicPr>
          <p:cNvPr id="10" name="Image 0" descr="/mnt/data/unit3_slides_assets/posterior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0829"/>
            <a:ext cx="5029200" cy="229906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8680" y="2331720"/>
            <a:ext cx="4983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33272" y="2468880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Öğrenciye anlatım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33272" y="2788920"/>
            <a:ext cx="4654296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argmax ifadesi şu demektir: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“Tüm sınıfların olasılığına bak; en büyük olan hangisiyse onu seç.”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örnek: spam sınıflandırma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Bayes mantığını basit sayılarla görelim.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Verilenler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3054096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P(spam)=0.20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P(normal)=0.80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p(x|spam)=0.50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p(x|normal)=0.05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Evidence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1600200"/>
            <a:ext cx="3054096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p(x)=0.50×0.20 + 0.05×0.80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=0.10+0.04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=0.14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847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Sonuç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54096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P(spam|x)=0.10/0.14=0.714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P(normal|x)=0.04/0.14=0.286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Karar: spam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Bölüm 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Kayıplar ve Riskler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Her yanlış karar aynı maliyette değildir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sadece en yüksek olasılık yetmeyebilir?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Gerçek hayatta yanlış kararların maliyeti farklıdır.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8872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32588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Tıbbi teşhis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45920"/>
            <a:ext cx="4608576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Hasta kişiye “sağlıklı” demek çok ağır sonuç doğurabilir.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Sağlıklı kişiye “hasta olabilir” demek de maliyetlidir ama aynı ağırlıkta olmayabilir.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55080" y="118872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132588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Kredi kararı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1645920"/>
            <a:ext cx="4608576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Yüksek riskli kişiye kredi vermek büyük zarar doğurabilir.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Düşük riskli kişiyi reddetmek potansiyel kâr kaybıdır.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Beklenen risk formülü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Karar verirken kayıp × olasılık toplamını minimize ederiz.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234440"/>
            <a:ext cx="10387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R(αᵢ|x) = Σₖ λᵢₖ P(Cₖ|x)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46888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αᵢ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788920"/>
            <a:ext cx="3054096" cy="2148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Verilen karar: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x girdisini Cᵢ sınıfına ata.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34840" y="233172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246888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λᵢₖ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788920"/>
            <a:ext cx="3054096" cy="2148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Gerçek sınıf Cₖ iken αᵢ kararının maliyeti.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92440" y="233172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57032" y="246888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Kural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57032" y="2788920"/>
            <a:ext cx="3054096" cy="2148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En düşük beklenen riske sahip eylemi seç.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olasılığı yüksek olan sınıf seçilmeyebilir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Maliyet bilgisi kararı değiştirebilir.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12801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Posterior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1600200"/>
            <a:ext cx="291693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P(C₁|x)=0.70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P(C₂|x)=0.30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Sadece olasılığa bakarsak C₁ seçilir.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51960" y="1143000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16552" y="12801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Kayıplar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16552" y="1600200"/>
            <a:ext cx="291693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C₁ seçip gerçek C₂ ise kayıp 10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C₂ seçip gerçek C₁ ise kayıp 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909560" y="114300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74152" y="128016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Risk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74152" y="1600200"/>
            <a:ext cx="319125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R(C₁)=0×0.70+10×0.30=3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R(C₂)=1×0.70+0×0.30=0.70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Karar: C₂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0/1 loss özel durumu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Tüm hatalar eşit maliyetliyse risk en yüksek posteriora indirgenir.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09728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18872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λᵢₖ = 0 if i=k, 1 if i≠k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0" y="109728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6A34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6128" y="1188720"/>
            <a:ext cx="5175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R(αᵢ|x)=1−P(Cᵢ|x)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46634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Doğru kararın kaybı 0, her yanlış kararın kaybı 1 ise: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R(αᵢ|x)=Σₖ≠ᵢP(Cₖ|x)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=1−P(Cᵢ|x)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4663440" cy="2651760"/>
          </a:xfrm>
          <a:prstGeom prst="roundRect">
            <a:avLst>
              <a:gd name="adj" fmla="val 2759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224028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Sonuç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6792" y="2560320"/>
            <a:ext cx="4334256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Riski minimum yapmak için P(Cᵢ|x) maksimum olmalıdır.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Yani Bayes sınıflandırıcısının klasik kuralı 0/1 loss’un özel sonucudur.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seçeneği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Model emin değilse otomatik karar vermeyebilir.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09728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188720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Reject maliyeti = λ,   0&lt;λ&lt;1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892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19456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Mantık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514600"/>
            <a:ext cx="4562856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Yanlış karar çok pahalıysa, sistem “bunu insan kontrol etsin” diyebilir.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Bu eyleme reject / doubt denir.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55080" y="1097280"/>
            <a:ext cx="4892040" cy="3337560"/>
          </a:xfrm>
          <a:prstGeom prst="roundRect">
            <a:avLst>
              <a:gd name="adj" fmla="val 2192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123444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1554480"/>
            <a:ext cx="4562856" cy="2788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Posta kodu tanıma sistemi bir rakamdan emin değilse yanlış şehre göndermek yerine resmi insan operatöre yönlendirir.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eşiği nasıl çıkar?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Reject riski sabittir; sınıf seçme riski posteriora bağlıdır.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28</a:t>
            </a:r>
            <a:endParaRPr lang="en-US" sz="800" dirty="0"/>
          </a:p>
        </p:txBody>
      </p:sp>
      <p:pic>
        <p:nvPicPr>
          <p:cNvPr id="8" name="Image 0" descr="/mnt/data/unit3_slides_assets/reject_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440" y="1188720"/>
            <a:ext cx="8839200" cy="2651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429768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4389120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Sınıf seç: 1−P(Cᵢ|x) &lt; λ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355080" y="4297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4389120"/>
            <a:ext cx="4581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P(Cᵢ|x) &gt; 1−λ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68680" y="5212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λ küçükse reject ucuzdur; sistem daha kolay “emin değilim” der ve reject bölgesi büyür.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3.1: karar bölgeleri ve karar sınırları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Özellik uzayı sınıflara ait bölgelere ayrılır.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29</a:t>
            </a:r>
            <a:endParaRPr lang="en-US" sz="800" dirty="0"/>
          </a:p>
        </p:txBody>
      </p:sp>
      <p:pic>
        <p:nvPicPr>
          <p:cNvPr id="8" name="Image 0" descr="/mnt/data/unit3_work/figure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6052"/>
            <a:ext cx="5486400" cy="38744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6520" y="1143000"/>
            <a:ext cx="48006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11112" y="1280160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Nasıl okunur?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11112" y="1600200"/>
            <a:ext cx="4471416" cy="3703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Kareler: C₁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Üçgenler: C₂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Daireler: C₃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Eğriler: karar sınırları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Ortadaki alan: reject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Yeni bir nokta hangi bölgeye düşerse o sınıf seçilir.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Bölüm 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Ayırt Edici Fonksiyonlar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Sınıflandırmayı skor fonksiyonlarıyla ifade etmek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Discriminant function: her sınıfa bir skor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En yüksek skoru alan sınıf seçilir.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234440"/>
            <a:ext cx="5175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Cᵢ seçilir eğer gᵢ(x)=maxₖ gₖ(x)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28600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 skorlar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606040"/>
            <a:ext cx="4882896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</a:rPr>
              <a:t>g₁(x)=2.1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</a:rPr>
              <a:t>g₂(x)=5.4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</a:rPr>
              <a:t>g₃(x)=1.8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</a:rPr>
              <a:t>En büyük skor g₂ olduğu için C₂ seçilir.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446520" y="1143000"/>
            <a:ext cx="4846320" cy="36576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11112" y="1280160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Bayes ile ilişki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1112" y="1600200"/>
            <a:ext cx="4517136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gᵢ(x)=−R(αᵢ|x) seçersek maksimum skor, minimum riske karşılık gelir.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0/1 loss’ta gᵢ(x)=P(Cᵢ|x) alınabilir.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Karar bölgeleri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Her bölge, bir sınıf skorunun diğerlerinden büyük olduğu noktalardır.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234440"/>
            <a:ext cx="10296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Rᵢ = { x | gᵢ(x)=maxₖ gₖ(x) }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4937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28600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Karar sınırı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606040"/>
            <a:ext cx="4608576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İki sınıfın skoru eşitlendiğinde sınır oluşur: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gᵢ(x)=gⱼ(x)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55080" y="2148840"/>
            <a:ext cx="4937760" cy="2606040"/>
          </a:xfrm>
          <a:prstGeom prst="roundRect">
            <a:avLst>
              <a:gd name="adj" fmla="val 280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228600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İki sınıf özel durumu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2606040"/>
            <a:ext cx="4608576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g(x)=g₁(x)−g₂(x)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g(x)&gt;0 ise C₁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aksi halde C₂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ratio ve log odds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İki sınıfta posterior oranı karar için yeterlidir.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143000"/>
            <a:ext cx="5175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g(x)=P(C₁|x)/P(C₂|x)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263640" y="10515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14300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log odds = log[P(C₁|x)/P(C₂|x)]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77240" y="2057400"/>
            <a:ext cx="5074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1832" y="219456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Likelihood ratio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1832" y="2514600"/>
            <a:ext cx="4745736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g(x)= [p(x|C₁)/p(x|C₂)] × [P(C₁)/P(C₂)]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Priorlar eşitse karar yalnızca likelihood ratio’ya bağlıdır.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55080" y="2057400"/>
            <a:ext cx="4892040" cy="2834640"/>
          </a:xfrm>
          <a:prstGeom prst="roundRect">
            <a:avLst>
              <a:gd name="adj" fmla="val 2581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219456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Log odds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9672" y="2514600"/>
            <a:ext cx="4562856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log çarpımı toplama dönüştürür: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log likelihood ratio + log prior ratio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g(x)&gt;0 ise C₁ seçilir.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3.2: maliyet değişirse sınır değişir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Karar sınırı yalnızca veriye değil, kayıp fonksiyonuna da bağlıdır.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34</a:t>
            </a:r>
            <a:endParaRPr lang="en-US" sz="800" dirty="0"/>
          </a:p>
        </p:txBody>
      </p:sp>
      <p:pic>
        <p:nvPicPr>
          <p:cNvPr id="8" name="Image 0" descr="/mnt/data/unit3_work/figure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173" y="1143000"/>
            <a:ext cx="5215095" cy="4800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6520" y="1051560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11112" y="1188720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Şeklin mesajı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11112" y="1508760"/>
            <a:ext cx="4471416" cy="3977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(a) Hatalar eşit maliyetliyse sınır P(C₁|x)=P(C₂|x) noktasındadır.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(b) Hatalar eşit değilse sınır daha riskli sınıfa doğru kayar.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(c) Reject varsa sınır çevresinde kararsızlık bölgesi oluşur.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Bölüm 3.5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Birliktelik Kuralları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Support, confidence, lift ve Apriori algoritması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rule nedir?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Sepet analizinde ürünler arasındaki birlikte görülme ilişkisini ararız.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23444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X → Y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24028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Okunuş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560320"/>
            <a:ext cx="4242816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“X varsa Y de olma eğiliminde mi?”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X: antecedent / öncül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Y: consequent / sonuç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128016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6792" y="1600200"/>
            <a:ext cx="4745736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Bebek bezi → Islak mendil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Makarna + domates sosu → parmesan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Dizüstü bilgisayar → mouse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temel ölçü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Support yaygınlığı, confidence kuralın gücünü, lift ilişkiyi ölçer.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143000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Support = P(X,Y)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0" y="105156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143000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Confidence = P(Y|X)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92440" y="105156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97316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143000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Lift = P(Y|X)/P(Y)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" y="20574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" y="219456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Soru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" y="2514600"/>
            <a:ext cx="3191256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X ve Y birlikte ne kadar sık görülüyor?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389120" y="20574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53712" y="219456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Soru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53712" y="2514600"/>
            <a:ext cx="3191256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X alanların kaçı Y de alıyor?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092440" y="20574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57032" y="219456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Soru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57032" y="2514600"/>
            <a:ext cx="3191256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X, Y olasılığını normalden fazla mı artırıyor?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Sepet örneği: süt → çikolata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Aynı veriyle support ve confidence farklı şeyler söyler.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0972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3444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İşlemler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554480"/>
            <a:ext cx="4700016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1: Süt, Muz, Çikolata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2: Süt, Çikolata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3: Süt, Muz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4: Çikolata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5: Çikolata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6: Süt, Çikolata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0972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36792" y="123444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Süt → Çikolata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36792" y="1554480"/>
            <a:ext cx="4700016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Süt alan: 4 işlem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Süt + çikolata: 3 işlem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Toplam: 6 işlem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Support = 3/6 = 0.50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Confidence = 3/4 = 0.75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yorumu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Confidence yüksek olabilir; ama Y zaten çok yaygınsa ilişki güçlü olmayabilir.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39</a:t>
            </a:r>
            <a:endParaRPr lang="en-US" sz="800" dirty="0"/>
          </a:p>
        </p:txBody>
      </p:sp>
      <p:pic>
        <p:nvPicPr>
          <p:cNvPr id="8" name="Image 0" descr="/mnt/data/unit3_slides_assets/association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04257"/>
            <a:ext cx="5486400" cy="313508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6520" y="1097280"/>
            <a:ext cx="47548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11112" y="123444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Lift nasıl okunur?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11112" y="1554480"/>
            <a:ext cx="4425696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Lift = 1 → bağımsızlığa yakın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Lift &gt; 1 → X, Y ihtimalini artırıyor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Lift &lt; 1 → X, Y ihtimalini azaltıyor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Örnek: Lift=2 ise X alanlarda Y iki kat daha olasıdır.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Apriori algoritmasının sezgisi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Sık olmayan bir kümenin üst kümeleri de sık olamaz.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05156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143000"/>
            <a:ext cx="10296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Support(X,Y,Z) ≤ Support(X,Y)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19456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Budama fikri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514600"/>
            <a:ext cx="4608576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Eğer {ekmek, süt} yeterince sık değilse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{ekmek, süt, çikolata} zaten yeterince sık olamaz.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Bu yüzden kontrol etmeye gerek yoktur.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55080" y="205740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219456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İki aşama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2514600"/>
            <a:ext cx="4608576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1. Frequent itemset bul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2. Bunlardan yeterli confidence’a sahip kurallar üret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Apriori mini örnek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Önce tekli, sonra ikili, sonra üçlü kümeler kontrol edilir.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1. Tekli kümeler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30083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Süt: 4/6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Çikolata: 5/6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Muz: 2/6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min support = 2/6 ise hepsi geçer.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2801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2. İkili kümeler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1600200"/>
            <a:ext cx="30083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Süt+Çikolata: 3/6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Süt+Muz: 2/6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Muz+Çikolata: 1/6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Muz+Çikolata elenir.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8472" y="12801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3. Üçlü kümeler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083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Süt+Muz+Çikolata kontrol edilir.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Ama alt kümesi Muz+Çikolata elendiği için üçlü küme de elenir.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≠ Causation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Birliktelik kuralı neden-sonuç ilişkisi kanıtlamaz.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887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325880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Görünen ilişki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45920"/>
            <a:ext cx="4791456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Bebek bezi, bebek maması ve süt birlikte sık alınabilir.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Bu ürünlerin birbirine neden olduğunu söylemek zorunda değiliz.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55080" y="11887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1325880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Gizli değişken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1645920"/>
            <a:ext cx="4791456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“Evde bebek var” gizli değişkeni bu üç ürünü birlikte açıklayabilir.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Bu yüzden association sadece istatistiksel beraberliktir.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Bölüm 3.7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Alıştırmalar ve Bol Örnek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Bayes mantığını yerleştirmek için uygulamalar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1: nadir hastalık testi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Pozitif test sonucu her zaman yüksek hastalık olasılığı anlamına gelmez.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44</a:t>
            </a:r>
            <a:endParaRPr lang="en-US" sz="800" dirty="0"/>
          </a:p>
        </p:txBody>
      </p:sp>
      <p:pic>
        <p:nvPicPr>
          <p:cNvPr id="8" name="Image 0" descr="/mnt/data/unit3_slides_assets/base_rate_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57350"/>
            <a:ext cx="5349240" cy="26746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5080" y="1143000"/>
            <a:ext cx="498348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1280160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Verilenler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19672" y="1600200"/>
            <a:ext cx="4654296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P(d)=10⁻⁶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P(+|d)=0.99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P(+|sağlıklı)=10⁻³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P(d|+) = 0.99×10⁻⁶ / [0.99×10⁻⁶ + 10⁻³(1−10⁻⁶)]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≈ 0.000989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521208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Mesaj: Test pozitif çıktıktan sonra olasılık artar; ancak hastalık çok nadirse sonuç hâlâ düşük kalabilir.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Nadir hastalık örneğini sezgisel sayalım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1.000.000 kişi üzerinden düşünmek öğrenciler için daha anlaşılırdır.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 milyon kişi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30083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Hastalık oranı 1 / 1.000.000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Gerçek hasta beklenen kişi sayısı ≈ 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2801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Pozitifler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1600200"/>
            <a:ext cx="30083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Hasta olan 1 kişinin testi pozitif: ≈ 1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Sağlıklı 999.999 kişinin binde biri yanlış pozitif: ≈ 1000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8472" y="12801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Sonuç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083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Toplam pozitif ≈ 1001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Gerçek hasta ≈ 1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P(hasta|pozitif) ≈ 1/1001 ≈ 0.1%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2: likelihood ratio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Posterior oranı = likelihood oranı × prior oranı.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09728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188720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LR = p(x|C₁) / p(x|C₂)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63640" y="109728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188720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g(x)=LR × P(C₁)/P(C₂)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9834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1832" y="2286000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1832" y="2606040"/>
            <a:ext cx="4654296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LR=4 olsun.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Priorlar eşit ise prior oranı 1’dir.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g(x)=4&gt;1 olduğu için C₁ seçilir.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355080" y="2148840"/>
            <a:ext cx="4892040" cy="2834640"/>
          </a:xfrm>
          <a:prstGeom prst="roundRect">
            <a:avLst>
              <a:gd name="adj" fmla="val 2581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228600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Prior etkisi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9672" y="2606040"/>
            <a:ext cx="4562856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Eğer P(C₁)=0.1, P(C₂)=0.9 ise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prior oranı=1/9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g(x)=4/9&lt;1 → C₂ seçilir.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3: log odds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Log almak karar kuralını toplamaya dönüştürür.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09728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188720"/>
            <a:ext cx="10296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g(x)=log[p(x|C₁)/p(x|C₂)] + log[P(C₁)/P(C₂)]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50292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28600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Karar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606040"/>
            <a:ext cx="4700016" cy="2240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g(x)&gt;0 ise C₁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g(x)&lt;0 ise C₂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Çünkü log oranı pozitifse oran 1’den büyüktür.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55080" y="2148840"/>
            <a:ext cx="4892040" cy="2788920"/>
          </a:xfrm>
          <a:prstGeom prst="roundRect">
            <a:avLst>
              <a:gd name="adj" fmla="val 2623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228600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Örnek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2606040"/>
            <a:ext cx="4562856" cy="2240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LR=3, prior oranı=1/3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g=log(3)+log(1/3)=log(1)=0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Sınır noktasındayız.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4: maliyetli karar ve reject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Bu örnek Figure 3.2’nin matematiksel karşılığıdır.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48</a:t>
            </a:r>
            <a:endParaRPr lang="en-US" sz="800" dirty="0"/>
          </a:p>
        </p:txBody>
      </p:sp>
      <p:pic>
        <p:nvPicPr>
          <p:cNvPr id="8" name="Image 0" descr="/mnt/data/unit3_slides_assets/loss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69" y="1097280"/>
            <a:ext cx="3471863" cy="2468880"/>
          </a:xfrm>
          <a:prstGeom prst="rect">
            <a:avLst/>
          </a:prstGeom>
        </p:spPr>
      </p:pic>
      <p:pic>
        <p:nvPicPr>
          <p:cNvPr id="9" name="Image 1" descr="/mnt/data/unit3_slides_assets/risk_thresh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34440"/>
            <a:ext cx="3840480" cy="2194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732520" y="10972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897112" y="123444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Sonuç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897112" y="1554480"/>
            <a:ext cx="2231136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Reject yoksa: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P(C₁|x)&gt;2/3 ise C₁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Aksi halde C₂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7240" y="397764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41832" y="4114800"/>
            <a:ext cx="10186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Reject λ=1 eklenirse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941832" y="4434840"/>
            <a:ext cx="1018641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</a:rPr>
              <a:t>C₁ seç: P(C₁|x)&gt;0.9 · C₂ seç: P(C₁|x)&lt;0.2 · Arası: Reject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5–6: cascade ve beklenen değer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Risk kararları farklı bağlamlara taşınabilir.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Üç seviyeli cascade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48371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1. Hızlı model: emin değilse reject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2. Daha güçlü model: emin değilse reject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3. İnsan uzman / pahalı model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λ değeri sonraki seviyeye geçmenin maliyeti gibi seçilir.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1143000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28016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Para oyunu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5392" y="1600200"/>
            <a:ext cx="456285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Adil para: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Yazı → 0$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Tura → 5$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Beklenen değer = 0.5×0 + 0.5×5 = 2.5$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Ödül 500$ olursa beklenen değer 250$.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7: sepet analizi çözümleri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Yön değişince confidence değişebilir.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132588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Çözümler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1645920"/>
            <a:ext cx="4974336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Süt → Muz: Support=2/6, Confidence=2/4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Muz → Süt: Support=2/6, Confidence=2/2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Süt → Çikolata: Support=3/6, Confidence=3/4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Çikolata → Süt: Support=3/6, Confidence=3/5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46520" y="1188720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32588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Yorum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11112" y="1645920"/>
            <a:ext cx="4425696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Süt alanların sadece yarısı muz alıyor.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Ama muz alan herkes süt alıyor.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Bu yüzden X→Y ile Y→X aynı değildir.</a:t>
            </a:r>
            <a:endParaRPr lang="en-US" sz="1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8–9: k-bağımlılık ve confidence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Formüller doğrudan koşullu olasılıktan gelir.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143000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Confidence(X₁,...,Xₖ→Y)=P(Y|X₁,...,Xₖ)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63640" y="10515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16A34A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14300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Support=P(X₁,...,Xₖ,Y)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1832" y="2286000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Confidence kanıtı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1832" y="2606040"/>
            <a:ext cx="4791456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Conf(ABC→D)=P(ABCD)/P(ABC)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Conf(AB→CD)=P(ABCD)/P(AB)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P(ABC)≤P(AB) olduğu için ilk oran daha büyüktür.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5080" y="2148840"/>
            <a:ext cx="4846320" cy="2834640"/>
          </a:xfrm>
          <a:prstGeom prst="roundRect">
            <a:avLst>
              <a:gd name="adj" fmla="val 2581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2286000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Önemli düzeltme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9672" y="2606040"/>
            <a:ext cx="4517136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Consequent’tan antecedent’a öğe taşıdıkça confidence azalmak zorunda değildir; artabilir veya aynı kalabilir.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10–11: öneri ve support-confidence durumları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Association rule sonuçları öneri sistemine genişletilebilir.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Ürün puanı varsa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48371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Yalnızca P(Y|X) değil, müşterinin Y ürününü ne kadar beğeneceğini de kullanabiliriz.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Score(Y|X)=P(Y|X)×E[rating(Y)|X]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Bu, öneri skorudur.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1143000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28016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Support-confidence örnekleri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5392" y="1600200"/>
            <a:ext cx="456285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Yüksek-yüksek: çok yaygın ve güçlü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Yüksek-düşük: yaygın ama zayıf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Düşük-yüksek: nadir ama güçlü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Düşük-düşük: genelde önemsiz</a:t>
            </a:r>
            <a:endParaRPr lang="en-US" sz="1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Bölüm Ek Örnekler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Bayes Mantığını Yerleştirme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Öğrencilerin sezgiyi kavraması için farklı bağlamlar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53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 örnek 1: tanık ve taksi rengi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Güvenilir görünen bir gözlem, prior ile birlikte düşünülmelidir.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Senaryo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Şehirde taksilerin %85’i mavi, %15’i yeşil.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Tanık aracın yeşil olduğunu söylüyor.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Tanık rengi %80 doğru ayırt ediyor.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Bayes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P(yeşil)=0.15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P(tanık yeşil|yeşil)=0.80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P(tanık yeşil|mavi)=0.20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Pay=0.80×0.15=0.12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847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Sonuç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Payda=0.12+0.20×0.85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=0.29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P(gerçek yeşil|tanık yeşil)=0.12/0.29≈0.414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Yani %41.4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 örnek 2: fabrika hattı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Bir ürünün hangi makineden geldiğini Bayes ile tahmin edelim.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Verilenler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A makinesi ürünlerin %70’ini üretir, hata oranı %2.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B makinesi ürünlerin %30’unu üretir, hata oranı %8.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Hatalı ürün geldi.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Hesap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Pay A: 0.70×0.02=0.014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Pay B: 0.30×0.08=0.024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Toplam hatalı olasılığı: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0.014+0.024=0.038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847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Sonuç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P(B|hatalı)=0.024/0.038≈0.632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Ürünlerin çoğunu A üretmesine rağmen hatalı ürünün B’den gelme olasılığı daha yüksektir.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 örnek 3: sınavda kopya tespiti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Düşük prior, posterioru ciddi biçimde etkiler.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Senaryo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Öğrencilerin %2’si kopya çekiyor.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Sistem kopya çekeni %90 yakalıyor.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Masum öğrenciyi yanlış alarm verme oranı %5.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Hesap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Pay=0.90×0.02=0.018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Yanlış alarm payı=0.05×0.98=0.049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Payda=0.067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847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Sonuç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P(kopya|alarm)=0.018/0.067≈0.269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Alarm tek başına kesin kanıt değildir; manuel inceleme gerekir.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 örnek 4: hava durumu uygulaması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Bayes günlük hayatta da prior ve gözlem birleştirir.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Senaryo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Bir şehirde bu mevsimde yağmur olasılığı %20.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Uygulama “yağmur var” sinyali verdi.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Yağmur varsa sinyal %90, yağmur yoksa yanlış sinyal %15.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Hesap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Pay=0.90×0.20=0.18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Yanlış sinyal=0.15×0.80=0.12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Payda=0.30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8472" y="12801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Sonuç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5409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P(yağmur|sinyal)=0.18/0.30=0.60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Sinyal yağmur olasılığını %20’den %60’a çıkarır.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 sorusu çözerken 5 adım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Öğrencilerin her örnekte aynı şablonu kullanması yeterli.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91640" y="11430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Sınıfları tanımla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91640" y="19202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Priorları yaz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691640" y="26974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Likelihood değerlerini yaz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</a:rPr>
              <a:t>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691640" y="34747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Evidence hesapla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</a:rPr>
              <a:t>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691640" y="42519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Posterior ve kararı yaz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760720" y="109728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25312" y="123444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Şablon formül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25312" y="1554480"/>
            <a:ext cx="4974336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P(Cᵢ|x)=p(x|Cᵢ)P(Cᵢ) / Σₖp(x|Cₖ)P(Cₖ)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İki sınıfta genellikle payları hesaplamak yeterli: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Pay₁ = likelihood₁ × prior₁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Pay₂ = likelihood₂ × prior₂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Posterior = pay / toplam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Sık yapılan hatalar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Bu uyarılar sınav ve ödevlerde çok işe yarar.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Hata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30083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p(x|C) ile P(C|x) karıştırılır.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Bayes’in amacı bu yönü çevirmektir.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2801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Hata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1600200"/>
            <a:ext cx="30083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Prior ihmal edilir.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Nadir olaylarda prior sonucu dramatik değiştirir.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8472" y="12801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Hata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0837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En yüksek olasılık her zaman en iyi karar sanılır.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Kayıplar farklıysa risk hesaplanmalıdır.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 içi uygulama önerisi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Öğrencileri küçük gruplara ayırıp 10 dakikalık mini Bayes çözümü yaptırın.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28016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Etkinlik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474573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Her gruba farklı bir senaryo verin: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Hastalık testi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Spam e-posta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Hatalı ürün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Kopya alarmı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Yağmur tahmini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Her grup 5 adım şablonuyla çözer.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55080" y="114300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128016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Tahtaya istenecek çıktı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1600200"/>
            <a:ext cx="4745736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1. Priorlar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2. Likelihood değerleri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3. Evidence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4. Posterior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5. Karar ve yorum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Son adım: “Sonuç sezgisel mi?” diye tartışılır.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Ünite 3 hızlı tekrar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Dersin sonunda öğrenci bu kutuları okuyup bütün üniteyi hatırlayabilmeli.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" y="118872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Bayes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" y="1508760"/>
            <a:ext cx="2414016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P(C|x)=p(x|C)P(C)/p(x)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Posterior = prior × likelihood / evidence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105156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93592" y="118872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Karar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93592" y="1508760"/>
            <a:ext cx="2414016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Ĉ=argmaxᵢP(Cᵢ|x)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0/1 loss durumunda minimum hata kararıdır.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105156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9672" y="118872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Risk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19672" y="1508760"/>
            <a:ext cx="2414016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R(αᵢ|x)=ΣₖλᵢₖP(Cₖ|x)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En düşük risk seçilir.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81160" y="105156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45752" y="118872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Reject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45752" y="1508760"/>
            <a:ext cx="2093976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P(Cᵢ|x)&gt;1−λ değilse reject olabilir.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" y="379476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Discriminant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" y="411480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gᵢ(x) skoru en yüksek sınıf seçilir.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Karar sınırı: skorların eşitlendiği yer.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43400" y="3657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07992" y="379476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Association rules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07992" y="411480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Support=P(X,Y)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Confidence=P(Y|X)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Lift=P(Y|X)/P(Y)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183880" y="36576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7324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48472" y="379476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Ana mesaj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48472" y="4114800"/>
            <a:ext cx="3191256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Belirsizlikte iyi karar = olasılık + maliyet + bağlam bilgisi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Ders Sonu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Bayesçi Karar Teorisi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Bir sonraki adım: öğrenilen modellerle p(x|C), P(C) ve karar sınırlarını veriden tahmin etmek.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E40AF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4069080"/>
            <a:ext cx="526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Olasılık → Posterior → Risk → Karar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Ünite 3 · Bayesçi Karar Teorisi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Ünite 3 - Bayesçi Karar Teorisi</dc:title>
  <dc:subject>Bayesçi Karar Teorisi</dc:subject>
  <dc:creator>OpenAI</dc:creator>
  <cp:lastModifiedBy>OpenAI</cp:lastModifiedBy>
  <cp:revision>1</cp:revision>
  <dcterms:created xsi:type="dcterms:W3CDTF">2026-10-04T10:21:35Z</dcterms:created>
  <dcterms:modified xsi:type="dcterms:W3CDTF">2026-10-04T10:21:35Z</dcterms:modified>
</cp:coreProperties>
</file>