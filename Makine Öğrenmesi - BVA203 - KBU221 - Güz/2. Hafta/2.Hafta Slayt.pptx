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</p:sldIdLst>
  <p:notesMasterIdLst>
    <p:notesMasterId r:id="rId7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notesMaster" Target="notesMasters/notesMaster1.xml"/><Relationship Id="rId80" Type="http://schemas.openxmlformats.org/officeDocument/2006/relationships/presProps" Target="presProps.xml"/><Relationship Id="rId81" Type="http://schemas.openxmlformats.org/officeDocument/2006/relationships/viewProps" Target="viewProps.xml"/><Relationship Id="rId82" Type="http://schemas.openxmlformats.org/officeDocument/2006/relationships/theme" Target="theme/theme1.xml"/><Relationship Id="rId8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svg"/><Relationship Id="rId3" Type="http://schemas.openxmlformats.org/officeDocument/2006/relationships/image" Target="../media/image-28-3.png"/><Relationship Id="rId4" Type="http://schemas.openxmlformats.org/officeDocument/2006/relationships/image" Target="../media/image-28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svg"/><Relationship Id="rId3" Type="http://schemas.openxmlformats.org/officeDocument/2006/relationships/image" Target="../media/image-37-3.png"/><Relationship Id="rId4" Type="http://schemas.openxmlformats.org/officeDocument/2006/relationships/image" Target="../media/image-37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svg"/><Relationship Id="rId3" Type="http://schemas.openxmlformats.org/officeDocument/2006/relationships/image" Target="../media/image-39-3.png"/><Relationship Id="rId4" Type="http://schemas.openxmlformats.org/officeDocument/2006/relationships/image" Target="../media/image-39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svg"/><Relationship Id="rId3" Type="http://schemas.openxmlformats.org/officeDocument/2006/relationships/image" Target="../media/image-45-3.png"/><Relationship Id="rId4" Type="http://schemas.openxmlformats.org/officeDocument/2006/relationships/image" Target="../media/image-45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svg"/><Relationship Id="rId3" Type="http://schemas.openxmlformats.org/officeDocument/2006/relationships/image" Target="../media/image-49-3.png"/><Relationship Id="rId4" Type="http://schemas.openxmlformats.org/officeDocument/2006/relationships/image" Target="../media/image-49-4.svg"/><Relationship Id="rId5" Type="http://schemas.openxmlformats.org/officeDocument/2006/relationships/image" Target="../media/image-49-5.png"/><Relationship Id="rId6" Type="http://schemas.openxmlformats.org/officeDocument/2006/relationships/image" Target="../media/image-49-6.svg"/><Relationship Id="rId7" Type="http://schemas.openxmlformats.org/officeDocument/2006/relationships/image" Target="../media/image-49-7.png"/><Relationship Id="rId8" Type="http://schemas.openxmlformats.org/officeDocument/2006/relationships/image" Target="../media/image-49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svg"/><Relationship Id="rId3" Type="http://schemas.openxmlformats.org/officeDocument/2006/relationships/image" Target="../media/image-53-3.png"/><Relationship Id="rId4" Type="http://schemas.openxmlformats.org/officeDocument/2006/relationships/image" Target="../media/image-53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svg"/><Relationship Id="rId3" Type="http://schemas.openxmlformats.org/officeDocument/2006/relationships/image" Target="../media/image-61-3.png"/><Relationship Id="rId4" Type="http://schemas.openxmlformats.org/officeDocument/2006/relationships/image" Target="../media/image-61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svg"/><Relationship Id="rId3" Type="http://schemas.openxmlformats.org/officeDocument/2006/relationships/image" Target="../media/image-62-3.png"/><Relationship Id="rId4" Type="http://schemas.openxmlformats.org/officeDocument/2006/relationships/image" Target="../media/image-62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svg"/><Relationship Id="rId3" Type="http://schemas.openxmlformats.org/officeDocument/2006/relationships/image" Target="../media/image-67-3.png"/><Relationship Id="rId4" Type="http://schemas.openxmlformats.org/officeDocument/2006/relationships/image" Target="../media/image-67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image" Target="../media/image-70-2.svg"/><Relationship Id="rId3" Type="http://schemas.openxmlformats.org/officeDocument/2006/relationships/image" Target="../media/image-70-3.png"/><Relationship Id="rId4" Type="http://schemas.openxmlformats.org/officeDocument/2006/relationships/image" Target="../media/image-70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2-2.svg"/><Relationship Id="rId3" Type="http://schemas.openxmlformats.org/officeDocument/2006/relationships/image" Target="../media/image-72-3.png"/><Relationship Id="rId4" Type="http://schemas.openxmlformats.org/officeDocument/2006/relationships/image" Target="../media/image-72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74-2.png"/><Relationship Id="rId3" Type="http://schemas.openxmlformats.org/officeDocument/2006/relationships/image" Target="../media/image-74-3.png"/><Relationship Id="rId4" Type="http://schemas.openxmlformats.org/officeDocument/2006/relationships/image" Target="../media/image-7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A7F3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Ünite 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85800" y="12344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Denetimli Öğrenme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14884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B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seçimi, genelleme, gürültü, çok sınıflı öğrenme ve regresyon</a:t>
            </a:r>
            <a:endParaRPr lang="en-US" sz="1900" dirty="0"/>
          </a:p>
        </p:txBody>
      </p:sp>
      <p:pic>
        <p:nvPicPr>
          <p:cNvPr id="5" name="Image 0" descr="/mnt/data/sekil_2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7217" y="2926080"/>
            <a:ext cx="4179245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6217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Ders slaytı · kapsamlı anlatım + çözümlü örnekler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Giriş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 ünitede ana hedef ne?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14300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Makine öğrenmesinde amaç yalnızca geçmiş veriyi ezberlemek değil, yeni örneklerde doğru tahmin yapabilmektir.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2057400"/>
          <a:ext cx="10424160" cy="2011680"/>
        </p:xfrm>
        <a:graphic>
          <a:graphicData uri="http://schemas.openxmlformats.org/drawingml/2006/table">
            <a:tbl>
              <a:tblPr/>
              <a:tblGrid>
                <a:gridCol w="3474720"/>
                <a:gridCol w="3474720"/>
                <a:gridCol w="3474720"/>
              </a:tblGrid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Veri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Genelleme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Etiketli örnekler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Hipotez sınıfından seçilen kural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Görülmemiş örneklerde başarı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x: giriş özellikleri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r: doğru cevap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h(x): tahmin üreten fonksiyon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Eğitim hatası düşük olsa bile test hatası yüksek olabilir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914400" y="4434840"/>
            <a:ext cx="1024128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Sınıflandırmada çıktı sınıftır: aile arabası mı?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Regresyonda çıktı sayısaldır: fiyat kaç?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 seçimi, gürültü ve kapasite genelleme başarısını belirler.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Giriş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Öğrenme çıktıları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143000"/>
            <a:ext cx="10789920" cy="4892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Pozitif/negatif örneklerle bir sınıfın nasıl öğrenildiğini açıklayabileceksiniz.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Hipotez sınıfı, hipotez, ampirik hata ve genelleme kavramlarını ayırt edeceksiniz.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VC boyutu, PAC öğrenme, gürültü ve bias–variance dengesini yorumlayacaksınız.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Çok sınıflı öğrenmede OvR ve OvO stratejilerini formülleriyle kullanabileceksiniz.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Regresyonda MSE ve doğrusal regresyon katsayılarını çözümlü örnek üzerinden hesaplayabileceksiniz.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Model, loss function ve optimization bileşenleriyle bir denetimli öğrenme algoritmasını özetleyebileceksiniz.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Giriş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Ünite akışı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097280"/>
          <a:ext cx="10881360" cy="507492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6343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2.1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Örneklerden sınıf öğrenme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Aile arabası örneği, H ve h, hata, S/G, marj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2.2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VC boyutu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Shattering ve model kapasitesi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2.3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PAC öğrenme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ε hata, δ güven, örnek sayısı sınırı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2.4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Gürültü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Bias–variance, Occam, overfitting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2.5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Çok sınıflı öğrenme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One-vs-Rest ve One-vs-One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2.6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Regresyon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MSE, doğrusal regresyon, polinomlar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2.7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 seçimi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Validation/test, cross-validation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2.8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Algoritma bileşenleri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 + loss + optimization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F3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28016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Örneklerden Bir Sınıfı Öğrenme</a:t>
            </a:r>
            <a:endParaRPr lang="en-US" sz="43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0F2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Family car örneği üzerinden temel sınıflandırma mantığı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85800" y="63093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3093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 · Learning a Class from Examples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Denetimli öğrenme fikri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115568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Denetimli öğrenme = giriş verisi + doğru cevaplardan öğrenme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5120640" cy="1463040"/>
        </p:xfrm>
        <a:graphic>
          <a:graphicData uri="http://schemas.openxmlformats.org/drawingml/2006/table">
            <a:tbl>
              <a:tblPr/>
              <a:tblGrid>
                <a:gridCol w="1706880"/>
                <a:gridCol w="1706880"/>
                <a:gridCol w="170688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Örnek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x: giriş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r: etiket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Araç A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Fiyat, motor gücü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Aile arabası = 1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Araç B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Fiyat, motor gücü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Aile arabası değil = 0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0" y="1755648"/>
            <a:ext cx="47548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95682" y="1828800"/>
            <a:ext cx="3965117" cy="9966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3931920"/>
            <a:ext cx="1051560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Model, etiketli örneklerden bir karar kuralı öğrenir.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Daha önce görmediği bir araç için aile arabası mı değil mi tahmini üretir.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 örnekte sadece iki özellik kullanıyoruz: fiyat ve motor gücü.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 · Temel ayrım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İlk büyük ayrım: sınıflandırma ve regresyon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234440"/>
          <a:ext cx="10515600" cy="374904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937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Sınıflandırma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Regresyon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</a:tr>
              <a:tr h="937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Çıktı kategoriktir.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Örnek: aile arabası mı?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Çıktı sayısaldır.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Örnek: fiyat kaç TL?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7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h(x) ∈ {0,1}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g(x) ∈ ℝ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7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Hata: doğru/yanlış sınıf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Hata: gerçek değer ile tahmin farkı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68680" y="53492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ünitede önce sınıflandırma mantığını kuracağız, sonra regresyona geçeceğiz.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 · Veri uzayı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Aile arabası eğitim kümesi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1430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Grafiği nasıl okuyacağız?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4800600" cy="4251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Her nokta bir otomobili temsil eder.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x₁ ekseni: fiyat.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x₂ ekseni: motor gücü.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+: aile arabası; −: aile arabası değil.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Pozitif örneklerin ortak bölgesini bulmaya çalışıyoruz.</a:t>
            </a:r>
            <a:endParaRPr lang="en-US" sz="1800" dirty="0"/>
          </a:p>
        </p:txBody>
      </p:sp>
      <p:pic>
        <p:nvPicPr>
          <p:cNvPr id="9" name="Image 0" descr="/mnt/data/sekil_2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339190"/>
            <a:ext cx="5577840" cy="39053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897880" y="5596128"/>
            <a:ext cx="5577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2.1: Aile arabası sınıfı için eğitim kümesi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 · Matematiksel gösterim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 gösterimi: x ve 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1143000"/>
            <a:ext cx="3017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08362" y="1216152"/>
            <a:ext cx="1646715" cy="99669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206240" y="1143000"/>
            <a:ext cx="3657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15968" y="1363045"/>
            <a:ext cx="3438144" cy="702909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229600" y="114300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39328" y="1471373"/>
            <a:ext cx="2980944" cy="48625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" y="2926080"/>
            <a:ext cx="1024128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x özellik vektörüdür: aracın ölçülen bilgileri.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 etiket veya doğru cevaptır.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t, veri kümesindeki örneği gösterir; zaman anlamına gelmez.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Eğitim kümesi X, N adet etiketli örnekten oluşur.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914400" y="52578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Öğrencilerin karıştırmaması gereken nokta: x₁ bir özelliktir, xᵗ ise t. örneğin vektörüdür.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 · Hypothesis class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Hipotez sınıfı: dikdörtgen varsayımı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1430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Aile arabası için basit varsayım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4800600" cy="4251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Aile arabaları belirli fiyat aralığında olabilir.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Aile arabaları belirli motor gücü aralığında olabilir.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 nedenle sınıf bölgesini dikdörtgen olarak varsayıyoruz.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 varsayım H hipotez sınıfını tanımlar.</a:t>
            </a:r>
            <a:endParaRPr lang="en-US" sz="1800" dirty="0"/>
          </a:p>
        </p:txBody>
      </p:sp>
      <p:pic>
        <p:nvPicPr>
          <p:cNvPr id="9" name="Image 0" descr="/mnt/data/sekil_2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524641"/>
            <a:ext cx="5577840" cy="353439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897880" y="5596128"/>
            <a:ext cx="5577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2.2: Aile arabası sınıfı fiyat–motor gücü uzayında dikdörtgen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 · Hypothesis class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Dikdörtgen hipotezi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1234440"/>
            <a:ext cx="10241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" y="1571439"/>
            <a:ext cx="10021824" cy="469002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834640"/>
          <a:ext cx="4754880" cy="201168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Parametre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Anlamı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p₁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Minimum fiyat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p₂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Maksimum fiyat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e₁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Minimum motor gücü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e₂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Maksimum motor gücü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6217920" y="2880360"/>
            <a:ext cx="493776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Öğrenme algoritmasının görevi bu dört sınırı veriden öğrenmektir.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Dikdörtgenin içi pozitif, dışı negatif kabul edilir.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Hipotez sınıfını biz seçeriz; en iyi hipotezi veri seçtirir.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 · Hypothesis vs hypothesis class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 ile h arasındaki fark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14300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 = tüm olası kuralların kümesi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6400800" y="114300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580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 = seçilen belirli kural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822960" y="182880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688" y="2185266"/>
            <a:ext cx="4901184" cy="338627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400800" y="182880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10528" y="2026359"/>
            <a:ext cx="4535424" cy="65644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14400" y="3657600"/>
            <a:ext cx="102412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H, sistem tasarımcısının getirdiği tümevarımsal yanlılıktır.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h, eğitim verisiyle seçilen özel modeldir.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Aynı H içinde eğitim hatası sıfır olan birden çok h olabilir.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 · Empirical error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Tahmin ve ampirik hata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1097280"/>
            <a:ext cx="5029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688" y="1463704"/>
            <a:ext cx="4809744" cy="73019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217920" y="109728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7648" y="1226715"/>
            <a:ext cx="4901184" cy="120417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3246120"/>
            <a:ext cx="1024128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Ampirik hata eğitim kümesinde yapılan yanlış tahminleri sayar.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Hata oranı istenirse bu toplam N’ye bölünür.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Eğitim hatası düşük olması iyiye işarettir, ama tek başına yeterli değildir.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914400" y="52578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Sınav notu: 𝟙(a≠b) ifadesi, koşul doğruysa 1; yanlışsa 0 döndürür.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 · Classification errors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Hata türleri: FP ve FN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1430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Gerçek sınıf C ile öğrenilen h farklıysa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4800600" cy="4251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True Positive: C=1, h=1.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True Negative: C=0, h=0.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False Positive: C=0, h=1.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False Negative: C=1, h=0.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Farklı hata türlerinin maliyeti farklı olabilir.</a:t>
            </a:r>
            <a:endParaRPr lang="en-US" sz="1800" dirty="0"/>
          </a:p>
        </p:txBody>
      </p:sp>
      <p:pic>
        <p:nvPicPr>
          <p:cNvPr id="9" name="Image 0" descr="/mnt/data/sekil_2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409722"/>
            <a:ext cx="5577840" cy="37642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897880" y="5596128"/>
            <a:ext cx="5577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2.3: Gerçek sınıf C ve öğrenilen hipotez h arasındaki farklar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 · Generalization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Genelleme problemi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11556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Eğitim verisine uyan birçok h olabilir. Asıl soru: yeni örneklerde ne olacak?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2057400"/>
          <a:ext cx="4754880" cy="1920240"/>
        </p:xfrm>
        <a:graphic>
          <a:graphicData uri="http://schemas.openxmlformats.org/drawingml/2006/table">
            <a:tbl>
              <a:tblPr/>
              <a:tblGrid>
                <a:gridCol w="1584960"/>
                <a:gridCol w="1584960"/>
                <a:gridCol w="1584960"/>
              </a:tblGrid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Eğitim doğruluğu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Yeni veride başarı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h₁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%100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%92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h₂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%100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%75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h₃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%98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%90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17920" y="2057400"/>
            <a:ext cx="493776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Makine öğrenmesinde nihai amaç eğitim kümesini kopyalamak değildir.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Genelleme, görülmemiş örneklerde doğru tahmin yapabilmektir.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Sıfır eğitim hatası gerçek sınıfı kesin öğrendiğimiz anlamına gelmez.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52120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58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Temel mesaj: Eğitim hatası model seçimi için tek kriter olmamalıdır.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 · Most specific / most general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S, G ve version space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1430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Tutarlı hipotezlerin sınırları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4800600" cy="4251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S: pozitifleri kapsayan en dar tutarlı hipotez.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G: negatifleri dışarıda bırakan en geniş tutarlı hipotez.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 ile G arasındaki her tutarlı h version space içindedir.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Version space = eğitim verisiyle hâlâ uyumlu olası modeller.</a:t>
            </a:r>
            <a:endParaRPr lang="en-US" sz="1800" dirty="0"/>
          </a:p>
        </p:txBody>
      </p:sp>
      <p:pic>
        <p:nvPicPr>
          <p:cNvPr id="9" name="Image 0" descr="/mnt/data/sekil_2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284001"/>
            <a:ext cx="5577840" cy="401567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897880" y="5596128"/>
            <a:ext cx="5577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2.4: S en özel, G en genel hipotezdir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 · Candidate elimination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Aday eleme fikri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0972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Öğrenme, uyumsuz hipotezleri eleme süreci olarak görülebilir.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10515600" cy="214884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  <a:gridCol w="2628900"/>
              </a:tblGrid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Yeni örnek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Etiket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 nasıl değişir?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 nasıl değişir?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Pozitif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Gerekirse genişler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Pozitifi dışarıda bırakanlar elenir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Negatif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Negatifi içeren özel hipotezler elenir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Gerekirse daralır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914400" y="4663440"/>
            <a:ext cx="102412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Her yeni etiketli örnek version space’i daraltır.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 arttıkça olası hipotez sayısı azalır.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Yine de aynı veriyle tutarlı birden fazla model kalabilir.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 · Margin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Marj: karar sınırına güven payı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1430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Neden en büyük marj?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4800600" cy="4251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 ve G arasında birden fazla tutarlı h olabilir.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Marj, karar sınırı ile en yakın örnek arasındaki uzaklıktır.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Daha büyük marj, küçük değişimlere karşı daha dayanıklı karar anlamına gelebilir.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SVM mantığının temelinde bu fikir bulunur.</a:t>
            </a:r>
            <a:endParaRPr lang="en-US" sz="1800" dirty="0"/>
          </a:p>
        </p:txBody>
      </p:sp>
      <p:pic>
        <p:nvPicPr>
          <p:cNvPr id="9" name="Image 0" descr="/mnt/data/sekil_2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448384"/>
            <a:ext cx="5577840" cy="368691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897880" y="5596128"/>
            <a:ext cx="5577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2.5: En büyük marjlı hipotez tercih edilir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 · Case of doubt / capacity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Belirsizlik ve model kapasitesi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143000"/>
            <a:ext cx="557784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Bazı uygulamalarda yanlış kararın maliyeti yüksektir; model emin değilse kararı reddedebilir.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 ile G arasındaki bölge “case of doubt” olarak yorumlanabilir.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Hipotez sınıfı H, gerçek sınıf C’yi temsil edecek kadar esnek olmalıdır.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Aşırı düşük kapasite underfitting; aşırı yüksek kapasite overfitting riski doğurur.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766560" y="132588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76288" y="1619549"/>
            <a:ext cx="3986784" cy="41850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0" y="28803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580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Amaç: yeterince esnek, ama gereksiz karmaşık olmayan bir H seçmek.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F3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28016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Vapnik–Chervonenkis Boyutu</a:t>
            </a:r>
            <a:endParaRPr lang="en-US" sz="43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0F2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kapasitesini shattering üzerinden anlamak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85800" y="63093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3093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2.2 · VC Dimension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VC boyutu neyi ölçer?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VC boyutu, bir hipotez sınıfının kaç noktayı bütün olası etiketlemelerle ayırabileceğini ölçer.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97280" y="2011680"/>
            <a:ext cx="9966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7008" y="2209575"/>
            <a:ext cx="9747504" cy="56432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3657600"/>
            <a:ext cx="1024128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Eğer H bu etiketlemelerin hepsini gerçekleştirebiliyorsa, H bu N noktayı shatter eder.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VC(H), shatter edilebilen maksimum nokta sayısıdır.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 sayı hipotez sınıfının kapasitesini anlatır.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2.2 · Shattering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Shattering mantığı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188720"/>
          <a:ext cx="4754880" cy="237744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Nokta sayısı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Olası etiketleme sayısı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2² = 4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2³ = 8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2⁴ = 16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2⁵ = 32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217920" y="1234440"/>
            <a:ext cx="484632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Tek bir hipotezin tüm etiketlemeleri çözmesi gerekmez.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Her etiketleme için H içinden uygun bir h bulunabilmelidir.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 nedenle VC boyutu modelin “esneklik” ölçüsüdür.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438912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Örnek: 4 nokta için 16 farklı öğrenme problemi vardır.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2.2 · Axis-aligned rectangles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Dikdörtgenlerin VC boyutu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1430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İki boyutta eksenlere paralel dikdörtgen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4800600" cy="4251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Uygun yerleştirilmiş dört nokta shatter edilebilir.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 nedenle VC(H) ≥ 4.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Beş noktanın tüm etiketlemeleri dikdörtgenlerle gerçekleştirilemez.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Sonuç: VC(H)=4.</a:t>
            </a:r>
            <a:endParaRPr lang="en-US" sz="1800" dirty="0"/>
          </a:p>
        </p:txBody>
      </p:sp>
      <p:pic>
        <p:nvPicPr>
          <p:cNvPr id="9" name="Image 0" descr="/mnt/data/sekil_2_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473820"/>
            <a:ext cx="5577840" cy="3636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897880" y="5596128"/>
            <a:ext cx="5577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2.6: Eksenlere paralel dikdörtgen dört noktayı shatter edebilir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2.2 · Yorum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VC boyutu ne demek değildir?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1430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VC(H)=4 demek “bu model sadece 4 örnek öğrenebilir” demek değildir.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1024128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Daha fazla nokta içeren birçok düzenli veri kümesi yine öğrenilebilir.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VC boyutu en kötü durumdaki tüm olası etiketlemeleri dikkate alır.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Gerçek dünyada yakın örnekler çoğu zaman benzer etiketlidir.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Çok büyük kapasite genelleme sorunları doğurabilir.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9834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Küçük VC boyutu pratikte kullanılmaz anlamına gelmez; genelleme açısından avantaj bile olabilir.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F3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28016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PAC Öğrenme</a:t>
            </a:r>
            <a:endParaRPr lang="en-US" sz="43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0F2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Kaç örnek yeterli? Hata ve güven sınırları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85800" y="63093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3093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2.3 · PAC Learning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PAC: Probably Approximately Correct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115568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İki hedefi aynı anda isteriz:</a:t>
            </a:r>
            <a:endParaRPr lang="en-US" sz="24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783080"/>
          <a:ext cx="10241280" cy="1371600"/>
        </p:xfrm>
        <a:graphic>
          <a:graphicData uri="http://schemas.openxmlformats.org/drawingml/2006/table">
            <a:tbl>
              <a:tblPr/>
              <a:tblGrid>
                <a:gridCol w="5120640"/>
                <a:gridCol w="512064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Approximately correct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Hata olasılığı en fazla ε olsun.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Probably correct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 durum en az 1−δ olasılıkla gerçekleşsin.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1737360" y="3749040"/>
            <a:ext cx="8686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54512" y="3822192"/>
            <a:ext cx="8052495" cy="8595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507492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C△h: gerçek sınıf ile öğrenilen hipotezin farklı karar verdiği bölge.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2.3 · Strip argument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PAC örneği: dört hata şeridi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1430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h=S en dar dikdörtgense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4800600" cy="4251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 ile gerçek sınıf C arasındaki fark dört dikdörtgen şerittir.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Her şeridin olasılığını ε/4 ile sınırlandırırsak toplam hata ≤ ε olur.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Köşe örtüşmeleri iki kez sayıldığı için bu bir üst sınırdır.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 fikir örnek sayısı sınırına götürür.</a:t>
            </a:r>
            <a:endParaRPr lang="en-US" sz="1800" dirty="0"/>
          </a:p>
        </p:txBody>
      </p:sp>
      <p:pic>
        <p:nvPicPr>
          <p:cNvPr id="9" name="Image 0" descr="/mnt/data/image(6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769887"/>
            <a:ext cx="5577840" cy="304390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897880" y="5596128"/>
            <a:ext cx="5577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2.7: h ile C arasındaki fark dört dikdörtgen şerit olarak düşünülür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2.3 · Sample complexity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PAC örnek sayısı sınırı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1143000"/>
            <a:ext cx="48463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42106" y="1216152"/>
            <a:ext cx="2790908" cy="9509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126480" y="1188720"/>
            <a:ext cx="502920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ε azalırsa daha küçük hata isteriz → daha fazla örnek gerekir.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δ azalırsa daha yüksek güven isteriz → daha fazla örnek gerekir.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 örnekte ε etkisi doğrusal, δ etkisi logaritmiktir.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1440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Kısa hesap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14400" y="3657600"/>
            <a:ext cx="102412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12189" y="3730752"/>
            <a:ext cx="8245701" cy="9052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14400" y="516636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değer belirli varsayımlar altındaki teorik üst sınırdır; her problem için evrensel örnek sayısı değildir.</a:t>
            </a:r>
            <a:endParaRPr lang="en-US" sz="15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A5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F3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28016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Gürültü ve Model Karmaşıklığı</a:t>
            </a:r>
            <a:endParaRPr lang="en-US" sz="43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0F2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 kusurlu olduğunda basit ve karmaşık modellerin dengesi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85800" y="63093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3093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2.4 · Noise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Gürültü nedir?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1155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Gürültü = verideki istenmeyen anormallik veya açıklanamayan rastgele bileşen</a:t>
            </a:r>
            <a:endParaRPr lang="en-US" sz="23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920240"/>
          <a:ext cx="10424160" cy="2743200"/>
        </p:xfrm>
        <a:graphic>
          <a:graphicData uri="http://schemas.openxmlformats.org/drawingml/2006/table">
            <a:tbl>
              <a:tblPr/>
              <a:tblGrid>
                <a:gridCol w="5212080"/>
                <a:gridCol w="521208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Kaynak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Örnek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Ölçüm hatası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Fiyat veya motor gücü yanlış kaydedilmiş olabilir.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Etiket hatası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Aile arabası olan bir araç negatif etiketlenmiş olabilir.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Gizli değişkenler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Koltuk sayısı, marka algısı veya güvenlik donanımı modele dahil edilmemiş olabilir.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914400" y="5257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Gürültü varsa sıfır eğitim hatası hedeflemek her zaman doğru strateji değildir.</a:t>
            </a:r>
            <a:endParaRPr lang="en-US" sz="1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2.4 · Simple vs complex hypothesis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Gürültü varsa sınır karmaşıklaşır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1430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ne anlatıyor?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4800600" cy="4251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Dikdörtgen h₁ basit bir hipotezdir.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Dalgalı h₂ daha karmaşık ve esnektir.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h₂ eğitim verisini mükemmel ayırabilir.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Ama gürültüyü de öğrenirse yeni veride kötüleşebilir.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Basit model biraz hata yapsa da daha iyi genelleyebilir.</a:t>
            </a:r>
            <a:endParaRPr lang="en-US" sz="1800" dirty="0"/>
          </a:p>
        </p:txBody>
      </p:sp>
      <p:pic>
        <p:nvPicPr>
          <p:cNvPr id="9" name="Image 0" descr="/mnt/data/image(7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402080"/>
            <a:ext cx="5577840" cy="3779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897880" y="5596128"/>
            <a:ext cx="5577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2.8: Gürültü durumunda basit ve karmaşık hipotezler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2.4 · Bias / variance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Bias–variance dengesi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143000"/>
          <a:ext cx="10515600" cy="182880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Kavram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Anlamı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Tipik sorun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Bias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Modelin aşırı basit varsayım yapması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Underfitting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Variance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Modelin eğitim verisi değişince çok değişmesi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Overfitting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914400" y="3520440"/>
            <a:ext cx="102412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Çok basit model gerçek fonksiyonu yakalayamaz.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Çok karmaşık model gürültüyü bile takip edebilir.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İyi model, bu iki hata kaynağı arasında denge kurar.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53492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i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karmaşıklığı arttıkça eğitim hatası genellikle azalır; genelleme hatası önce azalır sonra artabilir.</a:t>
            </a:r>
            <a:endParaRPr lang="en-US" sz="158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2.4 · Occam’s razor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Occam’ın Usturası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Karşılaştırılabilir ampirik hata varsa, gereksiz karmaşık olmayan model tercih edilir.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512064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Basit model kullanımı kolaydır.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Eğitimi daha kolaydır ve daha az parametre içerir.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Açıklaması daha kolaydır.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Tekil gürültülü örneklerden daha az etkilenebilir.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10312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A580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Amaç “en basit model” değil, verinin yapısını açıklayacak kadar karmaşık olan en sade modeldir.</a:t>
            </a:r>
            <a:endParaRPr lang="en-US" sz="2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F3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28016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Birden Fazla Sınıfın Öğrenilmesi</a:t>
            </a:r>
            <a:endParaRPr lang="en-US" sz="43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0F2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 sınıflı problemleri ikili sınıflandırmalara dönüştürmek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85800" y="63093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3093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2.5 · Learning Multiple Classes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Çok sınıflı sınıflandırma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İki sınıflı problem: aile arabası mı, değil mi?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 sınıflı problem: her örnek tam olarak bir sınıfa aittir.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14400" y="2331720"/>
            <a:ext cx="4754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" y="2485808"/>
            <a:ext cx="4535424" cy="101770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309360" y="2286000"/>
            <a:ext cx="475488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 artık K boyutlu one-hot vektördür.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Örneğin üç sınıf için [1,0,0] aile arabasını gösterebilir.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Modelin ideal çıktısında yalnızca bir sınıf seçilmelidir.</a:t>
            </a:r>
            <a:endParaRPr lang="en-US" sz="1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2.5 · Family / sports / luxury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Üç sınıflı araç örneği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1430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Şekildeki karar bölgeleri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4800600" cy="4251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Family car, sports car ve luxury sedan olmak üzere üç sınıf var.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Her sınıf için ayrı bir hipotez öğrenilmiş.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“?” bölgeleri: hiçbir sınıf veya birden fazla sınıf seçilmiş olabilir.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 durumda sınıflandırıcı örneği reddedebilir.</a:t>
            </a:r>
            <a:endParaRPr lang="en-US" sz="1800" dirty="0"/>
          </a:p>
        </p:txBody>
      </p:sp>
      <p:pic>
        <p:nvPicPr>
          <p:cNvPr id="9" name="Image 0" descr="/mnt/data/image(8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405446"/>
            <a:ext cx="5577840" cy="377278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897880" y="5596128"/>
            <a:ext cx="5577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2.9: Üç sınıf ve reddetme bölgeleri</a:t>
            </a:r>
            <a:endParaRPr lang="en-US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2.5 · Çok sınıflı stratejiler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One-vs-Rest (OvR / OvA)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11556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 sınıf için K adet ikili sınıflandırıcı eğitilir.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14400" y="187452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" y="2121361"/>
            <a:ext cx="4718304" cy="74075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492240" y="1965960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1968" y="2047342"/>
            <a:ext cx="3986784" cy="79735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4400" y="3749040"/>
            <a:ext cx="102412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Her sınıf “ben mi, diğerleri mi?” sorusunu çözer.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Skor veren modellerde en yüksek skor seçilebilir.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Saf 0/1 çıktıda hiçbir sınıf veya birden fazla sınıf seçilirse reject yapılabilir.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2.5 · Çözümlü örnek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OvR örneği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Üç sınıf: Family (F), Sports (S), Luxury (L)</a:t>
            </a:r>
            <a:endParaRPr lang="en-US" sz="18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691640"/>
          <a:ext cx="6858000" cy="210312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286000"/>
              </a:tblGrid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Sınıflandırıcı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Soru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Skor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h_F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Family mi, diğerleri mi?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0.72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h_S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Sports mı, diğerleri mi?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0.20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h_L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Luxury mi, diğerleri mi?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0.43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914400" y="4297680"/>
            <a:ext cx="6858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" y="4514353"/>
            <a:ext cx="6638544" cy="48105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0" y="1920240"/>
            <a:ext cx="310896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Sonuç: araç Family car sınıfına atanır.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Skorlar kalibre değilse argmax yine karar verir ama güven yorumu dikkat ister.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2.5 · Çok sınıflı stratejiler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One-vs-One (OvO)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1155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Her sınıf çifti için ayrı ikili sınıflandırıcı eğitilir.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14400" y="187452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" y="1985410"/>
            <a:ext cx="3986784" cy="69261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035040" y="187452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44768" y="2159328"/>
            <a:ext cx="4809744" cy="34478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4400" y="3429000"/>
            <a:ext cx="102412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Her model yalnızca iki sınıf arasındaki ayrımı öğrenir.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Tahminlerde sınıflar oy toplar.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 çok oy alan sınıf seçilir; eşitlik durumunda ek kural gerekebilir.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2.5 · Çözümlü örnek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OvO örneği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9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143000"/>
          <a:ext cx="6766560" cy="2194560"/>
        </p:xfrm>
        <a:graphic>
          <a:graphicData uri="http://schemas.openxmlformats.org/drawingml/2006/table">
            <a:tbl>
              <a:tblPr/>
              <a:tblGrid>
                <a:gridCol w="2255520"/>
                <a:gridCol w="2255520"/>
                <a:gridCol w="22555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İkili model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Karar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Oy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 vs S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 +1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 vs L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 +1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 vs L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 +1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68680" y="3794760"/>
            <a:ext cx="6766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8408" y="4056583"/>
            <a:ext cx="6547104" cy="43647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92440" y="1280160"/>
            <a:ext cx="329184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Üç sınıf için OvO toplam 3 model kullanır.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K=10 olsaydı 45 model gerekirdi.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OvR daha az model kullanır; OvO bazen ikili sınırları daha net öğrenebilir.</a:t>
            </a:r>
            <a:endParaRPr lang="en-US" sz="162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2.5 · Sınav özeti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OvR ve OvO karşılaştırması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</a:t>
            </a:r>
            <a:endParaRPr lang="en-US" sz="9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10789920" cy="4114800"/>
        </p:xfrm>
        <a:graphic>
          <a:graphicData uri="http://schemas.openxmlformats.org/drawingml/2006/table">
            <a:tbl>
              <a:tblPr/>
              <a:tblGrid>
                <a:gridCol w="3596640"/>
                <a:gridCol w="3596640"/>
                <a:gridCol w="359664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Özellik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OvR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OvO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 sayısı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K(K−1)/2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Her modelin görevi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Bir sınıf vs diğerleri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İki sınıfı ayırmak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Karar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argmax skor / tek pozitif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Oy çokluğu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Dengesiz “diğerleri” sınıfı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Çok sayıda model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68680" y="55321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Sınavda istenirse: model sayısını yaz, formülü kur, küçük örnekte karar sonucunu göster.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F3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28016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Regresyon</a:t>
            </a:r>
            <a:endParaRPr lang="en-US" sz="43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0F2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Sayısal çıktı tahmin etmek: MSE ve doğrusal regresyon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85800" y="63093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3093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2.6 · Regression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Regresyon nedir?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1155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Sınıflandırmada çıktı sınıftır; regresyonda çıktı gerçek sayıdır.</a:t>
            </a:r>
            <a:endParaRPr lang="en-US" sz="24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874520"/>
          <a:ext cx="10515600" cy="274320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Problem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Giriş x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Çıktı r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Araç sınıfı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Fiyat, motor gücü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Family / Sports / Luxury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Araç fiyatı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Kilometre, yaş, marka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Sayısal fiyat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 fiyatı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m², oda, konum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Sayısal fiyat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114800" y="507492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02249" y="5148072"/>
            <a:ext cx="2248461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2.6 · Function learning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Interpolation ve extrapolation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</a:t>
            </a:r>
            <a:endParaRPr lang="en-US" sz="9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143000"/>
          <a:ext cx="10515600" cy="219456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Kavram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Anlamı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Örnek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Interpolation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Eğitim aralığının içinde tahmin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2010–2020 verisiyle 2015 tahmini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Extrapolation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Eğitim aralığının dışında tahmin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2010–2020 verisiyle 2030 tahmini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914400" y="3931920"/>
            <a:ext cx="102412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Gürültü yoksa fonksiyon noktaların tamamından geçebilir.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Polinom interpolasyonunda N noktaya en fazla N−1 dereceli polinom uydurulabilir.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Ekstrapolasyon daha risklidir çünkü gözlem dışına genelleme yapar.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2.6 · Noise in regression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Regresyonda gürültü modeli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1234440"/>
            <a:ext cx="4754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" y="1323256"/>
            <a:ext cx="4535424" cy="8282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0" y="1234440"/>
            <a:ext cx="4572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10528" y="1346747"/>
            <a:ext cx="4352544" cy="78122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2880360"/>
            <a:ext cx="1024128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f(x): gerçek ama bilinmeyen fonksiyon.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ε: rastgele gürültü.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z: gözlemleyemediğimiz gizli değişkenler.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Örneğin araç fiyatını sadece kilometreyle tahmin edersek marka, kaza, bakım durumu gizli kalır.</a:t>
            </a:r>
            <a:endParaRPr lang="en-US" sz="1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2.6 · Empirical error for regression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MSE: Ortalama Kare Hatası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1234440"/>
            <a:ext cx="10241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40560" y="1307592"/>
            <a:ext cx="4388960" cy="9966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2926080"/>
            <a:ext cx="1024128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Gerçek değer ile tahmin arasındaki fark alınır.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Farkın karesi alınır: negatif ve pozitif hatalar birbirini götürmez.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Büyük hatalar daha fazla cezalandırılır.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MSE’nin birimi hedef değişkenin karesidir; RMSE tekrar orijinal birime döner.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2.6 · Linear regression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Doğrusal regresyon modeli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68680" y="1188720"/>
            <a:ext cx="104241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04424" y="1261872"/>
            <a:ext cx="6152672" cy="9052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2834640"/>
            <a:ext cx="1024128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wⱼ: j. özelliğin ağırlığı.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w₀: sabit terim / intercept.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Öğrenme algoritması w değerlerini veriden bulur.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Tek girişli örnekte: g(x)=w₁x+w₀.</a:t>
            </a:r>
            <a:endParaRPr lang="en-US" sz="1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2.6 · Çözümlü örnek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Sınav tipi örnek: regresyon + MSE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Soru: Aşağıdaki eğitim verisi için doğrusal regresyon modelini bulun ve MSE hesaplayın.</a:t>
            </a:r>
            <a:endParaRPr lang="en-US" sz="18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783080"/>
          <a:ext cx="5669280" cy="2011680"/>
        </p:xfrm>
        <a:graphic>
          <a:graphicData uri="http://schemas.openxmlformats.org/drawingml/2006/table">
            <a:tbl>
              <a:tblPr/>
              <a:tblGrid>
                <a:gridCol w="1889760"/>
                <a:gridCol w="1889760"/>
                <a:gridCol w="18897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Araç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x: km (bin)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r: fiyat (bin TL)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29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132320" y="1920240"/>
            <a:ext cx="3474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42048" y="2110827"/>
            <a:ext cx="3255264" cy="44178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4389120"/>
            <a:ext cx="102412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Sınavda adımlar: ortalamaları bul, w₁ hesapla, w₀ hesapla, tahminleri üret, MSE hesapla.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Birimler bin km ve bin TL olduğu için sonuçları buna göre yorumla.</a:t>
            </a:r>
            <a:endParaRPr lang="en-US" sz="17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2.6 · Çözümlü örnek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Çözüm 1: katsayıları bulalım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1097280"/>
            <a:ext cx="10607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60800" y="1170432"/>
            <a:ext cx="8131361" cy="72237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22960" y="233172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66496" y="2404872"/>
            <a:ext cx="3399329" cy="90525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400800" y="233172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10528" y="2527613"/>
            <a:ext cx="4901184" cy="65977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463040" y="4251960"/>
            <a:ext cx="9326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72768" y="4477822"/>
            <a:ext cx="9107424" cy="46267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14400" y="553212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A580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Model: g(x)=−0.45x+42.33</a:t>
            </a:r>
            <a:endParaRPr lang="en-US" sz="2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2.6 · Çözümlü örnek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Çözüm 2: tahminler ve MSE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</a:t>
            </a:r>
            <a:endParaRPr lang="en-US" sz="9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51560"/>
          <a:ext cx="10972800" cy="242316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x</a:t>
                      </a:r>
                      <a:endParaRPr lang="en-US" sz="13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</a:t>
                      </a:r>
                      <a:endParaRPr lang="en-US" sz="13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g(x)=−0.45x+42.33</a:t>
                      </a:r>
                      <a:endParaRPr lang="en-US" sz="13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hata r−g(x)</a:t>
                      </a:r>
                      <a:endParaRPr lang="en-US" sz="13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hata²</a:t>
                      </a:r>
                      <a:endParaRPr lang="en-US" sz="13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</a:t>
                      </a:r>
                      <a:endParaRPr lang="en-US" sz="13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</a:t>
                      </a:r>
                      <a:endParaRPr lang="en-US" sz="13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37.83</a:t>
                      </a:r>
                      <a:endParaRPr lang="en-US" sz="13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0.17</a:t>
                      </a:r>
                      <a:endParaRPr lang="en-US" sz="13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0.028</a:t>
                      </a:r>
                      <a:endParaRPr lang="en-US" sz="13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</a:t>
                      </a:r>
                      <a:endParaRPr lang="en-US" sz="13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</a:t>
                      </a:r>
                      <a:endParaRPr lang="en-US" sz="13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33.33</a:t>
                      </a:r>
                      <a:endParaRPr lang="en-US" sz="13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−0.33</a:t>
                      </a:r>
                      <a:endParaRPr lang="en-US" sz="13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0.111</a:t>
                      </a:r>
                      <a:endParaRPr lang="en-US" sz="13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</a:t>
                      </a:r>
                      <a:endParaRPr lang="en-US" sz="13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29</a:t>
                      </a:r>
                      <a:endParaRPr lang="en-US" sz="13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28.83</a:t>
                      </a:r>
                      <a:endParaRPr lang="en-US" sz="13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0.17</a:t>
                      </a:r>
                      <a:endParaRPr lang="en-US" sz="13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0.028</a:t>
                      </a:r>
                      <a:endParaRPr lang="en-US" sz="13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914400" y="4023360"/>
            <a:ext cx="10241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5250" y="4096512"/>
            <a:ext cx="6479579" cy="7680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5349240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Yorum: Ortalama kare hata yaklaşık 0.056 (bin TL)². RMSE ≈ 0.236 bin TL yani yaklaşık 236 TL.</a:t>
            </a:r>
            <a:endParaRPr lang="en-US" sz="16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2.6 · Polynomial regression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Polinom derecesi ve overfitting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1430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Şekilde ne oluyor?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4800600" cy="4251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Doğrusal model çok basit kalabilir.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İkinci dereceden polinom trendi daha iyi yakalayabilir.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Altıncı dereceden polinom eğitim noktalarını mükemmel takip eder.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Ama bu gerçek eğrinin böyle olduğu anlamına gelmez.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Regresyonda da Occam ilkesi geçerlidir.</a:t>
            </a:r>
            <a:endParaRPr lang="en-US" sz="1800" dirty="0"/>
          </a:p>
        </p:txBody>
      </p:sp>
      <p:pic>
        <p:nvPicPr>
          <p:cNvPr id="9" name="Image 0" descr="/mnt/data/image(9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202136"/>
            <a:ext cx="5577840" cy="417940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897880" y="5596128"/>
            <a:ext cx="5577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2.10: Aynı noktalara farklı derecede polinomlar uydurulmuştur</a:t>
            </a:r>
            <a:endParaRPr lang="en-US" sz="11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F3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28016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Seçimi ve Genelleme</a:t>
            </a:r>
            <a:endParaRPr lang="en-US" sz="43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0F2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Doğru hipotez sınıfını seçmek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85800" y="63093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3093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2.7 · Ill-posed learning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Boolean fonksiyonlardan çıkarılan ders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1143000"/>
            <a:ext cx="10241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" y="1236793"/>
            <a:ext cx="10021824" cy="6810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14400" y="242316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4128" y="2625466"/>
            <a:ext cx="4809744" cy="50978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09360" y="2331720"/>
            <a:ext cx="484632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Her yeni eğitim örneği yanlış tahmin yapan hipotezlerin bir kısmını eler.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Bütün olası girişleri görmezsek çözüm genellikle tek değildir.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 tek başına benzersiz çözüm vermiyorsa problem ill-posed durumdadır.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914400" y="5029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Öğrenme için ek varsayımlar gerekir: inductive bias.</a:t>
            </a:r>
            <a:endParaRPr lang="en-US" sz="1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2.7 · Inductive bias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Inductive bias: öğrenmeyi mümkün kılan varsayım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</a:t>
            </a:r>
            <a:endParaRPr lang="en-US" sz="9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143000"/>
          <a:ext cx="10515600" cy="301752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Problem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İndüktif yanlılık örneği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Aile arabası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Sınıf bölgesi dikdörtgendir.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Dikdörtgen hipotezi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 büyük marjlı dikdörtgeni seç.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Regresyon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Fonksiyon doğrusaldır.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 eğitimi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Kare hata minimize edilsin.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914400" y="48920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Bias burada “taraflılık” değil, modelin öğrenmeyi yönlendiren ön kabulüdür.</a:t>
            </a:r>
            <a:endParaRPr lang="en-US" sz="17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2.7 · Model selection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selection nedir?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1155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training ile model selection aynı şey değildir.</a:t>
            </a:r>
            <a:endParaRPr lang="en-US" sz="24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10515600" cy="219456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Karar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Soru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Örnek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 selection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Hangi model ailesi?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Lineer mi, 2. derece mi, 6. derece mi?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 training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 ailede parametreler ne?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w₀, w₁, w₂ değerleri ne?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914400" y="4709160"/>
            <a:ext cx="102412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Doğru model karmaşıklığını seçmek genelleme için kritiktir.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Eğitim hatası model seçimi için tek başına yeterli değildir.</a:t>
            </a:r>
            <a:endParaRPr lang="en-US" sz="1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2.7 · Generalization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Underfitting ve overfitting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56</a:t>
            </a:r>
            <a:endParaRPr lang="en-US" sz="9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43000"/>
          <a:ext cx="10789920" cy="2834640"/>
        </p:xfrm>
        <a:graphic>
          <a:graphicData uri="http://schemas.openxmlformats.org/drawingml/2006/table">
            <a:tbl>
              <a:tblPr/>
              <a:tblGrid>
                <a:gridCol w="3596640"/>
                <a:gridCol w="3596640"/>
                <a:gridCol w="3596640"/>
              </a:tblGrid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Durum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Sebep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Belirti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Underfitting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 gerçek fonksiyondan daha basit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Eğitim ve test hatası yüksek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Uygun karmaşıklık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 veri yapısına uyumlu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Test/validation hatası düşük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Overfitting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 gereğinden karmaşık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Eğitim hatası düşük, test hatası yüksek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22960" y="457200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688" y="4821760"/>
            <a:ext cx="10296144" cy="323439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2.7 · Üçlü denge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Triple trade-off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115568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Örneklerden öğrenen algoritmalarda üç faktör birlikte düşünülür: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512064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Hipotez sınıfının kapasitesi / model karmaşıklığı.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Eğitim verisinin miktarı.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Yeni örneklerdeki genelleme hatası.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1828800"/>
            <a:ext cx="484632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 arttıkça genelleme hatası genellikle azalır.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Karmaşıklık artınca hata önce azalır sonra artabilir.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Aşırı karmaşık model, veri bulunmayan bölgelerde düzensiz davranabilir.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A580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kapasitesi ↔ Veri miktarı ↔ Genelleme hatası</a:t>
            </a:r>
            <a:endParaRPr lang="en-US" sz="24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2.7 · Evaluation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Training, validation, test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</a:t>
            </a:r>
            <a:endParaRPr lang="en-US" sz="9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10789920" cy="3108960"/>
        </p:xfrm>
        <a:graphic>
          <a:graphicData uri="http://schemas.openxmlformats.org/drawingml/2006/table">
            <a:tbl>
              <a:tblPr/>
              <a:tblGrid>
                <a:gridCol w="3596640"/>
                <a:gridCol w="3596640"/>
                <a:gridCol w="359664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Küme</a:t>
                      </a:r>
                      <a:endParaRPr lang="en-US" sz="14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 için kullanılır?</a:t>
                      </a:r>
                      <a:endParaRPr lang="en-US" sz="14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Kullanım riski</a:t>
                      </a:r>
                      <a:endParaRPr lang="en-US" sz="14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Training</a:t>
                      </a:r>
                      <a:endParaRPr lang="en-US" sz="14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Parametreleri öğrenmek</a:t>
                      </a:r>
                      <a:endParaRPr lang="en-US" sz="14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Ezberleme olabilir</a:t>
                      </a:r>
                      <a:endParaRPr lang="en-US" sz="14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Validation</a:t>
                      </a:r>
                      <a:endParaRPr lang="en-US" sz="14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Model/hyperparameter seçmek</a:t>
                      </a:r>
                      <a:endParaRPr lang="en-US" sz="14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Çok kullanılırsa eğitim parçası gibi olur</a:t>
                      </a:r>
                      <a:endParaRPr lang="en-US" sz="14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Test</a:t>
                      </a:r>
                      <a:endParaRPr lang="en-US" sz="14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Son performansı tarafsız ölçmek</a:t>
                      </a:r>
                      <a:endParaRPr lang="en-US" sz="14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 seçiminde kullanılmamalı</a:t>
                      </a:r>
                      <a:endParaRPr lang="en-US" sz="14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68680" y="4892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Benzetme: sınıfta çözülen örnekler = training, deneme/sınav = validation, gerçek meslek hayatı = test.</a:t>
            </a:r>
            <a:endParaRPr lang="en-US" sz="16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2.7 · Evaluation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Cross-validation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Tek bir veri bölünmesi rastlantısal olabilir; farklı bölünmelerle değerlendirmek daha güvenilir olur.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914400" y="205740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13432" y="2130552"/>
            <a:ext cx="2688336" cy="7680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0" y="2011680"/>
            <a:ext cx="438912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 K parçaya ayrılır.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Her turda bir parça validation olarak kullanılır.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Hata değerleri ortalanır.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 kümesi yine en son ve ayrı tutulmalıdır.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14400" y="512064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Sınav uyarısı: Validation hatası model seçimi için kullanıldıysa, nihai performans olarak raporlanmamalıdır.</a:t>
            </a:r>
            <a:endParaRPr lang="en-US" sz="162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F3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28016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Denetimli Öğrenme Algoritmasının Bileşenleri</a:t>
            </a:r>
            <a:endParaRPr lang="en-US" sz="43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0F2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+ loss function + optimization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85800" y="63093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3093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2.8 · Dimensions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Genel denetimli öğrenme biçimi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1143000"/>
            <a:ext cx="4389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" y="1260121"/>
            <a:ext cx="4169664" cy="68015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0" y="1143000"/>
            <a:ext cx="4389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10528" y="1350020"/>
            <a:ext cx="4169664" cy="500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2743200"/>
            <a:ext cx="1024128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xᵗ: giriş; rᵗ: istenen çıktı.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İki sınıfta r∈{0,1}.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 sınıfta r one-hot vektördür.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Regresyonda r∈ℝ.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iid: örnekler bağımsız ve aynı dağılımdan gelir.</a:t>
            </a:r>
            <a:endParaRPr lang="en-US" sz="1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2.8 · Model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karar: model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114300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23987" y="1216152"/>
            <a:ext cx="2021305" cy="7680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0" y="1143000"/>
            <a:ext cx="576072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g(·) model ailesini tanımlar.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θ parametreleri temsil eder.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Belirli bir θ değeri, belirli bir h hipotezini üretir.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Örnek: dikdörtgende θ dört sınırdır; doğrusal regresyonda θ=(w₁,w₀).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14400" y="4069080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4128" y="4184551"/>
            <a:ext cx="4352544" cy="68345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4251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seçimi = hangi H? Eğitim = θ nasıl ayarlanır?</a:t>
            </a:r>
            <a:endParaRPr lang="en-US" sz="1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2.8 · Loss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karar: loss function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1143000"/>
            <a:ext cx="102412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55593" y="1216152"/>
            <a:ext cx="4758894" cy="859536"/>
          </a:xfrm>
          <a:prstGeom prst="rect">
            <a:avLst/>
          </a:prstGeom>
        </p:spPr>
      </p:pic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834640"/>
          <a:ext cx="10241280" cy="2194560"/>
        </p:xfrm>
        <a:graphic>
          <a:graphicData uri="http://schemas.openxmlformats.org/drawingml/2006/table">
            <a:tbl>
              <a:tblPr/>
              <a:tblGrid>
                <a:gridCol w="5120640"/>
                <a:gridCol w="51206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Problem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Loss örneği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Sınıflandırma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0–1 loss: tahmin doğru mu yanlış mı?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Regresyon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Kare hata: (r−g(x))²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Robust regresyon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MAE veya Huber loss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2.8 · Optimization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karar: optimization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1234440"/>
            <a:ext cx="102412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30530" y="1307592"/>
            <a:ext cx="5009020" cy="8595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2834640"/>
            <a:ext cx="1024128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argmin, hatayı en küçük yapan parametre değerini döndürür.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Bazı modellerde analitik çözüm vardır: doğrusal regresyon gibi.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Bazı modellerde sayısal optimizasyon gerekir.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Birden fazla yerel minimum varsa optimizasyon zorlaşabilir.</a:t>
            </a:r>
            <a:endParaRPr lang="en-US" sz="1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2.8 · Başarı koşulları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Başarılı öğrenme için üç koşul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65</a:t>
            </a:r>
            <a:endParaRPr lang="en-US" sz="90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234440"/>
          <a:ext cx="10515600" cy="274320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Koşul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Açıklama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Yeterli kapasite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 gerçek fonksiyonu yaklaşık temsil edebilmeli.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Yeterli veri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Doğru/iyi hipotezi seçmeye yetecek örnek olmalı.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İyi optimizasyon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Veri verildiğinde uygun θ bulunabilmeli.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914400" y="48006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Makine öğrenmesi algoritmaları çoğunlukla üç noktada farklılaşır: model, loss, optimization.</a:t>
            </a:r>
            <a:endParaRPr lang="en-US" sz="1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EA5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F3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2.10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28016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Alıştırmalar ve Sınavlık Noktalar</a:t>
            </a:r>
            <a:endParaRPr lang="en-US" sz="43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0F2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Ünitenin kavramlarını pekiştirme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85800" y="63093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3093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2.10 · Exercises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Alıştırma 1: daire ve elips hipotezi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143000"/>
            <a:ext cx="5760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6968" y="1398366"/>
            <a:ext cx="5541264" cy="4036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2514600"/>
            <a:ext cx="5760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9264" y="2587752"/>
            <a:ext cx="5376672" cy="7680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66560" y="1280160"/>
            <a:ext cx="448056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Daire parametreleri: merkez (c₁,c₂) ve yarıçap r.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Elips iki eksen için ayrı genişlik sağlar: a ve b.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Fiyat ve motor gücü farklı ölçeklerde olduğu için elips daha mantıklı olabilir.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Eğik elips, fiyat-motor gücü korelasyonunu temsil edebilir.</a:t>
            </a:r>
            <a:endParaRPr lang="en-US" sz="16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2.10 · Exercises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Alıştırma 2: iki dikdörtgenin birleşimi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1430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Avantajı nedir?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4800600" cy="4251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Pozitif örnekler iki ayrık küme oluşturabilir.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Tek dikdörtgen aradaki negatifleri içeri alabilir.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İki dikdörtgen bu ayrık yapıyı temsil eder.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 büyüdükçe kapasite artar; en kötü durumda her pozitif örneğe ayrı dikdörtgen çizilebilir.</a:t>
            </a:r>
            <a:endParaRPr lang="en-US" sz="1800" dirty="0"/>
          </a:p>
        </p:txBody>
      </p:sp>
      <p:pic>
        <p:nvPicPr>
          <p:cNvPr id="9" name="Image 0" descr="/mnt/data/image(10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494536"/>
            <a:ext cx="5577840" cy="3594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897880" y="5596128"/>
            <a:ext cx="5577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2.12: Hipotez sınıfı iki dikdörtgenin birleşimi</a:t>
            </a:r>
            <a:endParaRPr lang="en-US" sz="11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2.10 · Exercises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Alıştırmalar 3–5: maliyet, filtreleme, aktif öğrenme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69</a:t>
            </a:r>
            <a:endParaRPr lang="en-US" sz="900" dirty="0"/>
          </a:p>
        </p:txBody>
      </p:sp>
      <p:graphicFrame>
        <p:nvGraphicFramePr>
          <p:cNvPr id="7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43000"/>
          <a:ext cx="10972800" cy="301752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Soru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Ana fikir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FP/FN maliyeti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FP pahalıysa h, S’ye yakın; FN pahalıysa h, G’ye yakın seçilir.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Gereksiz örnekler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Karar sınırından uzak ve aynı sınıf komşularla çevrili örnekler çıkarılabilir.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Aktif öğrenme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Etiket sorulacak x, S ile G arasındaki belirsizlik bölgesinden seçilir.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1554480" y="4663440"/>
            <a:ext cx="91440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4208" y="4762067"/>
            <a:ext cx="8924544" cy="625706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2.10 · Exercises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Alıştırmalar 6–7: robust regresyon ve denklem 2.17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59761" y="1170432"/>
            <a:ext cx="2864157" cy="72237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217920" y="109728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4045" y="1170432"/>
            <a:ext cx="4791269" cy="7223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2743200"/>
            <a:ext cx="102412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MSE aykırı değerlere duyarlıdır; MAE daha dayanıklıdır.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Huber loss küçük hatalarda MSE, büyük hatalarda MAE gibi davranır.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Denklem 2.17, MSE’nin w₁ ve w₀’a göre türevleri sıfıra eşitlenerek elde edilir.</a:t>
            </a:r>
            <a:endParaRPr lang="en-US" sz="17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2.10 · Exercises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Alıştırma 8: doğrunun VC boyutu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1430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Neden VC=3?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4800600" cy="4251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Aynı doğru üzerinde olmayan üç noktanın bütün etiketlemeleri ayrılabilir.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Dört nokta için ayrıştırılamayan etiketlemeler vardır.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Örneğin karşılıklı köşeleri aynı sınıf olan dörtgen tek doğruyla ayrılamaz.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Sonuç: iki boyutta doğrusal ayırıcının VC boyutu 3’tür.</a:t>
            </a:r>
            <a:endParaRPr lang="en-US" sz="1800" dirty="0"/>
          </a:p>
        </p:txBody>
      </p:sp>
      <p:pic>
        <p:nvPicPr>
          <p:cNvPr id="9" name="Image 0" descr="/mnt/data/image(20260927-085606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2053231"/>
            <a:ext cx="5577840" cy="247721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897880" y="5596128"/>
            <a:ext cx="5577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2.13: Pozitif ve negatif örnekleri ayıran doğru</a:t>
            </a:r>
            <a:endParaRPr lang="en-US" sz="11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2.10 · Exercises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Alıştırmalar 9–10: üçgen VC ve maksimum marj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530352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İki boyutta üçgen hipotez sınıfının VC boyutu 7’dir.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Yedi nokta çember üzerinde uygun yerleştirilirse shatter edilebilir.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Sekiz nokta için dönüşümlü etiketleme üç kenarla ayrılamaz.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309360" y="1143000"/>
            <a:ext cx="4937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19088" y="1357944"/>
            <a:ext cx="4718304" cy="6673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0" y="2926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Maksimum marj fikri: yanlış sınıflandırmayı azaltırken sınırı en yakın örneklerden uzaklaştırmak.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1097280" y="4572000"/>
            <a:ext cx="9966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73245" y="4645152"/>
            <a:ext cx="6615031" cy="768096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2.10 · Exercises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Alıştırma 11: yanlış etiketleri bulmak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143000"/>
            <a:ext cx="105156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 yakın komşularının çoğu farklı etikete sahipse örnek şüpheli olabilir.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Out-of-fold model tahmini, verilen etikete yüksek güvenle karşı çıkıyorsa örnek incelenebilir.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Kesin karar otomatik verilmemeli; şüpheli örnekler uzman kontrolüne gönderilmelidir.</a:t>
            </a:r>
            <a:endParaRPr lang="en-US" sz="1800" dirty="0"/>
          </a:p>
        </p:txBody>
      </p:sp>
      <p:graphicFrame>
        <p:nvGraphicFramePr>
          <p:cNvPr id="7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3429000"/>
          <a:ext cx="10424160" cy="2011680"/>
        </p:xfrm>
        <a:graphic>
          <a:graphicData uri="http://schemas.openxmlformats.org/drawingml/2006/table">
            <a:tbl>
              <a:tblPr/>
              <a:tblGrid>
                <a:gridCol w="5212080"/>
                <a:gridCol w="5212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Kriter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Şüpheli durum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Komşuluk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 komşunun 9’u farklı sınıf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 güveni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Etiket negatif, model %98 pozitif diyor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Manuel kontrol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Alan uzmanı etiketi doğrular veya düzeltir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Genel tekrar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Şekillerle hızlı tekrar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74</a:t>
            </a:r>
            <a:endParaRPr lang="en-US" sz="900" dirty="0"/>
          </a:p>
        </p:txBody>
      </p:sp>
      <p:pic>
        <p:nvPicPr>
          <p:cNvPr id="7" name="Image 0" descr="/mnt/data/sekil_2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038" y="960120"/>
            <a:ext cx="2285525" cy="1600200"/>
          </a:xfrm>
          <a:prstGeom prst="rect">
            <a:avLst/>
          </a:prstGeom>
        </p:spPr>
      </p:pic>
      <p:pic>
        <p:nvPicPr>
          <p:cNvPr id="8" name="Image 1" descr="/mnt/data/sekil_2_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7268" y="960120"/>
            <a:ext cx="2420903" cy="1600200"/>
          </a:xfrm>
          <a:prstGeom prst="rect">
            <a:avLst/>
          </a:prstGeom>
        </p:spPr>
      </p:pic>
      <p:pic>
        <p:nvPicPr>
          <p:cNvPr id="9" name="Image 2" descr="/mnt/data/image(7)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847" y="960120"/>
            <a:ext cx="2361585" cy="1600200"/>
          </a:xfrm>
          <a:prstGeom prst="rect">
            <a:avLst/>
          </a:prstGeom>
        </p:spPr>
      </p:pic>
      <p:pic>
        <p:nvPicPr>
          <p:cNvPr id="10" name="Image 3" descr="/mnt/data/image(9)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7746" y="960120"/>
            <a:ext cx="2135628" cy="16002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8640" y="26517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 Eğitim kümesi</a:t>
            </a:r>
            <a:endParaRPr lang="en-US" sz="1150" dirty="0"/>
          </a:p>
        </p:txBody>
      </p:sp>
      <p:sp>
        <p:nvSpPr>
          <p:cNvPr id="12" name="Text 6"/>
          <p:cNvSpPr/>
          <p:nvPr/>
        </p:nvSpPr>
        <p:spPr>
          <a:xfrm>
            <a:off x="3337560" y="26517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2.5 Marj</a:t>
            </a:r>
            <a:endParaRPr lang="en-US" sz="1150" dirty="0"/>
          </a:p>
        </p:txBody>
      </p:sp>
      <p:sp>
        <p:nvSpPr>
          <p:cNvPr id="13" name="Text 7"/>
          <p:cNvSpPr/>
          <p:nvPr/>
        </p:nvSpPr>
        <p:spPr>
          <a:xfrm>
            <a:off x="6126480" y="26517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2.8 Gürültü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8915400" y="26517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2.10 Regresyon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822960" y="3657600"/>
            <a:ext cx="105156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Sınıflandırma: karar bölgesi ve hipotez sınıfı.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Marj: sınır ile yakın örnekler arasındaki güven payı.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Gürültü: basit model ve karmaşık model dengesi.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Regresyon: sayısal tahmin ve model karmaşıklığı.</a:t>
            </a:r>
            <a:endParaRPr lang="en-US" sz="17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Genel tekrar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Ünitenin ana kavram haritası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1143000"/>
            <a:ext cx="102412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" y="1346654"/>
            <a:ext cx="10021824" cy="415652"/>
          </a:xfrm>
          <a:prstGeom prst="rect">
            <a:avLst/>
          </a:prstGeom>
        </p:spPr>
      </p:pic>
      <p:graphicFrame>
        <p:nvGraphicFramePr>
          <p:cNvPr id="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423160"/>
          <a:ext cx="10241280" cy="3200400"/>
        </p:xfrm>
        <a:graphic>
          <a:graphicData uri="http://schemas.openxmlformats.org/drawingml/2006/table">
            <a:tbl>
              <a:tblPr/>
              <a:tblGrid>
                <a:gridCol w="5120640"/>
                <a:gridCol w="5120640"/>
              </a:tblGrid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Aşama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Temel soru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Veri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x ve r nasıl temsil edilecek?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Hipotez sınıfı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 hangi fonksiyonları içerecek?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Eğitim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 veya θ nasıl bulunacak?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 seçimi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H’nin kapasitesi doğru mu?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Değerlendirme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Yeni örneklerde başarı nasıl ölçülecek?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Genel tekrar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Sınav için kontrol listesi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2 · Denetimli Öğrenme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10789920" cy="5120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 ve h farkını açıklayabiliyor muyum?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Ampirik hata, FP, FN, TP, TN kavramlarını ayırt edebiliyor muyum?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S, G, version space ve marj kavramlarını şekil üzerinden anlatabiliyor muyum?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VC boyutu ve shattering kavramını örnekle açıklayabiliyor muyum?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PAC formülünde ε ve δ’nin etkisini yorumlayabiliyor muyum?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OvR ve OvO için model sayısı ve karar kuralını yazabiliyor muyum?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MSE ve doğrusal regresyon katsayılarını hesaplayabiliyor muyum?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Training / validation / test ayrımını net kurabiliyor muyum?</a:t>
            </a:r>
            <a:endParaRPr lang="en-US" sz="17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Ünite 2 tamamlandı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097280" y="21945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7F3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Son mesaj: iyi model, eğitimi ezberleyen değil; yeni veriye genelleyebilen modeldir.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645920" y="38404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B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 sonraki derste: seçilen algoritmaların bu genel çerçeveye nasıl oturduğunu göreceğiz.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0" y="63093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77</Slides>
  <Notes>77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Ünite 2: Denetimli Öğrenme</dc:title>
  <dc:subject>Ünite 2 Denetimli Öğrenme - Ders Slaytı</dc:subject>
  <dc:creator>OpenAI</dc:creator>
  <cp:lastModifiedBy>OpenAI</cp:lastModifiedBy>
  <cp:revision>1</cp:revision>
  <dcterms:created xsi:type="dcterms:W3CDTF">2026-09-27T12:55:02Z</dcterms:created>
  <dcterms:modified xsi:type="dcterms:W3CDTF">2026-09-27T12:55:02Z</dcterms:modified>
</cp:coreProperties>
</file>