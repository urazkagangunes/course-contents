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</p:sldIdLst>
  <p:notesMasterIdLst>
    <p:notesMasterId r:id="rId1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notesMaster" Target="notesMasters/notesMaster1.xml"/><Relationship Id="rId115" Type="http://schemas.openxmlformats.org/officeDocument/2006/relationships/presProps" Target="presProps.xml"/><Relationship Id="rId116" Type="http://schemas.openxmlformats.org/officeDocument/2006/relationships/viewProps" Target="viewProps.xml"/><Relationship Id="rId117" Type="http://schemas.openxmlformats.org/officeDocument/2006/relationships/theme" Target="theme/theme1.xml"/><Relationship Id="rId1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0"/>
            <a:ext cx="4507992" cy="6858000"/>
          </a:xfrm>
          <a:prstGeom prst="rect">
            <a:avLst/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914400"/>
            <a:ext cx="3383280" cy="3383280"/>
          </a:xfrm>
          <a:prstGeom prst="ellipse">
            <a:avLst/>
          </a:prstGeom>
          <a:solidFill>
            <a:srgbClr val="009D91">
              <a:alpha val="12000"/>
            </a:srgbClr>
          </a:solidFill>
          <a:ln w="25400">
            <a:solidFill>
              <a:srgbClr val="009D91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698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spc="200" kern="0" dirty="0">
                <a:solidFill>
                  <a:srgbClr val="7EE0D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GİRİŞ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941832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Kısıt Tatmin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Problemleri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04672" y="368503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D2E9F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Constraint Satisfaction Problems (CSP)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786384" y="4846320"/>
            <a:ext cx="6035040" cy="54864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521208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7E1E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 ÜNİTE  •  KAPSAMLI TÜRKÇE DERS SUNUMU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04672" y="57607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BB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AIMA (Russell &amp; Norvig, 3. Baskı) | 6.1–6.5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ÜNİTEYE BAKIŞ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 ünitede neler öğreneceğiz?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04088" y="1618488"/>
            <a:ext cx="3630168" cy="4215384"/>
          </a:xfrm>
          <a:prstGeom prst="roundRect">
            <a:avLst>
              <a:gd name="adj" fmla="val 403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" y="1618488"/>
            <a:ext cx="3630168" cy="109728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1832" y="2020824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093976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0976" y="2734056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Modelleme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50976" y="3593592"/>
            <a:ext cx="3081528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Problemi değişkenler, değer kümeleri ve kısıtlarla ifade etme.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4535424" y="1618488"/>
            <a:ext cx="3630168" cy="4215384"/>
          </a:xfrm>
          <a:prstGeom prst="roundRect">
            <a:avLst>
              <a:gd name="adj" fmla="val 403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35424" y="1618488"/>
            <a:ext cx="3630168" cy="109728"/>
          </a:xfrm>
          <a:prstGeom prst="rect">
            <a:avLst/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73168" y="2020824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28616" y="2093976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82312" y="2734056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Çözme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782312" y="3593592"/>
            <a:ext cx="3081528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Kısıt yayılımı, geri izleme ve yerel arama algoritmaları.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366760" y="1618488"/>
            <a:ext cx="3630168" cy="4215384"/>
          </a:xfrm>
          <a:prstGeom prst="roundRect">
            <a:avLst>
              <a:gd name="adj" fmla="val 403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66760" y="1618488"/>
            <a:ext cx="3630168" cy="109728"/>
          </a:xfrm>
          <a:prstGeom prst="rect">
            <a:avLst/>
          </a:prstGeom>
          <a:solidFill>
            <a:srgbClr val="EBA139"/>
          </a:solidFill>
          <a:ln w="12700">
            <a:solidFill>
              <a:srgbClr val="EBA139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04504" y="2020824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BA139"/>
          </a:solidFill>
          <a:ln w="12700">
            <a:solidFill>
              <a:srgbClr val="EBA13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59952" y="2093976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613648" y="2734056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Hızlandırma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8613648" y="3593592"/>
            <a:ext cx="3081528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Değişken seçimi, problem yapısı ve simetriyi kullanma.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ÜNİTEYE BAKIŞ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Daha önceki ünitelerle bağlantı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03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444752"/>
            <a:ext cx="708660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444752"/>
            <a:ext cx="73152" cy="82296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499616"/>
            <a:ext cx="6757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Ünite 3–4: Durum uzayı araması</a:t>
            </a:r>
            <a:endParaRPr lang="en-US" sz="1780" dirty="0"/>
          </a:p>
        </p:txBody>
      </p:sp>
      <p:sp>
        <p:nvSpPr>
          <p:cNvPr id="11" name="Text 9"/>
          <p:cNvSpPr/>
          <p:nvPr/>
        </p:nvSpPr>
        <p:spPr>
          <a:xfrm>
            <a:off x="914400" y="178308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BFS, DFS, A* ve yerel aramada durumlar arası geçişleri öğrenmiştik.</a:t>
            </a:r>
            <a:endParaRPr lang="en-US" sz="1540" dirty="0"/>
          </a:p>
        </p:txBody>
      </p:sp>
      <p:sp>
        <p:nvSpPr>
          <p:cNvPr id="12" name="Shape 10"/>
          <p:cNvSpPr/>
          <p:nvPr/>
        </p:nvSpPr>
        <p:spPr>
          <a:xfrm>
            <a:off x="658368" y="2404872"/>
            <a:ext cx="708660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2404872"/>
            <a:ext cx="73152" cy="82296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459736"/>
            <a:ext cx="6757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Ünite 6: İç yapıyı kullanmak</a:t>
            </a:r>
            <a:endParaRPr lang="en-US" sz="1780" dirty="0"/>
          </a:p>
        </p:txBody>
      </p:sp>
      <p:sp>
        <p:nvSpPr>
          <p:cNvPr id="15" name="Text 13"/>
          <p:cNvSpPr/>
          <p:nvPr/>
        </p:nvSpPr>
        <p:spPr>
          <a:xfrm>
            <a:off x="914400" y="274320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Artık bir durumu {X₁=v₁, X₂=v₂, …} biçiminde açıyoruz.</a:t>
            </a:r>
            <a:endParaRPr lang="en-US" sz="1540" dirty="0"/>
          </a:p>
        </p:txBody>
      </p:sp>
      <p:sp>
        <p:nvSpPr>
          <p:cNvPr id="16" name="Shape 14"/>
          <p:cNvSpPr/>
          <p:nvPr/>
        </p:nvSpPr>
        <p:spPr>
          <a:xfrm>
            <a:off x="658368" y="3364992"/>
            <a:ext cx="708660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364992"/>
            <a:ext cx="73152" cy="82296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419856"/>
            <a:ext cx="6757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Temel kazanç</a:t>
            </a:r>
            <a:endParaRPr lang="en-US" sz="1780" dirty="0"/>
          </a:p>
        </p:txBody>
      </p:sp>
      <p:sp>
        <p:nvSpPr>
          <p:cNvPr id="19" name="Text 17"/>
          <p:cNvSpPr/>
          <p:nvPr/>
        </p:nvSpPr>
        <p:spPr>
          <a:xfrm>
            <a:off x="914400" y="370332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Geçersiz değerleri ve dalları önceden eleyerek aynı çözüme daha az aramayla yaklaşmak.</a:t>
            </a:r>
            <a:endParaRPr lang="en-US" sz="1540" dirty="0"/>
          </a:p>
        </p:txBody>
      </p:sp>
      <p:sp>
        <p:nvSpPr>
          <p:cNvPr id="20" name="Shape 18"/>
          <p:cNvSpPr/>
          <p:nvPr/>
        </p:nvSpPr>
        <p:spPr>
          <a:xfrm>
            <a:off x="8028432" y="1444752"/>
            <a:ext cx="3474720" cy="4443984"/>
          </a:xfrm>
          <a:prstGeom prst="roundRect">
            <a:avLst>
              <a:gd name="adj" fmla="val 4737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1719072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7FE0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ÜNİTENİN FORMÜLÜ</a:t>
            </a:r>
            <a:endParaRPr lang="en-US" sz="1530" dirty="0"/>
          </a:p>
        </p:txBody>
      </p:sp>
      <p:sp>
        <p:nvSpPr>
          <p:cNvPr id="22" name="Text 20"/>
          <p:cNvSpPr/>
          <p:nvPr/>
        </p:nvSpPr>
        <p:spPr>
          <a:xfrm>
            <a:off x="8229600" y="2157984"/>
            <a:ext cx="3017520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CSP = (X, D, C)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X: değişken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D: değer kümesi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C: kısıt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2376" y="731520"/>
            <a:ext cx="8595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0" b="1" dirty="0">
                <a:solidFill>
                  <a:srgbClr val="54D5C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6.1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758952" y="2075688"/>
            <a:ext cx="106070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Kısıt Tatmin Problemlerinin Tanımlanması</a:t>
            </a:r>
            <a:endParaRPr lang="en-US" sz="4100" dirty="0"/>
          </a:p>
        </p:txBody>
      </p:sp>
      <p:sp>
        <p:nvSpPr>
          <p:cNvPr id="5" name="Shape 3"/>
          <p:cNvSpPr/>
          <p:nvPr/>
        </p:nvSpPr>
        <p:spPr>
          <a:xfrm>
            <a:off x="777240" y="3730752"/>
            <a:ext cx="2286000" cy="64008"/>
          </a:xfrm>
          <a:prstGeom prst="rect">
            <a:avLst/>
          </a:prstGeom>
          <a:solidFill>
            <a:srgbClr val="EBA139"/>
          </a:solidFill>
          <a:ln w="12700">
            <a:solidFill>
              <a:srgbClr val="EBA13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4087368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BE8F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Önce problemi doğru modelleyelim: değişken, domain, kısıt, atama ve çözüm.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6080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8799A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ÜNİTE 06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0" y="608076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799A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6.1  •  KISIT TATMİN PROBLEMLERİNİN TANIMLANMASI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CSP’nin üç temel bileşeni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" y="1636776"/>
            <a:ext cx="10698480" cy="1517904"/>
          </a:xfrm>
          <a:prstGeom prst="roundRect">
            <a:avLst>
              <a:gd name="adj" fmla="val 10843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947672"/>
            <a:ext cx="10158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CSP = (X, D, C)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950976" y="3447288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7864" y="3784092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72184" y="3493008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 = {X₁, X₂, …, Xₙ} → değişkenler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950976" y="4349496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7864" y="4686300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72184" y="4395216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 = {D₁, D₂, …, Dₙ} → değişkenlerin izin verilen değerleri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950976" y="5251704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7864" y="5588508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72184" y="5297424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 = {C₁, C₂, …} → hangi değer birleşimlerine izin verildiği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6.1  •  KISIT TATMİN PROBLEMLERİNİN TANIMLANMASI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Kısıt (constraint) nasıl yazılır?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444752"/>
            <a:ext cx="708660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444752"/>
            <a:ext cx="73152" cy="82296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499616"/>
            <a:ext cx="6757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Kapsam (scope)</a:t>
            </a:r>
            <a:endParaRPr lang="en-US" sz="1780" dirty="0"/>
          </a:p>
        </p:txBody>
      </p:sp>
      <p:sp>
        <p:nvSpPr>
          <p:cNvPr id="11" name="Text 9"/>
          <p:cNvSpPr/>
          <p:nvPr/>
        </p:nvSpPr>
        <p:spPr>
          <a:xfrm>
            <a:off x="914400" y="178308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Kısıta katılan değişkenleri belirtir: (X₁, X₂).</a:t>
            </a:r>
            <a:endParaRPr lang="en-US" sz="1540" dirty="0"/>
          </a:p>
        </p:txBody>
      </p:sp>
      <p:sp>
        <p:nvSpPr>
          <p:cNvPr id="12" name="Shape 10"/>
          <p:cNvSpPr/>
          <p:nvPr/>
        </p:nvSpPr>
        <p:spPr>
          <a:xfrm>
            <a:off x="658368" y="2404872"/>
            <a:ext cx="708660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2404872"/>
            <a:ext cx="73152" cy="82296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459736"/>
            <a:ext cx="6757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İlişki (relation)</a:t>
            </a:r>
            <a:endParaRPr lang="en-US" sz="1780" dirty="0"/>
          </a:p>
        </p:txBody>
      </p:sp>
      <p:sp>
        <p:nvSpPr>
          <p:cNvPr id="15" name="Text 13"/>
          <p:cNvSpPr/>
          <p:nvPr/>
        </p:nvSpPr>
        <p:spPr>
          <a:xfrm>
            <a:off x="914400" y="274320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İzin verilen kombinasyonlar kümesidir: {(A,B),(B,A)}.</a:t>
            </a:r>
            <a:endParaRPr lang="en-US" sz="1540" dirty="0"/>
          </a:p>
        </p:txBody>
      </p:sp>
      <p:sp>
        <p:nvSpPr>
          <p:cNvPr id="16" name="Shape 14"/>
          <p:cNvSpPr/>
          <p:nvPr/>
        </p:nvSpPr>
        <p:spPr>
          <a:xfrm>
            <a:off x="658368" y="3364992"/>
            <a:ext cx="708660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364992"/>
            <a:ext cx="73152" cy="82296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419856"/>
            <a:ext cx="6757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Kısa matematiksel ifade</a:t>
            </a:r>
            <a:endParaRPr lang="en-US" sz="1780" dirty="0"/>
          </a:p>
        </p:txBody>
      </p:sp>
      <p:sp>
        <p:nvSpPr>
          <p:cNvPr id="19" name="Text 17"/>
          <p:cNvSpPr/>
          <p:nvPr/>
        </p:nvSpPr>
        <p:spPr>
          <a:xfrm>
            <a:off x="914400" y="370332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X₁ ≠ X₂, aynı ilişkiyi kısa ve anlaşılır şekilde gösterir.</a:t>
            </a:r>
            <a:endParaRPr lang="en-US" sz="1540" dirty="0"/>
          </a:p>
        </p:txBody>
      </p:sp>
      <p:sp>
        <p:nvSpPr>
          <p:cNvPr id="20" name="Shape 18"/>
          <p:cNvSpPr/>
          <p:nvPr/>
        </p:nvSpPr>
        <p:spPr>
          <a:xfrm>
            <a:off x="8028432" y="1444752"/>
            <a:ext cx="3474720" cy="4443984"/>
          </a:xfrm>
          <a:prstGeom prst="roundRect">
            <a:avLst>
              <a:gd name="adj" fmla="val 4737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1719072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7FE0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İKİ DEĞİŞKENLİ ÖRNEK</a:t>
            </a:r>
            <a:endParaRPr lang="en-US" sz="1530" dirty="0"/>
          </a:p>
        </p:txBody>
      </p:sp>
      <p:sp>
        <p:nvSpPr>
          <p:cNvPr id="22" name="Text 20"/>
          <p:cNvSpPr/>
          <p:nvPr/>
        </p:nvSpPr>
        <p:spPr>
          <a:xfrm>
            <a:off x="8229600" y="2157984"/>
            <a:ext cx="3017520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D₁ = D₂ = {A,B}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İzin verilenler: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(A,B), (B,A)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Yasaklananlar: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(A,A), (B,B)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6.1  •  KISIT TATMİN PROBLEMLERİNİN TANIMLANMASI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Kısmi, tam ve tutarlı atama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07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" y="1490472"/>
            <a:ext cx="4425696" cy="475488"/>
          </a:xfrm>
          <a:prstGeom prst="rect">
            <a:avLst/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554480"/>
            <a:ext cx="4242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Atama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184648" y="1490472"/>
            <a:ext cx="1965960" cy="475488"/>
          </a:xfrm>
          <a:prstGeom prst="rect">
            <a:avLst/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85232" y="15544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Tam mı?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150608" y="1490472"/>
            <a:ext cx="2075688" cy="475488"/>
          </a:xfrm>
          <a:prstGeom prst="rect">
            <a:avLst/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51192" y="1554480"/>
            <a:ext cx="1892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Tutarlı mı?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9226296" y="1490472"/>
            <a:ext cx="2185416" cy="475488"/>
          </a:xfrm>
          <a:prstGeom prst="rect">
            <a:avLst/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0" y="155448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Çözüm?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58952" y="1965960"/>
            <a:ext cx="4425696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2029968"/>
            <a:ext cx="424281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A=1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184648" y="1965960"/>
            <a:ext cx="1965960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76088" y="2029968"/>
            <a:ext cx="17830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Hayır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7150608" y="1965960"/>
            <a:ext cx="2075688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42048" y="2029968"/>
            <a:ext cx="1892808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Evet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9226296" y="1965960"/>
            <a:ext cx="2185416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17736" y="2029968"/>
            <a:ext cx="200253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Hayır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758952" y="2999232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8952" y="2999232"/>
            <a:ext cx="4425696" cy="1033272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3063240"/>
            <a:ext cx="424281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A=1, B=1; A≠B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5184648" y="2999232"/>
            <a:ext cx="1965960" cy="1033272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76088" y="3063240"/>
            <a:ext cx="17830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Evet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7150608" y="2999232"/>
            <a:ext cx="2075688" cy="1033272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42048" y="3063240"/>
            <a:ext cx="1892808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Hayır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9226296" y="2999232"/>
            <a:ext cx="2185416" cy="1033272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17736" y="3063240"/>
            <a:ext cx="200253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Hayır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758952" y="4032504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8952" y="4032504"/>
            <a:ext cx="4425696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" y="4096512"/>
            <a:ext cx="424281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A=1, B=2; A≠B</a:t>
            </a:r>
            <a:endParaRPr lang="en-US" sz="1900" dirty="0"/>
          </a:p>
        </p:txBody>
      </p:sp>
      <p:sp>
        <p:nvSpPr>
          <p:cNvPr id="36" name="Shape 34"/>
          <p:cNvSpPr/>
          <p:nvPr/>
        </p:nvSpPr>
        <p:spPr>
          <a:xfrm>
            <a:off x="5184648" y="4032504"/>
            <a:ext cx="1965960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76088" y="4096512"/>
            <a:ext cx="17830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Evet</a:t>
            </a:r>
            <a:endParaRPr lang="en-US" sz="1900" dirty="0"/>
          </a:p>
        </p:txBody>
      </p:sp>
      <p:sp>
        <p:nvSpPr>
          <p:cNvPr id="38" name="Shape 36"/>
          <p:cNvSpPr/>
          <p:nvPr/>
        </p:nvSpPr>
        <p:spPr>
          <a:xfrm>
            <a:off x="7150608" y="4032504"/>
            <a:ext cx="2075688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42048" y="4096512"/>
            <a:ext cx="1892808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Evet</a:t>
            </a:r>
            <a:endParaRPr lang="en-US" sz="1900" dirty="0"/>
          </a:p>
        </p:txBody>
      </p:sp>
      <p:sp>
        <p:nvSpPr>
          <p:cNvPr id="40" name="Shape 38"/>
          <p:cNvSpPr/>
          <p:nvPr/>
        </p:nvSpPr>
        <p:spPr>
          <a:xfrm>
            <a:off x="9226296" y="4032504"/>
            <a:ext cx="2185416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17736" y="4096512"/>
            <a:ext cx="200253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EVET</a:t>
            </a:r>
            <a:endParaRPr lang="en-US" sz="1900" dirty="0"/>
          </a:p>
        </p:txBody>
      </p:sp>
      <p:sp>
        <p:nvSpPr>
          <p:cNvPr id="42" name="Shape 40"/>
          <p:cNvSpPr/>
          <p:nvPr/>
        </p:nvSpPr>
        <p:spPr>
          <a:xfrm>
            <a:off x="758952" y="5065776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6.1  •  KISIT TATMİN PROBLEMLERİNİN TANIMLANMASI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Bir üniversite sunumunu CSP olarak kur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109910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Önce öğrencilerden çözmelerini isteyin; ardından birlikte kontrol edin.</a:t>
            </a:r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8" name="Text 6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08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1691640"/>
            <a:ext cx="10716768" cy="1527048"/>
          </a:xfrm>
          <a:prstGeom prst="roundRect">
            <a:avLst>
              <a:gd name="adj" fmla="val 10778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" y="19019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7EE0D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SORU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83664" y="1865376"/>
            <a:ext cx="9235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Ali, Ayşe, Mehmet 09:00, 10:00, 11:00 saatlerinde sunum yapacak. Kimse aynı saatte olamaz. X, D ve C nedir?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49808" y="3493008"/>
            <a:ext cx="10716768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369417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ADIM ADIM CEVAP</a:t>
            </a:r>
            <a:endParaRPr lang="en-US" sz="1640" dirty="0"/>
          </a:p>
        </p:txBody>
      </p:sp>
      <p:sp>
        <p:nvSpPr>
          <p:cNvPr id="14" name="Text 12"/>
          <p:cNvSpPr/>
          <p:nvPr/>
        </p:nvSpPr>
        <p:spPr>
          <a:xfrm>
            <a:off x="1042416" y="4160520"/>
            <a:ext cx="992124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3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 = {Ali, Ayşe, Mehmet}</a:t>
            </a:r>
            <a:endParaRPr lang="en-US" sz="1830" dirty="0"/>
          </a:p>
          <a:p>
            <a:pPr indent="0" marL="0">
              <a:buNone/>
            </a:pPr>
            <a:r>
              <a:rPr lang="en-US" sz="183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D_her biri = {09, 10, 11}</a:t>
            </a:r>
            <a:endParaRPr lang="en-US" sz="1830" dirty="0"/>
          </a:p>
          <a:p>
            <a:pPr indent="0" marL="0">
              <a:buNone/>
            </a:pPr>
            <a:r>
              <a:rPr lang="en-US" sz="183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 = Alldiff(Ali, Ayşe, Mehmet)</a:t>
            </a:r>
            <a:endParaRPr lang="en-US" sz="1830" dirty="0"/>
          </a:p>
          <a:p>
            <a:pPr indent="0" marL="0">
              <a:buNone/>
            </a:pPr>
            <a:r>
              <a:rPr lang="en-US" sz="183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Örnek çözüm: (Ali=09, Ayşe=10, Mehmet=11)</a:t>
            </a:r>
            <a:endParaRPr lang="en-US" sz="18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6.1  •  KISIT TATMİN PROBLEMLERİNİN TANIMLANMASI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Şekil 6.1 — Avustralya harita boyama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09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0664" y="1545336"/>
            <a:ext cx="7296912" cy="4059936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/mnt/data/image(20261013-101110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9284" y="1682496"/>
            <a:ext cx="6099672" cy="378561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47888" y="1554480"/>
            <a:ext cx="3163824" cy="4069080"/>
          </a:xfrm>
          <a:prstGeom prst="roundRect">
            <a:avLst>
              <a:gd name="adj" fmla="val 4335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76488" y="1764792"/>
            <a:ext cx="26791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7EE0D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ŞEKLİ OKUYALIM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485632" y="2414016"/>
            <a:ext cx="109728" cy="109728"/>
          </a:xfrm>
          <a:prstGeom prst="ellipse">
            <a:avLst/>
          </a:prstGeom>
          <a:solidFill>
            <a:srgbClr val="EBA1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95944" y="2258568"/>
            <a:ext cx="243230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Her daire bir değişkendir.</a:t>
            </a:r>
            <a:endParaRPr lang="en-US" sz="1540" dirty="0"/>
          </a:p>
        </p:txBody>
      </p:sp>
      <p:sp>
        <p:nvSpPr>
          <p:cNvPr id="14" name="Shape 11"/>
          <p:cNvSpPr/>
          <p:nvPr/>
        </p:nvSpPr>
        <p:spPr>
          <a:xfrm>
            <a:off x="8485632" y="3499104"/>
            <a:ext cx="109728" cy="109728"/>
          </a:xfrm>
          <a:prstGeom prst="ellipse">
            <a:avLst/>
          </a:prstGeom>
          <a:solidFill>
            <a:srgbClr val="EBA1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95944" y="3343656"/>
            <a:ext cx="243230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Çizgi iki bölgenin komşu olduğunu ve renklerinin farklı olması gerektiğini gösterir.</a:t>
            </a:r>
            <a:endParaRPr lang="en-US" sz="1540" dirty="0"/>
          </a:p>
        </p:txBody>
      </p:sp>
      <p:sp>
        <p:nvSpPr>
          <p:cNvPr id="16" name="Shape 13"/>
          <p:cNvSpPr/>
          <p:nvPr/>
        </p:nvSpPr>
        <p:spPr>
          <a:xfrm>
            <a:off x="8485632" y="4584192"/>
            <a:ext cx="109728" cy="109728"/>
          </a:xfrm>
          <a:prstGeom prst="ellipse">
            <a:avLst/>
          </a:prstGeom>
          <a:solidFill>
            <a:srgbClr val="EBA1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95944" y="4428744"/>
            <a:ext cx="243230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Tazmanya (T) bağımsızdır.</a:t>
            </a:r>
            <a:endParaRPr lang="en-US" sz="1540" dirty="0"/>
          </a:p>
        </p:txBody>
      </p:sp>
      <p:sp>
        <p:nvSpPr>
          <p:cNvPr id="18" name="Shape 15"/>
          <p:cNvSpPr/>
          <p:nvPr/>
        </p:nvSpPr>
        <p:spPr>
          <a:xfrm>
            <a:off x="804672" y="5824728"/>
            <a:ext cx="10570464" cy="548640"/>
          </a:xfrm>
          <a:prstGeom prst="roundRect">
            <a:avLst>
              <a:gd name="adj" fmla="val 20000"/>
            </a:avLst>
          </a:prstGeom>
          <a:solidFill>
            <a:srgbClr val="DFF6F3"/>
          </a:solidFill>
          <a:ln w="12700">
            <a:solidFill>
              <a:srgbClr val="DFF6F3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78408" y="5888736"/>
            <a:ext cx="10222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(a) Coğrafi bölgeler   (b) Aynı problemin kısıt grafiği.</a:t>
            </a:r>
            <a:endParaRPr lang="en-US" sz="13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6.1  •  KISIT TATMİN PROBLEMLERİNİN TANIMLANMASI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Avustralya’nın CSP modeli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" y="1636776"/>
            <a:ext cx="10698480" cy="1517904"/>
          </a:xfrm>
          <a:prstGeom prst="roundRect">
            <a:avLst>
              <a:gd name="adj" fmla="val 10843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947672"/>
            <a:ext cx="10158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 = {WA, NT, Q, NSW, V, SA, T}</a:t>
            </a:r>
            <a:endParaRPr lang="en-US" sz="2450" dirty="0"/>
          </a:p>
        </p:txBody>
      </p:sp>
      <p:sp>
        <p:nvSpPr>
          <p:cNvPr id="10" name="Shape 8"/>
          <p:cNvSpPr/>
          <p:nvPr/>
        </p:nvSpPr>
        <p:spPr>
          <a:xfrm>
            <a:off x="950976" y="3447288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7864" y="3784092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72184" y="3493008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6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Her bölgenin değeri: {Kırmızı, Yeşil, Mavi}</a:t>
            </a:r>
            <a:endParaRPr lang="en-US" sz="1760" dirty="0"/>
          </a:p>
        </p:txBody>
      </p:sp>
      <p:sp>
        <p:nvSpPr>
          <p:cNvPr id="13" name="Shape 11"/>
          <p:cNvSpPr/>
          <p:nvPr/>
        </p:nvSpPr>
        <p:spPr>
          <a:xfrm>
            <a:off x="950976" y="4349496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7864" y="4686300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72184" y="4395216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6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Komşuluk kısıtları: SA≠WA, SA≠NT, SA≠Q, SA≠NSW, SA≠V</a:t>
            </a:r>
            <a:endParaRPr lang="en-US" sz="1760" dirty="0"/>
          </a:p>
        </p:txBody>
      </p:sp>
      <p:sp>
        <p:nvSpPr>
          <p:cNvPr id="16" name="Shape 14"/>
          <p:cNvSpPr/>
          <p:nvPr/>
        </p:nvSpPr>
        <p:spPr>
          <a:xfrm>
            <a:off x="950976" y="5251704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7864" y="5588508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72184" y="5297424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6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Diğerleri: WA≠NT, NT≠Q, Q≠NSW, NSW≠V</a:t>
            </a:r>
            <a:endParaRPr lang="en-US" sz="17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6.1  •  KISIT TATMİN PROBLEMLERİNİN TANIMLANMASI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Harita boyama — adım adım çözüm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81328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1609344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6459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417320" y="156362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1. SA = Mavi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417320" y="1828800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SA’nın beş komşusu artık mavi olamaz.</a:t>
            </a:r>
            <a:endParaRPr lang="en-US" sz="1610" dirty="0"/>
          </a:p>
        </p:txBody>
      </p:sp>
      <p:sp>
        <p:nvSpPr>
          <p:cNvPr id="13" name="Shape 11"/>
          <p:cNvSpPr/>
          <p:nvPr/>
        </p:nvSpPr>
        <p:spPr>
          <a:xfrm>
            <a:off x="640080" y="2633472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" y="2761488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279806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417320" y="271576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2. WA = Kırmızı; NT = Yeşil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417320" y="2980944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 ile NT komşu: renkler farklı, kısıt sağlandı.</a:t>
            </a:r>
            <a:endParaRPr lang="en-US" sz="1610" dirty="0"/>
          </a:p>
        </p:txBody>
      </p:sp>
      <p:sp>
        <p:nvSpPr>
          <p:cNvPr id="18" name="Shape 16"/>
          <p:cNvSpPr/>
          <p:nvPr/>
        </p:nvSpPr>
        <p:spPr>
          <a:xfrm>
            <a:off x="640080" y="3785616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" y="3913632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" y="395020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417320" y="386791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3. Q = Kırmızı; NSW = Yeşil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417320" y="4133088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NT–Q ve Q–NSW ile SA komşulukları sağlanır.</a:t>
            </a:r>
            <a:endParaRPr lang="en-US" sz="1610" dirty="0"/>
          </a:p>
        </p:txBody>
      </p:sp>
      <p:sp>
        <p:nvSpPr>
          <p:cNvPr id="23" name="Shape 21"/>
          <p:cNvSpPr/>
          <p:nvPr/>
        </p:nvSpPr>
        <p:spPr>
          <a:xfrm>
            <a:off x="640080" y="4937760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" y="5065776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2C9A6A"/>
          </a:solidFill>
          <a:ln w="12700">
            <a:solidFill>
              <a:srgbClr val="2C9A6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" y="510235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417320" y="5020056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4. V = Kırmızı; T = Kırmızı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417320" y="5285232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NSW–V farklıdır; T için komşuluk kısıtı yoktur.</a:t>
            </a:r>
            <a:endParaRPr lang="en-US" sz="16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6.1  •  KISIT TATMİN PROBLEMLERİNİN TANIMLANMASI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Kısıt yayılımıyla kaba arama uzayı küçülür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109910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SA’nın beş komşusunun bağımsız renk kombinasyonları: 3⁵ ve 2⁵.</a:t>
            </a:r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8" name="Text 6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58952" y="1563624"/>
            <a:ext cx="10661904" cy="4489704"/>
          </a:xfrm>
          <a:prstGeom prst="roundRect">
            <a:avLst>
              <a:gd name="adj" fmla="val 366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892808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9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Kısıttan önce</a:t>
            </a:r>
            <a:endParaRPr lang="en-US" sz="1690" dirty="0"/>
          </a:p>
        </p:txBody>
      </p:sp>
      <p:sp>
        <p:nvSpPr>
          <p:cNvPr id="11" name="Shape 9"/>
          <p:cNvSpPr/>
          <p:nvPr/>
        </p:nvSpPr>
        <p:spPr>
          <a:xfrm>
            <a:off x="2788920" y="1911096"/>
            <a:ext cx="7735824" cy="411480"/>
          </a:xfrm>
          <a:prstGeom prst="roundRect">
            <a:avLst>
              <a:gd name="adj" fmla="val 22222"/>
            </a:avLst>
          </a:prstGeom>
          <a:solidFill>
            <a:srgbClr val="EAF0F7"/>
          </a:solidFill>
          <a:ln w="12700">
            <a:solidFill>
              <a:srgbClr val="EAF0F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88920" y="1911096"/>
            <a:ext cx="7735824" cy="411480"/>
          </a:xfrm>
          <a:prstGeom prst="roundRect">
            <a:avLst>
              <a:gd name="adj" fmla="val 2222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43616" y="1929384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243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42416" y="2962656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9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SA=Mavi sonrası</a:t>
            </a:r>
            <a:endParaRPr lang="en-US" sz="1690" dirty="0"/>
          </a:p>
        </p:txBody>
      </p:sp>
      <p:sp>
        <p:nvSpPr>
          <p:cNvPr id="15" name="Shape 13"/>
          <p:cNvSpPr/>
          <p:nvPr/>
        </p:nvSpPr>
        <p:spPr>
          <a:xfrm>
            <a:off x="2788920" y="2980944"/>
            <a:ext cx="7735824" cy="411480"/>
          </a:xfrm>
          <a:prstGeom prst="roundRect">
            <a:avLst>
              <a:gd name="adj" fmla="val 22222"/>
            </a:avLst>
          </a:prstGeom>
          <a:solidFill>
            <a:srgbClr val="EAF0F7"/>
          </a:solidFill>
          <a:ln w="12700">
            <a:solidFill>
              <a:srgbClr val="EAF0F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88920" y="2980944"/>
            <a:ext cx="1018709" cy="411480"/>
          </a:xfrm>
          <a:prstGeom prst="roundRect">
            <a:avLst>
              <a:gd name="adj" fmla="val 22222"/>
            </a:avLst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26501" y="299923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32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6.1  •  KISIT TATMİN PROBLEMLERİNİN TANIMLANMASI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Haritada olası çözüm kontrolü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109910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Önce öğrencilerden çözmelerini isteyin; ardından birlikte kontrol edin.</a:t>
            </a:r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8" name="Text 6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1691640"/>
            <a:ext cx="10716768" cy="1527048"/>
          </a:xfrm>
          <a:prstGeom prst="roundRect">
            <a:avLst>
              <a:gd name="adj" fmla="val 10778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" y="19019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7EE0D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SORU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83664" y="1865376"/>
            <a:ext cx="9235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WA=Kırmızı, NT=Yeşil, SA=Mavi, Q=Mavi atamasında hangi kısıt ihlal edilir?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49808" y="3493008"/>
            <a:ext cx="10716768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369417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ADIM ADIM CEVAP</a:t>
            </a:r>
            <a:endParaRPr lang="en-US" sz="1640" dirty="0"/>
          </a:p>
        </p:txBody>
      </p:sp>
      <p:sp>
        <p:nvSpPr>
          <p:cNvPr id="14" name="Text 12"/>
          <p:cNvSpPr/>
          <p:nvPr/>
        </p:nvSpPr>
        <p:spPr>
          <a:xfrm>
            <a:off x="1042416" y="4160520"/>
            <a:ext cx="992124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 ve Q komşudur.</a:t>
            </a:r>
            <a:endParaRPr lang="en-US" sz="1810" dirty="0"/>
          </a:p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SA=Mavi ve Q=Mavi seçildiği için SA≠Q kısıtı bozulur.</a:t>
            </a:r>
            <a:endParaRPr lang="en-US" sz="1810" dirty="0"/>
          </a:p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Bir kısmi atama çelişkiliyse o daldaki sonraki seçimleri denememeliyiz.</a:t>
            </a:r>
            <a:endParaRPr lang="en-US" sz="18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6.1  •  KISIT TATMİN PROBLEMLERİNİN TANIMLANMASI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İş çizelgeleme de CSP’dir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444752"/>
            <a:ext cx="708660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444752"/>
            <a:ext cx="73152" cy="82296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499616"/>
            <a:ext cx="6757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Değişken</a:t>
            </a:r>
            <a:endParaRPr lang="en-US" sz="1780" dirty="0"/>
          </a:p>
        </p:txBody>
      </p:sp>
      <p:sp>
        <p:nvSpPr>
          <p:cNvPr id="11" name="Text 9"/>
          <p:cNvSpPr/>
          <p:nvPr/>
        </p:nvSpPr>
        <p:spPr>
          <a:xfrm>
            <a:off x="914400" y="178308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Her işin başlama dakikası: AxleF, AxleB, WheelRF, NutsRF, CapRF, Inspect…</a:t>
            </a:r>
            <a:endParaRPr lang="en-US" sz="1540" dirty="0"/>
          </a:p>
        </p:txBody>
      </p:sp>
      <p:sp>
        <p:nvSpPr>
          <p:cNvPr id="12" name="Shape 10"/>
          <p:cNvSpPr/>
          <p:nvPr/>
        </p:nvSpPr>
        <p:spPr>
          <a:xfrm>
            <a:off x="658368" y="2404872"/>
            <a:ext cx="708660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2404872"/>
            <a:ext cx="73152" cy="82296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459736"/>
            <a:ext cx="6757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Değer kümesi</a:t>
            </a:r>
            <a:endParaRPr lang="en-US" sz="1780" dirty="0"/>
          </a:p>
        </p:txBody>
      </p:sp>
      <p:sp>
        <p:nvSpPr>
          <p:cNvPr id="15" name="Text 13"/>
          <p:cNvSpPr/>
          <p:nvPr/>
        </p:nvSpPr>
        <p:spPr>
          <a:xfrm>
            <a:off x="914400" y="274320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Görevlerin başlayabileceği dakikalar: örn. {1, 2, …, 27}.</a:t>
            </a:r>
            <a:endParaRPr lang="en-US" sz="1540" dirty="0"/>
          </a:p>
        </p:txBody>
      </p:sp>
      <p:sp>
        <p:nvSpPr>
          <p:cNvPr id="16" name="Shape 14"/>
          <p:cNvSpPr/>
          <p:nvPr/>
        </p:nvSpPr>
        <p:spPr>
          <a:xfrm>
            <a:off x="658368" y="3364992"/>
            <a:ext cx="708660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364992"/>
            <a:ext cx="73152" cy="82296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419856"/>
            <a:ext cx="6757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Kısıt</a:t>
            </a:r>
            <a:endParaRPr lang="en-US" sz="1780" dirty="0"/>
          </a:p>
        </p:txBody>
      </p:sp>
      <p:sp>
        <p:nvSpPr>
          <p:cNvPr id="19" name="Text 17"/>
          <p:cNvSpPr/>
          <p:nvPr/>
        </p:nvSpPr>
        <p:spPr>
          <a:xfrm>
            <a:off x="914400" y="370332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Öncelik, işlem süresi, ortak ekipman, personel ve teslim süresi.</a:t>
            </a:r>
            <a:endParaRPr lang="en-US" sz="1540" dirty="0"/>
          </a:p>
        </p:txBody>
      </p:sp>
      <p:sp>
        <p:nvSpPr>
          <p:cNvPr id="20" name="Shape 18"/>
          <p:cNvSpPr/>
          <p:nvPr/>
        </p:nvSpPr>
        <p:spPr>
          <a:xfrm>
            <a:off x="8028432" y="1444752"/>
            <a:ext cx="3474720" cy="4443984"/>
          </a:xfrm>
          <a:prstGeom prst="roundRect">
            <a:avLst>
              <a:gd name="adj" fmla="val 4737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1719072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7FE0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OTOMOBİL MONTAJI</a:t>
            </a:r>
            <a:endParaRPr lang="en-US" sz="1530" dirty="0"/>
          </a:p>
        </p:txBody>
      </p:sp>
      <p:sp>
        <p:nvSpPr>
          <p:cNvPr id="22" name="Text 20"/>
          <p:cNvSpPr/>
          <p:nvPr/>
        </p:nvSpPr>
        <p:spPr>
          <a:xfrm>
            <a:off x="8229600" y="2157984"/>
            <a:ext cx="3017520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 aks + 4 tekerlek + 4 somun işlemi + 4 kapak + 1 kontrol = 15 görev</a:t>
            </a:r>
            <a:endParaRPr lang="en-US" sz="2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6.1  •  KISIT TATMİN PROBLEMLERİNİN TANIMLANMASI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Öncelik kısıtı: İş 1, İş 2’den önce bitmeli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" y="1636776"/>
            <a:ext cx="10698480" cy="1517904"/>
          </a:xfrm>
          <a:prstGeom prst="roundRect">
            <a:avLst>
              <a:gd name="adj" fmla="val 10843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947672"/>
            <a:ext cx="10158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T₁ + d₁ ≤ T₂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950976" y="3447288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7864" y="3784092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72184" y="3493008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T₁: birinci işin başlama zamanı; d₁: işin süresi.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950976" y="4349496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7864" y="4686300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72184" y="4395216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T₂: ikinci işin başlama zamanı.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950976" y="5251704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7864" y="5588508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72184" y="5297424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Örnek: AxleF + 10 ≤ WheelRF, ön aks bitmeden sağ ön tekerlek başlamaz.</a:t>
            </a:r>
            <a:endParaRPr lang="en-US" sz="1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6.1  •  KISIT TATMİN PROBLEMLERİNİN TANIMLANMASI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Zaman çizelgesi örneği — süreler nereden geliyor?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81328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1609344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6459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417320" y="156362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Ön aks 1. dakikada başlasın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417320" y="1828800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 dakika sürer; bitiş 1+10=11.</a:t>
            </a:r>
            <a:endParaRPr lang="en-US" sz="1610" dirty="0"/>
          </a:p>
        </p:txBody>
      </p:sp>
      <p:sp>
        <p:nvSpPr>
          <p:cNvPr id="13" name="Shape 11"/>
          <p:cNvSpPr/>
          <p:nvPr/>
        </p:nvSpPr>
        <p:spPr>
          <a:xfrm>
            <a:off x="640080" y="2633472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" y="2761488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279806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417320" y="271576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Tekerlek 11. dakikada başlasın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417320" y="2980944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 dakika sürer; somun işlemi en erken 12’de.</a:t>
            </a:r>
            <a:endParaRPr lang="en-US" sz="1610" dirty="0"/>
          </a:p>
        </p:txBody>
      </p:sp>
      <p:sp>
        <p:nvSpPr>
          <p:cNvPr id="18" name="Shape 16"/>
          <p:cNvSpPr/>
          <p:nvPr/>
        </p:nvSpPr>
        <p:spPr>
          <a:xfrm>
            <a:off x="640080" y="3785616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" y="3913632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" y="395020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417320" y="386791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Somunlar 12. dakikada sıkılsın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417320" y="4133088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 dakika sürer; jant kapağı en erken 14’te.</a:t>
            </a:r>
            <a:endParaRPr lang="en-US" sz="1610" dirty="0"/>
          </a:p>
        </p:txBody>
      </p:sp>
      <p:sp>
        <p:nvSpPr>
          <p:cNvPr id="23" name="Shape 21"/>
          <p:cNvSpPr/>
          <p:nvPr/>
        </p:nvSpPr>
        <p:spPr>
          <a:xfrm>
            <a:off x="640080" y="4937760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" y="5065776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2C9A6A"/>
          </a:solidFill>
          <a:ln w="12700">
            <a:solidFill>
              <a:srgbClr val="2C9A6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" y="510235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417320" y="5020056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Kapak 14. dakikada takılsın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417320" y="5285232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 dakika sürer; bu tekerleğin işi 15. dakikada biter.</a:t>
            </a:r>
            <a:endParaRPr lang="en-US" sz="161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6.1  •  KISIT TATMİN PROBLEMLERİNİN TANIMLANMASI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Ayrışmalı (disjunctive) kaynak kısıtı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17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" y="1636776"/>
            <a:ext cx="10698480" cy="1517904"/>
          </a:xfrm>
          <a:prstGeom prst="roundRect">
            <a:avLst>
              <a:gd name="adj" fmla="val 10843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947672"/>
            <a:ext cx="10158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7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(AxleF+10 ≤ AxleB)  VEYA  (AxleB+10 ≤ AxleF)</a:t>
            </a:r>
            <a:endParaRPr lang="en-US" sz="2170" dirty="0"/>
          </a:p>
        </p:txBody>
      </p:sp>
      <p:sp>
        <p:nvSpPr>
          <p:cNvPr id="10" name="Shape 8"/>
          <p:cNvSpPr/>
          <p:nvPr/>
        </p:nvSpPr>
        <p:spPr>
          <a:xfrm>
            <a:off x="950976" y="3447288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7864" y="3784092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72184" y="3493008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9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Aks montajında tek ortak ekipman varsa iki işlem aynı anda yapılamaz.</a:t>
            </a:r>
            <a:endParaRPr lang="en-US" sz="1690" dirty="0"/>
          </a:p>
        </p:txBody>
      </p:sp>
      <p:sp>
        <p:nvSpPr>
          <p:cNvPr id="13" name="Shape 11"/>
          <p:cNvSpPr/>
          <p:nvPr/>
        </p:nvSpPr>
        <p:spPr>
          <a:xfrm>
            <a:off x="950976" y="4349496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7864" y="4686300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72184" y="4395216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9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Ön aks önce veya arka aks önce tamamlanabilir.</a:t>
            </a:r>
            <a:endParaRPr lang="en-US" sz="1690" dirty="0"/>
          </a:p>
        </p:txBody>
      </p:sp>
      <p:sp>
        <p:nvSpPr>
          <p:cNvPr id="16" name="Shape 14"/>
          <p:cNvSpPr/>
          <p:nvPr/>
        </p:nvSpPr>
        <p:spPr>
          <a:xfrm>
            <a:off x="950976" y="5251704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7864" y="5588508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72184" y="5297424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9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Son kontrol için bütün X görevleri: X + dₓ ≤ Inspect; ayrıca Inspect + 3 ≤ 30.</a:t>
            </a:r>
            <a:endParaRPr lang="en-US" sz="169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6.1  •  KISIT TATMİN PROBLEMLERİNİN TANIMLANMASI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CSP’de değer kümelerinin türleri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18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" y="1490472"/>
            <a:ext cx="2331720" cy="475488"/>
          </a:xfrm>
          <a:prstGeom prst="rect">
            <a:avLst/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5544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Tür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090672" y="1490472"/>
            <a:ext cx="3200400" cy="475488"/>
          </a:xfrm>
          <a:prstGeom prst="rect">
            <a:avLst/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91256" y="15544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Örnek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91072" y="1490472"/>
            <a:ext cx="5120640" cy="475488"/>
          </a:xfrm>
          <a:prstGeom prst="rect">
            <a:avLst/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91656" y="15544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Neden önemli?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58952" y="1965960"/>
            <a:ext cx="23317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029968"/>
            <a:ext cx="21488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Sonlu ayrık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090672" y="1965960"/>
            <a:ext cx="3200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82112" y="2029968"/>
            <a:ext cx="30175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Renkler: {R,G,B}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91072" y="1965960"/>
            <a:ext cx="5120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2029968"/>
            <a:ext cx="49377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Adayları tek tek inceleyebiliriz.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58952" y="3044952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" y="3044952"/>
            <a:ext cx="2331720" cy="1078992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3108960"/>
            <a:ext cx="21488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Sonsuz ayrık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090672" y="3044952"/>
            <a:ext cx="3200400" cy="1078992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82112" y="3108960"/>
            <a:ext cx="30175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Tamsayılar: 0,1,2,…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291072" y="3044952"/>
            <a:ext cx="5120640" cy="1078992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2512" y="3108960"/>
            <a:ext cx="49377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Kısıtı aritmetik olarak ifade ederiz.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58952" y="4123944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8952" y="4123944"/>
            <a:ext cx="23317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4187952"/>
            <a:ext cx="21488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Sürekli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3090672" y="4123944"/>
            <a:ext cx="32004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82112" y="4187952"/>
            <a:ext cx="30175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Robot açısı ∈ [0,180]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291072" y="4123944"/>
            <a:ext cx="5120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82512" y="4187952"/>
            <a:ext cx="49377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Doğrusal programlama vb. gerekebilir.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58952" y="5202936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6.1  •  KISIT TATMİN PROBLEMLERİNİN TANIMLANMASI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Doğrusal ve doğrusal olmayan kısıtlar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19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67512" y="1463040"/>
            <a:ext cx="5285232" cy="468172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" y="1463040"/>
            <a:ext cx="5285232" cy="109728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719072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2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DOĞRUSAL</a:t>
            </a:r>
            <a:endParaRPr lang="en-US" sz="1920" dirty="0"/>
          </a:p>
        </p:txBody>
      </p:sp>
      <p:sp>
        <p:nvSpPr>
          <p:cNvPr id="11" name="Shape 9"/>
          <p:cNvSpPr/>
          <p:nvPr/>
        </p:nvSpPr>
        <p:spPr>
          <a:xfrm>
            <a:off x="923544" y="2496312"/>
            <a:ext cx="100584" cy="100584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2350008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 + Y ≤ 10</a:t>
            </a:r>
            <a:endParaRPr lang="en-US" sz="1740" dirty="0"/>
          </a:p>
        </p:txBody>
      </p:sp>
      <p:sp>
        <p:nvSpPr>
          <p:cNvPr id="13" name="Shape 11"/>
          <p:cNvSpPr/>
          <p:nvPr/>
        </p:nvSpPr>
        <p:spPr>
          <a:xfrm>
            <a:off x="923544" y="3218688"/>
            <a:ext cx="100584" cy="100584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3072384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2X + 3Y = 12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923544" y="3941064"/>
            <a:ext cx="100584" cy="100584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3794760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 + 5 ≤ Y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923544" y="4663440"/>
            <a:ext cx="100584" cy="100584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4517136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Değişkenler birinci derecedir.</a:t>
            </a:r>
            <a:endParaRPr lang="en-US" sz="1740" dirty="0"/>
          </a:p>
        </p:txBody>
      </p:sp>
      <p:sp>
        <p:nvSpPr>
          <p:cNvPr id="19" name="Shape 17"/>
          <p:cNvSpPr/>
          <p:nvPr/>
        </p:nvSpPr>
        <p:spPr>
          <a:xfrm>
            <a:off x="6236208" y="1463040"/>
            <a:ext cx="5285232" cy="468172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6208" y="1463040"/>
            <a:ext cx="5285232" cy="109728"/>
          </a:xfrm>
          <a:prstGeom prst="rect">
            <a:avLst/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55664" y="1719072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20" b="1" dirty="0">
                <a:solidFill>
                  <a:srgbClr val="3676C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DOĞRUSAL OLMAYAN</a:t>
            </a:r>
            <a:endParaRPr lang="en-US" sz="1920" dirty="0"/>
          </a:p>
        </p:txBody>
      </p:sp>
      <p:sp>
        <p:nvSpPr>
          <p:cNvPr id="22" name="Shape 20"/>
          <p:cNvSpPr/>
          <p:nvPr/>
        </p:nvSpPr>
        <p:spPr>
          <a:xfrm>
            <a:off x="6492240" y="2496312"/>
            <a:ext cx="100584" cy="100584"/>
          </a:xfrm>
          <a:prstGeom prst="ellipse">
            <a:avLst/>
          </a:prstGeom>
          <a:solidFill>
            <a:srgbClr val="3676C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84264" y="2350008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X² + Y ≤ 10</a:t>
            </a:r>
            <a:endParaRPr lang="en-US" sz="1740" dirty="0"/>
          </a:p>
        </p:txBody>
      </p:sp>
      <p:sp>
        <p:nvSpPr>
          <p:cNvPr id="24" name="Shape 22"/>
          <p:cNvSpPr/>
          <p:nvPr/>
        </p:nvSpPr>
        <p:spPr>
          <a:xfrm>
            <a:off x="6492240" y="3218688"/>
            <a:ext cx="100584" cy="100584"/>
          </a:xfrm>
          <a:prstGeom prst="ellipse">
            <a:avLst/>
          </a:prstGeom>
          <a:solidFill>
            <a:srgbClr val="3676C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84264" y="3072384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X·Y = 12</a:t>
            </a:r>
            <a:endParaRPr lang="en-US" sz="1740" dirty="0"/>
          </a:p>
        </p:txBody>
      </p:sp>
      <p:sp>
        <p:nvSpPr>
          <p:cNvPr id="26" name="Shape 24"/>
          <p:cNvSpPr/>
          <p:nvPr/>
        </p:nvSpPr>
        <p:spPr>
          <a:xfrm>
            <a:off x="6492240" y="3941064"/>
            <a:ext cx="100584" cy="100584"/>
          </a:xfrm>
          <a:prstGeom prst="ellipse">
            <a:avLst/>
          </a:prstGeom>
          <a:solidFill>
            <a:srgbClr val="3676C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84264" y="3794760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X² + Y² = 25</a:t>
            </a:r>
            <a:endParaRPr lang="en-US" sz="1740" dirty="0"/>
          </a:p>
        </p:txBody>
      </p:sp>
      <p:sp>
        <p:nvSpPr>
          <p:cNvPr id="28" name="Shape 26"/>
          <p:cNvSpPr/>
          <p:nvPr/>
        </p:nvSpPr>
        <p:spPr>
          <a:xfrm>
            <a:off x="6492240" y="4663440"/>
            <a:ext cx="100584" cy="100584"/>
          </a:xfrm>
          <a:prstGeom prst="ellipse">
            <a:avLst/>
          </a:prstGeom>
          <a:solidFill>
            <a:srgbClr val="3676C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84264" y="4517136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Kısıt çözümü daha zor olabilir.</a:t>
            </a:r>
            <a:endParaRPr lang="en-US" sz="17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6.1  •  KISIT TATMİN PROBLEMLERİNİN TANIMLANMASI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Kısıtlar kaç değişkene uygulanır?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04088" y="1618488"/>
            <a:ext cx="3630168" cy="4215384"/>
          </a:xfrm>
          <a:prstGeom prst="roundRect">
            <a:avLst>
              <a:gd name="adj" fmla="val 403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" y="1618488"/>
            <a:ext cx="3630168" cy="109728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1832" y="2020824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093976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0976" y="2734056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Tekli (unary)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50976" y="3593592"/>
            <a:ext cx="3081528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 ≠ Yeşil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Yalnızca SA’nın değer kümesini daraltır.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4535424" y="1618488"/>
            <a:ext cx="3630168" cy="4215384"/>
          </a:xfrm>
          <a:prstGeom prst="roundRect">
            <a:avLst>
              <a:gd name="adj" fmla="val 403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35424" y="1618488"/>
            <a:ext cx="3630168" cy="109728"/>
          </a:xfrm>
          <a:prstGeom prst="rect">
            <a:avLst/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73168" y="2020824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28616" y="2093976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82312" y="2734056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İkili (binary)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782312" y="3593592"/>
            <a:ext cx="3081528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 ≠ NSW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İki değişken arasındaki ilişki.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366760" y="1618488"/>
            <a:ext cx="3630168" cy="4215384"/>
          </a:xfrm>
          <a:prstGeom prst="roundRect">
            <a:avLst>
              <a:gd name="adj" fmla="val 403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66760" y="1618488"/>
            <a:ext cx="3630168" cy="109728"/>
          </a:xfrm>
          <a:prstGeom prst="rect">
            <a:avLst/>
          </a:prstGeom>
          <a:solidFill>
            <a:srgbClr val="EBA139"/>
          </a:solidFill>
          <a:ln w="12700">
            <a:solidFill>
              <a:srgbClr val="EBA139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04504" y="2020824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BA139"/>
          </a:solidFill>
          <a:ln w="12700">
            <a:solidFill>
              <a:srgbClr val="EBA13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59952" y="2093976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613648" y="2734056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Genel (global)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8613648" y="3593592"/>
            <a:ext cx="3081528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Alldiff(A,B,C,…)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Kapsamındaki tüm değerler farklı.</a:t>
            </a:r>
            <a:endParaRPr lang="en-US" sz="1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6.1  •  KISIT TATMİN PROBLEMLERİNİN TANIMLANMASI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Alldiff — hangi atama geçerli?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109910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Önce öğrencilerden çözmelerini isteyin; ardından birlikte kontrol edin.</a:t>
            </a:r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8" name="Text 6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1691640"/>
            <a:ext cx="10716768" cy="1527048"/>
          </a:xfrm>
          <a:prstGeom prst="roundRect">
            <a:avLst>
              <a:gd name="adj" fmla="val 10778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" y="19019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7EE0D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SORU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83664" y="1865376"/>
            <a:ext cx="9235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A, B, C ∈ {1,2,3}; Alldiff(A,B,C). (1,1,3) ve (1,2,3) seçeneklerinden hangisi çözüm?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49808" y="3493008"/>
            <a:ext cx="10716768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369417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ADIM ADIM CEVAP</a:t>
            </a:r>
            <a:endParaRPr lang="en-US" sz="1640" dirty="0"/>
          </a:p>
        </p:txBody>
      </p:sp>
      <p:sp>
        <p:nvSpPr>
          <p:cNvPr id="14" name="Text 12"/>
          <p:cNvSpPr/>
          <p:nvPr/>
        </p:nvSpPr>
        <p:spPr>
          <a:xfrm>
            <a:off x="1042416" y="4160520"/>
            <a:ext cx="992124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(1,1,3): A ve B aynı → geçersiz.</a:t>
            </a:r>
            <a:endParaRPr lang="en-US" sz="1810" dirty="0"/>
          </a:p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(1,2,3): Tüm değişkenler farklı → geçerli.</a:t>
            </a:r>
            <a:endParaRPr lang="en-US" sz="1810" dirty="0"/>
          </a:p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Sudoku satırları, sütunları ve kutuları aynı kısıtı kullanır.</a:t>
            </a:r>
            <a:endParaRPr lang="en-US" sz="181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6.1  •  KISIT TATMİN PROBLEMLERİNİN TANIMLANMASI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Şekil 6.2 — Şifreli aritmetik ve hipergraf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0664" y="1545336"/>
            <a:ext cx="7296912" cy="4059936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/mnt/data/image(20261013-101112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4125" y="1682496"/>
            <a:ext cx="6169989" cy="378561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47888" y="1554480"/>
            <a:ext cx="3163824" cy="4069080"/>
          </a:xfrm>
          <a:prstGeom prst="roundRect">
            <a:avLst>
              <a:gd name="adj" fmla="val 4335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76488" y="1764792"/>
            <a:ext cx="26791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7EE0D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ŞEKLİ OKUYALIM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485632" y="2414016"/>
            <a:ext cx="109728" cy="109728"/>
          </a:xfrm>
          <a:prstGeom prst="ellipse">
            <a:avLst/>
          </a:prstGeom>
          <a:solidFill>
            <a:srgbClr val="EBA1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95944" y="2258568"/>
            <a:ext cx="243230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Harfler farklı rakamlardır; T ve F sıfır olamaz.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8485632" y="3499104"/>
            <a:ext cx="109728" cy="109728"/>
          </a:xfrm>
          <a:prstGeom prst="ellipse">
            <a:avLst/>
          </a:prstGeom>
          <a:solidFill>
            <a:srgbClr val="EBA1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95944" y="3343656"/>
            <a:ext cx="243230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Üst kare Alldiff; orta kareler sütun toplamlarıdır.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8485632" y="4584192"/>
            <a:ext cx="109728" cy="109728"/>
          </a:xfrm>
          <a:prstGeom prst="ellipse">
            <a:avLst/>
          </a:prstGeom>
          <a:solidFill>
            <a:srgbClr val="EBA1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95944" y="4428744"/>
            <a:ext cx="243230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C₁, C₂, C₃ elde basamaklarıdır.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804672" y="5824728"/>
            <a:ext cx="10570464" cy="548640"/>
          </a:xfrm>
          <a:prstGeom prst="roundRect">
            <a:avLst>
              <a:gd name="adj" fmla="val 20000"/>
            </a:avLst>
          </a:prstGeom>
          <a:solidFill>
            <a:srgbClr val="DFF6F3"/>
          </a:solidFill>
          <a:ln w="12700">
            <a:solidFill>
              <a:srgbClr val="DFF6F3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78408" y="5888736"/>
            <a:ext cx="10222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(a) TWO + TWO = FOUR   (b) Harfleri, elde değişkenlerini ve kısıtları gösteren hipergraf.</a:t>
            </a:r>
            <a:endParaRPr lang="en-US" sz="13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6.1  •  KISIT TATMİN PROBLEMLERİNİN TANIMLANMASI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Kriptaritmetik CSP — dört sütun kısıtı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23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" y="1636776"/>
            <a:ext cx="10698480" cy="1517904"/>
          </a:xfrm>
          <a:prstGeom prst="roundRect">
            <a:avLst>
              <a:gd name="adj" fmla="val 10843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947672"/>
            <a:ext cx="10158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TWO + TWO = FOUR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50976" y="3447288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7864" y="3784092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72184" y="3493008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Birler: O + O = R + 10·C₁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50976" y="4349496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7864" y="4686300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72184" y="4395216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Onlar: W + W + C₁ = U + 10·C₂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950976" y="5251704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7864" y="5588508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72184" y="5297424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Yüzler: T + T + C₂ = O + 10·C₃; binler: C₃ = F</a:t>
            </a:r>
            <a:endParaRPr lang="en-US" sz="1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6.1  •  KISIT TATMİN PROBLEMLERİNİN TANIMLANMASI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TWO + TWO = FOUR — çözümlü örnek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81328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1609344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6459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417320" y="156362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Birler: O=4 seç → 4+4=8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417320" y="1828800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R=8 ve C₁=0.</a:t>
            </a:r>
            <a:endParaRPr lang="en-US" sz="1610" dirty="0"/>
          </a:p>
        </p:txBody>
      </p:sp>
      <p:sp>
        <p:nvSpPr>
          <p:cNvPr id="13" name="Shape 11"/>
          <p:cNvSpPr/>
          <p:nvPr/>
        </p:nvSpPr>
        <p:spPr>
          <a:xfrm>
            <a:off x="640080" y="2633472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" y="2761488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279806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417320" y="271576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Onlar: W=3 seç → 3+3+0=6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417320" y="2980944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U=6 ve C₂=0.</a:t>
            </a:r>
            <a:endParaRPr lang="en-US" sz="1610" dirty="0"/>
          </a:p>
        </p:txBody>
      </p:sp>
      <p:sp>
        <p:nvSpPr>
          <p:cNvPr id="18" name="Shape 16"/>
          <p:cNvSpPr/>
          <p:nvPr/>
        </p:nvSpPr>
        <p:spPr>
          <a:xfrm>
            <a:off x="640080" y="3785616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" y="3913632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" y="395020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417320" y="386791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Yüzler: T=7 → 7+7+0=14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417320" y="4133088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O=4 ve C₃=1.</a:t>
            </a:r>
            <a:endParaRPr lang="en-US" sz="1610" dirty="0"/>
          </a:p>
        </p:txBody>
      </p:sp>
      <p:sp>
        <p:nvSpPr>
          <p:cNvPr id="23" name="Shape 21"/>
          <p:cNvSpPr/>
          <p:nvPr/>
        </p:nvSpPr>
        <p:spPr>
          <a:xfrm>
            <a:off x="640080" y="4937760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" y="5065776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2C9A6A"/>
          </a:solidFill>
          <a:ln w="12700">
            <a:solidFill>
              <a:srgbClr val="2C9A6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" y="510235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417320" y="5020056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Binler: F=C₃=1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417320" y="5285232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734 + 734 = 1468; harflerin rakamları farklı.</a:t>
            </a:r>
            <a:endParaRPr lang="en-US" sz="161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6.1  •  KISIT TATMİN PROBLEMLERİNİN TANIMLANMASI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6.1 — temel kavramların özeti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" y="1490472"/>
            <a:ext cx="2532888" cy="475488"/>
          </a:xfrm>
          <a:prstGeom prst="rect">
            <a:avLst/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554480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Terim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291840" y="1490472"/>
            <a:ext cx="3182112" cy="475488"/>
          </a:xfrm>
          <a:prstGeom prst="rect">
            <a:avLst/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92424" y="1554480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Türkçesi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73952" y="1490472"/>
            <a:ext cx="4937760" cy="475488"/>
          </a:xfrm>
          <a:prstGeom prst="rect">
            <a:avLst/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74536" y="15544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Akılda kalacak ifade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58952" y="1965960"/>
            <a:ext cx="253288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029968"/>
            <a:ext cx="23500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Variable / Domain</a:t>
            </a:r>
            <a:endParaRPr lang="en-US" sz="1640" dirty="0"/>
          </a:p>
        </p:txBody>
      </p:sp>
      <p:sp>
        <p:nvSpPr>
          <p:cNvPr id="16" name="Shape 14"/>
          <p:cNvSpPr/>
          <p:nvPr/>
        </p:nvSpPr>
        <p:spPr>
          <a:xfrm>
            <a:off x="3291840" y="1965960"/>
            <a:ext cx="3182112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029968"/>
            <a:ext cx="29992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Değişken / Değer kümesi</a:t>
            </a:r>
            <a:endParaRPr lang="en-US" sz="1640" dirty="0"/>
          </a:p>
        </p:txBody>
      </p:sp>
      <p:sp>
        <p:nvSpPr>
          <p:cNvPr id="18" name="Shape 16"/>
          <p:cNvSpPr/>
          <p:nvPr/>
        </p:nvSpPr>
        <p:spPr>
          <a:xfrm>
            <a:off x="6473952" y="1965960"/>
            <a:ext cx="49377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65392" y="2029968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Neyi belirliyorum / seçeneklerim ne?</a:t>
            </a:r>
            <a:endParaRPr lang="en-US" sz="1640" dirty="0"/>
          </a:p>
        </p:txBody>
      </p:sp>
      <p:sp>
        <p:nvSpPr>
          <p:cNvPr id="20" name="Shape 18"/>
          <p:cNvSpPr/>
          <p:nvPr/>
        </p:nvSpPr>
        <p:spPr>
          <a:xfrm>
            <a:off x="758952" y="2660904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" y="2660904"/>
            <a:ext cx="2532888" cy="694944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2724912"/>
            <a:ext cx="23500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Constraint</a:t>
            </a:r>
            <a:endParaRPr lang="en-US" sz="1640" dirty="0"/>
          </a:p>
        </p:txBody>
      </p:sp>
      <p:sp>
        <p:nvSpPr>
          <p:cNvPr id="23" name="Shape 21"/>
          <p:cNvSpPr/>
          <p:nvPr/>
        </p:nvSpPr>
        <p:spPr>
          <a:xfrm>
            <a:off x="3291840" y="2660904"/>
            <a:ext cx="3182112" cy="694944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2724912"/>
            <a:ext cx="29992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Kısıt</a:t>
            </a:r>
            <a:endParaRPr lang="en-US" sz="1640" dirty="0"/>
          </a:p>
        </p:txBody>
      </p:sp>
      <p:sp>
        <p:nvSpPr>
          <p:cNvPr id="25" name="Shape 23"/>
          <p:cNvSpPr/>
          <p:nvPr/>
        </p:nvSpPr>
        <p:spPr>
          <a:xfrm>
            <a:off x="6473952" y="2660904"/>
            <a:ext cx="4937760" cy="694944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65392" y="2724912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Hangi kombinasyonlara izin veriliyor?</a:t>
            </a:r>
            <a:endParaRPr lang="en-US" sz="1640" dirty="0"/>
          </a:p>
        </p:txBody>
      </p:sp>
      <p:sp>
        <p:nvSpPr>
          <p:cNvPr id="27" name="Shape 25"/>
          <p:cNvSpPr/>
          <p:nvPr/>
        </p:nvSpPr>
        <p:spPr>
          <a:xfrm>
            <a:off x="758952" y="3355848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8952" y="3355848"/>
            <a:ext cx="253288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3419856"/>
            <a:ext cx="23500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Partial / Complete</a:t>
            </a:r>
            <a:endParaRPr lang="en-US" sz="1640" dirty="0"/>
          </a:p>
        </p:txBody>
      </p:sp>
      <p:sp>
        <p:nvSpPr>
          <p:cNvPr id="30" name="Shape 28"/>
          <p:cNvSpPr/>
          <p:nvPr/>
        </p:nvSpPr>
        <p:spPr>
          <a:xfrm>
            <a:off x="3291840" y="3355848"/>
            <a:ext cx="3182112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3419856"/>
            <a:ext cx="29992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Kısmi / Tam atama</a:t>
            </a:r>
            <a:endParaRPr lang="en-US" sz="1640" dirty="0"/>
          </a:p>
        </p:txBody>
      </p:sp>
      <p:sp>
        <p:nvSpPr>
          <p:cNvPr id="32" name="Shape 30"/>
          <p:cNvSpPr/>
          <p:nvPr/>
        </p:nvSpPr>
        <p:spPr>
          <a:xfrm>
            <a:off x="6473952" y="3355848"/>
            <a:ext cx="49377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65392" y="3419856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Bir kısmı / tamamı atanmış</a:t>
            </a:r>
            <a:endParaRPr lang="en-US" sz="1640" dirty="0"/>
          </a:p>
        </p:txBody>
      </p:sp>
      <p:sp>
        <p:nvSpPr>
          <p:cNvPr id="34" name="Shape 32"/>
          <p:cNvSpPr/>
          <p:nvPr/>
        </p:nvSpPr>
        <p:spPr>
          <a:xfrm>
            <a:off x="758952" y="4050792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8952" y="4050792"/>
            <a:ext cx="2532888" cy="694944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0392" y="4114800"/>
            <a:ext cx="23500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Consistent</a:t>
            </a:r>
            <a:endParaRPr lang="en-US" sz="1640" dirty="0"/>
          </a:p>
        </p:txBody>
      </p:sp>
      <p:sp>
        <p:nvSpPr>
          <p:cNvPr id="37" name="Shape 35"/>
          <p:cNvSpPr/>
          <p:nvPr/>
        </p:nvSpPr>
        <p:spPr>
          <a:xfrm>
            <a:off x="3291840" y="4050792"/>
            <a:ext cx="3182112" cy="694944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0" y="4114800"/>
            <a:ext cx="29992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Tutarlı</a:t>
            </a:r>
            <a:endParaRPr lang="en-US" sz="1640" dirty="0"/>
          </a:p>
        </p:txBody>
      </p:sp>
      <p:sp>
        <p:nvSpPr>
          <p:cNvPr id="39" name="Shape 37"/>
          <p:cNvSpPr/>
          <p:nvPr/>
        </p:nvSpPr>
        <p:spPr>
          <a:xfrm>
            <a:off x="6473952" y="4050792"/>
            <a:ext cx="4937760" cy="694944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65392" y="4114800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Hiçbir kısıt ihlal edilmiyor.</a:t>
            </a:r>
            <a:endParaRPr lang="en-US" sz="1640" dirty="0"/>
          </a:p>
        </p:txBody>
      </p:sp>
      <p:sp>
        <p:nvSpPr>
          <p:cNvPr id="41" name="Shape 39"/>
          <p:cNvSpPr/>
          <p:nvPr/>
        </p:nvSpPr>
        <p:spPr>
          <a:xfrm>
            <a:off x="758952" y="4745736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8952" y="4745736"/>
            <a:ext cx="253288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0392" y="4809744"/>
            <a:ext cx="23500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</a:t>
            </a:r>
            <a:endParaRPr lang="en-US" sz="1640" dirty="0"/>
          </a:p>
        </p:txBody>
      </p:sp>
      <p:sp>
        <p:nvSpPr>
          <p:cNvPr id="44" name="Shape 42"/>
          <p:cNvSpPr/>
          <p:nvPr/>
        </p:nvSpPr>
        <p:spPr>
          <a:xfrm>
            <a:off x="3291840" y="4745736"/>
            <a:ext cx="3182112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83280" y="4809744"/>
            <a:ext cx="29992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Çözüm</a:t>
            </a:r>
            <a:endParaRPr lang="en-US" sz="1640" dirty="0"/>
          </a:p>
        </p:txBody>
      </p:sp>
      <p:sp>
        <p:nvSpPr>
          <p:cNvPr id="46" name="Shape 44"/>
          <p:cNvSpPr/>
          <p:nvPr/>
        </p:nvSpPr>
        <p:spPr>
          <a:xfrm>
            <a:off x="6473952" y="4745736"/>
            <a:ext cx="49377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65392" y="4809744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Tam + tutarlı atama</a:t>
            </a:r>
            <a:endParaRPr lang="en-US" sz="1640" dirty="0"/>
          </a:p>
        </p:txBody>
      </p:sp>
      <p:sp>
        <p:nvSpPr>
          <p:cNvPr id="48" name="Shape 46"/>
          <p:cNvSpPr/>
          <p:nvPr/>
        </p:nvSpPr>
        <p:spPr>
          <a:xfrm>
            <a:off x="758952" y="5440680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01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2376" y="731520"/>
            <a:ext cx="8595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0" b="1" dirty="0">
                <a:solidFill>
                  <a:srgbClr val="54D5C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6.2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758952" y="2075688"/>
            <a:ext cx="106070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Kısıt Yayılımı ve Çıkarım</a:t>
            </a:r>
            <a:endParaRPr lang="en-US" sz="4100" dirty="0"/>
          </a:p>
        </p:txBody>
      </p:sp>
      <p:sp>
        <p:nvSpPr>
          <p:cNvPr id="5" name="Shape 3"/>
          <p:cNvSpPr/>
          <p:nvPr/>
        </p:nvSpPr>
        <p:spPr>
          <a:xfrm>
            <a:off x="777240" y="3730752"/>
            <a:ext cx="2286000" cy="64008"/>
          </a:xfrm>
          <a:prstGeom prst="rect">
            <a:avLst/>
          </a:prstGeom>
          <a:solidFill>
            <a:srgbClr val="EBA139"/>
          </a:solidFill>
          <a:ln w="12700">
            <a:solidFill>
              <a:srgbClr val="EBA13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4087368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BE8F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Tahmin yapmadan önce kısıtların bize ne söylediğini kullanalım.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6080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8799A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ÜNİTE 06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0" y="608076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799A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6.2  •  KISIT YAYILIMI VE ÇIKARIM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Arama ve çıkarım farklı şeylerdir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27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67512" y="1463040"/>
            <a:ext cx="5285232" cy="468172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" y="1463040"/>
            <a:ext cx="5285232" cy="109728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719072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2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ARAMA (SEARCH)</a:t>
            </a:r>
            <a:endParaRPr lang="en-US" sz="1920" dirty="0"/>
          </a:p>
        </p:txBody>
      </p:sp>
      <p:sp>
        <p:nvSpPr>
          <p:cNvPr id="11" name="Shape 9"/>
          <p:cNvSpPr/>
          <p:nvPr/>
        </p:nvSpPr>
        <p:spPr>
          <a:xfrm>
            <a:off x="923544" y="2496312"/>
            <a:ext cx="100584" cy="100584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2350008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Bir değişkene bir değer seçeriz.</a:t>
            </a:r>
            <a:endParaRPr lang="en-US" sz="1740" dirty="0"/>
          </a:p>
        </p:txBody>
      </p:sp>
      <p:sp>
        <p:nvSpPr>
          <p:cNvPr id="13" name="Shape 11"/>
          <p:cNvSpPr/>
          <p:nvPr/>
        </p:nvSpPr>
        <p:spPr>
          <a:xfrm>
            <a:off x="923544" y="3218688"/>
            <a:ext cx="100584" cy="100584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3072384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Örn. SA = Mavi diye karar veririz.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923544" y="3941064"/>
            <a:ext cx="100584" cy="100584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3794760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 karar yanlışsa başka dalı deneyebiliriz.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6236208" y="1463040"/>
            <a:ext cx="5285232" cy="468172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6208" y="1463040"/>
            <a:ext cx="5285232" cy="109728"/>
          </a:xfrm>
          <a:prstGeom prst="rect">
            <a:avLst/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55664" y="1719072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20" b="1" dirty="0">
                <a:solidFill>
                  <a:srgbClr val="3676C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ÇIKARIM (INFERENCE)</a:t>
            </a:r>
            <a:endParaRPr lang="en-US" sz="1920" dirty="0"/>
          </a:p>
        </p:txBody>
      </p:sp>
      <p:sp>
        <p:nvSpPr>
          <p:cNvPr id="20" name="Shape 18"/>
          <p:cNvSpPr/>
          <p:nvPr/>
        </p:nvSpPr>
        <p:spPr>
          <a:xfrm>
            <a:off x="6492240" y="2496312"/>
            <a:ext cx="100584" cy="100584"/>
          </a:xfrm>
          <a:prstGeom prst="ellipse">
            <a:avLst/>
          </a:prstGeom>
          <a:solidFill>
            <a:srgbClr val="3676C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84264" y="2350008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Seçimlerden zorunlu sonuçlar üretiriz.</a:t>
            </a:r>
            <a:endParaRPr lang="en-US" sz="1740" dirty="0"/>
          </a:p>
        </p:txBody>
      </p:sp>
      <p:sp>
        <p:nvSpPr>
          <p:cNvPr id="22" name="Shape 20"/>
          <p:cNvSpPr/>
          <p:nvPr/>
        </p:nvSpPr>
        <p:spPr>
          <a:xfrm>
            <a:off x="6492240" y="3218688"/>
            <a:ext cx="100584" cy="100584"/>
          </a:xfrm>
          <a:prstGeom prst="ellipse">
            <a:avLst/>
          </a:prstGeom>
          <a:solidFill>
            <a:srgbClr val="3676C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84264" y="3072384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 = Mavi ise komşuları mavi olamaz.</a:t>
            </a:r>
            <a:endParaRPr lang="en-US" sz="1740" dirty="0"/>
          </a:p>
        </p:txBody>
      </p:sp>
      <p:sp>
        <p:nvSpPr>
          <p:cNvPr id="24" name="Shape 22"/>
          <p:cNvSpPr/>
          <p:nvPr/>
        </p:nvSpPr>
        <p:spPr>
          <a:xfrm>
            <a:off x="6492240" y="3941064"/>
            <a:ext cx="100584" cy="100584"/>
          </a:xfrm>
          <a:prstGeom prst="ellipse">
            <a:avLst/>
          </a:prstGeom>
          <a:solidFill>
            <a:srgbClr val="3676C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84264" y="3794760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Değer kümelerini küçültürüz.</a:t>
            </a:r>
            <a:endParaRPr lang="en-US" sz="17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6.2  •  KISIT YAYILIMI VE ÇIKARIM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Kısıt yayılımı — küçük ama tam örnek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28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81328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1609344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6459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417320" y="156362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Başlangıç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417320" y="1828800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A,B,C ∈ {1,2,3}; kısıt A &lt; B &lt; C.</a:t>
            </a:r>
            <a:endParaRPr lang="en-US" sz="1610" dirty="0"/>
          </a:p>
        </p:txBody>
      </p:sp>
      <p:sp>
        <p:nvSpPr>
          <p:cNvPr id="13" name="Shape 11"/>
          <p:cNvSpPr/>
          <p:nvPr/>
        </p:nvSpPr>
        <p:spPr>
          <a:xfrm>
            <a:off x="640080" y="2633472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" y="2761488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279806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417320" y="271576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B=3 mümkün değil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417320" y="2980944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 &gt; 3 olamaz → B ∈ {1,2}.</a:t>
            </a:r>
            <a:endParaRPr lang="en-US" sz="1610" dirty="0"/>
          </a:p>
        </p:txBody>
      </p:sp>
      <p:sp>
        <p:nvSpPr>
          <p:cNvPr id="18" name="Shape 16"/>
          <p:cNvSpPr/>
          <p:nvPr/>
        </p:nvSpPr>
        <p:spPr>
          <a:xfrm>
            <a:off x="640080" y="3785616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" y="3913632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" y="395020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417320" y="386791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A=2 veya A=3 mümkün değil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417320" y="4133088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&lt; B ve B ≤ 2 → A=1.</a:t>
            </a:r>
            <a:endParaRPr lang="en-US" sz="1610" dirty="0"/>
          </a:p>
        </p:txBody>
      </p:sp>
      <p:sp>
        <p:nvSpPr>
          <p:cNvPr id="23" name="Shape 21"/>
          <p:cNvSpPr/>
          <p:nvPr/>
        </p:nvSpPr>
        <p:spPr>
          <a:xfrm>
            <a:off x="640080" y="4937760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" y="5065776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2C9A6A"/>
          </a:solidFill>
          <a:ln w="12700">
            <a:solidFill>
              <a:srgbClr val="2C9A6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" y="510235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417320" y="5020056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B=1 mümkün değil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417320" y="5285232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A=1 &lt; B → B=2; ardından C=3.</a:t>
            </a:r>
            <a:endParaRPr lang="en-US" sz="161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6.2  •  KISIT YAYILIMI VE ÇIKARIM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Yerel tutarlılık (local consistency) fikri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29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444752"/>
            <a:ext cx="708660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444752"/>
            <a:ext cx="73152" cy="82296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499616"/>
            <a:ext cx="6757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Node consistency</a:t>
            </a:r>
            <a:endParaRPr lang="en-US" sz="1780" dirty="0"/>
          </a:p>
        </p:txBody>
      </p:sp>
      <p:sp>
        <p:nvSpPr>
          <p:cNvPr id="11" name="Text 9"/>
          <p:cNvSpPr/>
          <p:nvPr/>
        </p:nvSpPr>
        <p:spPr>
          <a:xfrm>
            <a:off x="914400" y="178308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Bir değişkenin tekli kısıtlarına uyan değerler kalır.</a:t>
            </a:r>
            <a:endParaRPr lang="en-US" sz="1540" dirty="0"/>
          </a:p>
        </p:txBody>
      </p:sp>
      <p:sp>
        <p:nvSpPr>
          <p:cNvPr id="12" name="Shape 10"/>
          <p:cNvSpPr/>
          <p:nvPr/>
        </p:nvSpPr>
        <p:spPr>
          <a:xfrm>
            <a:off x="658368" y="2404872"/>
            <a:ext cx="708660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2404872"/>
            <a:ext cx="73152" cy="82296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459736"/>
            <a:ext cx="6757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Arc consistency</a:t>
            </a:r>
            <a:endParaRPr lang="en-US" sz="1780" dirty="0"/>
          </a:p>
        </p:txBody>
      </p:sp>
      <p:sp>
        <p:nvSpPr>
          <p:cNvPr id="15" name="Text 13"/>
          <p:cNvSpPr/>
          <p:nvPr/>
        </p:nvSpPr>
        <p:spPr>
          <a:xfrm>
            <a:off x="914400" y="274320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Her değer, komşu değişkende kendisini destekleyen en az bir değere sahiptir.</a:t>
            </a:r>
            <a:endParaRPr lang="en-US" sz="1540" dirty="0"/>
          </a:p>
        </p:txBody>
      </p:sp>
      <p:sp>
        <p:nvSpPr>
          <p:cNvPr id="16" name="Shape 14"/>
          <p:cNvSpPr/>
          <p:nvPr/>
        </p:nvSpPr>
        <p:spPr>
          <a:xfrm>
            <a:off x="658368" y="3364992"/>
            <a:ext cx="708660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364992"/>
            <a:ext cx="73152" cy="82296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419856"/>
            <a:ext cx="6757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Path / k-consistency</a:t>
            </a:r>
            <a:endParaRPr lang="en-US" sz="1780" dirty="0"/>
          </a:p>
        </p:txBody>
      </p:sp>
      <p:sp>
        <p:nvSpPr>
          <p:cNvPr id="19" name="Text 17"/>
          <p:cNvSpPr/>
          <p:nvPr/>
        </p:nvSpPr>
        <p:spPr>
          <a:xfrm>
            <a:off x="914400" y="370332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İki veya daha fazla değişken arasındaki daha güçlü ilişkiler incelenir.</a:t>
            </a:r>
            <a:endParaRPr lang="en-US" sz="1540" dirty="0"/>
          </a:p>
        </p:txBody>
      </p:sp>
      <p:sp>
        <p:nvSpPr>
          <p:cNvPr id="20" name="Shape 18"/>
          <p:cNvSpPr/>
          <p:nvPr/>
        </p:nvSpPr>
        <p:spPr>
          <a:xfrm>
            <a:off x="8028432" y="1444752"/>
            <a:ext cx="3474720" cy="4443984"/>
          </a:xfrm>
          <a:prstGeom prst="roundRect">
            <a:avLst>
              <a:gd name="adj" fmla="val 4737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1719072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7FE0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ZİNCİRLEME ETKİ</a:t>
            </a:r>
            <a:endParaRPr lang="en-US" sz="1530" dirty="0"/>
          </a:p>
        </p:txBody>
      </p:sp>
      <p:sp>
        <p:nvSpPr>
          <p:cNvPr id="22" name="Text 20"/>
          <p:cNvSpPr/>
          <p:nvPr/>
        </p:nvSpPr>
        <p:spPr>
          <a:xfrm>
            <a:off x="8229600" y="2157984"/>
            <a:ext cx="3017520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4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Bir kısıtı uyguladığında değer silinebilir.</a:t>
            </a:r>
            <a:endParaRPr lang="en-US" sz="1840" dirty="0"/>
          </a:p>
          <a:p>
            <a:pPr indent="0" marL="0">
              <a:buNone/>
            </a:pPr>
            <a:endParaRPr lang="en-US" sz="1840" dirty="0"/>
          </a:p>
          <a:p>
            <a:pPr indent="0" marL="0">
              <a:buNone/>
            </a:pPr>
            <a:r>
              <a:rPr lang="en-US" sz="184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Değer silinmesi başka kısıtları tetikleyebilir.</a:t>
            </a:r>
            <a:endParaRPr lang="en-US" sz="1840" dirty="0"/>
          </a:p>
          <a:p>
            <a:pPr indent="0" marL="0">
              <a:buNone/>
            </a:pPr>
            <a:endParaRPr lang="en-US" sz="1840" dirty="0"/>
          </a:p>
          <a:p>
            <a:pPr indent="0" marL="0">
              <a:buNone/>
            </a:pPr>
            <a:r>
              <a:rPr lang="en-US" sz="184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 zincire kısıt yayılımı denir.</a:t>
            </a:r>
            <a:endParaRPr lang="en-US" sz="184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6.2  •  KISIT YAYILIMI VE ÇIKARIM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Düğüm tutarlılığı (Node Consistency)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" y="1636776"/>
            <a:ext cx="10698480" cy="1517904"/>
          </a:xfrm>
          <a:prstGeom prst="roundRect">
            <a:avLst>
              <a:gd name="adj" fmla="val 10843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947672"/>
            <a:ext cx="10158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Dₛₐ = {Kırmızı, Yeşil, Mavi} → {Kırmızı, Mavi}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950976" y="3447288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7864" y="3784092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72184" y="3493008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Tekli kısıt: SA ≠ Yeşil.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950976" y="4349496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7864" y="4686300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72184" y="4395216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Yalnızca SA’nın değer kümesi değişir.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950976" y="5251704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7864" y="5588508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72184" y="5297424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Ağdaki bütün düğümler tekli kısıtlarına uyarsa ağ düğüm-tutarlıdır.</a:t>
            </a:r>
            <a:endParaRPr lang="en-US" sz="1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6.2  •  KISIT YAYILIMI VE ÇIKARIM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Düğüm tutarlılığı uygulaması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109910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Önce öğrencilerden çözmelerini isteyin; ardından birlikte kontrol edin.</a:t>
            </a:r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8" name="Text 6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1691640"/>
            <a:ext cx="10716768" cy="1527048"/>
          </a:xfrm>
          <a:prstGeom prst="roundRect">
            <a:avLst>
              <a:gd name="adj" fmla="val 10778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" y="19019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7EE0D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SORU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83664" y="1865376"/>
            <a:ext cx="9235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D_X = {1,2,3,4,5}, kısıt X &gt; 3. Hangi değerler kalır?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49808" y="3493008"/>
            <a:ext cx="10716768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369417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ADIM ADIM CEVAP</a:t>
            </a:r>
            <a:endParaRPr lang="en-US" sz="1640" dirty="0"/>
          </a:p>
        </p:txBody>
      </p:sp>
      <p:sp>
        <p:nvSpPr>
          <p:cNvPr id="14" name="Text 12"/>
          <p:cNvSpPr/>
          <p:nvPr/>
        </p:nvSpPr>
        <p:spPr>
          <a:xfrm>
            <a:off x="1042416" y="4160520"/>
            <a:ext cx="992124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1,2,3 değerleri X&gt;3 koşulunu sağlamaz → silinir.</a:t>
            </a:r>
            <a:endParaRPr lang="en-US" sz="1810" dirty="0"/>
          </a:p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 ve 5 koşulu sağlar.</a:t>
            </a:r>
            <a:endParaRPr lang="en-US" sz="1810" dirty="0"/>
          </a:p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Son değer kümesi: D_X={4,5}.</a:t>
            </a:r>
            <a:endParaRPr lang="en-US" sz="181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6.2  •  KISIT YAYILIMI VE ÇIKARIM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Yay tutarlılığının tanımı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" y="1636776"/>
            <a:ext cx="10698480" cy="1517904"/>
          </a:xfrm>
          <a:prstGeom prst="roundRect">
            <a:avLst>
              <a:gd name="adj" fmla="val 10843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947672"/>
            <a:ext cx="10158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∀x ∈ Dᵢ  ∃y ∈ Dⱼ : Cᵢⱼ(x,y)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950976" y="3447288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7864" y="3784092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72184" y="3493008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Xᵢ’nin HER değeri için Xⱼ’de EN AZ BİR uygun değer bulunmalıdır.</a:t>
            </a:r>
            <a:endParaRPr lang="en-US" sz="1810" dirty="0"/>
          </a:p>
        </p:txBody>
      </p:sp>
      <p:sp>
        <p:nvSpPr>
          <p:cNvPr id="13" name="Shape 11"/>
          <p:cNvSpPr/>
          <p:nvPr/>
        </p:nvSpPr>
        <p:spPr>
          <a:xfrm>
            <a:off x="950976" y="4349496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7864" y="4686300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72184" y="4395216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Desteklenmeyen x değeri Dᵢ’den silinir.</a:t>
            </a:r>
            <a:endParaRPr lang="en-US" sz="1810" dirty="0"/>
          </a:p>
        </p:txBody>
      </p:sp>
      <p:sp>
        <p:nvSpPr>
          <p:cNvPr id="16" name="Shape 14"/>
          <p:cNvSpPr/>
          <p:nvPr/>
        </p:nvSpPr>
        <p:spPr>
          <a:xfrm>
            <a:off x="950976" y="5251704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7864" y="5588508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72184" y="5297424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(Xᵢ, Xⱼ) ile (Xⱼ, Xᵢ) kontrolleri farklı olabilir.</a:t>
            </a:r>
            <a:endParaRPr lang="en-US" sz="181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6.2  •  KISIT YAYILIMI VE ÇIKARIM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 = X² kısıtında yay tutarlılığı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33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" y="1490472"/>
            <a:ext cx="1133856" cy="475488"/>
          </a:xfrm>
          <a:prstGeom prst="rect">
            <a:avLst/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554480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892808" y="1490472"/>
            <a:ext cx="2121408" cy="475488"/>
          </a:xfrm>
          <a:prstGeom prst="rect">
            <a:avLst/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55448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Y=X²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014216" y="1490472"/>
            <a:ext cx="4873752" cy="475488"/>
          </a:xfrm>
          <a:prstGeom prst="rect">
            <a:avLst/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554480"/>
            <a:ext cx="4690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 ∈ {0,…,9} içinde mi?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887968" y="1490472"/>
            <a:ext cx="2523744" cy="475488"/>
          </a:xfrm>
          <a:prstGeom prst="rect">
            <a:avLst/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88552" y="1554480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Karar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58952" y="1965960"/>
            <a:ext cx="1133856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2029968"/>
            <a:ext cx="950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</a:t>
            </a:r>
            <a:endParaRPr lang="en-US" sz="1580" dirty="0"/>
          </a:p>
        </p:txBody>
      </p:sp>
      <p:sp>
        <p:nvSpPr>
          <p:cNvPr id="18" name="Shape 16"/>
          <p:cNvSpPr/>
          <p:nvPr/>
        </p:nvSpPr>
        <p:spPr>
          <a:xfrm>
            <a:off x="1892808" y="1965960"/>
            <a:ext cx="212140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84248" y="2029968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</a:t>
            </a:r>
            <a:endParaRPr lang="en-US" sz="1580" dirty="0"/>
          </a:p>
        </p:txBody>
      </p:sp>
      <p:sp>
        <p:nvSpPr>
          <p:cNvPr id="20" name="Shape 18"/>
          <p:cNvSpPr/>
          <p:nvPr/>
        </p:nvSpPr>
        <p:spPr>
          <a:xfrm>
            <a:off x="4014216" y="1965960"/>
            <a:ext cx="487375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05656" y="2029968"/>
            <a:ext cx="4690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Evet</a:t>
            </a:r>
            <a:endParaRPr lang="en-US" sz="1580" dirty="0"/>
          </a:p>
        </p:txBody>
      </p:sp>
      <p:sp>
        <p:nvSpPr>
          <p:cNvPr id="22" name="Shape 20"/>
          <p:cNvSpPr/>
          <p:nvPr/>
        </p:nvSpPr>
        <p:spPr>
          <a:xfrm>
            <a:off x="8887968" y="1965960"/>
            <a:ext cx="2523744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79408" y="2029968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Kalır</a:t>
            </a:r>
            <a:endParaRPr lang="en-US" sz="1580" dirty="0"/>
          </a:p>
        </p:txBody>
      </p:sp>
      <p:sp>
        <p:nvSpPr>
          <p:cNvPr id="24" name="Shape 22"/>
          <p:cNvSpPr/>
          <p:nvPr/>
        </p:nvSpPr>
        <p:spPr>
          <a:xfrm>
            <a:off x="758952" y="2551176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8952" y="2551176"/>
            <a:ext cx="1133856" cy="585216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2615184"/>
            <a:ext cx="950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580" dirty="0"/>
          </a:p>
        </p:txBody>
      </p:sp>
      <p:sp>
        <p:nvSpPr>
          <p:cNvPr id="27" name="Shape 25"/>
          <p:cNvSpPr/>
          <p:nvPr/>
        </p:nvSpPr>
        <p:spPr>
          <a:xfrm>
            <a:off x="1892808" y="2551176"/>
            <a:ext cx="2121408" cy="585216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84248" y="2615184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580" dirty="0"/>
          </a:p>
        </p:txBody>
      </p:sp>
      <p:sp>
        <p:nvSpPr>
          <p:cNvPr id="29" name="Shape 27"/>
          <p:cNvSpPr/>
          <p:nvPr/>
        </p:nvSpPr>
        <p:spPr>
          <a:xfrm>
            <a:off x="4014216" y="2551176"/>
            <a:ext cx="4873752" cy="585216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05656" y="2615184"/>
            <a:ext cx="4690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Evet</a:t>
            </a:r>
            <a:endParaRPr lang="en-US" sz="1580" dirty="0"/>
          </a:p>
        </p:txBody>
      </p:sp>
      <p:sp>
        <p:nvSpPr>
          <p:cNvPr id="31" name="Shape 29"/>
          <p:cNvSpPr/>
          <p:nvPr/>
        </p:nvSpPr>
        <p:spPr>
          <a:xfrm>
            <a:off x="8887968" y="2551176"/>
            <a:ext cx="2523744" cy="585216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79408" y="2615184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Kalır</a:t>
            </a:r>
            <a:endParaRPr lang="en-US" sz="1580" dirty="0"/>
          </a:p>
        </p:txBody>
      </p:sp>
      <p:sp>
        <p:nvSpPr>
          <p:cNvPr id="33" name="Shape 31"/>
          <p:cNvSpPr/>
          <p:nvPr/>
        </p:nvSpPr>
        <p:spPr>
          <a:xfrm>
            <a:off x="758952" y="3136392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8952" y="3136392"/>
            <a:ext cx="1133856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" y="3200400"/>
            <a:ext cx="950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580" dirty="0"/>
          </a:p>
        </p:txBody>
      </p:sp>
      <p:sp>
        <p:nvSpPr>
          <p:cNvPr id="36" name="Shape 34"/>
          <p:cNvSpPr/>
          <p:nvPr/>
        </p:nvSpPr>
        <p:spPr>
          <a:xfrm>
            <a:off x="1892808" y="3136392"/>
            <a:ext cx="212140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84248" y="3200400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580" dirty="0"/>
          </a:p>
        </p:txBody>
      </p:sp>
      <p:sp>
        <p:nvSpPr>
          <p:cNvPr id="38" name="Shape 36"/>
          <p:cNvSpPr/>
          <p:nvPr/>
        </p:nvSpPr>
        <p:spPr>
          <a:xfrm>
            <a:off x="4014216" y="3136392"/>
            <a:ext cx="487375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05656" y="3200400"/>
            <a:ext cx="4690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Evet</a:t>
            </a:r>
            <a:endParaRPr lang="en-US" sz="1580" dirty="0"/>
          </a:p>
        </p:txBody>
      </p:sp>
      <p:sp>
        <p:nvSpPr>
          <p:cNvPr id="40" name="Shape 38"/>
          <p:cNvSpPr/>
          <p:nvPr/>
        </p:nvSpPr>
        <p:spPr>
          <a:xfrm>
            <a:off x="8887968" y="3136392"/>
            <a:ext cx="2523744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79408" y="3200400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Kalır</a:t>
            </a:r>
            <a:endParaRPr lang="en-US" sz="1580" dirty="0"/>
          </a:p>
        </p:txBody>
      </p:sp>
      <p:sp>
        <p:nvSpPr>
          <p:cNvPr id="42" name="Shape 40"/>
          <p:cNvSpPr/>
          <p:nvPr/>
        </p:nvSpPr>
        <p:spPr>
          <a:xfrm>
            <a:off x="758952" y="3721608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8952" y="3721608"/>
            <a:ext cx="1133856" cy="585216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0392" y="3785616"/>
            <a:ext cx="950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580" dirty="0"/>
          </a:p>
        </p:txBody>
      </p:sp>
      <p:sp>
        <p:nvSpPr>
          <p:cNvPr id="45" name="Shape 43"/>
          <p:cNvSpPr/>
          <p:nvPr/>
        </p:nvSpPr>
        <p:spPr>
          <a:xfrm>
            <a:off x="1892808" y="3721608"/>
            <a:ext cx="2121408" cy="585216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84248" y="3785616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</a:t>
            </a:r>
            <a:endParaRPr lang="en-US" sz="1580" dirty="0"/>
          </a:p>
        </p:txBody>
      </p:sp>
      <p:sp>
        <p:nvSpPr>
          <p:cNvPr id="47" name="Shape 45"/>
          <p:cNvSpPr/>
          <p:nvPr/>
        </p:nvSpPr>
        <p:spPr>
          <a:xfrm>
            <a:off x="4014216" y="3721608"/>
            <a:ext cx="4873752" cy="585216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05656" y="3785616"/>
            <a:ext cx="4690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Evet</a:t>
            </a:r>
            <a:endParaRPr lang="en-US" sz="1580" dirty="0"/>
          </a:p>
        </p:txBody>
      </p:sp>
      <p:sp>
        <p:nvSpPr>
          <p:cNvPr id="49" name="Shape 47"/>
          <p:cNvSpPr/>
          <p:nvPr/>
        </p:nvSpPr>
        <p:spPr>
          <a:xfrm>
            <a:off x="8887968" y="3721608"/>
            <a:ext cx="2523744" cy="585216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979408" y="3785616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Kalır</a:t>
            </a:r>
            <a:endParaRPr lang="en-US" sz="1580" dirty="0"/>
          </a:p>
        </p:txBody>
      </p:sp>
      <p:sp>
        <p:nvSpPr>
          <p:cNvPr id="51" name="Shape 49"/>
          <p:cNvSpPr/>
          <p:nvPr/>
        </p:nvSpPr>
        <p:spPr>
          <a:xfrm>
            <a:off x="758952" y="4306824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58952" y="4306824"/>
            <a:ext cx="1133856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0392" y="4370832"/>
            <a:ext cx="950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580" dirty="0"/>
          </a:p>
        </p:txBody>
      </p:sp>
      <p:sp>
        <p:nvSpPr>
          <p:cNvPr id="54" name="Shape 52"/>
          <p:cNvSpPr/>
          <p:nvPr/>
        </p:nvSpPr>
        <p:spPr>
          <a:xfrm>
            <a:off x="1892808" y="4306824"/>
            <a:ext cx="212140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984248" y="4370832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16</a:t>
            </a:r>
            <a:endParaRPr lang="en-US" sz="1580" dirty="0"/>
          </a:p>
        </p:txBody>
      </p:sp>
      <p:sp>
        <p:nvSpPr>
          <p:cNvPr id="56" name="Shape 54"/>
          <p:cNvSpPr/>
          <p:nvPr/>
        </p:nvSpPr>
        <p:spPr>
          <a:xfrm>
            <a:off x="4014216" y="4306824"/>
            <a:ext cx="487375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05656" y="4370832"/>
            <a:ext cx="4690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Hayır</a:t>
            </a:r>
            <a:endParaRPr lang="en-US" sz="1580" dirty="0"/>
          </a:p>
        </p:txBody>
      </p:sp>
      <p:sp>
        <p:nvSpPr>
          <p:cNvPr id="58" name="Shape 56"/>
          <p:cNvSpPr/>
          <p:nvPr/>
        </p:nvSpPr>
        <p:spPr>
          <a:xfrm>
            <a:off x="8887968" y="4306824"/>
            <a:ext cx="2523744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79408" y="4370832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Elenir</a:t>
            </a:r>
            <a:endParaRPr lang="en-US" sz="1580" dirty="0"/>
          </a:p>
        </p:txBody>
      </p:sp>
      <p:sp>
        <p:nvSpPr>
          <p:cNvPr id="60" name="Shape 58"/>
          <p:cNvSpPr/>
          <p:nvPr/>
        </p:nvSpPr>
        <p:spPr>
          <a:xfrm>
            <a:off x="758952" y="4892040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58952" y="4892040"/>
            <a:ext cx="1133856" cy="585216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0392" y="4956048"/>
            <a:ext cx="950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5–9</a:t>
            </a:r>
            <a:endParaRPr lang="en-US" sz="1580" dirty="0"/>
          </a:p>
        </p:txBody>
      </p:sp>
      <p:sp>
        <p:nvSpPr>
          <p:cNvPr id="63" name="Shape 61"/>
          <p:cNvSpPr/>
          <p:nvPr/>
        </p:nvSpPr>
        <p:spPr>
          <a:xfrm>
            <a:off x="1892808" y="4892040"/>
            <a:ext cx="2121408" cy="585216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984248" y="4956048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25–81</a:t>
            </a:r>
            <a:endParaRPr lang="en-US" sz="1580" dirty="0"/>
          </a:p>
        </p:txBody>
      </p:sp>
      <p:sp>
        <p:nvSpPr>
          <p:cNvPr id="65" name="Shape 63"/>
          <p:cNvSpPr/>
          <p:nvPr/>
        </p:nvSpPr>
        <p:spPr>
          <a:xfrm>
            <a:off x="4014216" y="4892040"/>
            <a:ext cx="4873752" cy="585216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105656" y="4956048"/>
            <a:ext cx="4690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Hayır</a:t>
            </a:r>
            <a:endParaRPr lang="en-US" sz="1580" dirty="0"/>
          </a:p>
        </p:txBody>
      </p:sp>
      <p:sp>
        <p:nvSpPr>
          <p:cNvPr id="67" name="Shape 65"/>
          <p:cNvSpPr/>
          <p:nvPr/>
        </p:nvSpPr>
        <p:spPr>
          <a:xfrm>
            <a:off x="8887968" y="4892040"/>
            <a:ext cx="2523744" cy="585216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979408" y="4956048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Elenir</a:t>
            </a:r>
            <a:endParaRPr lang="en-US" sz="1580" dirty="0"/>
          </a:p>
        </p:txBody>
      </p:sp>
      <p:sp>
        <p:nvSpPr>
          <p:cNvPr id="69" name="Shape 67"/>
          <p:cNvSpPr/>
          <p:nvPr/>
        </p:nvSpPr>
        <p:spPr>
          <a:xfrm>
            <a:off x="758952" y="5477256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6.2  •  KISIT YAYILIMI VE ÇIKARIM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 = X² — çıkarımdan sonraki değer kümeleri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" y="1636776"/>
            <a:ext cx="10698480" cy="1517904"/>
          </a:xfrm>
          <a:prstGeom prst="roundRect">
            <a:avLst>
              <a:gd name="adj" fmla="val 10843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947672"/>
            <a:ext cx="10158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Dₓ={0,1,2,3}     Dᵧ={0,1,4,9}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950976" y="3447288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7864" y="3784092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72184" y="3493008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Başta her iki değişken de {0,1,…,9} değerlerini alabiliyordu.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50976" y="4349496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7864" y="4686300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72184" y="4395216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Kısıta göre desteklenmeyen X=4,…,9 ve Y=2,3,5,…,8 silindi.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950976" y="5251704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7864" y="5588508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72184" y="5297424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Geçerli çiftler: (0,0), (1,1), (2,4), (3,9).</a:t>
            </a:r>
            <a:endParaRPr lang="en-US" sz="1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6.2  •  KISIT YAYILIMI VE ÇIKARIM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Yay tutarlılığı neyi tespit edemez?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444752"/>
            <a:ext cx="708660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444752"/>
            <a:ext cx="73152" cy="82296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499616"/>
            <a:ext cx="6757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SA≠WA, iki değişkende 3 renk</a:t>
            </a:r>
            <a:endParaRPr lang="en-US" sz="1780" dirty="0"/>
          </a:p>
        </p:txBody>
      </p:sp>
      <p:sp>
        <p:nvSpPr>
          <p:cNvPr id="11" name="Text 9"/>
          <p:cNvSpPr/>
          <p:nvPr/>
        </p:nvSpPr>
        <p:spPr>
          <a:xfrm>
            <a:off x="914400" y="178308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SA’nın her rengi için WA’da farklı bir renk vardır.</a:t>
            </a:r>
            <a:endParaRPr lang="en-US" sz="1540" dirty="0"/>
          </a:p>
        </p:txBody>
      </p:sp>
      <p:sp>
        <p:nvSpPr>
          <p:cNvPr id="12" name="Shape 10"/>
          <p:cNvSpPr/>
          <p:nvPr/>
        </p:nvSpPr>
        <p:spPr>
          <a:xfrm>
            <a:off x="658368" y="2404872"/>
            <a:ext cx="708660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2404872"/>
            <a:ext cx="73152" cy="82296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459736"/>
            <a:ext cx="6757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 nedenle hiçbir değer silinmez</a:t>
            </a:r>
            <a:endParaRPr lang="en-US" sz="1780" dirty="0"/>
          </a:p>
        </p:txBody>
      </p:sp>
      <p:sp>
        <p:nvSpPr>
          <p:cNvPr id="15" name="Text 13"/>
          <p:cNvSpPr/>
          <p:nvPr/>
        </p:nvSpPr>
        <p:spPr>
          <a:xfrm>
            <a:off x="914400" y="274320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Yay-tutarlı olması çözüm bulunduğu anlamına gelmez.</a:t>
            </a:r>
            <a:endParaRPr lang="en-US" sz="1540" dirty="0"/>
          </a:p>
        </p:txBody>
      </p:sp>
      <p:sp>
        <p:nvSpPr>
          <p:cNvPr id="16" name="Shape 14"/>
          <p:cNvSpPr/>
          <p:nvPr/>
        </p:nvSpPr>
        <p:spPr>
          <a:xfrm>
            <a:off x="658368" y="3364992"/>
            <a:ext cx="708660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364992"/>
            <a:ext cx="73152" cy="82296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419856"/>
            <a:ext cx="6757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Üçgen yapıdaki çelişkiler</a:t>
            </a:r>
            <a:endParaRPr lang="en-US" sz="1780" dirty="0"/>
          </a:p>
        </p:txBody>
      </p:sp>
      <p:sp>
        <p:nvSpPr>
          <p:cNvPr id="19" name="Text 17"/>
          <p:cNvSpPr/>
          <p:nvPr/>
        </p:nvSpPr>
        <p:spPr>
          <a:xfrm>
            <a:off x="914400" y="370332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WA, NT, SA karşılıklı komşuyken yalnızca 2 renk varsa her yay tek tek tutarlı olabilir; tüm problem çözümsüzdür.</a:t>
            </a:r>
            <a:endParaRPr lang="en-US" sz="1540" dirty="0"/>
          </a:p>
        </p:txBody>
      </p:sp>
      <p:sp>
        <p:nvSpPr>
          <p:cNvPr id="20" name="Shape 18"/>
          <p:cNvSpPr/>
          <p:nvPr/>
        </p:nvSpPr>
        <p:spPr>
          <a:xfrm>
            <a:off x="8028432" y="1444752"/>
            <a:ext cx="3474720" cy="4443984"/>
          </a:xfrm>
          <a:prstGeom prst="roundRect">
            <a:avLst>
              <a:gd name="adj" fmla="val 4737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1719072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7FE0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ÖNEMLİ</a:t>
            </a:r>
            <a:endParaRPr lang="en-US" sz="1530" dirty="0"/>
          </a:p>
        </p:txBody>
      </p:sp>
      <p:sp>
        <p:nvSpPr>
          <p:cNvPr id="22" name="Text 20"/>
          <p:cNvSpPr/>
          <p:nvPr/>
        </p:nvSpPr>
        <p:spPr>
          <a:xfrm>
            <a:off x="8229600" y="2157984"/>
            <a:ext cx="3017520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Yay tutarlılığı: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Yerel desteksiz değerleri siler.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Ama bütün küresel çelişkileri tek başına göremez.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6.2  •  KISIT YAYILIMI VE ÇIKARIM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Şekil 6.3 — AC-3 algoritması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1517904"/>
            <a:ext cx="10698480" cy="4471416"/>
          </a:xfrm>
          <a:prstGeom prst="roundRect">
            <a:avLst>
              <a:gd name="adj" fmla="val 3067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1737360"/>
            <a:ext cx="1010412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3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AC-3(CSP):</a:t>
            </a: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kuyruk ← bütün yönlü yaylar</a:t>
            </a: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while kuyruk boş değil:</a:t>
            </a: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(Xi, Xj) ← kuyruktan çıkar</a:t>
            </a: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if REVISE(Xi, Xj):</a:t>
            </a: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if D[Xi] boş: return FAILURE</a:t>
            </a: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for Xk in komşular(Xi) \ {Xj}:</a:t>
            </a: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    kuyruğa (Xk, Xi) ekle</a:t>
            </a: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return SUCCESS</a:t>
            </a:r>
            <a:endParaRPr lang="en-US" sz="1630" dirty="0"/>
          </a:p>
          <a:p>
            <a:pPr indent="0" marL="0">
              <a:buNone/>
            </a:pP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REVISE(Xi, Xj):</a:t>
            </a: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Xi’deki her x için, Xj’de destek yoksa x’i sil.</a:t>
            </a:r>
            <a:endParaRPr lang="en-US" sz="163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6.2  •  KISIT YAYILIMI VE ÇIKARIM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AC-3 örneği — A &lt; B &lt; C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37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81328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1609344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6459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417320" y="156362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Başlangıç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417320" y="1828800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D_A = D_B = D_C = {1,2,3}.</a:t>
            </a:r>
            <a:endParaRPr lang="en-US" sz="1610" dirty="0"/>
          </a:p>
        </p:txBody>
      </p:sp>
      <p:sp>
        <p:nvSpPr>
          <p:cNvPr id="13" name="Shape 11"/>
          <p:cNvSpPr/>
          <p:nvPr/>
        </p:nvSpPr>
        <p:spPr>
          <a:xfrm>
            <a:off x="640080" y="2633472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" y="2761488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279806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417320" y="271576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(A,B) kontrolü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417320" y="2980944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A=3 desteklenmez → D_A={1,2}.</a:t>
            </a:r>
            <a:endParaRPr lang="en-US" sz="1610" dirty="0"/>
          </a:p>
        </p:txBody>
      </p:sp>
      <p:sp>
        <p:nvSpPr>
          <p:cNvPr id="18" name="Shape 16"/>
          <p:cNvSpPr/>
          <p:nvPr/>
        </p:nvSpPr>
        <p:spPr>
          <a:xfrm>
            <a:off x="640080" y="3785616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" y="3913632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" y="395020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417320" y="386791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(B,A) ve (B,C) kontrolleri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417320" y="4133088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B=1 ve B=3 elenir → D_B={2}.</a:t>
            </a:r>
            <a:endParaRPr lang="en-US" sz="1610" dirty="0"/>
          </a:p>
        </p:txBody>
      </p:sp>
      <p:sp>
        <p:nvSpPr>
          <p:cNvPr id="23" name="Shape 21"/>
          <p:cNvSpPr/>
          <p:nvPr/>
        </p:nvSpPr>
        <p:spPr>
          <a:xfrm>
            <a:off x="640080" y="4937760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" y="5065776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2C9A6A"/>
          </a:solidFill>
          <a:ln w="12700">
            <a:solidFill>
              <a:srgbClr val="2C9A6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" y="510235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417320" y="5020056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(C,B) ve yeniden (A,B)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417320" y="5285232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C={3}; A={1}. Çözüm: (1,2,3).</a:t>
            </a:r>
            <a:endParaRPr lang="en-US" sz="161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6.2  •  KISIT YAYILIMI VE ÇIKARIM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AC-3 zaman karmaşıklığı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38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" y="1636776"/>
            <a:ext cx="10698480" cy="1517904"/>
          </a:xfrm>
          <a:prstGeom prst="roundRect">
            <a:avLst>
              <a:gd name="adj" fmla="val 10843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947672"/>
            <a:ext cx="10158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O(c · d³)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950976" y="3447288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7864" y="3784092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72184" y="3493008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c: incelenen ikili kısıt / yay sayısına bağlı büyüklük.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950976" y="4349496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7864" y="4686300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72184" y="4395216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d: bir değişkenin değer kümesindeki en fazla değer sayısı.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950976" y="5251704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7864" y="5588508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72184" y="5297424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Bir yay O(d²) kontrol gerektirebilir; değer silmeleriyle yeniden işlenebilir.</a:t>
            </a:r>
            <a:endParaRPr lang="en-US" sz="1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6.2  •  KISIT YAYILIMI VE ÇIKARIM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Genelleştirilmiş yay tutarlılığı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39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" y="1636776"/>
            <a:ext cx="10698480" cy="1517904"/>
          </a:xfrm>
          <a:prstGeom prst="roundRect">
            <a:avLst>
              <a:gd name="adj" fmla="val 10843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947672"/>
            <a:ext cx="10158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 &lt; Y &lt; Z</a:t>
            </a:r>
            <a:endParaRPr lang="en-US" sz="3500" dirty="0"/>
          </a:p>
        </p:txBody>
      </p:sp>
      <p:sp>
        <p:nvSpPr>
          <p:cNvPr id="10" name="Shape 8"/>
          <p:cNvSpPr/>
          <p:nvPr/>
        </p:nvSpPr>
        <p:spPr>
          <a:xfrm>
            <a:off x="950976" y="3447288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7864" y="3784092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72184" y="3493008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X,Y,Z ∈ {0,1,2,3} iken X=2 geçersiz: Y=3 olursa Z&gt;3 gerekirdi.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950976" y="4349496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7864" y="4686300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72184" y="4395216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X=3 de geçersiz: Y’nin daha büyük değeri yoktur.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950976" y="5251704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7864" y="5588508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72184" y="5297424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Sonuç: X’in desteklenebilen değerleri {0,1}.</a:t>
            </a:r>
            <a:endParaRPr lang="en-US" sz="1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6.2  •  KISIT YAYILIMI VE ÇIKARIM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Tutarlılık düzeyleri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04088" y="1618488"/>
            <a:ext cx="3630168" cy="4215384"/>
          </a:xfrm>
          <a:prstGeom prst="roundRect">
            <a:avLst>
              <a:gd name="adj" fmla="val 403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" y="1618488"/>
            <a:ext cx="3630168" cy="109728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1832" y="2020824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093976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0976" y="2734056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1-tutarlılık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50976" y="3593592"/>
            <a:ext cx="3081528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Tek değişkenin kendine ait kısıtları.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Düğüm tutarlılığı.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4535424" y="1618488"/>
            <a:ext cx="3630168" cy="4215384"/>
          </a:xfrm>
          <a:prstGeom prst="roundRect">
            <a:avLst>
              <a:gd name="adj" fmla="val 403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35424" y="1618488"/>
            <a:ext cx="3630168" cy="109728"/>
          </a:xfrm>
          <a:prstGeom prst="rect">
            <a:avLst/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73168" y="2020824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28616" y="2093976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82312" y="2734056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2-tutarlılık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782312" y="3593592"/>
            <a:ext cx="3081528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Bir değişkenin değeri komşu bir değerle desteklenir.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Yay tutarlılığı.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366760" y="1618488"/>
            <a:ext cx="3630168" cy="4215384"/>
          </a:xfrm>
          <a:prstGeom prst="roundRect">
            <a:avLst>
              <a:gd name="adj" fmla="val 403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66760" y="1618488"/>
            <a:ext cx="3630168" cy="109728"/>
          </a:xfrm>
          <a:prstGeom prst="rect">
            <a:avLst/>
          </a:prstGeom>
          <a:solidFill>
            <a:srgbClr val="EBA139"/>
          </a:solidFill>
          <a:ln w="12700">
            <a:solidFill>
              <a:srgbClr val="EBA139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04504" y="2020824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BA139"/>
          </a:solidFill>
          <a:ln w="12700">
            <a:solidFill>
              <a:srgbClr val="EBA13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59952" y="2093976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613648" y="2734056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3-tutarlılık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8613648" y="3593592"/>
            <a:ext cx="3081528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İki değişkenin uyumlu ataması üçüncü değişkene genişletilebilir.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İkili CSP’de yol tutarlılığı.</a:t>
            </a:r>
            <a:endParaRPr lang="en-US" sz="1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6.2  •  KISIT YAYILIMI VE ÇIKARIM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Üçgen bölgelerde iki renk neden yetmez?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0664" y="1545336"/>
            <a:ext cx="7296912" cy="4059936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/mnt/data/image(20261013-101110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9284" y="1682496"/>
            <a:ext cx="6099672" cy="378561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47888" y="1554480"/>
            <a:ext cx="3163824" cy="4069080"/>
          </a:xfrm>
          <a:prstGeom prst="roundRect">
            <a:avLst>
              <a:gd name="adj" fmla="val 4335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76488" y="1764792"/>
            <a:ext cx="26791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7EE0D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ŞEKLİ OKUYALIM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485632" y="2414016"/>
            <a:ext cx="109728" cy="109728"/>
          </a:xfrm>
          <a:prstGeom prst="ellipse">
            <a:avLst/>
          </a:prstGeom>
          <a:solidFill>
            <a:srgbClr val="EBA1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95944" y="2258568"/>
            <a:ext cx="243230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Yay tutarlılığı bütün değer kümelerini koruyabilir.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485632" y="3499104"/>
            <a:ext cx="109728" cy="109728"/>
          </a:xfrm>
          <a:prstGeom prst="ellipse">
            <a:avLst/>
          </a:prstGeom>
          <a:solidFill>
            <a:srgbClr val="EBA1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95944" y="3343656"/>
            <a:ext cx="243230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Yol tutarlılığı WA–SA çifti üzerinden NT’yi de kontrol eder.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485632" y="4584192"/>
            <a:ext cx="109728" cy="109728"/>
          </a:xfrm>
          <a:prstGeom prst="ellipse">
            <a:avLst/>
          </a:prstGeom>
          <a:solidFill>
            <a:srgbClr val="EBA1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95944" y="4428744"/>
            <a:ext cx="243230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WA=Kırmızı, SA=Mavi ise NT’ye renk kalmaz.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04672" y="5824728"/>
            <a:ext cx="10570464" cy="548640"/>
          </a:xfrm>
          <a:prstGeom prst="roundRect">
            <a:avLst>
              <a:gd name="adj" fmla="val 20000"/>
            </a:avLst>
          </a:prstGeom>
          <a:solidFill>
            <a:srgbClr val="DFF6F3"/>
          </a:solidFill>
          <a:ln w="12700">
            <a:solidFill>
              <a:srgbClr val="DFF6F3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78408" y="5888736"/>
            <a:ext cx="10222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WA, NT ve SA birbirine komşu: kırmızı ve mavi ikili yaylarda uygun görünse de üçgen boyanamaz.</a:t>
            </a:r>
            <a:endParaRPr lang="en-US" sz="138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6.2  •  KISIT YAYILIMI VE ÇIKARIM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Yol tutarlılığı — üçlü değerlendirme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" y="1636776"/>
            <a:ext cx="10698480" cy="1517904"/>
          </a:xfrm>
          <a:prstGeom prst="roundRect">
            <a:avLst>
              <a:gd name="adj" fmla="val 10843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947672"/>
            <a:ext cx="10158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(Xᵢ=a, Xⱼ=b) → ∃ Xₘ=c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950976" y="3447288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7864" y="3784092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72184" y="3493008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Her geçerli (Xᵢ, Xⱼ) çifti, Xₘ için bir değerle desteklenebilmelidir.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950976" y="4349496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7864" y="4686300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72184" y="4395216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Avustralya iki renkli üçgeninde NT için hiçbir renk kalmaz.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950976" y="5251704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7864" y="5588508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72184" y="5297424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PC-2, yol tutarlılığını sağlayan bir algoritmadır.</a:t>
            </a:r>
            <a:endParaRPr lang="en-US" sz="18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6.2  •  KISIT YAYILIMI VE ÇIKARIM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k-tutarlılığı ve güçlü k-tutarlılığı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43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67512" y="1463040"/>
            <a:ext cx="5285232" cy="468172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" y="1463040"/>
            <a:ext cx="5285232" cy="109728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719072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2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k-TUTARLILIK</a:t>
            </a:r>
            <a:endParaRPr lang="en-US" sz="1920" dirty="0"/>
          </a:p>
        </p:txBody>
      </p:sp>
      <p:sp>
        <p:nvSpPr>
          <p:cNvPr id="11" name="Shape 9"/>
          <p:cNvSpPr/>
          <p:nvPr/>
        </p:nvSpPr>
        <p:spPr>
          <a:xfrm>
            <a:off x="923544" y="2496312"/>
            <a:ext cx="100584" cy="100584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2350008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3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Her tutarlı (k−1) değişken ataması, seçilecek k. değişkene genişletilebilir.</a:t>
            </a:r>
            <a:endParaRPr lang="en-US" sz="1730" dirty="0"/>
          </a:p>
        </p:txBody>
      </p:sp>
      <p:sp>
        <p:nvSpPr>
          <p:cNvPr id="13" name="Shape 11"/>
          <p:cNvSpPr/>
          <p:nvPr/>
        </p:nvSpPr>
        <p:spPr>
          <a:xfrm>
            <a:off x="923544" y="3218688"/>
            <a:ext cx="100584" cy="100584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3072384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3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k=1: node, k=2: arc, k=3: path (ikili CSP).</a:t>
            </a:r>
            <a:endParaRPr lang="en-US" sz="1730" dirty="0"/>
          </a:p>
        </p:txBody>
      </p:sp>
      <p:sp>
        <p:nvSpPr>
          <p:cNvPr id="15" name="Shape 13"/>
          <p:cNvSpPr/>
          <p:nvPr/>
        </p:nvSpPr>
        <p:spPr>
          <a:xfrm>
            <a:off x="6236208" y="1463040"/>
            <a:ext cx="5285232" cy="468172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6208" y="1463040"/>
            <a:ext cx="5285232" cy="109728"/>
          </a:xfrm>
          <a:prstGeom prst="rect">
            <a:avLst/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5664" y="1719072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20" b="1" dirty="0">
                <a:solidFill>
                  <a:srgbClr val="3676C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GÜÇLÜ k-TUTARLILIK</a:t>
            </a:r>
            <a:endParaRPr lang="en-US" sz="1920" dirty="0"/>
          </a:p>
        </p:txBody>
      </p:sp>
      <p:sp>
        <p:nvSpPr>
          <p:cNvPr id="18" name="Shape 16"/>
          <p:cNvSpPr/>
          <p:nvPr/>
        </p:nvSpPr>
        <p:spPr>
          <a:xfrm>
            <a:off x="6492240" y="2496312"/>
            <a:ext cx="100584" cy="100584"/>
          </a:xfrm>
          <a:prstGeom prst="ellipse">
            <a:avLst/>
          </a:prstGeom>
          <a:solidFill>
            <a:srgbClr val="3676C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84264" y="2350008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3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Hem k hem k−1,…,1 düzeylerinde tutarlıdır.</a:t>
            </a:r>
            <a:endParaRPr lang="en-US" sz="1730" dirty="0"/>
          </a:p>
        </p:txBody>
      </p:sp>
      <p:sp>
        <p:nvSpPr>
          <p:cNvPr id="20" name="Shape 18"/>
          <p:cNvSpPr/>
          <p:nvPr/>
        </p:nvSpPr>
        <p:spPr>
          <a:xfrm>
            <a:off x="6492240" y="3218688"/>
            <a:ext cx="100584" cy="100584"/>
          </a:xfrm>
          <a:prstGeom prst="ellipse">
            <a:avLst/>
          </a:prstGeom>
          <a:solidFill>
            <a:srgbClr val="3676C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84264" y="3072384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3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Güçlü n-tutarlılık geri izlemesiz atama sağlar.</a:t>
            </a:r>
            <a:endParaRPr lang="en-US" sz="1730" dirty="0"/>
          </a:p>
        </p:txBody>
      </p:sp>
      <p:sp>
        <p:nvSpPr>
          <p:cNvPr id="22" name="Shape 20"/>
          <p:cNvSpPr/>
          <p:nvPr/>
        </p:nvSpPr>
        <p:spPr>
          <a:xfrm>
            <a:off x="6492240" y="3941064"/>
            <a:ext cx="100584" cy="100584"/>
          </a:xfrm>
          <a:prstGeom prst="ellipse">
            <a:avLst/>
          </a:prstGeom>
          <a:solidFill>
            <a:srgbClr val="3676C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84264" y="3794760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3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Ama n-tutarlılığı kurmak üstel zaman ve bellek isteyebilir.</a:t>
            </a:r>
            <a:endParaRPr lang="en-US" sz="173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6.2  •  KISIT YAYILIMI VE ÇIKARIM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Alldiff ile erken çözümsüzlük kontrolü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109910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Önce öğrencilerden çözmelerini isteyin; ardından birlikte kontrol edin.</a:t>
            </a:r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8" name="Text 6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1691640"/>
            <a:ext cx="10716768" cy="1527048"/>
          </a:xfrm>
          <a:prstGeom prst="roundRect">
            <a:avLst>
              <a:gd name="adj" fmla="val 10778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" y="19019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7EE0D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SORU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83664" y="1865376"/>
            <a:ext cx="9235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A,B,C için D={1,2} ve Alldiff(A,B,C). Çözüm var mı?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49808" y="3493008"/>
            <a:ext cx="10716768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369417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ADIM ADIM CEVAP</a:t>
            </a:r>
            <a:endParaRPr lang="en-US" sz="1640" dirty="0"/>
          </a:p>
        </p:txBody>
      </p:sp>
      <p:sp>
        <p:nvSpPr>
          <p:cNvPr id="14" name="Text 12"/>
          <p:cNvSpPr/>
          <p:nvPr/>
        </p:nvSpPr>
        <p:spPr>
          <a:xfrm>
            <a:off x="1042416" y="4160520"/>
            <a:ext cx="992124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 değişken birbirinden farklı değer almalı.</a:t>
            </a:r>
            <a:endParaRPr lang="en-US" sz="1810" dirty="0"/>
          </a:p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Ama toplam farklı seçenek yalnızca 2 tane.</a:t>
            </a:r>
            <a:endParaRPr lang="en-US" sz="1810" dirty="0"/>
          </a:p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m=3 &gt; n=2 olduğundan çözüm YOK.</a:t>
            </a:r>
            <a:endParaRPr lang="en-US" sz="181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6.2  •  KISIT YAYILIMI VE ÇIKARIM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Atmost: kaynakları aşmadan planla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" y="1636776"/>
            <a:ext cx="10698480" cy="1517904"/>
          </a:xfrm>
          <a:prstGeom prst="roundRect">
            <a:avLst>
              <a:gd name="adj" fmla="val 10843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947672"/>
            <a:ext cx="10158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Atmost(10, P₁, P₂, P₃, P₄)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950976" y="3447288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7864" y="3784092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72184" y="3493008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Toplam personel: P₁+P₂+P₃+P₄ ≤ 10.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950976" y="4349496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7864" y="4686300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72184" y="4395216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Her Pᵢ∈{3,4,5,6} olursa en küçük toplam 3+3+3+3=12 &gt; 10.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950976" y="5251704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7864" y="5588508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72184" y="5297424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Her Pᵢ∈{2,3,4,5,6} olursa 5 ve 6 seçenekleri silinir.</a:t>
            </a:r>
            <a:endParaRPr lang="en-US" sz="18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6.2  •  KISIT YAYILIMI VE ÇIKARIM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Sınır yayılımı (Bounds Propagation) — uçuşlar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81328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1609344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6459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417320" y="156362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Başlangıç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417320" y="1828800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F₁∈[0,165], F₂∈[0,385]; toplam 420 kişi taşınacak.</a:t>
            </a:r>
            <a:endParaRPr lang="en-US" sz="1610" dirty="0"/>
          </a:p>
        </p:txBody>
      </p:sp>
      <p:sp>
        <p:nvSpPr>
          <p:cNvPr id="13" name="Shape 11"/>
          <p:cNvSpPr/>
          <p:nvPr/>
        </p:nvSpPr>
        <p:spPr>
          <a:xfrm>
            <a:off x="640080" y="2633472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" y="2761488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279806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417320" y="271576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F₁’in alt sınırı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417320" y="2980944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F₂ en fazla 385 → F₁ en az 420−385=35.</a:t>
            </a:r>
            <a:endParaRPr lang="en-US" sz="1610" dirty="0"/>
          </a:p>
        </p:txBody>
      </p:sp>
      <p:sp>
        <p:nvSpPr>
          <p:cNvPr id="18" name="Shape 16"/>
          <p:cNvSpPr/>
          <p:nvPr/>
        </p:nvSpPr>
        <p:spPr>
          <a:xfrm>
            <a:off x="640080" y="3785616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" y="3913632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" y="395020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417320" y="386791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F₂’nin alt sınırı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417320" y="4133088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F₁ en fazla 165 → F₂ en az 420−165=255.</a:t>
            </a:r>
            <a:endParaRPr lang="en-US" sz="1610" dirty="0"/>
          </a:p>
        </p:txBody>
      </p:sp>
      <p:sp>
        <p:nvSpPr>
          <p:cNvPr id="23" name="Shape 21"/>
          <p:cNvSpPr/>
          <p:nvPr/>
        </p:nvSpPr>
        <p:spPr>
          <a:xfrm>
            <a:off x="640080" y="4937760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" y="5065776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2C9A6A"/>
          </a:solidFill>
          <a:ln w="12700">
            <a:solidFill>
              <a:srgbClr val="2C9A6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" y="510235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417320" y="5020056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Sonuç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417320" y="5285232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D₁=[35,165], D₂=[255,385]; tek tek her sayı denenmedi.</a:t>
            </a:r>
            <a:endParaRPr lang="en-US" sz="161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6.2  •  KISIT YAYILIMI VE ÇIKARIM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Şekil 6.4 — Sudoku: CSP olarak 81 değişken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47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0664" y="1545336"/>
            <a:ext cx="7296912" cy="4059936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/mnt/data/image(20261013-101217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254" y="1682496"/>
            <a:ext cx="6695731" cy="378561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47888" y="1554480"/>
            <a:ext cx="3163824" cy="4069080"/>
          </a:xfrm>
          <a:prstGeom prst="roundRect">
            <a:avLst>
              <a:gd name="adj" fmla="val 4335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76488" y="1764792"/>
            <a:ext cx="26791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7EE0D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ŞEKLİ OKUYALIM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485632" y="2414016"/>
            <a:ext cx="109728" cy="109728"/>
          </a:xfrm>
          <a:prstGeom prst="ellipse">
            <a:avLst/>
          </a:prstGeom>
          <a:solidFill>
            <a:srgbClr val="EBA1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95944" y="2258568"/>
            <a:ext cx="243230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Her kare bir değişken (A1… I9).</a:t>
            </a:r>
            <a:endParaRPr lang="en-US" sz="1580" dirty="0"/>
          </a:p>
        </p:txBody>
      </p:sp>
      <p:sp>
        <p:nvSpPr>
          <p:cNvPr id="14" name="Shape 11"/>
          <p:cNvSpPr/>
          <p:nvPr/>
        </p:nvSpPr>
        <p:spPr>
          <a:xfrm>
            <a:off x="8485632" y="3499104"/>
            <a:ext cx="109728" cy="109728"/>
          </a:xfrm>
          <a:prstGeom prst="ellipse">
            <a:avLst/>
          </a:prstGeom>
          <a:solidFill>
            <a:srgbClr val="EBA1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95944" y="3343656"/>
            <a:ext cx="243230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Boş kare domain: {1,…,9}.</a:t>
            </a:r>
            <a:endParaRPr lang="en-US" sz="1580" dirty="0"/>
          </a:p>
        </p:txBody>
      </p:sp>
      <p:sp>
        <p:nvSpPr>
          <p:cNvPr id="16" name="Shape 13"/>
          <p:cNvSpPr/>
          <p:nvPr/>
        </p:nvSpPr>
        <p:spPr>
          <a:xfrm>
            <a:off x="8485632" y="4584192"/>
            <a:ext cx="109728" cy="109728"/>
          </a:xfrm>
          <a:prstGeom prst="ellipse">
            <a:avLst/>
          </a:prstGeom>
          <a:solidFill>
            <a:srgbClr val="EBA1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95944" y="4428744"/>
            <a:ext cx="243230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 satır + 9 sütun + 9 kutu = 27 Alldiff.</a:t>
            </a:r>
            <a:endParaRPr lang="en-US" sz="1580" dirty="0"/>
          </a:p>
        </p:txBody>
      </p:sp>
      <p:sp>
        <p:nvSpPr>
          <p:cNvPr id="18" name="Shape 15"/>
          <p:cNvSpPr/>
          <p:nvPr/>
        </p:nvSpPr>
        <p:spPr>
          <a:xfrm>
            <a:off x="804672" y="5824728"/>
            <a:ext cx="10570464" cy="548640"/>
          </a:xfrm>
          <a:prstGeom prst="roundRect">
            <a:avLst>
              <a:gd name="adj" fmla="val 20000"/>
            </a:avLst>
          </a:prstGeom>
          <a:solidFill>
            <a:srgbClr val="DFF6F3"/>
          </a:solidFill>
          <a:ln w="12700">
            <a:solidFill>
              <a:srgbClr val="DFF6F3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78408" y="5888736"/>
            <a:ext cx="10222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(a) Bulmaca: başlangıç değerleri   (b) Geçerli tam çözüm.</a:t>
            </a:r>
            <a:endParaRPr lang="en-US" sz="138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6.2  •  KISIT YAYILIMI VE ÇIKARIM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Sudoku’da E6 hücresini bulalım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48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81328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1609344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6459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417320" y="156362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Başlangıç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417320" y="1828800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E6 boş → adaylar {1,2,3,4,5,6,7,8,9}.</a:t>
            </a:r>
            <a:endParaRPr lang="en-US" sz="1610" dirty="0"/>
          </a:p>
        </p:txBody>
      </p:sp>
      <p:sp>
        <p:nvSpPr>
          <p:cNvPr id="13" name="Shape 11"/>
          <p:cNvSpPr/>
          <p:nvPr/>
        </p:nvSpPr>
        <p:spPr>
          <a:xfrm>
            <a:off x="640080" y="2633472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" y="2761488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279806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417320" y="271576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Orta 3×3 kutu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417320" y="2980944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Kutuda 1,2,7,8 var → adaylar {3,4,5,6,9}.</a:t>
            </a:r>
            <a:endParaRPr lang="en-US" sz="1610" dirty="0"/>
          </a:p>
        </p:txBody>
      </p:sp>
      <p:sp>
        <p:nvSpPr>
          <p:cNvPr id="18" name="Shape 16"/>
          <p:cNvSpPr/>
          <p:nvPr/>
        </p:nvSpPr>
        <p:spPr>
          <a:xfrm>
            <a:off x="640080" y="3785616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" y="3913632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" y="395020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417320" y="386791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 sütun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417320" y="4133088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5,6,2,8,9,3 kullanılmış → {4} kalır.</a:t>
            </a:r>
            <a:endParaRPr lang="en-US" sz="1610" dirty="0"/>
          </a:p>
        </p:txBody>
      </p:sp>
      <p:sp>
        <p:nvSpPr>
          <p:cNvPr id="23" name="Shape 21"/>
          <p:cNvSpPr/>
          <p:nvPr/>
        </p:nvSpPr>
        <p:spPr>
          <a:xfrm>
            <a:off x="640080" y="4937760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" y="5065776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2C9A6A"/>
          </a:solidFill>
          <a:ln w="12700">
            <a:solidFill>
              <a:srgbClr val="2C9A6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" y="510235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417320" y="5020056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Zorunlu sonuç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417320" y="5285232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E6=4; yeni bilgi aynı sütundaki diğer hücrelere yayılır.</a:t>
            </a:r>
            <a:endParaRPr lang="en-US" sz="161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6.2  •  KISIT YAYILIMI VE ÇIKARIM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Sudoku çıkarım zinciri: E6 → I6 → A6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49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81328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1609344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6459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417320" y="156362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 sütunda bilinenler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417320" y="1828800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B6=5,C6=6,D6=2,E6=4,F6=8,G6=9,H6=3.</a:t>
            </a:r>
            <a:endParaRPr lang="en-US" sz="1610" dirty="0"/>
          </a:p>
        </p:txBody>
      </p:sp>
      <p:sp>
        <p:nvSpPr>
          <p:cNvPr id="13" name="Shape 11"/>
          <p:cNvSpPr/>
          <p:nvPr/>
        </p:nvSpPr>
        <p:spPr>
          <a:xfrm>
            <a:off x="640080" y="2633472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" y="2761488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279806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417320" y="271576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Eksik rakamlar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417320" y="2980944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Altıncı sütunda {1,7} kaldı.</a:t>
            </a:r>
            <a:endParaRPr lang="en-US" sz="1610" dirty="0"/>
          </a:p>
        </p:txBody>
      </p:sp>
      <p:sp>
        <p:nvSpPr>
          <p:cNvPr id="18" name="Shape 16"/>
          <p:cNvSpPr/>
          <p:nvPr/>
        </p:nvSpPr>
        <p:spPr>
          <a:xfrm>
            <a:off x="640080" y="3785616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" y="3913632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" y="395020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417320" y="386791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I6 neden 7?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417320" y="4133088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I5=1 olduğu için I6=1 olamaz → I6=7.</a:t>
            </a:r>
            <a:endParaRPr lang="en-US" sz="1610" dirty="0"/>
          </a:p>
        </p:txBody>
      </p:sp>
      <p:sp>
        <p:nvSpPr>
          <p:cNvPr id="23" name="Shape 21"/>
          <p:cNvSpPr/>
          <p:nvPr/>
        </p:nvSpPr>
        <p:spPr>
          <a:xfrm>
            <a:off x="640080" y="4937760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" y="5065776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2C9A6A"/>
          </a:solidFill>
          <a:ln w="12700">
            <a:solidFill>
              <a:srgbClr val="2C9A6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" y="510235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417320" y="5020056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A6 neden 1?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417320" y="5285232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Altıncı sütundaki son eksik rakam 1 → A6=1.</a:t>
            </a:r>
            <a:endParaRPr lang="en-US" sz="161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6.2  •  KISIT YAYILIMI VE ÇIKARIM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Sudoku çıplak üçlü (Naked Triples)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109910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Önce öğrencilerden çözmelerini isteyin; ardından birlikte kontrol edin.</a:t>
            </a:r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8" name="Text 6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1691640"/>
            <a:ext cx="10716768" cy="1527048"/>
          </a:xfrm>
          <a:prstGeom prst="roundRect">
            <a:avLst>
              <a:gd name="adj" fmla="val 10778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" y="19019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7EE0D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SORU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83664" y="1865376"/>
            <a:ext cx="9235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Aynı birimde üç hücrenin adayları {1,8}, {3,8}, {1,3,8}. Başka hücrede {1,3,5,8,9} varsa ne kalır?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49808" y="3493008"/>
            <a:ext cx="10716768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369417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ADIM ADIM CEVAP</a:t>
            </a:r>
            <a:endParaRPr lang="en-US" sz="1640" dirty="0"/>
          </a:p>
        </p:txBody>
      </p:sp>
      <p:sp>
        <p:nvSpPr>
          <p:cNvPr id="14" name="Text 12"/>
          <p:cNvSpPr/>
          <p:nvPr/>
        </p:nvSpPr>
        <p:spPr>
          <a:xfrm>
            <a:off x="1042416" y="4160520"/>
            <a:ext cx="992124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Üç hücre toplam üç farklı sayı {1,3,8} kullanmak zorundadır.</a:t>
            </a:r>
            <a:endParaRPr lang="en-US" sz="1810" dirty="0"/>
          </a:p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Diğer hücrelerin değer kümelerinden 1,3,8 silinir.</a:t>
            </a:r>
            <a:endParaRPr lang="en-US" sz="1810" dirty="0"/>
          </a:p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Sonuç: {5,9}.</a:t>
            </a:r>
            <a:endParaRPr lang="en-US" sz="181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01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2376" y="731520"/>
            <a:ext cx="8595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0" b="1" dirty="0">
                <a:solidFill>
                  <a:srgbClr val="54D5C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6.3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758952" y="2075688"/>
            <a:ext cx="106070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CSP’lerde Geri İzlemeli Arama</a:t>
            </a:r>
            <a:endParaRPr lang="en-US" sz="4100" dirty="0"/>
          </a:p>
        </p:txBody>
      </p:sp>
      <p:sp>
        <p:nvSpPr>
          <p:cNvPr id="5" name="Shape 3"/>
          <p:cNvSpPr/>
          <p:nvPr/>
        </p:nvSpPr>
        <p:spPr>
          <a:xfrm>
            <a:off x="777240" y="3730752"/>
            <a:ext cx="2286000" cy="64008"/>
          </a:xfrm>
          <a:prstGeom prst="rect">
            <a:avLst/>
          </a:prstGeom>
          <a:solidFill>
            <a:srgbClr val="EBA139"/>
          </a:solidFill>
          <a:ln w="12700">
            <a:solidFill>
              <a:srgbClr val="EBA13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4087368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BE8F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Çıkarımın yetersiz kaldığı yerde sistematik arama ve akıllı sezgiseller.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6080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8799A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ÜNİTE 06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0" y="608076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799A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51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6.3  •  CSP’LERDE GERİ İZLEMELİ ARAMA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Kısıt yayılımı yetmezse ne yaparız?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67512" y="1463040"/>
            <a:ext cx="5285232" cy="468172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" y="1463040"/>
            <a:ext cx="5285232" cy="109728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719072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2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YALNIZCA ÇIKARIM</a:t>
            </a:r>
            <a:endParaRPr lang="en-US" sz="1920" dirty="0"/>
          </a:p>
        </p:txBody>
      </p:sp>
      <p:sp>
        <p:nvSpPr>
          <p:cNvPr id="11" name="Shape 9"/>
          <p:cNvSpPr/>
          <p:nvPr/>
        </p:nvSpPr>
        <p:spPr>
          <a:xfrm>
            <a:off x="923544" y="2496312"/>
            <a:ext cx="100584" cy="100584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2350008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Adayları siler; bazen tüm değişkenler tek değerli olur.</a:t>
            </a:r>
            <a:endParaRPr lang="en-US" sz="1740" dirty="0"/>
          </a:p>
        </p:txBody>
      </p:sp>
      <p:sp>
        <p:nvSpPr>
          <p:cNvPr id="13" name="Shape 11"/>
          <p:cNvSpPr/>
          <p:nvPr/>
        </p:nvSpPr>
        <p:spPr>
          <a:xfrm>
            <a:off x="923544" y="3218688"/>
            <a:ext cx="100584" cy="100584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3072384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Bazen birden fazla seçenek kalır ve kesin seçim yapılamaz.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6236208" y="1463040"/>
            <a:ext cx="5285232" cy="468172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6208" y="1463040"/>
            <a:ext cx="5285232" cy="109728"/>
          </a:xfrm>
          <a:prstGeom prst="rect">
            <a:avLst/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5664" y="1719072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20" b="1" dirty="0">
                <a:solidFill>
                  <a:srgbClr val="3676C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BACKTRACKING</a:t>
            </a:r>
            <a:endParaRPr lang="en-US" sz="1920" dirty="0"/>
          </a:p>
        </p:txBody>
      </p:sp>
      <p:sp>
        <p:nvSpPr>
          <p:cNvPr id="18" name="Shape 16"/>
          <p:cNvSpPr/>
          <p:nvPr/>
        </p:nvSpPr>
        <p:spPr>
          <a:xfrm>
            <a:off x="6492240" y="2496312"/>
            <a:ext cx="100584" cy="100584"/>
          </a:xfrm>
          <a:prstGeom prst="ellipse">
            <a:avLst/>
          </a:prstGeom>
          <a:solidFill>
            <a:srgbClr val="3676C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84264" y="2350008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Bir değişkene tutarlı değer atar.</a:t>
            </a:r>
            <a:endParaRPr lang="en-US" sz="1740" dirty="0"/>
          </a:p>
        </p:txBody>
      </p:sp>
      <p:sp>
        <p:nvSpPr>
          <p:cNvPr id="20" name="Shape 18"/>
          <p:cNvSpPr/>
          <p:nvPr/>
        </p:nvSpPr>
        <p:spPr>
          <a:xfrm>
            <a:off x="6492240" y="3218688"/>
            <a:ext cx="100584" cy="100584"/>
          </a:xfrm>
          <a:prstGeom prst="ellipse">
            <a:avLst/>
          </a:prstGeom>
          <a:solidFill>
            <a:srgbClr val="3676C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84264" y="3072384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Devamı başarısızsa o atamayı geri alır.</a:t>
            </a:r>
            <a:endParaRPr lang="en-US" sz="1740" dirty="0"/>
          </a:p>
        </p:txBody>
      </p:sp>
      <p:sp>
        <p:nvSpPr>
          <p:cNvPr id="22" name="Shape 20"/>
          <p:cNvSpPr/>
          <p:nvPr/>
        </p:nvSpPr>
        <p:spPr>
          <a:xfrm>
            <a:off x="6492240" y="3941064"/>
            <a:ext cx="100584" cy="100584"/>
          </a:xfrm>
          <a:prstGeom prst="ellipse">
            <a:avLst/>
          </a:prstGeom>
          <a:solidFill>
            <a:srgbClr val="3676C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84264" y="3794760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Diğer değerleri dener; çözüm veya çözümsüzlük sonucuna ulaşır.</a:t>
            </a:r>
            <a:endParaRPr lang="en-US" sz="174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6.3  •  CSP’LERDE GERİ İZLEMELİ ARAMA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Naif aramada yinelenen yollar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53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" y="1636776"/>
            <a:ext cx="10698480" cy="1517904"/>
          </a:xfrm>
          <a:prstGeom prst="roundRect">
            <a:avLst>
              <a:gd name="adj" fmla="val 10843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947672"/>
            <a:ext cx="10158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n! · dⁿ  →  dⁿ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950976" y="3447288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7864" y="3784092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72184" y="3493008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 değişkenin her birinde d değer varsa sıra da serbest bırakıldığında n!·dⁿ yaprak oluşabilir.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950976" y="4349496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7864" y="4686300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72184" y="4395216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CSP atamaları değişme özelliğine (commutativity) sahiptir.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950976" y="5251704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7864" y="5588508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72184" y="5297424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Her seviyede tek değişken seçmek aynı atamaların farklı sırada üretilmesini engeller.</a:t>
            </a:r>
            <a:endParaRPr lang="en-US" sz="18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6.3  •  CSP’LERDE GERİ İZLEMELİ ARAMA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Dallanma neden küçülüyor?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109910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Önce öğrencilerden çözmelerini isteyin; ardından birlikte kontrol edin.</a:t>
            </a:r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8" name="Text 6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1691640"/>
            <a:ext cx="10716768" cy="1527048"/>
          </a:xfrm>
          <a:prstGeom prst="roundRect">
            <a:avLst>
              <a:gd name="adj" fmla="val 10778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" y="19019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7EE0D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SORU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83664" y="1865376"/>
            <a:ext cx="9235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 değişken ve ikişer seçenek varsa naif yaprak sayısı kaçtır? Gerçekte kaç tam atama vardır?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49808" y="3493008"/>
            <a:ext cx="10716768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369417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ADIM ADIM CEVAP</a:t>
            </a:r>
            <a:endParaRPr lang="en-US" sz="1640" dirty="0"/>
          </a:p>
        </p:txBody>
      </p:sp>
      <p:sp>
        <p:nvSpPr>
          <p:cNvPr id="14" name="Text 12"/>
          <p:cNvSpPr/>
          <p:nvPr/>
        </p:nvSpPr>
        <p:spPr>
          <a:xfrm>
            <a:off x="1042416" y="4160520"/>
            <a:ext cx="992124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Naif: 3!·2³ = 6·8 = 48 yaprak.</a:t>
            </a:r>
            <a:endParaRPr lang="en-US" sz="1810" dirty="0"/>
          </a:p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Farklı tam atamalar: 2³=8.</a:t>
            </a:r>
            <a:endParaRPr lang="en-US" sz="1810" dirty="0"/>
          </a:p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Değişken atama sırası sonucu değiştirmez; sıra kaynaklı tekrarları kaldırırız.</a:t>
            </a:r>
            <a:endParaRPr lang="en-US" sz="181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6.3  •  CSP’LERDE GERİ İZLEMELİ ARAMA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Şekil 6.5 — Backtracking algoritması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1517904"/>
            <a:ext cx="10698480" cy="4471416"/>
          </a:xfrm>
          <a:prstGeom prst="roundRect">
            <a:avLst>
              <a:gd name="adj" fmla="val 3067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1737360"/>
            <a:ext cx="1010412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9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BACKTRACK(assignment, CSP):</a:t>
            </a:r>
            <a:endParaRPr lang="en-US" sz="1490" dirty="0"/>
          </a:p>
          <a:p>
            <a:pPr indent="0" marL="0">
              <a:buNone/>
            </a:pPr>
            <a:r>
              <a:rPr lang="en-US" sz="149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if bütün değişkenler atandıysa: return assignment</a:t>
            </a:r>
            <a:endParaRPr lang="en-US" sz="1490" dirty="0"/>
          </a:p>
          <a:p>
            <a:pPr indent="0" marL="0">
              <a:buNone/>
            </a:pPr>
            <a:r>
              <a:rPr lang="en-US" sz="149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var ← SELECT-UNASSIGNED-VARIABLE(CSP)</a:t>
            </a:r>
            <a:endParaRPr lang="en-US" sz="1490" dirty="0"/>
          </a:p>
          <a:p>
            <a:pPr indent="0" marL="0">
              <a:buNone/>
            </a:pPr>
            <a:r>
              <a:rPr lang="en-US" sz="149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for value in ORDER-DOMAIN-VALUES(var):</a:t>
            </a:r>
            <a:endParaRPr lang="en-US" sz="1490" dirty="0"/>
          </a:p>
          <a:p>
            <a:pPr indent="0" marL="0">
              <a:buNone/>
            </a:pPr>
            <a:r>
              <a:rPr lang="en-US" sz="149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if value mevcut atamayla tutarlı:</a:t>
            </a:r>
            <a:endParaRPr lang="en-US" sz="1490" dirty="0"/>
          </a:p>
          <a:p>
            <a:pPr indent="0" marL="0">
              <a:buNone/>
            </a:pPr>
            <a:r>
              <a:rPr lang="en-US" sz="149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var = value ata</a:t>
            </a:r>
            <a:endParaRPr lang="en-US" sz="1490" dirty="0"/>
          </a:p>
          <a:p>
            <a:pPr indent="0" marL="0">
              <a:buNone/>
            </a:pPr>
            <a:r>
              <a:rPr lang="en-US" sz="149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inf ← INFERENCE(CSP, var, value)</a:t>
            </a:r>
            <a:endParaRPr lang="en-US" sz="1490" dirty="0"/>
          </a:p>
          <a:p>
            <a:pPr indent="0" marL="0">
              <a:buNone/>
            </a:pPr>
            <a:r>
              <a:rPr lang="en-US" sz="149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if inf başarısız değilse:</a:t>
            </a:r>
            <a:endParaRPr lang="en-US" sz="1490" dirty="0"/>
          </a:p>
          <a:p>
            <a:pPr indent="0" marL="0">
              <a:buNone/>
            </a:pPr>
            <a:r>
              <a:rPr lang="en-US" sz="149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    result ← BACKTRACK(assignment, CSP)</a:t>
            </a:r>
            <a:endParaRPr lang="en-US" sz="1490" dirty="0"/>
          </a:p>
          <a:p>
            <a:pPr indent="0" marL="0">
              <a:buNone/>
            </a:pPr>
            <a:r>
              <a:rPr lang="en-US" sz="149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    if result başarıysa: return result</a:t>
            </a:r>
            <a:endParaRPr lang="en-US" sz="1490" dirty="0"/>
          </a:p>
          <a:p>
            <a:pPr indent="0" marL="0">
              <a:buNone/>
            </a:pPr>
            <a:r>
              <a:rPr lang="en-US" sz="149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var=value ve çıkarımları geri al</a:t>
            </a:r>
            <a:endParaRPr lang="en-US" sz="1490" dirty="0"/>
          </a:p>
          <a:p>
            <a:pPr indent="0" marL="0">
              <a:buNone/>
            </a:pPr>
            <a:r>
              <a:rPr lang="en-US" sz="149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return FAILURE</a:t>
            </a:r>
            <a:endParaRPr lang="en-US" sz="149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6.3  •  CSP’LERDE GERİ İZLEMELİ ARAMA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Şekil 6.6 — Harita boyama arama ağacı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0664" y="1545336"/>
            <a:ext cx="7296912" cy="4059936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/mnt/data/image(20261013-101856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219100"/>
            <a:ext cx="6995160" cy="271240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47888" y="1554480"/>
            <a:ext cx="3163824" cy="4069080"/>
          </a:xfrm>
          <a:prstGeom prst="roundRect">
            <a:avLst>
              <a:gd name="adj" fmla="val 4335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76488" y="1764792"/>
            <a:ext cx="26791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7EE0D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ŞEKLİ OKUYALIM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485632" y="2414016"/>
            <a:ext cx="109728" cy="109728"/>
          </a:xfrm>
          <a:prstGeom prst="ellipse">
            <a:avLst/>
          </a:prstGeom>
          <a:solidFill>
            <a:srgbClr val="EBA1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95944" y="2258568"/>
            <a:ext cx="243230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Düğüm = kısmi atama.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485632" y="3499104"/>
            <a:ext cx="109728" cy="109728"/>
          </a:xfrm>
          <a:prstGeom prst="ellipse">
            <a:avLst/>
          </a:prstGeom>
          <a:solidFill>
            <a:srgbClr val="EBA1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95944" y="3343656"/>
            <a:ext cx="243230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Kenar = yeni değişken/değer kararı.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485632" y="4584192"/>
            <a:ext cx="109728" cy="109728"/>
          </a:xfrm>
          <a:prstGeom prst="ellipse">
            <a:avLst/>
          </a:prstGeom>
          <a:solidFill>
            <a:srgbClr val="EBA1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95944" y="4428744"/>
            <a:ext cx="243230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Uyumsuz dal budanır; önceki karara dönülür.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04672" y="5824728"/>
            <a:ext cx="10570464" cy="548640"/>
          </a:xfrm>
          <a:prstGeom prst="roundRect">
            <a:avLst>
              <a:gd name="adj" fmla="val 20000"/>
            </a:avLst>
          </a:prstGeom>
          <a:solidFill>
            <a:srgbClr val="DFF6F3"/>
          </a:solidFill>
          <a:ln w="12700">
            <a:solidFill>
              <a:srgbClr val="DFF6F3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78408" y="5888736"/>
            <a:ext cx="10222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WA’ya kırmızı atandıktan sonra NT ve Q değerleri sırayla deneniyor; bazı dallar ileride çelişkiye gidecek.</a:t>
            </a:r>
            <a:endParaRPr lang="en-US" sz="138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6.3  •  CSP’LERDE GERİ İZLEMELİ ARAMA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Backtracking: küçük bir örnek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57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81328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1609344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6459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417320" y="156362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Başlangıç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417320" y="1828800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A, B, C ∈ {1,2,3}, hepsi farklı olmalı.</a:t>
            </a:r>
            <a:endParaRPr lang="en-US" sz="1610" dirty="0"/>
          </a:p>
        </p:txBody>
      </p:sp>
      <p:sp>
        <p:nvSpPr>
          <p:cNvPr id="13" name="Shape 11"/>
          <p:cNvSpPr/>
          <p:nvPr/>
        </p:nvSpPr>
        <p:spPr>
          <a:xfrm>
            <a:off x="640080" y="2633472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" y="2761488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279806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417320" y="271576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A=1 seç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417320" y="2980944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B=1 kısıtı bozar → reddet; B=2 seç.</a:t>
            </a:r>
            <a:endParaRPr lang="en-US" sz="1610" dirty="0"/>
          </a:p>
        </p:txBody>
      </p:sp>
      <p:sp>
        <p:nvSpPr>
          <p:cNvPr id="18" name="Shape 16"/>
          <p:cNvSpPr/>
          <p:nvPr/>
        </p:nvSpPr>
        <p:spPr>
          <a:xfrm>
            <a:off x="640080" y="3785616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" y="3913632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" y="395020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417320" y="386791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C=1 ve C=2 dene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417320" y="4133088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A=1 ve B=2 ile çakışırlar.</a:t>
            </a:r>
            <a:endParaRPr lang="en-US" sz="1610" dirty="0"/>
          </a:p>
        </p:txBody>
      </p:sp>
      <p:sp>
        <p:nvSpPr>
          <p:cNvPr id="23" name="Shape 21"/>
          <p:cNvSpPr/>
          <p:nvPr/>
        </p:nvSpPr>
        <p:spPr>
          <a:xfrm>
            <a:off x="640080" y="4937760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" y="5065776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2C9A6A"/>
          </a:solidFill>
          <a:ln w="12700">
            <a:solidFill>
              <a:srgbClr val="2C9A6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" y="510235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417320" y="5020056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C=3 seç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417320" y="5285232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A=1, B=2, C=3 → çözüm.</a:t>
            </a:r>
            <a:endParaRPr lang="en-US" sz="161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6.3  •  CSP’LERDE GERİ İZLEMELİ ARAMA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MRV: Minimum Remaining Values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58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" y="1636776"/>
            <a:ext cx="10698480" cy="1517904"/>
          </a:xfrm>
          <a:prstGeom prst="roundRect">
            <a:avLst>
              <a:gd name="adj" fmla="val 10843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947672"/>
            <a:ext cx="10158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X* = arg min |Dᵢ|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950976" y="3447288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7864" y="3784092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72184" y="3493008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Henüz atanmamış değişkenlerden kalan legal değer sayısı en az olanı seç.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950976" y="4349496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7864" y="4686300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72184" y="4395216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C={2}, B={1,3}, A={1,2,3} ise önce C seçilir.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950976" y="5251704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7864" y="5588508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72184" y="5297424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“Fail-first”: başarısızlığa yakın değişkene erken bak.</a:t>
            </a:r>
            <a:endParaRPr lang="en-US" sz="18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6.3  •  CSP’LERDE GERİ İZLEMELİ ARAMA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MRV uygulaması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109910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Önce öğrencilerden çözmelerini isteyin; ardından birlikte kontrol edin.</a:t>
            </a:r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8" name="Text 6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59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1691640"/>
            <a:ext cx="10716768" cy="1527048"/>
          </a:xfrm>
          <a:prstGeom prst="roundRect">
            <a:avLst>
              <a:gd name="adj" fmla="val 10778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" y="19019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7EE0D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SORU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83664" y="1865376"/>
            <a:ext cx="9235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A={1,2,3,4}, B={1,3}, C={2}, D={1,2,3}. Sırada hangi değişken var?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49808" y="3493008"/>
            <a:ext cx="10716768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369417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ADIM ADIM CEVAP</a:t>
            </a:r>
            <a:endParaRPr lang="en-US" sz="1640" dirty="0"/>
          </a:p>
        </p:txBody>
      </p:sp>
      <p:sp>
        <p:nvSpPr>
          <p:cNvPr id="14" name="Text 12"/>
          <p:cNvSpPr/>
          <p:nvPr/>
        </p:nvSpPr>
        <p:spPr>
          <a:xfrm>
            <a:off x="1042416" y="4160520"/>
            <a:ext cx="992124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|D_A|=4, |D_B|=2, |D_C|=1, |D_D|=3.</a:t>
            </a:r>
            <a:endParaRPr lang="en-US" sz="1810" dirty="0"/>
          </a:p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az kalan değer C’de: MRV(C).</a:t>
            </a:r>
            <a:endParaRPr lang="en-US" sz="1810" dirty="0"/>
          </a:p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C=2 zorunludur; sonraki atamaların seçenekleri daralabilir.</a:t>
            </a:r>
            <a:endParaRPr lang="en-US" sz="181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6.3  •  CSP’LERDE GERİ İZLEMELİ ARAMA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Degree Heuristic: en çok komşuyu etkileyen değişken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" y="1636776"/>
            <a:ext cx="10698480" cy="1517904"/>
          </a:xfrm>
          <a:prstGeom prst="roundRect">
            <a:avLst>
              <a:gd name="adj" fmla="val 10843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947672"/>
            <a:ext cx="10158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degree(SA) = 5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950976" y="3447288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7864" y="3784092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72184" y="3493008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MRV eşitse atanmamış değişkenlerle en çok kısıtı olanı seçebiliriz.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950976" y="4349496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7864" y="4686300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72184" y="4395216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Avustralya’da SA beş komşuya bağlıdır; Tazmanya’nın derecesi sıfırdır.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950976" y="5251704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7864" y="5588508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72184" y="5297424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SA’yı erken boyamak birçok komşunun domain’ini küçültür.</a:t>
            </a:r>
            <a:endParaRPr lang="en-US" sz="18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6.3  •  CSP’LERDE GERİ İZLEMELİ ARAMA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LCV: Least Constraining Value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" y="1636776"/>
            <a:ext cx="10698480" cy="1517904"/>
          </a:xfrm>
          <a:prstGeom prst="roundRect">
            <a:avLst>
              <a:gd name="adj" fmla="val 10843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947672"/>
            <a:ext cx="10158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az seçeneği eleyen değeri önce dene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950976" y="3447288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7864" y="3784092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72184" y="3493008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WA=Kırmızı, NT=Yeşil → SA sadece Mavi olabilir.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950976" y="4349496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7864" y="4686300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72184" y="4395216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Q=Mavi seçimi SA’nın son seçeneğini siler.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950976" y="5251704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7864" y="5588508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72184" y="5297424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Q=Kırmızı daha az kısıtlayıcıdır; onu önce denemek mantıklı.</a:t>
            </a:r>
            <a:endParaRPr lang="en-US" sz="18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6.3  •  CSP’LERDE GERİ İZLEMELİ ARAMA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MRV, Degree ve LCV karıştırılmamalı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" y="1490472"/>
            <a:ext cx="2011680" cy="475488"/>
          </a:xfrm>
          <a:prstGeom prst="rect">
            <a:avLst/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554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Sezgisel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2770632" y="1490472"/>
            <a:ext cx="2432304" cy="475488"/>
          </a:xfrm>
          <a:prstGeom prst="rect">
            <a:avLst/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71216" y="155448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 seçiyor?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202936" y="1490472"/>
            <a:ext cx="6208776" cy="475488"/>
          </a:xfrm>
          <a:prstGeom prst="rect">
            <a:avLst/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155448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Soru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58952" y="1965960"/>
            <a:ext cx="20116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02996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9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MRV</a:t>
            </a:r>
            <a:endParaRPr lang="en-US" sz="1790" dirty="0"/>
          </a:p>
        </p:txBody>
      </p:sp>
      <p:sp>
        <p:nvSpPr>
          <p:cNvPr id="16" name="Shape 14"/>
          <p:cNvSpPr/>
          <p:nvPr/>
        </p:nvSpPr>
        <p:spPr>
          <a:xfrm>
            <a:off x="2770632" y="1965960"/>
            <a:ext cx="243230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62072" y="2029968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9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Değişken</a:t>
            </a:r>
            <a:endParaRPr lang="en-US" sz="1790" dirty="0"/>
          </a:p>
        </p:txBody>
      </p:sp>
      <p:sp>
        <p:nvSpPr>
          <p:cNvPr id="18" name="Shape 16"/>
          <p:cNvSpPr/>
          <p:nvPr/>
        </p:nvSpPr>
        <p:spPr>
          <a:xfrm>
            <a:off x="5202936" y="1965960"/>
            <a:ext cx="6208776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94376" y="2029968"/>
            <a:ext cx="6025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9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az geçerli değeri kimde kaldı?</a:t>
            </a:r>
            <a:endParaRPr lang="en-US" sz="1790" dirty="0"/>
          </a:p>
        </p:txBody>
      </p:sp>
      <p:sp>
        <p:nvSpPr>
          <p:cNvPr id="20" name="Shape 18"/>
          <p:cNvSpPr/>
          <p:nvPr/>
        </p:nvSpPr>
        <p:spPr>
          <a:xfrm>
            <a:off x="758952" y="2990088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" y="2990088"/>
            <a:ext cx="2011680" cy="1024128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3054096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9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Degree</a:t>
            </a:r>
            <a:endParaRPr lang="en-US" sz="1790" dirty="0"/>
          </a:p>
        </p:txBody>
      </p:sp>
      <p:sp>
        <p:nvSpPr>
          <p:cNvPr id="23" name="Shape 21"/>
          <p:cNvSpPr/>
          <p:nvPr/>
        </p:nvSpPr>
        <p:spPr>
          <a:xfrm>
            <a:off x="2770632" y="2990088"/>
            <a:ext cx="2432304" cy="1024128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62072" y="3054096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9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Değişken</a:t>
            </a:r>
            <a:endParaRPr lang="en-US" sz="1790" dirty="0"/>
          </a:p>
        </p:txBody>
      </p:sp>
      <p:sp>
        <p:nvSpPr>
          <p:cNvPr id="25" name="Shape 23"/>
          <p:cNvSpPr/>
          <p:nvPr/>
        </p:nvSpPr>
        <p:spPr>
          <a:xfrm>
            <a:off x="5202936" y="2990088"/>
            <a:ext cx="6208776" cy="1024128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94376" y="3054096"/>
            <a:ext cx="6025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9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Atanmamış kaç komşuyu kısıtlıyor?</a:t>
            </a:r>
            <a:endParaRPr lang="en-US" sz="1790" dirty="0"/>
          </a:p>
        </p:txBody>
      </p:sp>
      <p:sp>
        <p:nvSpPr>
          <p:cNvPr id="27" name="Shape 25"/>
          <p:cNvSpPr/>
          <p:nvPr/>
        </p:nvSpPr>
        <p:spPr>
          <a:xfrm>
            <a:off x="758952" y="4014216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8952" y="4014216"/>
            <a:ext cx="20116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4078224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9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LCV</a:t>
            </a:r>
            <a:endParaRPr lang="en-US" sz="1790" dirty="0"/>
          </a:p>
        </p:txBody>
      </p:sp>
      <p:sp>
        <p:nvSpPr>
          <p:cNvPr id="30" name="Shape 28"/>
          <p:cNvSpPr/>
          <p:nvPr/>
        </p:nvSpPr>
        <p:spPr>
          <a:xfrm>
            <a:off x="2770632" y="4014216"/>
            <a:ext cx="243230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62072" y="4078224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9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Değer</a:t>
            </a:r>
            <a:endParaRPr lang="en-US" sz="1790" dirty="0"/>
          </a:p>
        </p:txBody>
      </p:sp>
      <p:sp>
        <p:nvSpPr>
          <p:cNvPr id="32" name="Shape 30"/>
          <p:cNvSpPr/>
          <p:nvPr/>
        </p:nvSpPr>
        <p:spPr>
          <a:xfrm>
            <a:off x="5202936" y="4014216"/>
            <a:ext cx="6208776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94376" y="4078224"/>
            <a:ext cx="6025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9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Hangi seçim komşulara çok seçenek bırakır?</a:t>
            </a:r>
            <a:endParaRPr lang="en-US" sz="1790" dirty="0"/>
          </a:p>
        </p:txBody>
      </p:sp>
      <p:sp>
        <p:nvSpPr>
          <p:cNvPr id="34" name="Shape 32"/>
          <p:cNvSpPr/>
          <p:nvPr/>
        </p:nvSpPr>
        <p:spPr>
          <a:xfrm>
            <a:off x="758952" y="5038344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6.3  •  CSP’LERDE GERİ İZLEMELİ ARAMA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Search + Inference: her atamadan sonra kontrol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63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444752"/>
            <a:ext cx="708660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444752"/>
            <a:ext cx="73152" cy="82296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499616"/>
            <a:ext cx="6757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Forward Checking</a:t>
            </a:r>
            <a:endParaRPr lang="en-US" sz="1780" dirty="0"/>
          </a:p>
        </p:txBody>
      </p:sp>
      <p:sp>
        <p:nvSpPr>
          <p:cNvPr id="11" name="Text 9"/>
          <p:cNvSpPr/>
          <p:nvPr/>
        </p:nvSpPr>
        <p:spPr>
          <a:xfrm>
            <a:off x="914400" y="178308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Yeni atanan X’in henüz atanmamış komşularında X ile çelişen değerleri sil.</a:t>
            </a:r>
            <a:endParaRPr lang="en-US" sz="1540" dirty="0"/>
          </a:p>
        </p:txBody>
      </p:sp>
      <p:sp>
        <p:nvSpPr>
          <p:cNvPr id="12" name="Shape 10"/>
          <p:cNvSpPr/>
          <p:nvPr/>
        </p:nvSpPr>
        <p:spPr>
          <a:xfrm>
            <a:off x="658368" y="2404872"/>
            <a:ext cx="708660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2404872"/>
            <a:ext cx="73152" cy="82296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459736"/>
            <a:ext cx="6757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MAC</a:t>
            </a:r>
            <a:endParaRPr lang="en-US" sz="1780" dirty="0"/>
          </a:p>
        </p:txBody>
      </p:sp>
      <p:sp>
        <p:nvSpPr>
          <p:cNvPr id="15" name="Text 13"/>
          <p:cNvSpPr/>
          <p:nvPr/>
        </p:nvSpPr>
        <p:spPr>
          <a:xfrm>
            <a:off x="914400" y="274320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Yeni atamadan sonra AC-3 ile diğer yaylara da zincirleme yayılım yap.</a:t>
            </a:r>
            <a:endParaRPr lang="en-US" sz="1540" dirty="0"/>
          </a:p>
        </p:txBody>
      </p:sp>
      <p:sp>
        <p:nvSpPr>
          <p:cNvPr id="16" name="Shape 14"/>
          <p:cNvSpPr/>
          <p:nvPr/>
        </p:nvSpPr>
        <p:spPr>
          <a:xfrm>
            <a:off x="658368" y="3364992"/>
            <a:ext cx="708660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364992"/>
            <a:ext cx="73152" cy="82296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419856"/>
            <a:ext cx="6757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Bir değer kümesi boşalırsa</a:t>
            </a:r>
            <a:endParaRPr lang="en-US" sz="1780" dirty="0"/>
          </a:p>
        </p:txBody>
      </p:sp>
      <p:sp>
        <p:nvSpPr>
          <p:cNvPr id="19" name="Text 17"/>
          <p:cNvSpPr/>
          <p:nvPr/>
        </p:nvSpPr>
        <p:spPr>
          <a:xfrm>
            <a:off x="914400" y="370332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Mevcut kısmi atama başarısızdır; hemen geri izle.</a:t>
            </a:r>
            <a:endParaRPr lang="en-US" sz="1540" dirty="0"/>
          </a:p>
        </p:txBody>
      </p:sp>
      <p:sp>
        <p:nvSpPr>
          <p:cNvPr id="20" name="Shape 18"/>
          <p:cNvSpPr/>
          <p:nvPr/>
        </p:nvSpPr>
        <p:spPr>
          <a:xfrm>
            <a:off x="8028432" y="1444752"/>
            <a:ext cx="3474720" cy="4443984"/>
          </a:xfrm>
          <a:prstGeom prst="roundRect">
            <a:avLst>
              <a:gd name="adj" fmla="val 4737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1719072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7FE0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FARK</a:t>
            </a:r>
            <a:endParaRPr lang="en-US" sz="1530" dirty="0"/>
          </a:p>
        </p:txBody>
      </p:sp>
      <p:sp>
        <p:nvSpPr>
          <p:cNvPr id="22" name="Text 20"/>
          <p:cNvSpPr/>
          <p:nvPr/>
        </p:nvSpPr>
        <p:spPr>
          <a:xfrm>
            <a:off x="8229600" y="2157984"/>
            <a:ext cx="3017520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Forward Checking: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Yakın komşuları görür.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MAC: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Değişikliğin zincirleme etkisini yayar.</a:t>
            </a:r>
            <a:endParaRPr lang="en-US" sz="2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6.3  •  CSP’LERDE GERİ İZLEMELİ ARAMA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Şekil 6.7 — Forward Checking ilerleyişi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0664" y="1545336"/>
            <a:ext cx="7296912" cy="4059936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/mnt/data/image(20261013-101916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220153"/>
            <a:ext cx="6995160" cy="27103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47888" y="1554480"/>
            <a:ext cx="3163824" cy="4069080"/>
          </a:xfrm>
          <a:prstGeom prst="roundRect">
            <a:avLst>
              <a:gd name="adj" fmla="val 4335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76488" y="1764792"/>
            <a:ext cx="26791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7EE0D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ŞEKLİ OKUYALIM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485632" y="2414016"/>
            <a:ext cx="109728" cy="109728"/>
          </a:xfrm>
          <a:prstGeom prst="ellipse">
            <a:avLst/>
          </a:prstGeom>
          <a:solidFill>
            <a:srgbClr val="EBA1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95944" y="2258568"/>
            <a:ext cx="243230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6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WA=R → NT, SA için R silinir.</a:t>
            </a:r>
            <a:endParaRPr lang="en-US" sz="1560" dirty="0"/>
          </a:p>
        </p:txBody>
      </p:sp>
      <p:sp>
        <p:nvSpPr>
          <p:cNvPr id="14" name="Shape 11"/>
          <p:cNvSpPr/>
          <p:nvPr/>
        </p:nvSpPr>
        <p:spPr>
          <a:xfrm>
            <a:off x="8485632" y="3499104"/>
            <a:ext cx="109728" cy="109728"/>
          </a:xfrm>
          <a:prstGeom prst="ellipse">
            <a:avLst/>
          </a:prstGeom>
          <a:solidFill>
            <a:srgbClr val="EBA1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95944" y="3343656"/>
            <a:ext cx="243230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6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Q=G → NT, SA sadece B kalır.</a:t>
            </a:r>
            <a:endParaRPr lang="en-US" sz="1560" dirty="0"/>
          </a:p>
        </p:txBody>
      </p:sp>
      <p:sp>
        <p:nvSpPr>
          <p:cNvPr id="16" name="Shape 13"/>
          <p:cNvSpPr/>
          <p:nvPr/>
        </p:nvSpPr>
        <p:spPr>
          <a:xfrm>
            <a:off x="8485632" y="4584192"/>
            <a:ext cx="109728" cy="109728"/>
          </a:xfrm>
          <a:prstGeom prst="ellipse">
            <a:avLst/>
          </a:prstGeom>
          <a:solidFill>
            <a:srgbClr val="EBA1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95944" y="4428744"/>
            <a:ext cx="243230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6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V=B → SA’dan B de silinir → boş domain.</a:t>
            </a:r>
            <a:endParaRPr lang="en-US" sz="1560" dirty="0"/>
          </a:p>
        </p:txBody>
      </p:sp>
      <p:sp>
        <p:nvSpPr>
          <p:cNvPr id="18" name="Shape 15"/>
          <p:cNvSpPr/>
          <p:nvPr/>
        </p:nvSpPr>
        <p:spPr>
          <a:xfrm>
            <a:off x="804672" y="5824728"/>
            <a:ext cx="10570464" cy="548640"/>
          </a:xfrm>
          <a:prstGeom prst="roundRect">
            <a:avLst>
              <a:gd name="adj" fmla="val 20000"/>
            </a:avLst>
          </a:prstGeom>
          <a:solidFill>
            <a:srgbClr val="DFF6F3"/>
          </a:solidFill>
          <a:ln w="12700">
            <a:solidFill>
              <a:srgbClr val="DFF6F3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78408" y="5888736"/>
            <a:ext cx="10222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WA=R, Q=G ve V=B atamalarında komşu değer kümeleri nasıl küçülüyor?</a:t>
            </a:r>
            <a:endParaRPr lang="en-US" sz="138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6.3  •  CSP’LERDE GERİ İZLEMELİ ARAMA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Forward Checking’in adım adım değerleri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" y="1490472"/>
            <a:ext cx="2286000" cy="475488"/>
          </a:xfrm>
          <a:prstGeom prst="rect">
            <a:avLst/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5544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Değişken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044952" y="1490472"/>
            <a:ext cx="2084832" cy="475488"/>
          </a:xfrm>
          <a:prstGeom prst="rect">
            <a:avLst/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45536" y="155448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Başlangıç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129784" y="1490472"/>
            <a:ext cx="2084832" cy="475488"/>
          </a:xfrm>
          <a:prstGeom prst="rect">
            <a:avLst/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0368" y="155448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WA=R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214616" y="1490472"/>
            <a:ext cx="2084832" cy="475488"/>
          </a:xfrm>
          <a:prstGeom prst="rect">
            <a:avLst/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0" y="155448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Q=G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9299448" y="1490472"/>
            <a:ext cx="2112264" cy="475488"/>
          </a:xfrm>
          <a:prstGeom prst="rect">
            <a:avLst/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00032" y="1554480"/>
            <a:ext cx="1929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V=B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58952" y="1965960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202996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</a:t>
            </a:r>
            <a:endParaRPr lang="en-US" sz="1720" dirty="0"/>
          </a:p>
        </p:txBody>
      </p:sp>
      <p:sp>
        <p:nvSpPr>
          <p:cNvPr id="20" name="Shape 18"/>
          <p:cNvSpPr/>
          <p:nvPr/>
        </p:nvSpPr>
        <p:spPr>
          <a:xfrm>
            <a:off x="3044952" y="1965960"/>
            <a:ext cx="208483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36392" y="2029968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RGB</a:t>
            </a:r>
            <a:endParaRPr lang="en-US" sz="1720" dirty="0"/>
          </a:p>
        </p:txBody>
      </p:sp>
      <p:sp>
        <p:nvSpPr>
          <p:cNvPr id="22" name="Shape 20"/>
          <p:cNvSpPr/>
          <p:nvPr/>
        </p:nvSpPr>
        <p:spPr>
          <a:xfrm>
            <a:off x="5129784" y="1965960"/>
            <a:ext cx="208483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21224" y="2029968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</a:t>
            </a:r>
            <a:endParaRPr lang="en-US" sz="1720" dirty="0"/>
          </a:p>
        </p:txBody>
      </p:sp>
      <p:sp>
        <p:nvSpPr>
          <p:cNvPr id="24" name="Shape 22"/>
          <p:cNvSpPr/>
          <p:nvPr/>
        </p:nvSpPr>
        <p:spPr>
          <a:xfrm>
            <a:off x="7214616" y="1965960"/>
            <a:ext cx="208483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06056" y="2029968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</a:t>
            </a:r>
            <a:endParaRPr lang="en-US" sz="1720" dirty="0"/>
          </a:p>
        </p:txBody>
      </p:sp>
      <p:sp>
        <p:nvSpPr>
          <p:cNvPr id="26" name="Shape 24"/>
          <p:cNvSpPr/>
          <p:nvPr/>
        </p:nvSpPr>
        <p:spPr>
          <a:xfrm>
            <a:off x="9299448" y="1965960"/>
            <a:ext cx="211226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90888" y="2029968"/>
            <a:ext cx="1929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</a:t>
            </a:r>
            <a:endParaRPr lang="en-US" sz="1720" dirty="0"/>
          </a:p>
        </p:txBody>
      </p:sp>
      <p:sp>
        <p:nvSpPr>
          <p:cNvPr id="28" name="Shape 26"/>
          <p:cNvSpPr/>
          <p:nvPr/>
        </p:nvSpPr>
        <p:spPr>
          <a:xfrm>
            <a:off x="758952" y="2496312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2496312"/>
            <a:ext cx="2286000" cy="530352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256032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NT</a:t>
            </a:r>
            <a:endParaRPr lang="en-US" sz="1720" dirty="0"/>
          </a:p>
        </p:txBody>
      </p:sp>
      <p:sp>
        <p:nvSpPr>
          <p:cNvPr id="31" name="Shape 29"/>
          <p:cNvSpPr/>
          <p:nvPr/>
        </p:nvSpPr>
        <p:spPr>
          <a:xfrm>
            <a:off x="3044952" y="2496312"/>
            <a:ext cx="2084832" cy="530352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36392" y="2560320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RGB</a:t>
            </a:r>
            <a:endParaRPr lang="en-US" sz="1720" dirty="0"/>
          </a:p>
        </p:txBody>
      </p:sp>
      <p:sp>
        <p:nvSpPr>
          <p:cNvPr id="33" name="Shape 31"/>
          <p:cNvSpPr/>
          <p:nvPr/>
        </p:nvSpPr>
        <p:spPr>
          <a:xfrm>
            <a:off x="5129784" y="2496312"/>
            <a:ext cx="2084832" cy="530352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21224" y="2560320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GB</a:t>
            </a:r>
            <a:endParaRPr lang="en-US" sz="1720" dirty="0"/>
          </a:p>
        </p:txBody>
      </p:sp>
      <p:sp>
        <p:nvSpPr>
          <p:cNvPr id="35" name="Shape 33"/>
          <p:cNvSpPr/>
          <p:nvPr/>
        </p:nvSpPr>
        <p:spPr>
          <a:xfrm>
            <a:off x="7214616" y="2496312"/>
            <a:ext cx="2084832" cy="530352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06056" y="2560320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</a:t>
            </a:r>
            <a:endParaRPr lang="en-US" sz="1720" dirty="0"/>
          </a:p>
        </p:txBody>
      </p:sp>
      <p:sp>
        <p:nvSpPr>
          <p:cNvPr id="37" name="Shape 35"/>
          <p:cNvSpPr/>
          <p:nvPr/>
        </p:nvSpPr>
        <p:spPr>
          <a:xfrm>
            <a:off x="9299448" y="2496312"/>
            <a:ext cx="2112264" cy="530352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90888" y="2560320"/>
            <a:ext cx="1929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</a:t>
            </a:r>
            <a:endParaRPr lang="en-US" sz="1720" dirty="0"/>
          </a:p>
        </p:txBody>
      </p:sp>
      <p:sp>
        <p:nvSpPr>
          <p:cNvPr id="39" name="Shape 37"/>
          <p:cNvSpPr/>
          <p:nvPr/>
        </p:nvSpPr>
        <p:spPr>
          <a:xfrm>
            <a:off x="758952" y="3026664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8952" y="3026664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" y="309067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</a:t>
            </a:r>
            <a:endParaRPr lang="en-US" sz="1720" dirty="0"/>
          </a:p>
        </p:txBody>
      </p:sp>
      <p:sp>
        <p:nvSpPr>
          <p:cNvPr id="42" name="Shape 40"/>
          <p:cNvSpPr/>
          <p:nvPr/>
        </p:nvSpPr>
        <p:spPr>
          <a:xfrm>
            <a:off x="3044952" y="3026664"/>
            <a:ext cx="208483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36392" y="3090672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RGB</a:t>
            </a:r>
            <a:endParaRPr lang="en-US" sz="1720" dirty="0"/>
          </a:p>
        </p:txBody>
      </p:sp>
      <p:sp>
        <p:nvSpPr>
          <p:cNvPr id="44" name="Shape 42"/>
          <p:cNvSpPr/>
          <p:nvPr/>
        </p:nvSpPr>
        <p:spPr>
          <a:xfrm>
            <a:off x="5129784" y="3026664"/>
            <a:ext cx="208483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21224" y="3090672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RGB</a:t>
            </a:r>
            <a:endParaRPr lang="en-US" sz="1720" dirty="0"/>
          </a:p>
        </p:txBody>
      </p:sp>
      <p:sp>
        <p:nvSpPr>
          <p:cNvPr id="46" name="Shape 44"/>
          <p:cNvSpPr/>
          <p:nvPr/>
        </p:nvSpPr>
        <p:spPr>
          <a:xfrm>
            <a:off x="7214616" y="3026664"/>
            <a:ext cx="208483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06056" y="3090672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</a:t>
            </a:r>
            <a:endParaRPr lang="en-US" sz="1720" dirty="0"/>
          </a:p>
        </p:txBody>
      </p:sp>
      <p:sp>
        <p:nvSpPr>
          <p:cNvPr id="48" name="Shape 46"/>
          <p:cNvSpPr/>
          <p:nvPr/>
        </p:nvSpPr>
        <p:spPr>
          <a:xfrm>
            <a:off x="9299448" y="3026664"/>
            <a:ext cx="211226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390888" y="3090672"/>
            <a:ext cx="1929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</a:t>
            </a:r>
            <a:endParaRPr lang="en-US" sz="1720" dirty="0"/>
          </a:p>
        </p:txBody>
      </p:sp>
      <p:sp>
        <p:nvSpPr>
          <p:cNvPr id="50" name="Shape 48"/>
          <p:cNvSpPr/>
          <p:nvPr/>
        </p:nvSpPr>
        <p:spPr>
          <a:xfrm>
            <a:off x="758952" y="3557016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58952" y="3557016"/>
            <a:ext cx="2286000" cy="530352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0392" y="362102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NSW</a:t>
            </a:r>
            <a:endParaRPr lang="en-US" sz="1720" dirty="0"/>
          </a:p>
        </p:txBody>
      </p:sp>
      <p:sp>
        <p:nvSpPr>
          <p:cNvPr id="53" name="Shape 51"/>
          <p:cNvSpPr/>
          <p:nvPr/>
        </p:nvSpPr>
        <p:spPr>
          <a:xfrm>
            <a:off x="3044952" y="3557016"/>
            <a:ext cx="2084832" cy="530352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36392" y="3621024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RGB</a:t>
            </a:r>
            <a:endParaRPr lang="en-US" sz="1720" dirty="0"/>
          </a:p>
        </p:txBody>
      </p:sp>
      <p:sp>
        <p:nvSpPr>
          <p:cNvPr id="55" name="Shape 53"/>
          <p:cNvSpPr/>
          <p:nvPr/>
        </p:nvSpPr>
        <p:spPr>
          <a:xfrm>
            <a:off x="5129784" y="3557016"/>
            <a:ext cx="2084832" cy="530352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21224" y="3621024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RGB</a:t>
            </a:r>
            <a:endParaRPr lang="en-US" sz="1720" dirty="0"/>
          </a:p>
        </p:txBody>
      </p:sp>
      <p:sp>
        <p:nvSpPr>
          <p:cNvPr id="57" name="Shape 55"/>
          <p:cNvSpPr/>
          <p:nvPr/>
        </p:nvSpPr>
        <p:spPr>
          <a:xfrm>
            <a:off x="7214616" y="3557016"/>
            <a:ext cx="2084832" cy="530352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06056" y="3621024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RB</a:t>
            </a:r>
            <a:endParaRPr lang="en-US" sz="1720" dirty="0"/>
          </a:p>
        </p:txBody>
      </p:sp>
      <p:sp>
        <p:nvSpPr>
          <p:cNvPr id="59" name="Shape 57"/>
          <p:cNvSpPr/>
          <p:nvPr/>
        </p:nvSpPr>
        <p:spPr>
          <a:xfrm>
            <a:off x="9299448" y="3557016"/>
            <a:ext cx="2112264" cy="530352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390888" y="3621024"/>
            <a:ext cx="1929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</a:t>
            </a:r>
            <a:endParaRPr lang="en-US" sz="1720" dirty="0"/>
          </a:p>
        </p:txBody>
      </p:sp>
      <p:sp>
        <p:nvSpPr>
          <p:cNvPr id="61" name="Shape 59"/>
          <p:cNvSpPr/>
          <p:nvPr/>
        </p:nvSpPr>
        <p:spPr>
          <a:xfrm>
            <a:off x="758952" y="4087368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8952" y="4087368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50392" y="4151376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</a:t>
            </a:r>
            <a:endParaRPr lang="en-US" sz="1720" dirty="0"/>
          </a:p>
        </p:txBody>
      </p:sp>
      <p:sp>
        <p:nvSpPr>
          <p:cNvPr id="64" name="Shape 62"/>
          <p:cNvSpPr/>
          <p:nvPr/>
        </p:nvSpPr>
        <p:spPr>
          <a:xfrm>
            <a:off x="3044952" y="4087368"/>
            <a:ext cx="208483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136392" y="4151376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RGB</a:t>
            </a:r>
            <a:endParaRPr lang="en-US" sz="1720" dirty="0"/>
          </a:p>
        </p:txBody>
      </p:sp>
      <p:sp>
        <p:nvSpPr>
          <p:cNvPr id="66" name="Shape 64"/>
          <p:cNvSpPr/>
          <p:nvPr/>
        </p:nvSpPr>
        <p:spPr>
          <a:xfrm>
            <a:off x="5129784" y="4087368"/>
            <a:ext cx="208483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221224" y="4151376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RGB</a:t>
            </a:r>
            <a:endParaRPr lang="en-US" sz="1720" dirty="0"/>
          </a:p>
        </p:txBody>
      </p:sp>
      <p:sp>
        <p:nvSpPr>
          <p:cNvPr id="68" name="Shape 66"/>
          <p:cNvSpPr/>
          <p:nvPr/>
        </p:nvSpPr>
        <p:spPr>
          <a:xfrm>
            <a:off x="7214616" y="4087368"/>
            <a:ext cx="208483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306056" y="4151376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RGB</a:t>
            </a:r>
            <a:endParaRPr lang="en-US" sz="1720" dirty="0"/>
          </a:p>
        </p:txBody>
      </p:sp>
      <p:sp>
        <p:nvSpPr>
          <p:cNvPr id="70" name="Shape 68"/>
          <p:cNvSpPr/>
          <p:nvPr/>
        </p:nvSpPr>
        <p:spPr>
          <a:xfrm>
            <a:off x="9299448" y="4087368"/>
            <a:ext cx="211226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390888" y="4151376"/>
            <a:ext cx="1929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</a:t>
            </a:r>
            <a:endParaRPr lang="en-US" sz="1720" dirty="0"/>
          </a:p>
        </p:txBody>
      </p:sp>
      <p:sp>
        <p:nvSpPr>
          <p:cNvPr id="72" name="Shape 70"/>
          <p:cNvSpPr/>
          <p:nvPr/>
        </p:nvSpPr>
        <p:spPr>
          <a:xfrm>
            <a:off x="758952" y="4617720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58952" y="4617720"/>
            <a:ext cx="2286000" cy="530352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50392" y="468172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</a:t>
            </a:r>
            <a:endParaRPr lang="en-US" sz="1720" dirty="0"/>
          </a:p>
        </p:txBody>
      </p:sp>
      <p:sp>
        <p:nvSpPr>
          <p:cNvPr id="75" name="Shape 73"/>
          <p:cNvSpPr/>
          <p:nvPr/>
        </p:nvSpPr>
        <p:spPr>
          <a:xfrm>
            <a:off x="3044952" y="4617720"/>
            <a:ext cx="2084832" cy="530352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36392" y="4681728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RGB</a:t>
            </a:r>
            <a:endParaRPr lang="en-US" sz="1720" dirty="0"/>
          </a:p>
        </p:txBody>
      </p:sp>
      <p:sp>
        <p:nvSpPr>
          <p:cNvPr id="77" name="Shape 75"/>
          <p:cNvSpPr/>
          <p:nvPr/>
        </p:nvSpPr>
        <p:spPr>
          <a:xfrm>
            <a:off x="5129784" y="4617720"/>
            <a:ext cx="2084832" cy="530352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221224" y="4681728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GB</a:t>
            </a:r>
            <a:endParaRPr lang="en-US" sz="1720" dirty="0"/>
          </a:p>
        </p:txBody>
      </p:sp>
      <p:sp>
        <p:nvSpPr>
          <p:cNvPr id="79" name="Shape 77"/>
          <p:cNvSpPr/>
          <p:nvPr/>
        </p:nvSpPr>
        <p:spPr>
          <a:xfrm>
            <a:off x="7214616" y="4617720"/>
            <a:ext cx="2084832" cy="530352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306056" y="4681728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</a:t>
            </a:r>
            <a:endParaRPr lang="en-US" sz="1720" dirty="0"/>
          </a:p>
        </p:txBody>
      </p:sp>
      <p:sp>
        <p:nvSpPr>
          <p:cNvPr id="81" name="Shape 79"/>
          <p:cNvSpPr/>
          <p:nvPr/>
        </p:nvSpPr>
        <p:spPr>
          <a:xfrm>
            <a:off x="9299448" y="4617720"/>
            <a:ext cx="2112264" cy="530352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390888" y="4681728"/>
            <a:ext cx="1929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∅</a:t>
            </a:r>
            <a:endParaRPr lang="en-US" sz="1720" dirty="0"/>
          </a:p>
        </p:txBody>
      </p:sp>
      <p:sp>
        <p:nvSpPr>
          <p:cNvPr id="83" name="Shape 81"/>
          <p:cNvSpPr/>
          <p:nvPr/>
        </p:nvSpPr>
        <p:spPr>
          <a:xfrm>
            <a:off x="758952" y="5148072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58952" y="5148072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50392" y="521208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</a:t>
            </a:r>
            <a:endParaRPr lang="en-US" sz="1720" dirty="0"/>
          </a:p>
        </p:txBody>
      </p:sp>
      <p:sp>
        <p:nvSpPr>
          <p:cNvPr id="86" name="Shape 84"/>
          <p:cNvSpPr/>
          <p:nvPr/>
        </p:nvSpPr>
        <p:spPr>
          <a:xfrm>
            <a:off x="3044952" y="5148072"/>
            <a:ext cx="208483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136392" y="5212080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RGB</a:t>
            </a:r>
            <a:endParaRPr lang="en-US" sz="1720" dirty="0"/>
          </a:p>
        </p:txBody>
      </p:sp>
      <p:sp>
        <p:nvSpPr>
          <p:cNvPr id="88" name="Shape 86"/>
          <p:cNvSpPr/>
          <p:nvPr/>
        </p:nvSpPr>
        <p:spPr>
          <a:xfrm>
            <a:off x="5129784" y="5148072"/>
            <a:ext cx="208483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221224" y="5212080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RGB</a:t>
            </a:r>
            <a:endParaRPr lang="en-US" sz="1720" dirty="0"/>
          </a:p>
        </p:txBody>
      </p:sp>
      <p:sp>
        <p:nvSpPr>
          <p:cNvPr id="90" name="Shape 88"/>
          <p:cNvSpPr/>
          <p:nvPr/>
        </p:nvSpPr>
        <p:spPr>
          <a:xfrm>
            <a:off x="7214616" y="5148072"/>
            <a:ext cx="208483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306056" y="5212080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RGB</a:t>
            </a:r>
            <a:endParaRPr lang="en-US" sz="1720" dirty="0"/>
          </a:p>
        </p:txBody>
      </p:sp>
      <p:sp>
        <p:nvSpPr>
          <p:cNvPr id="92" name="Shape 90"/>
          <p:cNvSpPr/>
          <p:nvPr/>
        </p:nvSpPr>
        <p:spPr>
          <a:xfrm>
            <a:off x="9299448" y="5148072"/>
            <a:ext cx="211226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390888" y="5212080"/>
            <a:ext cx="1929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RGB</a:t>
            </a:r>
            <a:endParaRPr lang="en-US" sz="1720" dirty="0"/>
          </a:p>
        </p:txBody>
      </p:sp>
      <p:sp>
        <p:nvSpPr>
          <p:cNvPr id="94" name="Shape 92"/>
          <p:cNvSpPr/>
          <p:nvPr/>
        </p:nvSpPr>
        <p:spPr>
          <a:xfrm>
            <a:off x="758952" y="5678424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6.3  •  CSP’LERDE GERİ İZLEMELİ ARAMA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MAC neden daha erken başarısızlık bulur?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81328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1609344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6459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417320" y="156362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 = Kırmızı → ileri kontrol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417320" y="1828800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NT, SA için kırmızı elenir.</a:t>
            </a:r>
            <a:endParaRPr lang="en-US" sz="1610" dirty="0"/>
          </a:p>
        </p:txBody>
      </p:sp>
      <p:sp>
        <p:nvSpPr>
          <p:cNvPr id="13" name="Shape 11"/>
          <p:cNvSpPr/>
          <p:nvPr/>
        </p:nvSpPr>
        <p:spPr>
          <a:xfrm>
            <a:off x="640080" y="2633472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" y="2761488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279806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417320" y="271576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 = Yeşil → ileri kontrol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417320" y="2980944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NT ve SA yalnızca mavi kalır.</a:t>
            </a:r>
            <a:endParaRPr lang="en-US" sz="1610" dirty="0"/>
          </a:p>
        </p:txBody>
      </p:sp>
      <p:sp>
        <p:nvSpPr>
          <p:cNvPr id="18" name="Shape 16"/>
          <p:cNvSpPr/>
          <p:nvPr/>
        </p:nvSpPr>
        <p:spPr>
          <a:xfrm>
            <a:off x="640080" y="3785616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" y="3913632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" y="395020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417320" y="386791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Forward Checking burada durabilir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417320" y="4133088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Henüz boş domain yok; NT–SA arasını yeniden kontrol etmez.</a:t>
            </a:r>
            <a:endParaRPr lang="en-US" sz="1610" dirty="0"/>
          </a:p>
        </p:txBody>
      </p:sp>
      <p:sp>
        <p:nvSpPr>
          <p:cNvPr id="23" name="Shape 21"/>
          <p:cNvSpPr/>
          <p:nvPr/>
        </p:nvSpPr>
        <p:spPr>
          <a:xfrm>
            <a:off x="640080" y="4937760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" y="5065776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2C9A6A"/>
          </a:solidFill>
          <a:ln w="12700">
            <a:solidFill>
              <a:srgbClr val="2C9A6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" y="510235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417320" y="5020056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MAC, NT ≠ SA kontrolünü yayar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417320" y="5285232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Her ikisi de maviye zorlanmış → destek yok → geri izle.</a:t>
            </a:r>
            <a:endParaRPr lang="en-US" sz="161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6.3  •  CSP’LERDE GERİ İZLEMELİ ARAMA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Forward Checking ve MAC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67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" y="1490472"/>
            <a:ext cx="2313432" cy="475488"/>
          </a:xfrm>
          <a:prstGeom prst="rect">
            <a:avLst/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554480"/>
            <a:ext cx="213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Boyut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072384" y="1490472"/>
            <a:ext cx="4160520" cy="475488"/>
          </a:xfrm>
          <a:prstGeom prst="rect">
            <a:avLst/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72968" y="15544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Forward Checking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232904" y="1490472"/>
            <a:ext cx="4178808" cy="475488"/>
          </a:xfrm>
          <a:prstGeom prst="rect">
            <a:avLst/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33488" y="1554480"/>
            <a:ext cx="3995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MAC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58952" y="1965960"/>
            <a:ext cx="231343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029968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Kapsam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072384" y="1965960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63824" y="2029968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Atanan X’in komşuları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232904" y="1965960"/>
            <a:ext cx="417880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24344" y="2029968"/>
            <a:ext cx="3995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Yayılım diğer değişkenlere uzanır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58952" y="2807208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" y="2807208"/>
            <a:ext cx="2313432" cy="841248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2871216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Tekrarlı çıkarım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3072384" y="2807208"/>
            <a:ext cx="4160520" cy="841248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63824" y="2871216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Sınırlı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232904" y="2807208"/>
            <a:ext cx="4178808" cy="841248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24344" y="2871216"/>
            <a:ext cx="3995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AC-3 tekrar yayar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758952" y="3648456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8952" y="3648456"/>
            <a:ext cx="231343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3712464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Tipik işlem yükü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3072384" y="3648456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63824" y="3712464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Daha düşük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7232904" y="3648456"/>
            <a:ext cx="417880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24344" y="3712464"/>
            <a:ext cx="3995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Daha yüksek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758952" y="4489704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8952" y="4489704"/>
            <a:ext cx="2313432" cy="841248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0392" y="4553712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Çelişkiyi bulma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3072384" y="4489704"/>
            <a:ext cx="4160520" cy="841248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63824" y="4553712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Bazen daha geç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7232904" y="4489704"/>
            <a:ext cx="4178808" cy="841248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24344" y="4553712"/>
            <a:ext cx="3995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Genellikle daha erken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758952" y="5330952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6.3  •  CSP’LERDE GERİ İZLEMELİ ARAMA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İleri kontrolün kaçırdığı çelişki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109910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Önce öğrencilerden çözmelerini isteyin; ardından birlikte kontrol edin.</a:t>
            </a:r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8" name="Text 6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68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1691640"/>
            <a:ext cx="10716768" cy="1527048"/>
          </a:xfrm>
          <a:prstGeom prst="roundRect">
            <a:avLst>
              <a:gd name="adj" fmla="val 10778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" y="19019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7EE0D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SORU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83664" y="1865376"/>
            <a:ext cx="9235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NT={Mavi}, SA={Mavi} ve NT≠SA. Forward Checking neden durabilir, MAC ne görür?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49808" y="3493008"/>
            <a:ext cx="10716768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369417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ADIM ADIM CEVAP</a:t>
            </a:r>
            <a:endParaRPr lang="en-US" sz="1640" dirty="0"/>
          </a:p>
        </p:txBody>
      </p:sp>
      <p:sp>
        <p:nvSpPr>
          <p:cNvPr id="14" name="Text 12"/>
          <p:cNvSpPr/>
          <p:nvPr/>
        </p:nvSpPr>
        <p:spPr>
          <a:xfrm>
            <a:off x="1042416" y="4160520"/>
            <a:ext cx="992124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İleri kontrol henüz atanmış değişkenin komşularını kontrol etmiştir.</a:t>
            </a:r>
            <a:endParaRPr lang="en-US" sz="1810" dirty="0"/>
          </a:p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NT–SA arasındaki ikili kısıt tekrar kontrol edilmemiş olabilir.</a:t>
            </a:r>
            <a:endParaRPr lang="en-US" sz="1810" dirty="0"/>
          </a:p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MAC: NT ve SA birbirini destekleyemez → değer kümesi boşalır.</a:t>
            </a:r>
            <a:endParaRPr lang="en-US" sz="181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6.3  •  CSP’LERDE GERİ İZLEMELİ ARAMA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Başarısızlıkta ne kadar geriye dönelim?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69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04088" y="1618488"/>
            <a:ext cx="3630168" cy="4215384"/>
          </a:xfrm>
          <a:prstGeom prst="roundRect">
            <a:avLst>
              <a:gd name="adj" fmla="val 403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" y="1618488"/>
            <a:ext cx="3630168" cy="109728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1832" y="2020824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093976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0976" y="2734056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Chronological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50976" y="3593592"/>
            <a:ext cx="3081528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Sondan bir önceki karara geri dön.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Hata ile ilgisiz değişkenleri de değiştirebilir.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4535424" y="1618488"/>
            <a:ext cx="3630168" cy="4215384"/>
          </a:xfrm>
          <a:prstGeom prst="roundRect">
            <a:avLst>
              <a:gd name="adj" fmla="val 403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35424" y="1618488"/>
            <a:ext cx="3630168" cy="109728"/>
          </a:xfrm>
          <a:prstGeom prst="rect">
            <a:avLst/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73168" y="2020824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28616" y="2093976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82312" y="2734056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Backjumping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782312" y="3593592"/>
            <a:ext cx="3081528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Hata nedenleri içindeki en son değişkene sıçra.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İlgisiz kararları atla.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366760" y="1618488"/>
            <a:ext cx="3630168" cy="4215384"/>
          </a:xfrm>
          <a:prstGeom prst="roundRect">
            <a:avLst>
              <a:gd name="adj" fmla="val 403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66760" y="1618488"/>
            <a:ext cx="3630168" cy="109728"/>
          </a:xfrm>
          <a:prstGeom prst="rect">
            <a:avLst/>
          </a:prstGeom>
          <a:solidFill>
            <a:srgbClr val="EBA139"/>
          </a:solidFill>
          <a:ln w="12700">
            <a:solidFill>
              <a:srgbClr val="EBA139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04504" y="2020824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BA139"/>
          </a:solidFill>
          <a:ln w="12700">
            <a:solidFill>
              <a:srgbClr val="EBA13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59952" y="2093976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613648" y="2734056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Conflict-Directed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8613648" y="3593592"/>
            <a:ext cx="3081528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Başarısızlık nedenlerini birleştirip daha derin sıçramalar yap.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Conflict set kullan.</a:t>
            </a:r>
            <a:endParaRPr lang="en-US" sz="17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6.3  •  CSP’LERDE GERİ İZLEMELİ ARAMA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Backjumping — Tazmanya neden atlanır?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81328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1609344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6459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417320" y="156362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Atama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417320" y="1828800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Q=R, NSW=G, V=B, T=R.</a:t>
            </a:r>
            <a:endParaRPr lang="en-US" sz="1610" dirty="0"/>
          </a:p>
        </p:txBody>
      </p:sp>
      <p:sp>
        <p:nvSpPr>
          <p:cNvPr id="13" name="Shape 11"/>
          <p:cNvSpPr/>
          <p:nvPr/>
        </p:nvSpPr>
        <p:spPr>
          <a:xfrm>
            <a:off x="640080" y="2633472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" y="2761488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279806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417320" y="271576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 için hiçbir renk kalmıyor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417320" y="2980944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Kırmızı Q, yeşil NSW, mavi V yüzünden yasak.</a:t>
            </a:r>
            <a:endParaRPr lang="en-US" sz="1610" dirty="0"/>
          </a:p>
        </p:txBody>
      </p:sp>
      <p:sp>
        <p:nvSpPr>
          <p:cNvPr id="18" name="Shape 16"/>
          <p:cNvSpPr/>
          <p:nvPr/>
        </p:nvSpPr>
        <p:spPr>
          <a:xfrm>
            <a:off x="640080" y="3785616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" y="3913632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" y="395020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417320" y="386791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Kronolojik geri izleme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417320" y="4133088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T’nin rengini değiştirmeye gider; oysa T bağımsız.</a:t>
            </a:r>
            <a:endParaRPr lang="en-US" sz="1610" dirty="0"/>
          </a:p>
        </p:txBody>
      </p:sp>
      <p:sp>
        <p:nvSpPr>
          <p:cNvPr id="23" name="Shape 21"/>
          <p:cNvSpPr/>
          <p:nvPr/>
        </p:nvSpPr>
        <p:spPr>
          <a:xfrm>
            <a:off x="640080" y="4937760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" y="5065776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2C9A6A"/>
          </a:solidFill>
          <a:ln w="12700">
            <a:solidFill>
              <a:srgbClr val="2C9A6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" y="510235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417320" y="5020056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Backjumping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417320" y="5285232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conf(SA)={Q,NSW,V}; en son V’ye doğrudan geri döner.</a:t>
            </a:r>
            <a:endParaRPr lang="en-US" sz="161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6.3  •  CSP’LERDE GERİ İZLEMELİ ARAMA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Conflict-Directed Backjumping (CBJ)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" y="1636776"/>
            <a:ext cx="10698480" cy="1517904"/>
          </a:xfrm>
          <a:prstGeom prst="roundRect">
            <a:avLst>
              <a:gd name="adj" fmla="val 10843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947672"/>
            <a:ext cx="10158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conf(Xᵢ) ← conf(Xᵢ) ∪ (conf(Xⱼ) − {Xᵢ})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50976" y="3447288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7864" y="3784092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72184" y="3493008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Xⱼ tamamen başarısızsa çakışma kümesindeki en son Xᵢ’ye sıçra.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0976" y="4349496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7864" y="4686300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72184" y="4395216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Xⱼ’nin nedenlerini Xᵢ’nin nedenlerine ekle (Xᵢ’nin kendisi hariç).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0976" y="5251704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7864" y="5588508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72184" y="5297424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Amaç: gereksiz ara değişkenleri yeniden denememek.</a:t>
            </a:r>
            <a:endParaRPr lang="en-US" sz="18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6.3  •  CSP’LERDE GERİ İZLEMELİ ARAMA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CBJ’de conflict set birleştirme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81328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1609344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6459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417320" y="156362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 başarısız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417320" y="1828800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conf(SA)={WA,NT,Q}; Q’ya geri sıçra.</a:t>
            </a:r>
            <a:endParaRPr lang="en-US" sz="1610" dirty="0"/>
          </a:p>
        </p:txBody>
      </p:sp>
      <p:sp>
        <p:nvSpPr>
          <p:cNvPr id="13" name="Shape 11"/>
          <p:cNvSpPr/>
          <p:nvPr/>
        </p:nvSpPr>
        <p:spPr>
          <a:xfrm>
            <a:off x="640080" y="2633472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" y="2761488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279806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417320" y="271576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Q’nun önceki conflict set’i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417320" y="2980944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{NT,NSW}. SA’dan {WA,NT} eklenir → {WA,NT,NSW}.</a:t>
            </a:r>
            <a:endParaRPr lang="en-US" sz="1610" dirty="0"/>
          </a:p>
        </p:txBody>
      </p:sp>
      <p:sp>
        <p:nvSpPr>
          <p:cNvPr id="18" name="Shape 16"/>
          <p:cNvSpPr/>
          <p:nvPr/>
        </p:nvSpPr>
        <p:spPr>
          <a:xfrm>
            <a:off x="640080" y="3785616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" y="3913632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" y="395020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417320" y="386791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NT’ye geri dön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417320" y="4133088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NT’nin doğrudan kümesi {WA}. Q’dan {WA,NSW} eklenir.</a:t>
            </a:r>
            <a:endParaRPr lang="en-US" sz="1610" dirty="0"/>
          </a:p>
        </p:txBody>
      </p:sp>
      <p:sp>
        <p:nvSpPr>
          <p:cNvPr id="23" name="Shape 21"/>
          <p:cNvSpPr/>
          <p:nvPr/>
        </p:nvSpPr>
        <p:spPr>
          <a:xfrm>
            <a:off x="640080" y="4937760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" y="5065776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2C9A6A"/>
          </a:solidFill>
          <a:ln w="12700">
            <a:solidFill>
              <a:srgbClr val="2C9A6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" y="510235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417320" y="5020056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Yeni sonuç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417320" y="5285232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conf(NT)={WA,NSW}; geri dönülecek ilgili değişken NSW.</a:t>
            </a:r>
            <a:endParaRPr lang="en-US" sz="161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6.3  •  CSP’LERDE GERİ İZLEMELİ ARAMA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Constraint Learning: no-good ne demektir?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73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" y="1636776"/>
            <a:ext cx="10698480" cy="1517904"/>
          </a:xfrm>
          <a:prstGeom prst="roundRect">
            <a:avLst>
              <a:gd name="adj" fmla="val 10843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947672"/>
            <a:ext cx="10158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¬(WA=R ∧ NT=G ∧ Q=B)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950976" y="3447288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7864" y="3784092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72184" y="3493008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WA=R, NT=G, Q=B iken SA’ya renk kalmaz → bu kombinasyon no-good.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950976" y="4349496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7864" y="4686300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72184" y="4395216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Aynı hataya bir daha ulaşmamak için yeni bir kısıt veya önbellek kaydı tutulur.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950976" y="5251704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7864" y="5588508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72184" y="5297424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Kısıt öğrenme, modern CSP çözücülerinin temel hızlandırıcılarındandır.</a:t>
            </a:r>
            <a:endParaRPr lang="en-US" sz="18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01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2376" y="731520"/>
            <a:ext cx="8595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0" b="1" dirty="0">
                <a:solidFill>
                  <a:srgbClr val="54D5C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6.4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758952" y="2075688"/>
            <a:ext cx="106070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CSP’lerde Yerel Arama</a:t>
            </a:r>
            <a:endParaRPr lang="en-US" sz="4100" dirty="0"/>
          </a:p>
        </p:txBody>
      </p:sp>
      <p:sp>
        <p:nvSpPr>
          <p:cNvPr id="5" name="Shape 3"/>
          <p:cNvSpPr/>
          <p:nvPr/>
        </p:nvSpPr>
        <p:spPr>
          <a:xfrm>
            <a:off x="777240" y="3730752"/>
            <a:ext cx="2286000" cy="64008"/>
          </a:xfrm>
          <a:prstGeom prst="rect">
            <a:avLst/>
          </a:prstGeom>
          <a:solidFill>
            <a:srgbClr val="EBA139"/>
          </a:solidFill>
          <a:ln w="12700">
            <a:solidFill>
              <a:srgbClr val="EBA13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4087368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BE8F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Tam bir aday çözümden başlayıp ihlal edilen kısıtları azaltmak.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6080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8799A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ÜNİTE 06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0" y="608076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799A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74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6.4  •  CSP’LERDE YEREL ARAMA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Kısmi atama mı, tam atama mı?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67512" y="1463040"/>
            <a:ext cx="5285232" cy="468172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" y="1463040"/>
            <a:ext cx="5285232" cy="109728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719072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2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BACKTRACKING</a:t>
            </a:r>
            <a:endParaRPr lang="en-US" sz="1920" dirty="0"/>
          </a:p>
        </p:txBody>
      </p:sp>
      <p:sp>
        <p:nvSpPr>
          <p:cNvPr id="11" name="Shape 9"/>
          <p:cNvSpPr/>
          <p:nvPr/>
        </p:nvSpPr>
        <p:spPr>
          <a:xfrm>
            <a:off x="923544" y="2496312"/>
            <a:ext cx="100584" cy="100584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2350008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Başlangıç: çoğu değişken atanmamış.</a:t>
            </a:r>
            <a:endParaRPr lang="en-US" sz="1740" dirty="0"/>
          </a:p>
        </p:txBody>
      </p:sp>
      <p:sp>
        <p:nvSpPr>
          <p:cNvPr id="13" name="Shape 11"/>
          <p:cNvSpPr/>
          <p:nvPr/>
        </p:nvSpPr>
        <p:spPr>
          <a:xfrm>
            <a:off x="923544" y="3218688"/>
            <a:ext cx="100584" cy="100584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3072384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Yeni değişkenlere değer atar.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923544" y="3941064"/>
            <a:ext cx="100584" cy="100584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3794760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Hatalı dalları siler ve geri döner.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6236208" y="1463040"/>
            <a:ext cx="5285232" cy="468172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6208" y="1463040"/>
            <a:ext cx="5285232" cy="109728"/>
          </a:xfrm>
          <a:prstGeom prst="rect">
            <a:avLst/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55664" y="1719072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20" b="1" dirty="0">
                <a:solidFill>
                  <a:srgbClr val="3676C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SEARCH</a:t>
            </a:r>
            <a:endParaRPr lang="en-US" sz="1920" dirty="0"/>
          </a:p>
        </p:txBody>
      </p:sp>
      <p:sp>
        <p:nvSpPr>
          <p:cNvPr id="20" name="Shape 18"/>
          <p:cNvSpPr/>
          <p:nvPr/>
        </p:nvSpPr>
        <p:spPr>
          <a:xfrm>
            <a:off x="6492240" y="2496312"/>
            <a:ext cx="100584" cy="100584"/>
          </a:xfrm>
          <a:prstGeom prst="ellipse">
            <a:avLst/>
          </a:prstGeom>
          <a:solidFill>
            <a:srgbClr val="3676C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84264" y="2350008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Başlangıç: bütün değişkenler atanmış.</a:t>
            </a:r>
            <a:endParaRPr lang="en-US" sz="1740" dirty="0"/>
          </a:p>
        </p:txBody>
      </p:sp>
      <p:sp>
        <p:nvSpPr>
          <p:cNvPr id="22" name="Shape 20"/>
          <p:cNvSpPr/>
          <p:nvPr/>
        </p:nvSpPr>
        <p:spPr>
          <a:xfrm>
            <a:off x="6492240" y="3218688"/>
            <a:ext cx="100584" cy="100584"/>
          </a:xfrm>
          <a:prstGeom prst="ellipse">
            <a:avLst/>
          </a:prstGeom>
          <a:solidFill>
            <a:srgbClr val="3676C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84264" y="3072384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İlk tahmin yanlış olabilir.</a:t>
            </a:r>
            <a:endParaRPr lang="en-US" sz="1740" dirty="0"/>
          </a:p>
        </p:txBody>
      </p:sp>
      <p:sp>
        <p:nvSpPr>
          <p:cNvPr id="24" name="Shape 22"/>
          <p:cNvSpPr/>
          <p:nvPr/>
        </p:nvSpPr>
        <p:spPr>
          <a:xfrm>
            <a:off x="6492240" y="3941064"/>
            <a:ext cx="100584" cy="100584"/>
          </a:xfrm>
          <a:prstGeom prst="ellipse">
            <a:avLst/>
          </a:prstGeom>
          <a:solidFill>
            <a:srgbClr val="3676C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84264" y="3794760"/>
            <a:ext cx="4526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4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Her adımda bir değeri değiştirip çakışmayı azaltır.</a:t>
            </a:r>
            <a:endParaRPr lang="en-US" sz="174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6.4  •  CSP’LERDE YEREL ARAMA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Şekil 6.8 — MIN-CONFLICTS sözde kodu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1517904"/>
            <a:ext cx="10698480" cy="4471416"/>
          </a:xfrm>
          <a:prstGeom prst="roundRect">
            <a:avLst>
              <a:gd name="adj" fmla="val 3067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1737360"/>
            <a:ext cx="1010412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MIN-CONFLICTS(CSP, max_steps):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current ← başlangıçta TAM bir atama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for i = 1..max_steps: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if current tüm kısıtları sağlıyorsa: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return current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var ← çakışan değişkenlerden rastgele seç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value ← CONFLICTS(var, value) en az olan değer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current[var] ← value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return FAILURE</a:t>
            </a:r>
            <a:endParaRPr lang="en-US" sz="1620" dirty="0"/>
          </a:p>
          <a:p>
            <a:pPr indent="0" marL="0">
              <a:buNone/>
            </a:pP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Not: Adım sınırına ulaşıldı diye çözümsüzlük kanıtlanmaz.</a:t>
            </a:r>
            <a:endParaRPr lang="en-US" sz="162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6.4  •  CSP’LERDE YEREL ARAMA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Min-Conflicts’i üç değişkenle uygula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109910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Önce öğrencilerden çözmelerini isteyin; ardından birlikte kontrol edin.</a:t>
            </a:r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8" name="Text 6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77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1691640"/>
            <a:ext cx="10716768" cy="1527048"/>
          </a:xfrm>
          <a:prstGeom prst="roundRect">
            <a:avLst>
              <a:gd name="adj" fmla="val 10778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" y="19019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7EE0D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SORU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83664" y="1865376"/>
            <a:ext cx="9235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A=1, B=1, C=2 ve hepsi farklı olmalı. B’ye 1, 2 veya 3 verirsek kaç çakışma olur?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49808" y="3493008"/>
            <a:ext cx="10716768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369417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ADIM ADIM CEVAP</a:t>
            </a:r>
            <a:endParaRPr lang="en-US" sz="1640" dirty="0"/>
          </a:p>
        </p:txBody>
      </p:sp>
      <p:sp>
        <p:nvSpPr>
          <p:cNvPr id="14" name="Text 12"/>
          <p:cNvSpPr/>
          <p:nvPr/>
        </p:nvSpPr>
        <p:spPr>
          <a:xfrm>
            <a:off x="1042416" y="4160520"/>
            <a:ext cx="992124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B=1 → A ile 1 çakışma.</a:t>
            </a:r>
            <a:endParaRPr lang="en-US" sz="1810" dirty="0"/>
          </a:p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B=2 → C ile 1 çakışma.</a:t>
            </a:r>
            <a:endParaRPr lang="en-US" sz="1810" dirty="0"/>
          </a:p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B=3 → 0 çakışma; A=1, B=3, C=2 çözüm olur.</a:t>
            </a:r>
            <a:endParaRPr lang="en-US" sz="181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6.4  •  CSP’LERDE YEREL ARAMA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Şekil 6.9 — 8 vezirde iki hamlede çözüm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78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0664" y="1545336"/>
            <a:ext cx="7296912" cy="4059936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/mnt/data/sekil_6_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974390"/>
            <a:ext cx="6995160" cy="320182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47888" y="1554480"/>
            <a:ext cx="3163824" cy="4069080"/>
          </a:xfrm>
          <a:prstGeom prst="roundRect">
            <a:avLst>
              <a:gd name="adj" fmla="val 4335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76488" y="1764792"/>
            <a:ext cx="26791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7EE0D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ŞEKLİ OKUYALIM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485632" y="2414016"/>
            <a:ext cx="109728" cy="109728"/>
          </a:xfrm>
          <a:prstGeom prst="ellipse">
            <a:avLst/>
          </a:prstGeom>
          <a:solidFill>
            <a:srgbClr val="EBA1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95944" y="2258568"/>
            <a:ext cx="243230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Başlangıç dizilişinde bazı vezirler birbirine saldırıyor.</a:t>
            </a:r>
            <a:endParaRPr lang="en-US" sz="1570" dirty="0"/>
          </a:p>
        </p:txBody>
      </p:sp>
      <p:sp>
        <p:nvSpPr>
          <p:cNvPr id="14" name="Shape 11"/>
          <p:cNvSpPr/>
          <p:nvPr/>
        </p:nvSpPr>
        <p:spPr>
          <a:xfrm>
            <a:off x="8485632" y="3499104"/>
            <a:ext cx="109728" cy="109728"/>
          </a:xfrm>
          <a:prstGeom prst="ellipse">
            <a:avLst/>
          </a:prstGeom>
          <a:solidFill>
            <a:srgbClr val="EBA1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95944" y="3343656"/>
            <a:ext cx="243230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Algoritma, bir sütunda en az çatışmalı satırı seçiyor.</a:t>
            </a:r>
            <a:endParaRPr lang="en-US" sz="1570" dirty="0"/>
          </a:p>
        </p:txBody>
      </p:sp>
      <p:sp>
        <p:nvSpPr>
          <p:cNvPr id="16" name="Shape 13"/>
          <p:cNvSpPr/>
          <p:nvPr/>
        </p:nvSpPr>
        <p:spPr>
          <a:xfrm>
            <a:off x="8485632" y="4584192"/>
            <a:ext cx="109728" cy="109728"/>
          </a:xfrm>
          <a:prstGeom prst="ellipse">
            <a:avLst/>
          </a:prstGeom>
          <a:solidFill>
            <a:srgbClr val="EBA1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95944" y="4428744"/>
            <a:ext cx="243230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İki yeniden konumlandırma sonrası tüm çatışmalar sıfır.</a:t>
            </a:r>
            <a:endParaRPr lang="en-US" sz="1570" dirty="0"/>
          </a:p>
        </p:txBody>
      </p:sp>
      <p:sp>
        <p:nvSpPr>
          <p:cNvPr id="18" name="Shape 15"/>
          <p:cNvSpPr/>
          <p:nvPr/>
        </p:nvSpPr>
        <p:spPr>
          <a:xfrm>
            <a:off x="804672" y="5824728"/>
            <a:ext cx="10570464" cy="548640"/>
          </a:xfrm>
          <a:prstGeom prst="roundRect">
            <a:avLst>
              <a:gd name="adj" fmla="val 20000"/>
            </a:avLst>
          </a:prstGeom>
          <a:solidFill>
            <a:srgbClr val="DFF6F3"/>
          </a:solidFill>
          <a:ln w="12700">
            <a:solidFill>
              <a:srgbClr val="DFF6F3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78408" y="5888736"/>
            <a:ext cx="10222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Her sütunda bir vezir var; sayı, ilgili kareye taşınan vezire saldıracak vezirlerin sayısıdır.</a:t>
            </a:r>
            <a:endParaRPr lang="en-US" sz="138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6.4  •  CSP’LERDE YEREL ARAMA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n-vezirde çakışma hesaplama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79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" y="1636776"/>
            <a:ext cx="10698480" cy="1517904"/>
          </a:xfrm>
          <a:prstGeom prst="roundRect">
            <a:avLst>
              <a:gd name="adj" fmla="val 10843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947672"/>
            <a:ext cx="10158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aynı satır: rᵢ = rⱼ   |   çapraz: |rᵢ−rⱼ| = |cᵢ−cⱼ|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950976" y="3447288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7864" y="3784092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72184" y="3493008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Her sütunda bir vezir bulunduğu için aynı sütun çakışması zaten yoktur.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0976" y="4349496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7864" y="4686300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72184" y="4395216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Bir konumun conflict skoru, ona saldırabilecek diğer vezirleri sayar.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0976" y="5251704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7864" y="5588508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72184" y="5297424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Min-Conflicts düşük skorlu konumu seçer; eşitlikte rastgele seçim yapılabilir.</a:t>
            </a:r>
            <a:endParaRPr lang="en-US" sz="18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6.4  •  CSP’LERDE YEREL ARAMA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Min-Conflicts neden hızlı olabilir?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444752"/>
            <a:ext cx="708660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444752"/>
            <a:ext cx="73152" cy="82296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499616"/>
            <a:ext cx="6757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Kitabın n-vezir gözlemi</a:t>
            </a:r>
            <a:endParaRPr lang="en-US" sz="1780" dirty="0"/>
          </a:p>
        </p:txBody>
      </p:sp>
      <p:sp>
        <p:nvSpPr>
          <p:cNvPr id="11" name="Text 9"/>
          <p:cNvSpPr/>
          <p:nvPr/>
        </p:nvSpPr>
        <p:spPr>
          <a:xfrm>
            <a:off x="914400" y="178308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Başlangıç yerleştirmesi hariç, çok büyük n’de bile ortalama az sayıda düzeltme yeterli olabilir.</a:t>
            </a:r>
            <a:endParaRPr lang="en-US" sz="1540" dirty="0"/>
          </a:p>
        </p:txBody>
      </p:sp>
      <p:sp>
        <p:nvSpPr>
          <p:cNvPr id="12" name="Shape 10"/>
          <p:cNvSpPr/>
          <p:nvPr/>
        </p:nvSpPr>
        <p:spPr>
          <a:xfrm>
            <a:off x="658368" y="2404872"/>
            <a:ext cx="708660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2404872"/>
            <a:ext cx="73152" cy="82296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459736"/>
            <a:ext cx="6757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Hubble çizelgelemesi</a:t>
            </a:r>
            <a:endParaRPr lang="en-US" sz="1780" dirty="0"/>
          </a:p>
        </p:txBody>
      </p:sp>
      <p:sp>
        <p:nvSpPr>
          <p:cNvPr id="15" name="Text 13"/>
          <p:cNvSpPr/>
          <p:nvPr/>
        </p:nvSpPr>
        <p:spPr>
          <a:xfrm>
            <a:off x="914400" y="274320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Gözlem planlama süresinde dramatik kazançlar elde edilmiş bir uygulama örneği verilir.</a:t>
            </a:r>
            <a:endParaRPr lang="en-US" sz="1540" dirty="0"/>
          </a:p>
        </p:txBody>
      </p:sp>
      <p:sp>
        <p:nvSpPr>
          <p:cNvPr id="16" name="Shape 14"/>
          <p:cNvSpPr/>
          <p:nvPr/>
        </p:nvSpPr>
        <p:spPr>
          <a:xfrm>
            <a:off x="658368" y="3364992"/>
            <a:ext cx="708660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364992"/>
            <a:ext cx="73152" cy="82296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419856"/>
            <a:ext cx="6757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Sınırlama</a:t>
            </a:r>
            <a:endParaRPr lang="en-US" sz="1780" dirty="0"/>
          </a:p>
        </p:txBody>
      </p:sp>
      <p:sp>
        <p:nvSpPr>
          <p:cNvPr id="19" name="Text 17"/>
          <p:cNvSpPr/>
          <p:nvPr/>
        </p:nvSpPr>
        <p:spPr>
          <a:xfrm>
            <a:off x="914400" y="370332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Min-Conflicts her problemde çözüm garantisi vermez; yerel minimum veya plato oluşabilir.</a:t>
            </a:r>
            <a:endParaRPr lang="en-US" sz="1540" dirty="0"/>
          </a:p>
        </p:txBody>
      </p:sp>
      <p:sp>
        <p:nvSpPr>
          <p:cNvPr id="20" name="Shape 18"/>
          <p:cNvSpPr/>
          <p:nvPr/>
        </p:nvSpPr>
        <p:spPr>
          <a:xfrm>
            <a:off x="8028432" y="1444752"/>
            <a:ext cx="3474720" cy="4443984"/>
          </a:xfrm>
          <a:prstGeom prst="roundRect">
            <a:avLst>
              <a:gd name="adj" fmla="val 4737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1719072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7FE0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ÖNEMLİ</a:t>
            </a:r>
            <a:endParaRPr lang="en-US" sz="1530" dirty="0"/>
          </a:p>
        </p:txBody>
      </p:sp>
      <p:sp>
        <p:nvSpPr>
          <p:cNvPr id="22" name="Text 20"/>
          <p:cNvSpPr/>
          <p:nvPr/>
        </p:nvSpPr>
        <p:spPr>
          <a:xfrm>
            <a:off x="8229600" y="2157984"/>
            <a:ext cx="3017520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3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Başlangıç yerleşiminin maliyeti ile düzeltme adımlarının sayısı aynı şey değildir.</a:t>
            </a:r>
            <a:endParaRPr lang="en-US" sz="1830" dirty="0"/>
          </a:p>
          <a:p>
            <a:pPr indent="0" marL="0">
              <a:buNone/>
            </a:pPr>
            <a:endParaRPr lang="en-US" sz="1830" dirty="0"/>
          </a:p>
          <a:p>
            <a:pPr indent="0" marL="0">
              <a:buNone/>
            </a:pPr>
            <a:r>
              <a:rPr lang="en-US" sz="183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“50 adım” evrensel bir garanti değildir.</a:t>
            </a:r>
            <a:endParaRPr lang="en-US" sz="183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6.4  •  CSP’LERDE YEREL ARAMA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Plato (plateau): maliyet eşit kalabilir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109910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Yalnızca sıkı iyileşmeye izin veren arama, aynı maliyetli ara durumlardan geçemeyebilir.</a:t>
            </a:r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8" name="Text 6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58952" y="1563624"/>
            <a:ext cx="10661904" cy="4489704"/>
          </a:xfrm>
          <a:prstGeom prst="roundRect">
            <a:avLst>
              <a:gd name="adj" fmla="val 366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892808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9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S₁</a:t>
            </a:r>
            <a:endParaRPr lang="en-US" sz="1690" dirty="0"/>
          </a:p>
        </p:txBody>
      </p:sp>
      <p:sp>
        <p:nvSpPr>
          <p:cNvPr id="11" name="Shape 9"/>
          <p:cNvSpPr/>
          <p:nvPr/>
        </p:nvSpPr>
        <p:spPr>
          <a:xfrm>
            <a:off x="2788920" y="1911096"/>
            <a:ext cx="7735824" cy="411480"/>
          </a:xfrm>
          <a:prstGeom prst="roundRect">
            <a:avLst>
              <a:gd name="adj" fmla="val 22222"/>
            </a:avLst>
          </a:prstGeom>
          <a:solidFill>
            <a:srgbClr val="EAF0F7"/>
          </a:solidFill>
          <a:ln w="12700">
            <a:solidFill>
              <a:srgbClr val="EAF0F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88920" y="1911096"/>
            <a:ext cx="7735824" cy="411480"/>
          </a:xfrm>
          <a:prstGeom prst="roundRect">
            <a:avLst>
              <a:gd name="adj" fmla="val 2222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43616" y="1929384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42416" y="2962656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9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S₂</a:t>
            </a:r>
            <a:endParaRPr lang="en-US" sz="1690" dirty="0"/>
          </a:p>
        </p:txBody>
      </p:sp>
      <p:sp>
        <p:nvSpPr>
          <p:cNvPr id="15" name="Shape 13"/>
          <p:cNvSpPr/>
          <p:nvPr/>
        </p:nvSpPr>
        <p:spPr>
          <a:xfrm>
            <a:off x="2788920" y="2980944"/>
            <a:ext cx="7735824" cy="411480"/>
          </a:xfrm>
          <a:prstGeom prst="roundRect">
            <a:avLst>
              <a:gd name="adj" fmla="val 22222"/>
            </a:avLst>
          </a:prstGeom>
          <a:solidFill>
            <a:srgbClr val="EAF0F7"/>
          </a:solidFill>
          <a:ln w="12700">
            <a:solidFill>
              <a:srgbClr val="EAF0F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88920" y="2980944"/>
            <a:ext cx="5157216" cy="411480"/>
          </a:xfrm>
          <a:prstGeom prst="roundRect">
            <a:avLst>
              <a:gd name="adj" fmla="val 2222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65008" y="299923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42416" y="4032504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9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S₃</a:t>
            </a:r>
            <a:endParaRPr lang="en-US" sz="1690" dirty="0"/>
          </a:p>
        </p:txBody>
      </p:sp>
      <p:sp>
        <p:nvSpPr>
          <p:cNvPr id="19" name="Shape 17"/>
          <p:cNvSpPr/>
          <p:nvPr/>
        </p:nvSpPr>
        <p:spPr>
          <a:xfrm>
            <a:off x="2788920" y="4050792"/>
            <a:ext cx="7735824" cy="411480"/>
          </a:xfrm>
          <a:prstGeom prst="roundRect">
            <a:avLst>
              <a:gd name="adj" fmla="val 22222"/>
            </a:avLst>
          </a:prstGeom>
          <a:solidFill>
            <a:srgbClr val="EAF0F7"/>
          </a:solidFill>
          <a:ln w="12700">
            <a:solidFill>
              <a:srgbClr val="EAF0F7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88920" y="4050792"/>
            <a:ext cx="5157216" cy="411480"/>
          </a:xfrm>
          <a:prstGeom prst="roundRect">
            <a:avLst>
              <a:gd name="adj" fmla="val 2222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65008" y="406908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42416" y="5102352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9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S₄</a:t>
            </a:r>
            <a:endParaRPr lang="en-US" sz="1690" dirty="0"/>
          </a:p>
        </p:txBody>
      </p:sp>
      <p:sp>
        <p:nvSpPr>
          <p:cNvPr id="23" name="Shape 21"/>
          <p:cNvSpPr/>
          <p:nvPr/>
        </p:nvSpPr>
        <p:spPr>
          <a:xfrm>
            <a:off x="2788920" y="5120640"/>
            <a:ext cx="7735824" cy="411480"/>
          </a:xfrm>
          <a:prstGeom prst="roundRect">
            <a:avLst>
              <a:gd name="adj" fmla="val 22222"/>
            </a:avLst>
          </a:prstGeom>
          <a:solidFill>
            <a:srgbClr val="EAF0F7"/>
          </a:solidFill>
          <a:ln w="12700">
            <a:solidFill>
              <a:srgbClr val="EAF0F7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88920" y="5120640"/>
            <a:ext cx="5157216" cy="411480"/>
          </a:xfrm>
          <a:prstGeom prst="roundRect">
            <a:avLst>
              <a:gd name="adj" fmla="val 2222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65008" y="513892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42416" y="6172200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9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Çözüm</a:t>
            </a:r>
            <a:endParaRPr lang="en-US" sz="1690" dirty="0"/>
          </a:p>
        </p:txBody>
      </p:sp>
      <p:sp>
        <p:nvSpPr>
          <p:cNvPr id="27" name="Shape 25"/>
          <p:cNvSpPr/>
          <p:nvPr/>
        </p:nvSpPr>
        <p:spPr>
          <a:xfrm>
            <a:off x="2788920" y="6190488"/>
            <a:ext cx="7735824" cy="411480"/>
          </a:xfrm>
          <a:prstGeom prst="roundRect">
            <a:avLst>
              <a:gd name="adj" fmla="val 22222"/>
            </a:avLst>
          </a:prstGeom>
          <a:solidFill>
            <a:srgbClr val="EAF0F7"/>
          </a:solidFill>
          <a:ln w="12700">
            <a:solidFill>
              <a:srgbClr val="EAF0F7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88920" y="6190488"/>
            <a:ext cx="9144" cy="411480"/>
          </a:xfrm>
          <a:prstGeom prst="roundRect">
            <a:avLst>
              <a:gd name="adj" fmla="val 1000000"/>
            </a:avLst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16936" y="620877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</a:t>
            </a:r>
            <a:endParaRPr lang="en-US" sz="16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6.4  •  CSP’LERDE YEREL ARAMA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Plato ve yerel sıkışmadan çıkış yolları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04088" y="1618488"/>
            <a:ext cx="3630168" cy="4215384"/>
          </a:xfrm>
          <a:prstGeom prst="roundRect">
            <a:avLst>
              <a:gd name="adj" fmla="val 403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" y="1618488"/>
            <a:ext cx="3630168" cy="109728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1832" y="2020824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093976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0976" y="2734056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Sideways Move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50976" y="3593592"/>
            <a:ext cx="3081528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Aynı maliyetli yeni duruma geçmeye izin verir.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S₂ → S₃ gibi.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4535424" y="1618488"/>
            <a:ext cx="3630168" cy="4215384"/>
          </a:xfrm>
          <a:prstGeom prst="roundRect">
            <a:avLst>
              <a:gd name="adj" fmla="val 403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35424" y="1618488"/>
            <a:ext cx="3630168" cy="109728"/>
          </a:xfrm>
          <a:prstGeom prst="rect">
            <a:avLst/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73168" y="2020824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28616" y="2093976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82312" y="2734056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Tabu Search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782312" y="3593592"/>
            <a:ext cx="3081528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Yakın geçmişte ziyaret edilen durumlara dönmeyi geçici yasaklar.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366760" y="1618488"/>
            <a:ext cx="3630168" cy="4215384"/>
          </a:xfrm>
          <a:prstGeom prst="roundRect">
            <a:avLst>
              <a:gd name="adj" fmla="val 403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66760" y="1618488"/>
            <a:ext cx="3630168" cy="109728"/>
          </a:xfrm>
          <a:prstGeom prst="rect">
            <a:avLst/>
          </a:prstGeom>
          <a:solidFill>
            <a:srgbClr val="EBA139"/>
          </a:solidFill>
          <a:ln w="12700">
            <a:solidFill>
              <a:srgbClr val="EBA139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04504" y="2020824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BA139"/>
          </a:solidFill>
          <a:ln w="12700">
            <a:solidFill>
              <a:srgbClr val="EBA13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59952" y="2093976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613648" y="2734056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Simulated Annealing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8613648" y="3593592"/>
            <a:ext cx="3081528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Bazen daha kötü hamlelere kontrollü olasılıkla izin verir.</a:t>
            </a:r>
            <a:endParaRPr lang="en-US" sz="17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6.4  •  CSP’LERDE YEREL ARAMA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Constraint Weighting — ağırlıklı ihlal maliyeti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83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" y="1636776"/>
            <a:ext cx="10698480" cy="1517904"/>
          </a:xfrm>
          <a:prstGeom prst="roundRect">
            <a:avLst>
              <a:gd name="adj" fmla="val 10843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947672"/>
            <a:ext cx="10158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Cost = Σ wᵢ · Iᵢ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950976" y="3447288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7864" y="3784092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72184" y="3493008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Iᵢ=1: kısıt ihlal edildi; Iᵢ=0: sağlandı.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950976" y="4349496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7864" y="4686300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72184" y="4395216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Başlangıçta wᵢ=1; sürekli ihlal edilen kısıtların ağırlığı artırılır.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950976" y="5251704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7864" y="5588508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72184" y="5297424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Algoritma yalnızca kaç ihlal olduğuna değil, hangilerinin zor olduğuna da bakar.</a:t>
            </a:r>
            <a:endParaRPr lang="en-US" sz="18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6.4  •  CSP’LERDE YEREL ARAMA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Dinamik uçuş programını nasıl düzeltelim?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109910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Önce öğrencilerden çözmelerini isteyin; ardından birlikte kontrol edin.</a:t>
            </a:r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8" name="Text 6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1691640"/>
            <a:ext cx="10716768" cy="1527048"/>
          </a:xfrm>
          <a:prstGeom prst="roundRect">
            <a:avLst>
              <a:gd name="adj" fmla="val 10778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" y="19019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7EE0D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SORU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83664" y="1865376"/>
            <a:ext cx="9235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Uçuşlar 09:00, 10:00, 11:00. 10:00 uçuşu hava nedeniyle iptal/ertelendi. Tüm programı baştan kurmak şart mı?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49808" y="3493008"/>
            <a:ext cx="10716768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369417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ADIM ADIM CEVAP</a:t>
            </a:r>
            <a:endParaRPr lang="en-US" sz="1640" dirty="0"/>
          </a:p>
        </p:txBody>
      </p:sp>
      <p:sp>
        <p:nvSpPr>
          <p:cNvPr id="14" name="Text 12"/>
          <p:cNvSpPr/>
          <p:nvPr/>
        </p:nvSpPr>
        <p:spPr>
          <a:xfrm>
            <a:off x="1042416" y="4160520"/>
            <a:ext cx="992124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Yerel arama mevcut programı başlangıç durumu olarak alabilir.</a:t>
            </a:r>
            <a:endParaRPr lang="en-US" sz="1810" dirty="0"/>
          </a:p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Kapasite, uçak ve personel kısıtlarını koruyarak küçük değişiklikler aranır.</a:t>
            </a:r>
            <a:endParaRPr lang="en-US" sz="1810" dirty="0"/>
          </a:p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Amaç: mümkün olan en az düzenlemeyle tekrar geçerli çizelge elde etmek.</a:t>
            </a:r>
            <a:endParaRPr lang="en-US" sz="181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01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2376" y="731520"/>
            <a:ext cx="8595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0" b="1" dirty="0">
                <a:solidFill>
                  <a:srgbClr val="54D5C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6.5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758952" y="2075688"/>
            <a:ext cx="106070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Problemlerin Yapısı</a:t>
            </a:r>
            <a:endParaRPr lang="en-US" sz="4100" dirty="0"/>
          </a:p>
        </p:txBody>
      </p:sp>
      <p:sp>
        <p:nvSpPr>
          <p:cNvPr id="5" name="Shape 3"/>
          <p:cNvSpPr/>
          <p:nvPr/>
        </p:nvSpPr>
        <p:spPr>
          <a:xfrm>
            <a:off x="777240" y="3730752"/>
            <a:ext cx="2286000" cy="64008"/>
          </a:xfrm>
          <a:prstGeom prst="rect">
            <a:avLst/>
          </a:prstGeom>
          <a:solidFill>
            <a:srgbClr val="EBA139"/>
          </a:solidFill>
          <a:ln w="12700">
            <a:solidFill>
              <a:srgbClr val="EBA13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4087368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BE8F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Kısıt grafiğinin yapısını kullanarak üstel aramayı küçültmek.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6080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8799A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ÜNİTE 06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0" y="608076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799A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85</a:t>
            </a:r>
            <a:endParaRPr lang="en-US" sz="12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6.5  •  PROBLEMLERİN YAPISI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Yapı neden önemlidir?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444752"/>
            <a:ext cx="708660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444752"/>
            <a:ext cx="73152" cy="82296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499616"/>
            <a:ext cx="6757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Bağımsız bağlı bileşenler</a:t>
            </a:r>
            <a:endParaRPr lang="en-US" sz="1780" dirty="0"/>
          </a:p>
        </p:txBody>
      </p:sp>
      <p:sp>
        <p:nvSpPr>
          <p:cNvPr id="11" name="Text 9"/>
          <p:cNvSpPr/>
          <p:nvPr/>
        </p:nvSpPr>
        <p:spPr>
          <a:xfrm>
            <a:off x="914400" y="178308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Aralarında kısıt yoksa ayrı ayrı çöz, sonuçları birleştir.</a:t>
            </a:r>
            <a:endParaRPr lang="en-US" sz="1540" dirty="0"/>
          </a:p>
        </p:txBody>
      </p:sp>
      <p:sp>
        <p:nvSpPr>
          <p:cNvPr id="12" name="Shape 10"/>
          <p:cNvSpPr/>
          <p:nvPr/>
        </p:nvSpPr>
        <p:spPr>
          <a:xfrm>
            <a:off x="658368" y="2404872"/>
            <a:ext cx="708660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2404872"/>
            <a:ext cx="73152" cy="82296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459736"/>
            <a:ext cx="6757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Ağaç yapılı kısıt grafikleri</a:t>
            </a:r>
            <a:endParaRPr lang="en-US" sz="1780" dirty="0"/>
          </a:p>
        </p:txBody>
      </p:sp>
      <p:sp>
        <p:nvSpPr>
          <p:cNvPr id="15" name="Text 13"/>
          <p:cNvSpPr/>
          <p:nvPr/>
        </p:nvSpPr>
        <p:spPr>
          <a:xfrm>
            <a:off x="914400" y="274320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Döngü yoksa özel algoritmayla geri izlemesiz çözüm oluştur.</a:t>
            </a:r>
            <a:endParaRPr lang="en-US" sz="1540" dirty="0"/>
          </a:p>
        </p:txBody>
      </p:sp>
      <p:sp>
        <p:nvSpPr>
          <p:cNvPr id="16" name="Shape 14"/>
          <p:cNvSpPr/>
          <p:nvPr/>
        </p:nvSpPr>
        <p:spPr>
          <a:xfrm>
            <a:off x="658368" y="3364992"/>
            <a:ext cx="708660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364992"/>
            <a:ext cx="73152" cy="82296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419856"/>
            <a:ext cx="6757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Neredeyse ağaç olan grafikler</a:t>
            </a:r>
            <a:endParaRPr lang="en-US" sz="1780" dirty="0"/>
          </a:p>
        </p:txBody>
      </p:sp>
      <p:sp>
        <p:nvSpPr>
          <p:cNvPr id="19" name="Text 17"/>
          <p:cNvSpPr/>
          <p:nvPr/>
        </p:nvSpPr>
        <p:spPr>
          <a:xfrm>
            <a:off x="914400" y="370332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Cycle cutset veya tree decomposition ile küçük bağlı alt problemler elde et.</a:t>
            </a:r>
            <a:endParaRPr lang="en-US" sz="1540" dirty="0"/>
          </a:p>
        </p:txBody>
      </p:sp>
      <p:sp>
        <p:nvSpPr>
          <p:cNvPr id="20" name="Shape 18"/>
          <p:cNvSpPr/>
          <p:nvPr/>
        </p:nvSpPr>
        <p:spPr>
          <a:xfrm>
            <a:off x="8028432" y="1444752"/>
            <a:ext cx="3474720" cy="4443984"/>
          </a:xfrm>
          <a:prstGeom prst="roundRect">
            <a:avLst>
              <a:gd name="adj" fmla="val 4737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1719072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7FE0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ÖNEMLİ</a:t>
            </a:r>
            <a:endParaRPr lang="en-US" sz="1530" dirty="0"/>
          </a:p>
        </p:txBody>
      </p:sp>
      <p:sp>
        <p:nvSpPr>
          <p:cNvPr id="22" name="Text 20"/>
          <p:cNvSpPr/>
          <p:nvPr/>
        </p:nvSpPr>
        <p:spPr>
          <a:xfrm>
            <a:off x="8229600" y="2157984"/>
            <a:ext cx="3017520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Büyük problem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 ↓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Küçük alt problemler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 ↓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Daha az birleşim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 ↓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Daha hızlı çözüm</a:t>
            </a:r>
            <a:endParaRPr lang="en-US" sz="21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6.5  •  PROBLEMLERİN YAPISI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Şekil 6.12 — Avustralya’nın problem yapısı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87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0664" y="1545336"/>
            <a:ext cx="7296912" cy="4059936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/mnt/data/sekil_6_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014" y="1682496"/>
            <a:ext cx="6804212" cy="378561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47888" y="1554480"/>
            <a:ext cx="3163824" cy="4069080"/>
          </a:xfrm>
          <a:prstGeom prst="roundRect">
            <a:avLst>
              <a:gd name="adj" fmla="val 4335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76488" y="1764792"/>
            <a:ext cx="26791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7EE0D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ŞEKLİ OKUYALIM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485632" y="2414016"/>
            <a:ext cx="109728" cy="109728"/>
          </a:xfrm>
          <a:prstGeom prst="ellipse">
            <a:avLst/>
          </a:prstGeom>
          <a:solidFill>
            <a:srgbClr val="EBA1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95944" y="2258568"/>
            <a:ext cx="243230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Tazmanya zaten bağımsız alt problemdir.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8485632" y="3499104"/>
            <a:ext cx="109728" cy="109728"/>
          </a:xfrm>
          <a:prstGeom prst="ellipse">
            <a:avLst/>
          </a:prstGeom>
          <a:solidFill>
            <a:srgbClr val="EBA1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95944" y="3343656"/>
            <a:ext cx="243230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 çok sayıda döngüde bulunur.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8485632" y="4584192"/>
            <a:ext cx="109728" cy="109728"/>
          </a:xfrm>
          <a:prstGeom prst="ellipse">
            <a:avLst/>
          </a:prstGeom>
          <a:solidFill>
            <a:srgbClr val="EBA1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95944" y="4428744"/>
            <a:ext cx="243230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 çıkarılınca kalan parçalar ağaç/orman olur.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804672" y="5824728"/>
            <a:ext cx="10570464" cy="548640"/>
          </a:xfrm>
          <a:prstGeom prst="roundRect">
            <a:avLst>
              <a:gd name="adj" fmla="val 20000"/>
            </a:avLst>
          </a:prstGeom>
          <a:solidFill>
            <a:srgbClr val="DFF6F3"/>
          </a:solidFill>
          <a:ln w="12700">
            <a:solidFill>
              <a:srgbClr val="DFF6F3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78408" y="5888736"/>
            <a:ext cx="10222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(a) Orijinal kısıt grafiği   (b) SA çıkarıldığında döngüsüz yapı: WA–NT–Q–NSW–V ve izole T.</a:t>
            </a:r>
            <a:endParaRPr lang="en-US" sz="138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6.5  •  PROBLEMLERİN YAPISI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Bağımsız bileşenlerin karmaşıklık kazancı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88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" y="1636776"/>
            <a:ext cx="10698480" cy="1517904"/>
          </a:xfrm>
          <a:prstGeom prst="roundRect">
            <a:avLst>
              <a:gd name="adj" fmla="val 10843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947672"/>
            <a:ext cx="10158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O(dⁿ)   →   O((n/c) · dᶜ)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950976" y="3447288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7864" y="3784092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72184" y="3493008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 değişken, her bağımsız alt problemde c değişken ve en fazla d seçenek varsayalım.</a:t>
            </a:r>
            <a:endParaRPr lang="en-US" sz="1810" dirty="0"/>
          </a:p>
        </p:txBody>
      </p:sp>
      <p:sp>
        <p:nvSpPr>
          <p:cNvPr id="13" name="Shape 11"/>
          <p:cNvSpPr/>
          <p:nvPr/>
        </p:nvSpPr>
        <p:spPr>
          <a:xfrm>
            <a:off x="950976" y="4349496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7864" y="4686300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72184" y="4395216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Bir alt problem dᶜ kadar kombinasyon gerektirebilir.</a:t>
            </a:r>
            <a:endParaRPr lang="en-US" sz="1810" dirty="0"/>
          </a:p>
        </p:txBody>
      </p:sp>
      <p:sp>
        <p:nvSpPr>
          <p:cNvPr id="16" name="Shape 14"/>
          <p:cNvSpPr/>
          <p:nvPr/>
        </p:nvSpPr>
        <p:spPr>
          <a:xfrm>
            <a:off x="950976" y="5251704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7864" y="5588508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72184" y="5297424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n/c alt problemi ayrı ayrı çözmek, c sabitse n’ye göre doğrusal büyür.</a:t>
            </a:r>
            <a:endParaRPr lang="en-US" sz="181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6.5  •  PROBLEMLERİN YAPISI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80 Boolean değişken — kaba kombinasyon sayısı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109910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İlk sayı 2⁸⁰, ikincisi 4×2²⁰. Ölçek farkı astronomiktir.</a:t>
            </a:r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8" name="Text 6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89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58952" y="1563624"/>
            <a:ext cx="10661904" cy="4489704"/>
          </a:xfrm>
          <a:prstGeom prst="roundRect">
            <a:avLst>
              <a:gd name="adj" fmla="val 366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892808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9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Tek 80’lik problem</a:t>
            </a:r>
            <a:endParaRPr lang="en-US" sz="1690" dirty="0"/>
          </a:p>
        </p:txBody>
      </p:sp>
      <p:sp>
        <p:nvSpPr>
          <p:cNvPr id="11" name="Shape 9"/>
          <p:cNvSpPr/>
          <p:nvPr/>
        </p:nvSpPr>
        <p:spPr>
          <a:xfrm>
            <a:off x="2788920" y="1911096"/>
            <a:ext cx="7735824" cy="411480"/>
          </a:xfrm>
          <a:prstGeom prst="roundRect">
            <a:avLst>
              <a:gd name="adj" fmla="val 22222"/>
            </a:avLst>
          </a:prstGeom>
          <a:solidFill>
            <a:srgbClr val="EAF0F7"/>
          </a:solidFill>
          <a:ln w="12700">
            <a:solidFill>
              <a:srgbClr val="EAF0F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88920" y="1911096"/>
            <a:ext cx="7735824" cy="411480"/>
          </a:xfrm>
          <a:prstGeom prst="roundRect">
            <a:avLst>
              <a:gd name="adj" fmla="val 2222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43616" y="1929384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1.2089258196146292e+24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42416" y="2962656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9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 bağımsız 20’lik alt problem</a:t>
            </a:r>
            <a:endParaRPr lang="en-US" sz="1690" dirty="0"/>
          </a:p>
        </p:txBody>
      </p:sp>
      <p:sp>
        <p:nvSpPr>
          <p:cNvPr id="15" name="Shape 13"/>
          <p:cNvSpPr/>
          <p:nvPr/>
        </p:nvSpPr>
        <p:spPr>
          <a:xfrm>
            <a:off x="2788920" y="2980944"/>
            <a:ext cx="7735824" cy="411480"/>
          </a:xfrm>
          <a:prstGeom prst="roundRect">
            <a:avLst>
              <a:gd name="adj" fmla="val 22222"/>
            </a:avLst>
          </a:prstGeom>
          <a:solidFill>
            <a:srgbClr val="EAF0F7"/>
          </a:solidFill>
          <a:ln w="12700">
            <a:solidFill>
              <a:srgbClr val="EAF0F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88920" y="2980944"/>
            <a:ext cx="9144" cy="411480"/>
          </a:xfrm>
          <a:prstGeom prst="roundRect">
            <a:avLst>
              <a:gd name="adj" fmla="val 1000000"/>
            </a:avLst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16936" y="299923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4194304</a:t>
            </a:r>
            <a:endParaRPr lang="en-US" sz="16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6.5  •  PROBLEMLERİN YAPISI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Şekil 6.10 — Ağaç CSP ve topolojik sıralama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0664" y="1545336"/>
            <a:ext cx="7296912" cy="4059936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/mnt/data/sekil_6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330294"/>
            <a:ext cx="6995160" cy="24900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47888" y="1554480"/>
            <a:ext cx="3163824" cy="4069080"/>
          </a:xfrm>
          <a:prstGeom prst="roundRect">
            <a:avLst>
              <a:gd name="adj" fmla="val 4335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76488" y="1764792"/>
            <a:ext cx="26791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7EE0D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ŞEKLİ OKUYALIM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485632" y="2414016"/>
            <a:ext cx="109728" cy="109728"/>
          </a:xfrm>
          <a:prstGeom prst="ellipse">
            <a:avLst/>
          </a:prstGeom>
          <a:solidFill>
            <a:srgbClr val="EBA1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95944" y="2258568"/>
            <a:ext cx="243230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Ağaçta iki düğüm arasında tek basit yol vardır.</a:t>
            </a:r>
            <a:endParaRPr lang="en-US" sz="1520" dirty="0"/>
          </a:p>
        </p:txBody>
      </p:sp>
      <p:sp>
        <p:nvSpPr>
          <p:cNvPr id="14" name="Shape 11"/>
          <p:cNvSpPr/>
          <p:nvPr/>
        </p:nvSpPr>
        <p:spPr>
          <a:xfrm>
            <a:off x="8485632" y="3499104"/>
            <a:ext cx="109728" cy="109728"/>
          </a:xfrm>
          <a:prstGeom prst="ellipse">
            <a:avLst/>
          </a:prstGeom>
          <a:solidFill>
            <a:srgbClr val="EBA1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95944" y="3343656"/>
            <a:ext cx="243230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Topolojik sırada her ebeveyn çocuklarından önce gelir.</a:t>
            </a:r>
            <a:endParaRPr lang="en-US" sz="1520" dirty="0"/>
          </a:p>
        </p:txBody>
      </p:sp>
      <p:sp>
        <p:nvSpPr>
          <p:cNvPr id="16" name="Shape 13"/>
          <p:cNvSpPr/>
          <p:nvPr/>
        </p:nvSpPr>
        <p:spPr>
          <a:xfrm>
            <a:off x="8485632" y="4584192"/>
            <a:ext cx="109728" cy="109728"/>
          </a:xfrm>
          <a:prstGeom prst="ellipse">
            <a:avLst/>
          </a:prstGeom>
          <a:solidFill>
            <a:srgbClr val="EBA1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95944" y="4428744"/>
            <a:ext cx="243230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 düğümlü ağaçta n−1 kenar bulunur.</a:t>
            </a:r>
            <a:endParaRPr lang="en-US" sz="1520" dirty="0"/>
          </a:p>
        </p:txBody>
      </p:sp>
      <p:sp>
        <p:nvSpPr>
          <p:cNvPr id="18" name="Shape 15"/>
          <p:cNvSpPr/>
          <p:nvPr/>
        </p:nvSpPr>
        <p:spPr>
          <a:xfrm>
            <a:off x="804672" y="5824728"/>
            <a:ext cx="10570464" cy="548640"/>
          </a:xfrm>
          <a:prstGeom prst="roundRect">
            <a:avLst>
              <a:gd name="adj" fmla="val 20000"/>
            </a:avLst>
          </a:prstGeom>
          <a:solidFill>
            <a:srgbClr val="DFF6F3"/>
          </a:solidFill>
          <a:ln w="12700">
            <a:solidFill>
              <a:srgbClr val="DFF6F3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78408" y="5888736"/>
            <a:ext cx="10222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(a) Tek yollu bağlı ağaç   (b) A kök iken A–B–C–D–E–F uygun bir topolojik sıradır.</a:t>
            </a:r>
            <a:endParaRPr lang="en-US" sz="138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6.5  •  PROBLEMLERİN YAPISI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Directed Arc Consistency (DAC)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" y="1636776"/>
            <a:ext cx="10698480" cy="1517904"/>
          </a:xfrm>
          <a:prstGeom prst="roundRect">
            <a:avLst>
              <a:gd name="adj" fmla="val 10843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947672"/>
            <a:ext cx="10158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X₁, X₂, …, Xₙ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950976" y="3447288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7864" y="3784092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72184" y="3493008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Her değişken sonraki ilgili değişkenlere göre yay-tutarlı olmalı.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950976" y="4349496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7864" y="4686300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72184" y="4395216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Ağaç algoritması önce yapraklardan köke yay tutarlılığı sağlar.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950976" y="5251704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7864" y="5588508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72184" y="5297424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Ardından kökten yapraklara değer atar; geri izleme gerekmez.</a:t>
            </a:r>
            <a:endParaRPr lang="en-US" sz="185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6.5  •  PROBLEMLERİN YAPISI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Şekil 6.11 — TREE-CSP-SOLVER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1517904"/>
            <a:ext cx="10698480" cy="4471416"/>
          </a:xfrm>
          <a:prstGeom prst="roundRect">
            <a:avLst>
              <a:gd name="adj" fmla="val 3067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1737360"/>
            <a:ext cx="10104120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TREE-CSP-SOLVER(CSP):</a:t>
            </a:r>
            <a:endParaRPr lang="en-US" sz="1570" dirty="0"/>
          </a:p>
          <a:p>
            <a:pPr indent="0" marL="0">
              <a:buNone/>
            </a:pPr>
            <a:r>
              <a:rPr lang="en-US" sz="157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root ← herhangi bir değişken</a:t>
            </a:r>
            <a:endParaRPr lang="en-US" sz="1570" dirty="0"/>
          </a:p>
          <a:p>
            <a:pPr indent="0" marL="0">
              <a:buNone/>
            </a:pPr>
            <a:r>
              <a:rPr lang="en-US" sz="157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X ← TOPOLOGICAL-SORT(X, root)</a:t>
            </a:r>
            <a:endParaRPr lang="en-US" sz="1570" dirty="0"/>
          </a:p>
          <a:p>
            <a:pPr indent="0" marL="0">
              <a:buNone/>
            </a:pPr>
            <a:r>
              <a:rPr lang="en-US" sz="157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for j = n down to 2:</a:t>
            </a:r>
            <a:endParaRPr lang="en-US" sz="1570" dirty="0"/>
          </a:p>
          <a:p>
            <a:pPr indent="0" marL="0">
              <a:buNone/>
            </a:pPr>
            <a:r>
              <a:rPr lang="en-US" sz="157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MAKE-ARC-CONSISTENT(PARENT(Xj), Xj)</a:t>
            </a:r>
            <a:endParaRPr lang="en-US" sz="1570" dirty="0"/>
          </a:p>
          <a:p>
            <a:pPr indent="0" marL="0">
              <a:buNone/>
            </a:pPr>
            <a:r>
              <a:rPr lang="en-US" sz="157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if mümkün değilse: return FAILURE</a:t>
            </a:r>
            <a:endParaRPr lang="en-US" sz="1570" dirty="0"/>
          </a:p>
          <a:p>
            <a:pPr indent="0" marL="0">
              <a:buNone/>
            </a:pPr>
            <a:r>
              <a:rPr lang="en-US" sz="157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for i = 1..n:</a:t>
            </a:r>
            <a:endParaRPr lang="en-US" sz="1570" dirty="0"/>
          </a:p>
          <a:p>
            <a:pPr indent="0" marL="0">
              <a:buNone/>
            </a:pPr>
            <a:r>
              <a:rPr lang="en-US" sz="157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Xi için önceki seçimlerle tutarlı değer ata</a:t>
            </a:r>
            <a:endParaRPr lang="en-US" sz="1570" dirty="0"/>
          </a:p>
          <a:p>
            <a:pPr indent="0" marL="0">
              <a:buNone/>
            </a:pPr>
            <a:r>
              <a:rPr lang="en-US" sz="157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if değer yoksa: return FAILURE</a:t>
            </a:r>
            <a:endParaRPr lang="en-US" sz="1570" dirty="0"/>
          </a:p>
          <a:p>
            <a:pPr indent="0" marL="0">
              <a:buNone/>
            </a:pPr>
            <a:r>
              <a:rPr lang="en-US" sz="157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return assignment</a:t>
            </a:r>
            <a:endParaRPr lang="en-US" sz="1570" dirty="0"/>
          </a:p>
          <a:p>
            <a:pPr indent="0" marL="0">
              <a:buNone/>
            </a:pPr>
            <a:endParaRPr lang="en-US" sz="1570" dirty="0"/>
          </a:p>
          <a:p>
            <a:pPr indent="0" marL="0">
              <a:buNone/>
            </a:pPr>
            <a:r>
              <a:rPr lang="en-US" sz="1570" dirty="0">
                <a:solidFill>
                  <a:srgbClr val="E7F7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Zaman: O(n·d²)</a:t>
            </a:r>
            <a:endParaRPr lang="en-US" sz="157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6.5  •  PROBLEMLERİN YAPISI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Ağaç CSP örneği — yapraktan köke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93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81328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1609344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6459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417320" y="156362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Grafik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417320" y="1828800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A–B–C; A,B,C ∈ {1,2,3}; A&lt;B ve B&lt;C.</a:t>
            </a:r>
            <a:endParaRPr lang="en-US" sz="1610" dirty="0"/>
          </a:p>
        </p:txBody>
      </p:sp>
      <p:sp>
        <p:nvSpPr>
          <p:cNvPr id="13" name="Shape 11"/>
          <p:cNvSpPr/>
          <p:nvPr/>
        </p:nvSpPr>
        <p:spPr>
          <a:xfrm>
            <a:off x="640080" y="2633472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" y="2761488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279806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417320" y="271576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Önce (B,C)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417320" y="2980944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B=3 için C desteği yok → B={1,2}.</a:t>
            </a:r>
            <a:endParaRPr lang="en-US" sz="1610" dirty="0"/>
          </a:p>
        </p:txBody>
      </p:sp>
      <p:sp>
        <p:nvSpPr>
          <p:cNvPr id="18" name="Shape 16"/>
          <p:cNvSpPr/>
          <p:nvPr/>
        </p:nvSpPr>
        <p:spPr>
          <a:xfrm>
            <a:off x="640080" y="3785616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" y="3913632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" y="395020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417320" y="386791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Sonra (A,B)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417320" y="4133088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A=2 veya 3 için destek yok → A={1}.</a:t>
            </a:r>
            <a:endParaRPr lang="en-US" sz="1610" dirty="0"/>
          </a:p>
        </p:txBody>
      </p:sp>
      <p:sp>
        <p:nvSpPr>
          <p:cNvPr id="23" name="Shape 21"/>
          <p:cNvSpPr/>
          <p:nvPr/>
        </p:nvSpPr>
        <p:spPr>
          <a:xfrm>
            <a:off x="640080" y="4937760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" y="5065776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2C9A6A"/>
          </a:solidFill>
          <a:ln w="12700">
            <a:solidFill>
              <a:srgbClr val="2C9A6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" y="510235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417320" y="5020056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Kökten yaprağa ata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417320" y="5285232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A=1 → B=2 → C=3. Geri izleme yok.</a:t>
            </a:r>
            <a:endParaRPr lang="en-US" sz="161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6.5  •  PROBLEMLERİN YAPISI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Ağaç CSP’de zaman karmaşıklığı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" y="1636776"/>
            <a:ext cx="10698480" cy="1517904"/>
          </a:xfrm>
          <a:prstGeom prst="roundRect">
            <a:avLst>
              <a:gd name="adj" fmla="val 10843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947672"/>
            <a:ext cx="10158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O(n · d²)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950976" y="3447288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7864" y="3784092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72184" y="3493008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 düğümlü ağaçta n−1 kenar vardır.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950976" y="4349496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7864" y="4686300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72184" y="4395216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Her ebeveyn–çocuk çifti en fazla d² değer çiftini kontrol eder.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950976" y="5251704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7864" y="5588508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72184" y="5297424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 sabit tutulursa değişken sayısına göre doğrusal zaman elde edilir.</a:t>
            </a:r>
            <a:endParaRPr lang="en-US" sz="185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6.5  •  PROBLEMLERİN YAPISI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Cycle cutset — Şekil 6.12’yi tekrar okuyalım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0664" y="1545336"/>
            <a:ext cx="7296912" cy="4059936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/mnt/data/sekil_6_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014" y="1682496"/>
            <a:ext cx="6804212" cy="378561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47888" y="1554480"/>
            <a:ext cx="3163824" cy="4069080"/>
          </a:xfrm>
          <a:prstGeom prst="roundRect">
            <a:avLst>
              <a:gd name="adj" fmla="val 4335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76488" y="1764792"/>
            <a:ext cx="26791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7EE0D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ŞEKLİ OKUYALIM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485632" y="2414016"/>
            <a:ext cx="109728" cy="109728"/>
          </a:xfrm>
          <a:prstGeom prst="ellipse">
            <a:avLst/>
          </a:prstGeom>
          <a:solidFill>
            <a:srgbClr val="EBA1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95944" y="2258568"/>
            <a:ext cx="243230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Cycle cutset: döngüleri kıran değişkenler kümesi S.</a:t>
            </a:r>
            <a:endParaRPr lang="en-US" sz="1580" dirty="0"/>
          </a:p>
        </p:txBody>
      </p:sp>
      <p:sp>
        <p:nvSpPr>
          <p:cNvPr id="14" name="Shape 11"/>
          <p:cNvSpPr/>
          <p:nvPr/>
        </p:nvSpPr>
        <p:spPr>
          <a:xfrm>
            <a:off x="8485632" y="3499104"/>
            <a:ext cx="109728" cy="109728"/>
          </a:xfrm>
          <a:prstGeom prst="ellipse">
            <a:avLst/>
          </a:prstGeom>
          <a:solidFill>
            <a:srgbClr val="EBA1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95944" y="3343656"/>
            <a:ext cx="243230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Avustralya’da S={SA}, c=1 seçilebilir.</a:t>
            </a:r>
            <a:endParaRPr lang="en-US" sz="1580" dirty="0"/>
          </a:p>
        </p:txBody>
      </p:sp>
      <p:sp>
        <p:nvSpPr>
          <p:cNvPr id="16" name="Shape 13"/>
          <p:cNvSpPr/>
          <p:nvPr/>
        </p:nvSpPr>
        <p:spPr>
          <a:xfrm>
            <a:off x="8485632" y="4584192"/>
            <a:ext cx="109728" cy="109728"/>
          </a:xfrm>
          <a:prstGeom prst="ellipse">
            <a:avLst/>
          </a:prstGeom>
          <a:solidFill>
            <a:srgbClr val="EBA1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95944" y="4428744"/>
            <a:ext cx="243230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Her S ataması için kalan ağaç problemi çözülür.</a:t>
            </a:r>
            <a:endParaRPr lang="en-US" sz="1580" dirty="0"/>
          </a:p>
        </p:txBody>
      </p:sp>
      <p:sp>
        <p:nvSpPr>
          <p:cNvPr id="18" name="Shape 15"/>
          <p:cNvSpPr/>
          <p:nvPr/>
        </p:nvSpPr>
        <p:spPr>
          <a:xfrm>
            <a:off x="804672" y="5824728"/>
            <a:ext cx="10570464" cy="548640"/>
          </a:xfrm>
          <a:prstGeom prst="roundRect">
            <a:avLst>
              <a:gd name="adj" fmla="val 20000"/>
            </a:avLst>
          </a:prstGeom>
          <a:solidFill>
            <a:srgbClr val="DFF6F3"/>
          </a:solidFill>
          <a:ln w="12700">
            <a:solidFill>
              <a:srgbClr val="DFF6F3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78408" y="5888736"/>
            <a:ext cx="10222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SA’ya değer verip etkisini yaydıktan sonra SA grafikten çıkarılabilir; kalan parçalar döngüsüzdür.</a:t>
            </a:r>
            <a:endParaRPr lang="en-US" sz="138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6.5  •  PROBLEMLERİN YAPISI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Cutset Conditioning — harita boyama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81328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1609344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6459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417320" y="156362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S={SA} seç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417320" y="1828800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SA’nın ataması grafikteki bütün döngüleri kırar.</a:t>
            </a:r>
            <a:endParaRPr lang="en-US" sz="1610" dirty="0"/>
          </a:p>
        </p:txBody>
      </p:sp>
      <p:sp>
        <p:nvSpPr>
          <p:cNvPr id="13" name="Shape 11"/>
          <p:cNvSpPr/>
          <p:nvPr/>
        </p:nvSpPr>
        <p:spPr>
          <a:xfrm>
            <a:off x="640080" y="2633472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" y="2761488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279806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417320" y="271576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SA=Mavi dene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417320" y="2980944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WA, NT, Q, NSW, V değer kümelerinden maviyi sil.</a:t>
            </a:r>
            <a:endParaRPr lang="en-US" sz="1610" dirty="0"/>
          </a:p>
        </p:txBody>
      </p:sp>
      <p:sp>
        <p:nvSpPr>
          <p:cNvPr id="18" name="Shape 16"/>
          <p:cNvSpPr/>
          <p:nvPr/>
        </p:nvSpPr>
        <p:spPr>
          <a:xfrm>
            <a:off x="640080" y="3785616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" y="3913632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" y="395020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417320" y="386791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Kalan ormanı çöz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417320" y="4133088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WA=R, NT=G, Q=R, NSW=G, V=R.</a:t>
            </a:r>
            <a:endParaRPr lang="en-US" sz="1610" dirty="0"/>
          </a:p>
        </p:txBody>
      </p:sp>
      <p:sp>
        <p:nvSpPr>
          <p:cNvPr id="23" name="Shape 21"/>
          <p:cNvSpPr/>
          <p:nvPr/>
        </p:nvSpPr>
        <p:spPr>
          <a:xfrm>
            <a:off x="640080" y="4937760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" y="5065776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2C9A6A"/>
          </a:solidFill>
          <a:ln w="12700">
            <a:solidFill>
              <a:srgbClr val="2C9A6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" y="510235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417320" y="5020056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Birleştir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417320" y="5285232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SA=Mavi, T=R ile bütün harita çözülür.</a:t>
            </a:r>
            <a:endParaRPr lang="en-US" sz="161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6.5  •  PROBLEMLERİN YAPISI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Cycle cutset karmaşıklığı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97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" y="1636776"/>
            <a:ext cx="10698480" cy="1517904"/>
          </a:xfrm>
          <a:prstGeom prst="roundRect">
            <a:avLst>
              <a:gd name="adj" fmla="val 10843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947672"/>
            <a:ext cx="10158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O(dᶜ · (n−c) · d²)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50976" y="3447288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7864" y="3784092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72184" y="3493008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c: döngü kesme kümesindeki değişken sayısı.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50976" y="4349496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7864" y="4686300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72184" y="4395216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dᶜ: cutset değişkenleri için denenmesi gerekebilecek kombinasyonlar.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950976" y="5251704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7864" y="5588508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72184" y="5297424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Kalan n−c değişkenli ağaç, her denemede O((n−c)d²) zamanda çözülebilir.</a:t>
            </a:r>
            <a:endParaRPr lang="en-US" sz="175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6.5  •  PROBLEMLERİN YAPISI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Şekil 6.13 — Tree decomposition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98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0664" y="1545336"/>
            <a:ext cx="7296912" cy="4059936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/mnt/data/sekil_6_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1109" y="1682496"/>
            <a:ext cx="6476022" cy="378561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47888" y="1554480"/>
            <a:ext cx="3163824" cy="4069080"/>
          </a:xfrm>
          <a:prstGeom prst="roundRect">
            <a:avLst>
              <a:gd name="adj" fmla="val 4335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76488" y="1764792"/>
            <a:ext cx="26791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7EE0D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ŞEKLİ OKUYALIM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485632" y="2414016"/>
            <a:ext cx="109728" cy="109728"/>
          </a:xfrm>
          <a:prstGeom prst="ellipse">
            <a:avLst/>
          </a:prstGeom>
          <a:solidFill>
            <a:srgbClr val="EBA1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95944" y="2258568"/>
            <a:ext cx="243230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Bölgeler: {WA,NT,SA}, {NT,SA,Q}, {SA,Q,NSW}, {SA,NSW,V}, {T}.</a:t>
            </a:r>
            <a:endParaRPr lang="en-US" sz="1480" dirty="0"/>
          </a:p>
        </p:txBody>
      </p:sp>
      <p:sp>
        <p:nvSpPr>
          <p:cNvPr id="14" name="Shape 11"/>
          <p:cNvSpPr/>
          <p:nvPr/>
        </p:nvSpPr>
        <p:spPr>
          <a:xfrm>
            <a:off x="8485632" y="3499104"/>
            <a:ext cx="109728" cy="109728"/>
          </a:xfrm>
          <a:prstGeom prst="ellipse">
            <a:avLst/>
          </a:prstGeom>
          <a:solidFill>
            <a:srgbClr val="EBA1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95944" y="3343656"/>
            <a:ext cx="243230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 ilk dört alt problemde de görünür.</a:t>
            </a:r>
            <a:endParaRPr lang="en-US" sz="1480" dirty="0"/>
          </a:p>
        </p:txBody>
      </p:sp>
      <p:sp>
        <p:nvSpPr>
          <p:cNvPr id="16" name="Shape 13"/>
          <p:cNvSpPr/>
          <p:nvPr/>
        </p:nvSpPr>
        <p:spPr>
          <a:xfrm>
            <a:off x="8485632" y="4584192"/>
            <a:ext cx="109728" cy="109728"/>
          </a:xfrm>
          <a:prstGeom prst="ellipse">
            <a:avLst/>
          </a:prstGeom>
          <a:solidFill>
            <a:srgbClr val="EBA1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95944" y="4428744"/>
            <a:ext cx="243230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Mega-değişkenin domain’i alt problemin çözümleridir.</a:t>
            </a:r>
            <a:endParaRPr lang="en-US" sz="1480" dirty="0"/>
          </a:p>
        </p:txBody>
      </p:sp>
      <p:sp>
        <p:nvSpPr>
          <p:cNvPr id="18" name="Shape 15"/>
          <p:cNvSpPr/>
          <p:nvPr/>
        </p:nvSpPr>
        <p:spPr>
          <a:xfrm>
            <a:off x="804672" y="5824728"/>
            <a:ext cx="10570464" cy="548640"/>
          </a:xfrm>
          <a:prstGeom prst="roundRect">
            <a:avLst>
              <a:gd name="adj" fmla="val 20000"/>
            </a:avLst>
          </a:prstGeom>
          <a:solidFill>
            <a:srgbClr val="DFF6F3"/>
          </a:solidFill>
          <a:ln w="12700">
            <a:solidFill>
              <a:srgbClr val="DFF6F3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78408" y="5888736"/>
            <a:ext cx="10222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Avustralya grafiği 5 alt probleme ayrılır; ortak değişkenlerdeki değerler uyumlu seçilmelidir.</a:t>
            </a:r>
            <a:endParaRPr lang="en-US" sz="138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6.5  •  PROBLEMLERİN YAPISI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Tree decomposition — üç zorunlu koşul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99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04088" y="1618488"/>
            <a:ext cx="3630168" cy="4215384"/>
          </a:xfrm>
          <a:prstGeom prst="roundRect">
            <a:avLst>
              <a:gd name="adj" fmla="val 403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" y="1618488"/>
            <a:ext cx="3630168" cy="109728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1832" y="2020824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093976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0976" y="2734056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Değişkenleri kapsa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50976" y="3593592"/>
            <a:ext cx="3081528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Orijinal problemin her değişkeni en az bir alt problemde yer alır.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4535424" y="1618488"/>
            <a:ext cx="3630168" cy="4215384"/>
          </a:xfrm>
          <a:prstGeom prst="roundRect">
            <a:avLst>
              <a:gd name="adj" fmla="val 403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35424" y="1618488"/>
            <a:ext cx="3630168" cy="109728"/>
          </a:xfrm>
          <a:prstGeom prst="rect">
            <a:avLst/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73168" y="2020824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28616" y="2093976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82312" y="2734056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Kısıtları kapsa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782312" y="3593592"/>
            <a:ext cx="3081528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Kısıtla bağlı her değişken çifti birlikte en az bir alt problemde bulunur.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366760" y="1618488"/>
            <a:ext cx="3630168" cy="4215384"/>
          </a:xfrm>
          <a:prstGeom prst="roundRect">
            <a:avLst>
              <a:gd name="adj" fmla="val 403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66760" y="1618488"/>
            <a:ext cx="3630168" cy="109728"/>
          </a:xfrm>
          <a:prstGeom prst="rect">
            <a:avLst/>
          </a:prstGeom>
          <a:solidFill>
            <a:srgbClr val="EBA139"/>
          </a:solidFill>
          <a:ln w="12700">
            <a:solidFill>
              <a:srgbClr val="EBA139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04504" y="2020824"/>
            <a:ext cx="475488" cy="475488"/>
          </a:xfrm>
          <a:prstGeom prst="roundRect">
            <a:avLst>
              <a:gd name="adj" fmla="val 25000"/>
            </a:avLst>
          </a:prstGeom>
          <a:solidFill>
            <a:srgbClr val="EBA139"/>
          </a:solidFill>
          <a:ln w="12700">
            <a:solidFill>
              <a:srgbClr val="EBA13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59952" y="2093976"/>
            <a:ext cx="164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613648" y="2734056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Bağlantılılık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8613648" y="3593592"/>
            <a:ext cx="3081528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Bir değişken iki alt problemde varsa, aralarındaki yol boyunca da görünür.</a:t>
            </a:r>
            <a:endParaRPr lang="en-US" sz="175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6.5  •  PROBLEMLERİN YAPISI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Tree decomposition — çözümleri birleştir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81328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1609344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6459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417320" y="156362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1. torba {WA,NT,SA}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417320" y="1828800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WA=R, NT=G, SA=B seç.</a:t>
            </a:r>
            <a:endParaRPr lang="en-US" sz="1610" dirty="0"/>
          </a:p>
        </p:txBody>
      </p:sp>
      <p:sp>
        <p:nvSpPr>
          <p:cNvPr id="13" name="Shape 11"/>
          <p:cNvSpPr/>
          <p:nvPr/>
        </p:nvSpPr>
        <p:spPr>
          <a:xfrm>
            <a:off x="640080" y="2633472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" y="2761488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279806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417320" y="271576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2. torba {NT,SA,Q}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417320" y="2980944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NT=G, SA=B → Q=R olmak zorunda.</a:t>
            </a:r>
            <a:endParaRPr lang="en-US" sz="1610" dirty="0"/>
          </a:p>
        </p:txBody>
      </p:sp>
      <p:sp>
        <p:nvSpPr>
          <p:cNvPr id="18" name="Shape 16"/>
          <p:cNvSpPr/>
          <p:nvPr/>
        </p:nvSpPr>
        <p:spPr>
          <a:xfrm>
            <a:off x="640080" y="3785616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" y="3913632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" y="395020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417320" y="386791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3. torba {SA,Q,NSW}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417320" y="4133088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SA=B, Q=R → NSW=G.</a:t>
            </a:r>
            <a:endParaRPr lang="en-US" sz="1610" dirty="0"/>
          </a:p>
        </p:txBody>
      </p:sp>
      <p:sp>
        <p:nvSpPr>
          <p:cNvPr id="23" name="Shape 21"/>
          <p:cNvSpPr/>
          <p:nvPr/>
        </p:nvSpPr>
        <p:spPr>
          <a:xfrm>
            <a:off x="640080" y="4937760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" y="5065776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2C9A6A"/>
          </a:solidFill>
          <a:ln w="12700">
            <a:solidFill>
              <a:srgbClr val="2C9A6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" y="510235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417320" y="5020056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4. torba {SA,NSW,V}; 5. torba {T}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417320" y="5285232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V=R; T bağımsız olduğu için R/G/B seçilebilir.</a:t>
            </a:r>
            <a:endParaRPr lang="en-US" sz="161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6.5  •  PROBLEMLERİN YAPISI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Ağaç genişliği (Tree Width)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" y="1636776"/>
            <a:ext cx="10698480" cy="1517904"/>
          </a:xfrm>
          <a:prstGeom prst="roundRect">
            <a:avLst>
              <a:gd name="adj" fmla="val 10843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947672"/>
            <a:ext cx="10158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 = (en büyük torba boyutu) − 1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50976" y="3447288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7864" y="3784092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72184" y="3493008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Şekil 6.13’te en büyük torba 3 değişken içerir → w=2.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0976" y="4349496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7864" y="4686300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72184" y="4395216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Verilmiş ağaç ayrıştırması ve genişlik w için çözüm karmaşıklığı O(n·d^(w+1)).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0976" y="5251704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7864" y="5588508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72184" y="5297424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Küçük tree width, büyük CSP’lerin pratik çözümünü kolaylaştırır.</a:t>
            </a:r>
            <a:endParaRPr lang="en-US" sz="18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6.5  •  PROBLEMLERİN YAPISI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Cycle Cutset ve Tree Decomposition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" y="1490472"/>
            <a:ext cx="2029968" cy="475488"/>
          </a:xfrm>
          <a:prstGeom prst="rect">
            <a:avLst/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55448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Özellik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2788920" y="1490472"/>
            <a:ext cx="4251960" cy="475488"/>
          </a:xfrm>
          <a:prstGeom prst="rect">
            <a:avLst/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9504" y="155448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Cycle Cutset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040880" y="1490472"/>
            <a:ext cx="4370832" cy="475488"/>
          </a:xfrm>
          <a:prstGeom prst="rect">
            <a:avLst/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41464" y="1554480"/>
            <a:ext cx="4187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Tree Decomposition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58952" y="1965960"/>
            <a:ext cx="2029968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029968"/>
            <a:ext cx="1847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Temel fikir</a:t>
            </a:r>
            <a:endParaRPr lang="en-US" sz="1580" dirty="0"/>
          </a:p>
        </p:txBody>
      </p:sp>
      <p:sp>
        <p:nvSpPr>
          <p:cNvPr id="16" name="Shape 14"/>
          <p:cNvSpPr/>
          <p:nvPr/>
        </p:nvSpPr>
        <p:spPr>
          <a:xfrm>
            <a:off x="2788920" y="1965960"/>
            <a:ext cx="425196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0360" y="2029968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Döngü yapan değişkenleri ata/çıkar.</a:t>
            </a:r>
            <a:endParaRPr lang="en-US" sz="1580" dirty="0"/>
          </a:p>
        </p:txBody>
      </p:sp>
      <p:sp>
        <p:nvSpPr>
          <p:cNvPr id="18" name="Shape 16"/>
          <p:cNvSpPr/>
          <p:nvPr/>
        </p:nvSpPr>
        <p:spPr>
          <a:xfrm>
            <a:off x="7040880" y="1965960"/>
            <a:ext cx="437083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2029968"/>
            <a:ext cx="4187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Grafiği örtüşen torbalara ayır.</a:t>
            </a:r>
            <a:endParaRPr lang="en-US" sz="1580" dirty="0"/>
          </a:p>
        </p:txBody>
      </p:sp>
      <p:sp>
        <p:nvSpPr>
          <p:cNvPr id="20" name="Shape 18"/>
          <p:cNvSpPr/>
          <p:nvPr/>
        </p:nvSpPr>
        <p:spPr>
          <a:xfrm>
            <a:off x="758952" y="2825496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" y="2825496"/>
            <a:ext cx="2029968" cy="859536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2889504"/>
            <a:ext cx="1847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Ana parametre</a:t>
            </a:r>
            <a:endParaRPr lang="en-US" sz="1580" dirty="0"/>
          </a:p>
        </p:txBody>
      </p:sp>
      <p:sp>
        <p:nvSpPr>
          <p:cNvPr id="23" name="Shape 21"/>
          <p:cNvSpPr/>
          <p:nvPr/>
        </p:nvSpPr>
        <p:spPr>
          <a:xfrm>
            <a:off x="2788920" y="2825496"/>
            <a:ext cx="4251960" cy="859536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80360" y="2889504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Cutset büyüklüğü c</a:t>
            </a:r>
            <a:endParaRPr lang="en-US" sz="1580" dirty="0"/>
          </a:p>
        </p:txBody>
      </p:sp>
      <p:sp>
        <p:nvSpPr>
          <p:cNvPr id="25" name="Shape 23"/>
          <p:cNvSpPr/>
          <p:nvPr/>
        </p:nvSpPr>
        <p:spPr>
          <a:xfrm>
            <a:off x="7040880" y="2825496"/>
            <a:ext cx="4370832" cy="859536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0" y="2889504"/>
            <a:ext cx="4187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Tree width w</a:t>
            </a:r>
            <a:endParaRPr lang="en-US" sz="1580" dirty="0"/>
          </a:p>
        </p:txBody>
      </p:sp>
      <p:sp>
        <p:nvSpPr>
          <p:cNvPr id="27" name="Shape 25"/>
          <p:cNvSpPr/>
          <p:nvPr/>
        </p:nvSpPr>
        <p:spPr>
          <a:xfrm>
            <a:off x="758952" y="3685032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8952" y="3685032"/>
            <a:ext cx="2029968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3749040"/>
            <a:ext cx="1847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Çözüm maliyeti</a:t>
            </a:r>
            <a:endParaRPr lang="en-US" sz="1580" dirty="0"/>
          </a:p>
        </p:txBody>
      </p:sp>
      <p:sp>
        <p:nvSpPr>
          <p:cNvPr id="30" name="Shape 28"/>
          <p:cNvSpPr/>
          <p:nvPr/>
        </p:nvSpPr>
        <p:spPr>
          <a:xfrm>
            <a:off x="2788920" y="3685032"/>
            <a:ext cx="425196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80360" y="3749040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O(dᶜ(n−c)d²)</a:t>
            </a:r>
            <a:endParaRPr lang="en-US" sz="1580" dirty="0"/>
          </a:p>
        </p:txBody>
      </p:sp>
      <p:sp>
        <p:nvSpPr>
          <p:cNvPr id="32" name="Shape 30"/>
          <p:cNvSpPr/>
          <p:nvPr/>
        </p:nvSpPr>
        <p:spPr>
          <a:xfrm>
            <a:off x="7040880" y="3685032"/>
            <a:ext cx="437083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3749040"/>
            <a:ext cx="4187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O(nd^(w+1))</a:t>
            </a:r>
            <a:endParaRPr lang="en-US" sz="1580" dirty="0"/>
          </a:p>
        </p:txBody>
      </p:sp>
      <p:sp>
        <p:nvSpPr>
          <p:cNvPr id="34" name="Shape 32"/>
          <p:cNvSpPr/>
          <p:nvPr/>
        </p:nvSpPr>
        <p:spPr>
          <a:xfrm>
            <a:off x="758952" y="4544568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8952" y="4544568"/>
            <a:ext cx="2029968" cy="859536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0392" y="4608576"/>
            <a:ext cx="1847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Avantajlı koşul</a:t>
            </a:r>
            <a:endParaRPr lang="en-US" sz="1580" dirty="0"/>
          </a:p>
        </p:txBody>
      </p:sp>
      <p:sp>
        <p:nvSpPr>
          <p:cNvPr id="37" name="Shape 35"/>
          <p:cNvSpPr/>
          <p:nvPr/>
        </p:nvSpPr>
        <p:spPr>
          <a:xfrm>
            <a:off x="2788920" y="4544568"/>
            <a:ext cx="4251960" cy="859536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80360" y="4608576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 küçükse</a:t>
            </a:r>
            <a:endParaRPr lang="en-US" sz="1580" dirty="0"/>
          </a:p>
        </p:txBody>
      </p:sp>
      <p:sp>
        <p:nvSpPr>
          <p:cNvPr id="39" name="Shape 37"/>
          <p:cNvSpPr/>
          <p:nvPr/>
        </p:nvSpPr>
        <p:spPr>
          <a:xfrm>
            <a:off x="7040880" y="4544568"/>
            <a:ext cx="4370832" cy="859536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32320" y="4608576"/>
            <a:ext cx="4187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 küçükse</a:t>
            </a:r>
            <a:endParaRPr lang="en-US" sz="1580" dirty="0"/>
          </a:p>
        </p:txBody>
      </p:sp>
      <p:sp>
        <p:nvSpPr>
          <p:cNvPr id="41" name="Shape 39"/>
          <p:cNvSpPr/>
          <p:nvPr/>
        </p:nvSpPr>
        <p:spPr>
          <a:xfrm>
            <a:off x="758952" y="5404104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6.5  •  PROBLEMLERİN YAPISI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Değer simetrisi (Value Symmetry)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103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" y="1636776"/>
            <a:ext cx="10698480" cy="1517904"/>
          </a:xfrm>
          <a:prstGeom prst="roundRect">
            <a:avLst>
              <a:gd name="adj" fmla="val 10843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1947672"/>
            <a:ext cx="10158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3! = 6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950976" y="3447288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7864" y="3784092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72184" y="3493008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WA, NT ve SA farklı renklerde olmalı; R,G,B etiketlerinin yerleri 6 biçimde değişebilir.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950976" y="4349496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7864" y="4686300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72184" y="4395216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Renk adlarının yalnızca etiketten ibaret olduğu problemlerde çözümler simetrik olabilir.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950976" y="5251704"/>
            <a:ext cx="10360152" cy="79248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7864" y="5588508"/>
            <a:ext cx="118872" cy="118872"/>
          </a:xfrm>
          <a:prstGeom prst="ellipse">
            <a:avLst/>
          </a:prstGeom>
          <a:solidFill>
            <a:srgbClr val="009D9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72184" y="5297424"/>
            <a:ext cx="955548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Simetri kırma kısıtları eşdeğer çözümlerin tekrar aranmasını azaltır.</a:t>
            </a:r>
            <a:endParaRPr lang="en-US" sz="185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6.5  •  PROBLEMLERİN YAPISI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Simetri kırma — örnek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81328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1609344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6459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417320" y="156362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Üç renk etiketi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417320" y="1828800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Mavi &lt; Yeşil &lt; Kırmızı (alfabetik İngilizce sırayla).</a:t>
            </a:r>
            <a:endParaRPr lang="en-US" sz="1610" dirty="0"/>
          </a:p>
        </p:txBody>
      </p:sp>
      <p:sp>
        <p:nvSpPr>
          <p:cNvPr id="13" name="Shape 11"/>
          <p:cNvSpPr/>
          <p:nvPr/>
        </p:nvSpPr>
        <p:spPr>
          <a:xfrm>
            <a:off x="640080" y="2633472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" y="2761488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279806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417320" y="271576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Ek bir sıralama kısıtı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417320" y="2980944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NT &lt; SA &lt; WA olsun.</a:t>
            </a:r>
            <a:endParaRPr lang="en-US" sz="1610" dirty="0"/>
          </a:p>
        </p:txBody>
      </p:sp>
      <p:sp>
        <p:nvSpPr>
          <p:cNvPr id="18" name="Shape 16"/>
          <p:cNvSpPr/>
          <p:nvPr/>
        </p:nvSpPr>
        <p:spPr>
          <a:xfrm>
            <a:off x="640080" y="3785616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" y="3913632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3676CE"/>
          </a:solidFill>
          <a:ln w="12700">
            <a:solidFill>
              <a:srgbClr val="3676C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" y="395020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417320" y="386791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Tek temsilci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417320" y="4133088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NT=Mavi, SA=Yeşil, WA=Kırmızı kalır.</a:t>
            </a:r>
            <a:endParaRPr lang="en-US" sz="1610" dirty="0"/>
          </a:p>
        </p:txBody>
      </p:sp>
      <p:sp>
        <p:nvSpPr>
          <p:cNvPr id="23" name="Shape 21"/>
          <p:cNvSpPr/>
          <p:nvPr/>
        </p:nvSpPr>
        <p:spPr>
          <a:xfrm>
            <a:off x="640080" y="4937760"/>
            <a:ext cx="10899648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" y="5065776"/>
            <a:ext cx="438912" cy="429768"/>
          </a:xfrm>
          <a:prstGeom prst="roundRect">
            <a:avLst>
              <a:gd name="adj" fmla="val 25532"/>
            </a:avLst>
          </a:prstGeom>
          <a:solidFill>
            <a:srgbClr val="2C9A6A"/>
          </a:solidFill>
          <a:ln w="12700">
            <a:solidFill>
              <a:srgbClr val="2C9A6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" y="510235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417320" y="5020056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Kazanç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417320" y="5285232"/>
            <a:ext cx="9692640" cy="5197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Aynı yapıyı taşıyan 6 renk permütasyonundan yalnızca biri aranır.</a:t>
            </a:r>
            <a:endParaRPr lang="en-US" sz="161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ÜNİTE SONU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Hangi sorunda hangi teknik?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" y="1490472"/>
            <a:ext cx="5102352" cy="475488"/>
          </a:xfrm>
          <a:prstGeom prst="rect">
            <a:avLst/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554480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Problem ihtiyacı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861304" y="1490472"/>
            <a:ext cx="5550408" cy="475488"/>
          </a:xfrm>
          <a:prstGeom prst="rect">
            <a:avLst/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61888" y="1554480"/>
            <a:ext cx="5367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Uygun yaklaşım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58952" y="1965960"/>
            <a:ext cx="510235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2029968"/>
            <a:ext cx="4919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Değişkenlere değer vermek</a:t>
            </a:r>
            <a:endParaRPr lang="en-US" sz="1570" dirty="0"/>
          </a:p>
        </p:txBody>
      </p:sp>
      <p:sp>
        <p:nvSpPr>
          <p:cNvPr id="14" name="Shape 12"/>
          <p:cNvSpPr/>
          <p:nvPr/>
        </p:nvSpPr>
        <p:spPr>
          <a:xfrm>
            <a:off x="5861304" y="1965960"/>
            <a:ext cx="555040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52744" y="2029968"/>
            <a:ext cx="5367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Backtracking + MRV / Degree / LCV</a:t>
            </a:r>
            <a:endParaRPr lang="en-US" sz="1570" dirty="0"/>
          </a:p>
        </p:txBody>
      </p:sp>
      <p:sp>
        <p:nvSpPr>
          <p:cNvPr id="16" name="Shape 14"/>
          <p:cNvSpPr/>
          <p:nvPr/>
        </p:nvSpPr>
        <p:spPr>
          <a:xfrm>
            <a:off x="758952" y="2514600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" y="2514600"/>
            <a:ext cx="5102352" cy="548640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2578608"/>
            <a:ext cx="4919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Atama sonrası erken eleme</a:t>
            </a:r>
            <a:endParaRPr lang="en-US" sz="1570" dirty="0"/>
          </a:p>
        </p:txBody>
      </p:sp>
      <p:sp>
        <p:nvSpPr>
          <p:cNvPr id="19" name="Shape 17"/>
          <p:cNvSpPr/>
          <p:nvPr/>
        </p:nvSpPr>
        <p:spPr>
          <a:xfrm>
            <a:off x="5861304" y="2514600"/>
            <a:ext cx="5550408" cy="548640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52744" y="2578608"/>
            <a:ext cx="5367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Forward Checking veya MAC (AC-3)</a:t>
            </a:r>
            <a:endParaRPr lang="en-US" sz="1570" dirty="0"/>
          </a:p>
        </p:txBody>
      </p:sp>
      <p:sp>
        <p:nvSpPr>
          <p:cNvPr id="21" name="Shape 19"/>
          <p:cNvSpPr/>
          <p:nvPr/>
        </p:nvSpPr>
        <p:spPr>
          <a:xfrm>
            <a:off x="758952" y="3063240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" y="3063240"/>
            <a:ext cx="510235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3127248"/>
            <a:ext cx="4919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Mevcut yanlış tam atamayı düzeltmek</a:t>
            </a:r>
            <a:endParaRPr lang="en-US" sz="1570" dirty="0"/>
          </a:p>
        </p:txBody>
      </p:sp>
      <p:sp>
        <p:nvSpPr>
          <p:cNvPr id="24" name="Shape 22"/>
          <p:cNvSpPr/>
          <p:nvPr/>
        </p:nvSpPr>
        <p:spPr>
          <a:xfrm>
            <a:off x="5861304" y="3063240"/>
            <a:ext cx="555040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52744" y="3127248"/>
            <a:ext cx="5367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Search / Min-Conflicts</a:t>
            </a:r>
            <a:endParaRPr lang="en-US" sz="1570" dirty="0"/>
          </a:p>
        </p:txBody>
      </p:sp>
      <p:sp>
        <p:nvSpPr>
          <p:cNvPr id="26" name="Shape 24"/>
          <p:cNvSpPr/>
          <p:nvPr/>
        </p:nvSpPr>
        <p:spPr>
          <a:xfrm>
            <a:off x="758952" y="3611880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8952" y="3611880"/>
            <a:ext cx="5102352" cy="548640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" y="3675888"/>
            <a:ext cx="4919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Bağımsız alt problemler</a:t>
            </a:r>
            <a:endParaRPr lang="en-US" sz="1570" dirty="0"/>
          </a:p>
        </p:txBody>
      </p:sp>
      <p:sp>
        <p:nvSpPr>
          <p:cNvPr id="29" name="Shape 27"/>
          <p:cNvSpPr/>
          <p:nvPr/>
        </p:nvSpPr>
        <p:spPr>
          <a:xfrm>
            <a:off x="5861304" y="3611880"/>
            <a:ext cx="5550408" cy="548640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52744" y="3675888"/>
            <a:ext cx="5367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Connected components</a:t>
            </a:r>
            <a:endParaRPr lang="en-US" sz="1570" dirty="0"/>
          </a:p>
        </p:txBody>
      </p:sp>
      <p:sp>
        <p:nvSpPr>
          <p:cNvPr id="31" name="Shape 29"/>
          <p:cNvSpPr/>
          <p:nvPr/>
        </p:nvSpPr>
        <p:spPr>
          <a:xfrm>
            <a:off x="758952" y="4160520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8952" y="4160520"/>
            <a:ext cx="510235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" y="4224528"/>
            <a:ext cx="4919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Döngüsüz kısıt grafiği</a:t>
            </a:r>
            <a:endParaRPr lang="en-US" sz="1570" dirty="0"/>
          </a:p>
        </p:txBody>
      </p:sp>
      <p:sp>
        <p:nvSpPr>
          <p:cNvPr id="34" name="Shape 32"/>
          <p:cNvSpPr/>
          <p:nvPr/>
        </p:nvSpPr>
        <p:spPr>
          <a:xfrm>
            <a:off x="5861304" y="4160520"/>
            <a:ext cx="555040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52744" y="4224528"/>
            <a:ext cx="5367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Tree-CSP-Solver</a:t>
            </a:r>
            <a:endParaRPr lang="en-US" sz="1570" dirty="0"/>
          </a:p>
        </p:txBody>
      </p:sp>
      <p:sp>
        <p:nvSpPr>
          <p:cNvPr id="36" name="Shape 34"/>
          <p:cNvSpPr/>
          <p:nvPr/>
        </p:nvSpPr>
        <p:spPr>
          <a:xfrm>
            <a:off x="758952" y="4709160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8952" y="4709160"/>
            <a:ext cx="5102352" cy="548640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0392" y="4773168"/>
            <a:ext cx="4919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Az sayıda döngü kıran değişken</a:t>
            </a:r>
            <a:endParaRPr lang="en-US" sz="1570" dirty="0"/>
          </a:p>
        </p:txBody>
      </p:sp>
      <p:sp>
        <p:nvSpPr>
          <p:cNvPr id="39" name="Shape 37"/>
          <p:cNvSpPr/>
          <p:nvPr/>
        </p:nvSpPr>
        <p:spPr>
          <a:xfrm>
            <a:off x="5861304" y="4709160"/>
            <a:ext cx="5550408" cy="548640"/>
          </a:xfrm>
          <a:prstGeom prst="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52744" y="4773168"/>
            <a:ext cx="5367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Cycle Cutset / Conditioning</a:t>
            </a:r>
            <a:endParaRPr lang="en-US" sz="1570" dirty="0"/>
          </a:p>
        </p:txBody>
      </p:sp>
      <p:sp>
        <p:nvSpPr>
          <p:cNvPr id="41" name="Shape 39"/>
          <p:cNvSpPr/>
          <p:nvPr/>
        </p:nvSpPr>
        <p:spPr>
          <a:xfrm>
            <a:off x="758952" y="5257800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8952" y="5257800"/>
            <a:ext cx="510235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0392" y="5321808"/>
            <a:ext cx="4919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Küçük örtüşen alt problemler</a:t>
            </a:r>
            <a:endParaRPr lang="en-US" sz="1570" dirty="0"/>
          </a:p>
        </p:txBody>
      </p:sp>
      <p:sp>
        <p:nvSpPr>
          <p:cNvPr id="44" name="Shape 42"/>
          <p:cNvSpPr/>
          <p:nvPr/>
        </p:nvSpPr>
        <p:spPr>
          <a:xfrm>
            <a:off x="5861304" y="5257800"/>
            <a:ext cx="555040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52744" y="5321808"/>
            <a:ext cx="5367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Tree Decomposition / Tree Width</a:t>
            </a:r>
            <a:endParaRPr lang="en-US" sz="1570" dirty="0"/>
          </a:p>
        </p:txBody>
      </p:sp>
      <p:sp>
        <p:nvSpPr>
          <p:cNvPr id="46" name="Shape 44"/>
          <p:cNvSpPr/>
          <p:nvPr/>
        </p:nvSpPr>
        <p:spPr>
          <a:xfrm>
            <a:off x="758952" y="5806440"/>
            <a:ext cx="10652760" cy="0"/>
          </a:xfrm>
          <a:prstGeom prst="line">
            <a:avLst/>
          </a:prstGeom>
          <a:noFill/>
          <a:ln w="5080">
            <a:solidFill>
              <a:srgbClr val="DDE5EE"/>
            </a:solidFill>
            <a:prstDash val="solid"/>
          </a:ln>
        </p:spPr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ÜNİTE SONU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Kavrama soruları — 1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109910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Sınıfta sözlü tartışma veya kısa tekrar için.</a:t>
            </a:r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8" name="Text 6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106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68096" y="1636776"/>
            <a:ext cx="10643616" cy="1014984"/>
          </a:xfrm>
          <a:prstGeom prst="roundRect">
            <a:avLst>
              <a:gd name="adj" fmla="val 1261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181965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682496" y="1801368"/>
            <a:ext cx="93451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CSP’nin X, D, C bileşenleri neyi temsil eder?</a:t>
            </a:r>
            <a:endParaRPr lang="en-US" sz="1910" dirty="0"/>
          </a:p>
        </p:txBody>
      </p:sp>
      <p:sp>
        <p:nvSpPr>
          <p:cNvPr id="12" name="Shape 10"/>
          <p:cNvSpPr/>
          <p:nvPr/>
        </p:nvSpPr>
        <p:spPr>
          <a:xfrm>
            <a:off x="768096" y="2779776"/>
            <a:ext cx="10643616" cy="1014984"/>
          </a:xfrm>
          <a:prstGeom prst="roundRect">
            <a:avLst>
              <a:gd name="adj" fmla="val 1261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96265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682496" y="2944368"/>
            <a:ext cx="93451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Tam atama neden her zaman çözüm değildir?</a:t>
            </a:r>
            <a:endParaRPr lang="en-US" sz="1910" dirty="0"/>
          </a:p>
        </p:txBody>
      </p:sp>
      <p:sp>
        <p:nvSpPr>
          <p:cNvPr id="15" name="Shape 13"/>
          <p:cNvSpPr/>
          <p:nvPr/>
        </p:nvSpPr>
        <p:spPr>
          <a:xfrm>
            <a:off x="768096" y="3922776"/>
            <a:ext cx="10643616" cy="1014984"/>
          </a:xfrm>
          <a:prstGeom prst="roundRect">
            <a:avLst>
              <a:gd name="adj" fmla="val 1261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410565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03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682496" y="4087368"/>
            <a:ext cx="93451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AC-3 hangi değerleri domain’den siler?</a:t>
            </a:r>
            <a:endParaRPr lang="en-US" sz="1910" dirty="0"/>
          </a:p>
        </p:txBody>
      </p:sp>
      <p:sp>
        <p:nvSpPr>
          <p:cNvPr id="18" name="Shape 16"/>
          <p:cNvSpPr/>
          <p:nvPr/>
        </p:nvSpPr>
        <p:spPr>
          <a:xfrm>
            <a:off x="768096" y="5065776"/>
            <a:ext cx="10643616" cy="1014984"/>
          </a:xfrm>
          <a:prstGeom prst="roundRect">
            <a:avLst>
              <a:gd name="adj" fmla="val 1261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524865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04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1682496" y="5230368"/>
            <a:ext cx="93451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MRV ve LCV farklı hangi kararları verir?</a:t>
            </a:r>
            <a:endParaRPr lang="en-US" sz="191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ÜNİTE SONU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Kavrama soruları — 2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109910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Sınıfta sözlü tartışma veya kısa tekrar için.</a:t>
            </a:r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8" name="Text 6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107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68096" y="1636776"/>
            <a:ext cx="10643616" cy="1014984"/>
          </a:xfrm>
          <a:prstGeom prst="roundRect">
            <a:avLst>
              <a:gd name="adj" fmla="val 1261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181965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682496" y="1801368"/>
            <a:ext cx="93451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Forward Checking hangi çelişkiyi MAC’ten daha geç bulabilir?</a:t>
            </a:r>
            <a:endParaRPr lang="en-US" sz="1910" dirty="0"/>
          </a:p>
        </p:txBody>
      </p:sp>
      <p:sp>
        <p:nvSpPr>
          <p:cNvPr id="12" name="Shape 10"/>
          <p:cNvSpPr/>
          <p:nvPr/>
        </p:nvSpPr>
        <p:spPr>
          <a:xfrm>
            <a:off x="768096" y="2779776"/>
            <a:ext cx="10643616" cy="1014984"/>
          </a:xfrm>
          <a:prstGeom prst="roundRect">
            <a:avLst>
              <a:gd name="adj" fmla="val 1261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96265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682496" y="2944368"/>
            <a:ext cx="93451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Backjumping neden Tazmanya’yı atlayabilir?</a:t>
            </a:r>
            <a:endParaRPr lang="en-US" sz="1910" dirty="0"/>
          </a:p>
        </p:txBody>
      </p:sp>
      <p:sp>
        <p:nvSpPr>
          <p:cNvPr id="15" name="Shape 13"/>
          <p:cNvSpPr/>
          <p:nvPr/>
        </p:nvSpPr>
        <p:spPr>
          <a:xfrm>
            <a:off x="768096" y="3922776"/>
            <a:ext cx="10643616" cy="1014984"/>
          </a:xfrm>
          <a:prstGeom prst="roundRect">
            <a:avLst>
              <a:gd name="adj" fmla="val 1261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410565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03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682496" y="4087368"/>
            <a:ext cx="93451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Min-Conflicts ile Backtracking hangi başlangıç durumunu kullanır?</a:t>
            </a:r>
            <a:endParaRPr lang="en-US" sz="1910" dirty="0"/>
          </a:p>
        </p:txBody>
      </p:sp>
      <p:sp>
        <p:nvSpPr>
          <p:cNvPr id="18" name="Shape 16"/>
          <p:cNvSpPr/>
          <p:nvPr/>
        </p:nvSpPr>
        <p:spPr>
          <a:xfrm>
            <a:off x="768096" y="5065776"/>
            <a:ext cx="10643616" cy="1014984"/>
          </a:xfrm>
          <a:prstGeom prst="roundRect">
            <a:avLst>
              <a:gd name="adj" fmla="val 1261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524865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04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1682496" y="5230368"/>
            <a:ext cx="93451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Tree width küçük olunca neden çözüm kolaylaşır?</a:t>
            </a:r>
            <a:endParaRPr lang="en-US" sz="191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ÜNİTE SONU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Mini sınav 1 — Arc consistency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109910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Önce öğrencilerden çözmelerini isteyin; ardından birlikte kontrol edin.</a:t>
            </a:r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8" name="Text 6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108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1691640"/>
            <a:ext cx="10716768" cy="1527048"/>
          </a:xfrm>
          <a:prstGeom prst="roundRect">
            <a:avLst>
              <a:gd name="adj" fmla="val 10778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" y="19019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7EE0D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SORU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83664" y="1865376"/>
            <a:ext cx="9235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X,Y∈{0,1,2,3}, kısıt X+Y=3. X=3 destekleniyor mu? Tüm uygun çiftleri yazın.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49808" y="3493008"/>
            <a:ext cx="10716768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369417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ADIM ADIM CEVAP</a:t>
            </a:r>
            <a:endParaRPr lang="en-US" sz="1640" dirty="0"/>
          </a:p>
        </p:txBody>
      </p:sp>
      <p:sp>
        <p:nvSpPr>
          <p:cNvPr id="14" name="Text 12"/>
          <p:cNvSpPr/>
          <p:nvPr/>
        </p:nvSpPr>
        <p:spPr>
          <a:xfrm>
            <a:off x="1042416" y="4160520"/>
            <a:ext cx="992124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Geçerli çiftler (0,3), (1,2), (2,1), (3,0).</a:t>
            </a:r>
            <a:endParaRPr lang="en-US" sz="1810" dirty="0"/>
          </a:p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X=3 için Y=0 desteği var, elenmez.</a:t>
            </a:r>
            <a:endParaRPr lang="en-US" sz="1810" dirty="0"/>
          </a:p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 durumda bütün X ve Y değerleri desteklidir; yay tutarlılığı seçenek silmez.</a:t>
            </a:r>
            <a:endParaRPr lang="en-US" sz="181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ÜNİTE SONU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Mini sınav 2 — MRV ve Degree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109910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Önce öğrencilerden çözmelerini isteyin; ardından birlikte kontrol edin.</a:t>
            </a:r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8" name="Text 6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109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1691640"/>
            <a:ext cx="10716768" cy="1527048"/>
          </a:xfrm>
          <a:prstGeom prst="roundRect">
            <a:avLst>
              <a:gd name="adj" fmla="val 10778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" y="19019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7EE0D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SORU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83664" y="1865376"/>
            <a:ext cx="9235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A={1,2}, B={2}, C={1,3}; B’nin derecesi 1, C’nin derecesi 4. İlk hangi değişken seçilir?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49808" y="3493008"/>
            <a:ext cx="10716768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369417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ADIM ADIM CEVAP</a:t>
            </a:r>
            <a:endParaRPr lang="en-US" sz="1640" dirty="0"/>
          </a:p>
        </p:txBody>
      </p:sp>
      <p:sp>
        <p:nvSpPr>
          <p:cNvPr id="14" name="Text 12"/>
          <p:cNvSpPr/>
          <p:nvPr/>
        </p:nvSpPr>
        <p:spPr>
          <a:xfrm>
            <a:off x="1042416" y="4160520"/>
            <a:ext cx="992124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MRV önce uygulanır: |D_B|=1, diğerleri 2 → B seçilir.</a:t>
            </a:r>
            <a:endParaRPr lang="en-US" sz="1810" dirty="0"/>
          </a:p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Degree yalnızca MRV eşitliği varsa bağ bozucu olarak kullanılabilir.</a:t>
            </a:r>
            <a:endParaRPr lang="en-US" sz="1810" dirty="0"/>
          </a:p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B=2 atamasından sonra domain’leri tekrar güncelleriz.</a:t>
            </a:r>
            <a:endParaRPr lang="en-US" sz="181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ÜNİTE SONU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Mini sınav 3 — Cycle Cutset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109910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Önce öğrencilerden çözmelerini isteyin; ardından birlikte kontrol edin.</a:t>
            </a:r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8" name="Text 6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110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1691640"/>
            <a:ext cx="10716768" cy="1527048"/>
          </a:xfrm>
          <a:prstGeom prst="roundRect">
            <a:avLst>
              <a:gd name="adj" fmla="val 10778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" y="19019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7EE0D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SORU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83664" y="1865376"/>
            <a:ext cx="9235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Döngü oluşturan bir CSP’de tek X düğümünü kaldırınca geriye bir ağaç kalıyorsa cutset büyüklüğü nedir?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49808" y="3493008"/>
            <a:ext cx="10716768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369417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ADIM ADIM CEVAP</a:t>
            </a:r>
            <a:endParaRPr lang="en-US" sz="1640" dirty="0"/>
          </a:p>
        </p:txBody>
      </p:sp>
      <p:sp>
        <p:nvSpPr>
          <p:cNvPr id="14" name="Text 12"/>
          <p:cNvSpPr/>
          <p:nvPr/>
        </p:nvSpPr>
        <p:spPr>
          <a:xfrm>
            <a:off x="1042416" y="4160520"/>
            <a:ext cx="992124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S={X}; cutset büyüklüğü c=1.</a:t>
            </a:r>
            <a:endParaRPr lang="en-US" sz="1810" dirty="0"/>
          </a:p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 için en fazla d değer denenir.</a:t>
            </a:r>
            <a:endParaRPr lang="en-US" sz="1810" dirty="0"/>
          </a:p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Her değer sonrasında kalan n−1 değişkenli ağaç verimli çözülebilir.</a:t>
            </a:r>
            <a:endParaRPr lang="en-US" sz="181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ÜNİTE SONU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Dersin son özeti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111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444752"/>
            <a:ext cx="708660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444752"/>
            <a:ext cx="73152" cy="82296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499616"/>
            <a:ext cx="6757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Modelle</a:t>
            </a:r>
            <a:endParaRPr lang="en-US" sz="1780" dirty="0"/>
          </a:p>
        </p:txBody>
      </p:sp>
      <p:sp>
        <p:nvSpPr>
          <p:cNvPr id="11" name="Text 9"/>
          <p:cNvSpPr/>
          <p:nvPr/>
        </p:nvSpPr>
        <p:spPr>
          <a:xfrm>
            <a:off x="914400" y="178308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Problemi X (değişken), D (değerler), C (kısıtlar) olarak tanımla.</a:t>
            </a:r>
            <a:endParaRPr lang="en-US" sz="1540" dirty="0"/>
          </a:p>
        </p:txBody>
      </p:sp>
      <p:sp>
        <p:nvSpPr>
          <p:cNvPr id="12" name="Shape 10"/>
          <p:cNvSpPr/>
          <p:nvPr/>
        </p:nvSpPr>
        <p:spPr>
          <a:xfrm>
            <a:off x="658368" y="2404872"/>
            <a:ext cx="708660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2404872"/>
            <a:ext cx="73152" cy="82296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459736"/>
            <a:ext cx="6757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Yayılım yap</a:t>
            </a:r>
            <a:endParaRPr lang="en-US" sz="1780" dirty="0"/>
          </a:p>
        </p:txBody>
      </p:sp>
      <p:sp>
        <p:nvSpPr>
          <p:cNvPr id="15" name="Text 13"/>
          <p:cNvSpPr/>
          <p:nvPr/>
        </p:nvSpPr>
        <p:spPr>
          <a:xfrm>
            <a:off x="914400" y="274320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Node/arc/path tutarlılığı ve AC-3 ile gereksiz değerleri sil.</a:t>
            </a:r>
            <a:endParaRPr lang="en-US" sz="1540" dirty="0"/>
          </a:p>
        </p:txBody>
      </p:sp>
      <p:sp>
        <p:nvSpPr>
          <p:cNvPr id="16" name="Shape 14"/>
          <p:cNvSpPr/>
          <p:nvPr/>
        </p:nvSpPr>
        <p:spPr>
          <a:xfrm>
            <a:off x="658368" y="3364992"/>
            <a:ext cx="708660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364992"/>
            <a:ext cx="73152" cy="82296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419856"/>
            <a:ext cx="6757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Akıllı ara</a:t>
            </a:r>
            <a:endParaRPr lang="en-US" sz="1780" dirty="0"/>
          </a:p>
        </p:txBody>
      </p:sp>
      <p:sp>
        <p:nvSpPr>
          <p:cNvPr id="19" name="Text 17"/>
          <p:cNvSpPr/>
          <p:nvPr/>
        </p:nvSpPr>
        <p:spPr>
          <a:xfrm>
            <a:off x="914400" y="370332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Backtracking + MRV/LCV/FC/MAC veya tam atamada Min-Conflicts kullan.</a:t>
            </a:r>
            <a:endParaRPr lang="en-US" sz="1540" dirty="0"/>
          </a:p>
        </p:txBody>
      </p:sp>
      <p:sp>
        <p:nvSpPr>
          <p:cNvPr id="20" name="Shape 18"/>
          <p:cNvSpPr/>
          <p:nvPr/>
        </p:nvSpPr>
        <p:spPr>
          <a:xfrm>
            <a:off x="658368" y="4325112"/>
            <a:ext cx="708660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4325112"/>
            <a:ext cx="73152" cy="82296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379976"/>
            <a:ext cx="6757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Yapıyı değerlendir</a:t>
            </a:r>
            <a:endParaRPr lang="en-US" sz="1780" dirty="0"/>
          </a:p>
        </p:txBody>
      </p:sp>
      <p:sp>
        <p:nvSpPr>
          <p:cNvPr id="23" name="Text 21"/>
          <p:cNvSpPr/>
          <p:nvPr/>
        </p:nvSpPr>
        <p:spPr>
          <a:xfrm>
            <a:off x="914400" y="466344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Bağımsız bileşen, ağaç, cutset, tree decomposition ve simetriyi kullan.</a:t>
            </a:r>
            <a:endParaRPr lang="en-US" sz="1540" dirty="0"/>
          </a:p>
        </p:txBody>
      </p:sp>
      <p:sp>
        <p:nvSpPr>
          <p:cNvPr id="24" name="Shape 22"/>
          <p:cNvSpPr/>
          <p:nvPr/>
        </p:nvSpPr>
        <p:spPr>
          <a:xfrm>
            <a:off x="8028432" y="1444752"/>
            <a:ext cx="3474720" cy="4443984"/>
          </a:xfrm>
          <a:prstGeom prst="roundRect">
            <a:avLst>
              <a:gd name="adj" fmla="val 4737"/>
            </a:avLst>
          </a:prstGeom>
          <a:solidFill>
            <a:srgbClr val="172B43"/>
          </a:solidFill>
          <a:ln w="12700">
            <a:solidFill>
              <a:srgbClr val="172B4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1719072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7FE0D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ÖĞRENME HEDEFİ</a:t>
            </a:r>
            <a:endParaRPr lang="en-US" sz="1530" dirty="0"/>
          </a:p>
        </p:txBody>
      </p:sp>
      <p:sp>
        <p:nvSpPr>
          <p:cNvPr id="26" name="Text 24"/>
          <p:cNvSpPr/>
          <p:nvPr/>
        </p:nvSpPr>
        <p:spPr>
          <a:xfrm>
            <a:off x="8229600" y="2157984"/>
            <a:ext cx="3017520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Ana fikir: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Kısıtlar yalnızca sınır değildir.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Çözüme götüren çıkarım kaynağıdır.</a:t>
            </a:r>
            <a:endParaRPr lang="en-US" sz="20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9D91"/>
          </a:solidFill>
          <a:ln w="12700">
            <a:solidFill>
              <a:srgbClr val="009D9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2468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ÜNİTE SONU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76072" y="630936"/>
            <a:ext cx="11018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Kaynaklar ve görseller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64240" cy="0"/>
          </a:xfrm>
          <a:prstGeom prst="line">
            <a:avLst/>
          </a:prstGeom>
          <a:noFill/>
          <a:ln w="10160">
            <a:solidFill>
              <a:srgbClr val="DD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69380"/>
            <a:ext cx="9326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53647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Yapay Zekâya Giriş  •  Bölüm 6: Constraint Satisfaction Problems</a:t>
            </a:r>
            <a:endParaRPr lang="en-US" sz="910" dirty="0"/>
          </a:p>
        </p:txBody>
      </p:sp>
      <p:sp>
        <p:nvSpPr>
          <p:cNvPr id="7" name="Text 5"/>
          <p:cNvSpPr/>
          <p:nvPr/>
        </p:nvSpPr>
        <p:spPr>
          <a:xfrm>
            <a:off x="11109960" y="6460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112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" y="1517904"/>
            <a:ext cx="10671048" cy="452628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83794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Temel kaynak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60704" y="2322576"/>
            <a:ext cx="9902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Stuart Russell &amp; Peter Norvig, Artificial Intelligence: A Modern Approach (3. Baskı), Bölüm 6: Constraint Satisfaction Problems, 6.1–6.5.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60704" y="360273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09D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Şekiller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60704" y="4050792"/>
            <a:ext cx="99669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10" dirty="0">
                <a:solidFill>
                  <a:srgbClr val="15253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Kitap Şekil 6.1, 6.2, 6.4, 6.6, 6.7, 6.9, 6.10, 6.12 ve 6.13: kullanıcı tarafından paylaşılan görseller. Algoritma gösterimleri ve örnek çizelgeler Türkçe yeniden düzenlenmiştir.</a:t>
            </a:r>
            <a:endParaRPr lang="en-US" sz="18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a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112</Slides>
  <Notes>112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112</vt:i4>
      </vt:variant>
    </vt:vector>
  </HeadingPairs>
  <TitlesOfParts>
    <vt:vector size="1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</vt:vector>
  </TitlesOfParts>
  <Company>Yapay Zekâya Giriş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6. Ünite - Kısıt Tatmin Problemleri (CSP)</dc:title>
  <dc:subject>Ünite 6 Kısıt Tatmin Problemleri Türkçe kapsamlı ders slaytı</dc:subject>
  <dc:creator>OpenAI</dc:creator>
  <cp:lastModifiedBy>OpenAI</cp:lastModifiedBy>
  <cp:revision>1</cp:revision>
  <dcterms:created xsi:type="dcterms:W3CDTF">2026-10-13T10:56:24Z</dcterms:created>
  <dcterms:modified xsi:type="dcterms:W3CDTF">2026-10-13T10:56:24Z</dcterms:modified>
</cp:coreProperties>
</file>