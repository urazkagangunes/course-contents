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9"/>
    <p:sldId id="265" r:id="rId11"/>
    <p:sldId id="270" r:id="rId16"/>
    <p:sldId id="273" r:id="rId19"/>
    <p:sldId id="277" r:id="rId23"/>
    <p:sldId id="279" r:id="rId25"/>
    <p:sldId id="280" r:id="rId26"/>
    <p:sldId id="283" r:id="rId29"/>
    <p:sldId id="285" r:id="rId31"/>
    <p:sldId id="288" r:id="rId34"/>
    <p:sldId id="292" r:id="rId38"/>
    <p:sldId id="294" r:id="rId40"/>
    <p:sldId id="296" r:id="rId42"/>
    <p:sldId id="298" r:id="rId44"/>
    <p:sldId id="299" r:id="rId45"/>
    <p:sldId id="300" r:id="rId46"/>
    <p:sldId id="302" r:id="rId48"/>
    <p:sldId id="303" r:id="rId49"/>
    <p:sldId id="305" r:id="rId51"/>
    <p:sldId id="307" r:id="rId53"/>
    <p:sldId id="308" r:id="rId54"/>
    <p:sldId id="311" r:id="rId57"/>
    <p:sldId id="312" r:id="rId58"/>
    <p:sldId id="313" r:id="rId59"/>
    <p:sldId id="316" r:id="rId62"/>
    <p:sldId id="320" r:id="rId66"/>
    <p:sldId id="322" r:id="rId68"/>
    <p:sldId id="323" r:id="rId69"/>
    <p:sldId id="326" r:id="rId72"/>
    <p:sldId id="327" r:id="rId73"/>
    <p:sldId id="329" r:id="rId75"/>
    <p:sldId id="331" r:id="rId77"/>
    <p:sldId id="333" r:id="rId79"/>
    <p:sldId id="335" r:id="rId81"/>
    <p:sldId id="338" r:id="rId84"/>
    <p:sldId id="339" r:id="rId85"/>
    <p:sldId id="342" r:id="rId88"/>
    <p:sldId id="346" r:id="rId92"/>
    <p:sldId id="347" r:id="rId93"/>
    <p:sldId id="349" r:id="rId95"/>
    <p:sldId id="352" r:id="rId98"/>
  </p:sldIdLst>
  <p:notesMasterIdLst>
    <p:notesMasterId r:id="rId1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6" Type="http://schemas.openxmlformats.org/officeDocument/2006/relationships/slide" Target="slides/slide4.xml"/><Relationship Id="rId19" Type="http://schemas.openxmlformats.org/officeDocument/2006/relationships/slide" Target="slides/slide5.xml"/><Relationship Id="rId23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9" Type="http://schemas.openxmlformats.org/officeDocument/2006/relationships/slide" Target="slides/slide9.xml"/><Relationship Id="rId31" Type="http://schemas.openxmlformats.org/officeDocument/2006/relationships/slide" Target="slides/slide10.xml"/><Relationship Id="rId34" Type="http://schemas.openxmlformats.org/officeDocument/2006/relationships/slide" Target="slides/slide11.xml"/><Relationship Id="rId38" Type="http://schemas.openxmlformats.org/officeDocument/2006/relationships/slide" Target="slides/slide12.xml"/><Relationship Id="rId40" Type="http://schemas.openxmlformats.org/officeDocument/2006/relationships/slide" Target="slides/slide13.xml"/><Relationship Id="rId42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8" Type="http://schemas.openxmlformats.org/officeDocument/2006/relationships/slide" Target="slides/slide18.xml"/><Relationship Id="rId49" Type="http://schemas.openxmlformats.org/officeDocument/2006/relationships/slide" Target="slides/slide19.xml"/><Relationship Id="rId51" Type="http://schemas.openxmlformats.org/officeDocument/2006/relationships/slide" Target="slides/slide20.xml"/><Relationship Id="rId53" Type="http://schemas.openxmlformats.org/officeDocument/2006/relationships/slide" Target="slides/slide21.xml"/><Relationship Id="rId54" Type="http://schemas.openxmlformats.org/officeDocument/2006/relationships/slide" Target="slides/slide22.xml"/><Relationship Id="rId57" Type="http://schemas.openxmlformats.org/officeDocument/2006/relationships/slide" Target="slides/slide23.xml"/><Relationship Id="rId58" Type="http://schemas.openxmlformats.org/officeDocument/2006/relationships/slide" Target="slides/slide24.xml"/><Relationship Id="rId59" Type="http://schemas.openxmlformats.org/officeDocument/2006/relationships/slide" Target="slides/slide25.xml"/><Relationship Id="rId62" Type="http://schemas.openxmlformats.org/officeDocument/2006/relationships/slide" Target="slides/slide26.xml"/><Relationship Id="rId66" Type="http://schemas.openxmlformats.org/officeDocument/2006/relationships/slide" Target="slides/slide27.xml"/><Relationship Id="rId68" Type="http://schemas.openxmlformats.org/officeDocument/2006/relationships/slide" Target="slides/slide28.xml"/><Relationship Id="rId69" Type="http://schemas.openxmlformats.org/officeDocument/2006/relationships/slide" Target="slides/slide29.xml"/><Relationship Id="rId72" Type="http://schemas.openxmlformats.org/officeDocument/2006/relationships/slide" Target="slides/slide30.xml"/><Relationship Id="rId73" Type="http://schemas.openxmlformats.org/officeDocument/2006/relationships/slide" Target="slides/slide31.xml"/><Relationship Id="rId75" Type="http://schemas.openxmlformats.org/officeDocument/2006/relationships/slide" Target="slides/slide32.xml"/><Relationship Id="rId77" Type="http://schemas.openxmlformats.org/officeDocument/2006/relationships/slide" Target="slides/slide33.xml"/><Relationship Id="rId79" Type="http://schemas.openxmlformats.org/officeDocument/2006/relationships/slide" Target="slides/slide34.xml"/><Relationship Id="rId81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8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5" Type="http://schemas.openxmlformats.org/officeDocument/2006/relationships/slide" Target="slides/slide41.xml"/><Relationship Id="rId98" Type="http://schemas.openxmlformats.org/officeDocument/2006/relationships/slide" Target="slides/slide42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56000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49808" y="713232"/>
            <a:ext cx="2011680" cy="338328"/>
          </a:xfrm>
          <a:prstGeom prst="roundRect">
            <a:avLst>
              <a:gd name="adj" fmla="val 24324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7680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ÜNİTE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5E1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Birinci Dereceden Mantık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31821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First-Order Logic (FOL)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59536" y="3913632"/>
            <a:ext cx="9838944" cy="0"/>
          </a:xfrm>
          <a:prstGeom prst="line">
            <a:avLst/>
          </a:prstGeom>
          <a:noFill/>
          <a:ln w="17780">
            <a:solidFill>
              <a:srgbClr val="40607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1248" y="42519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 •  Yorumlama  •  Niceleyiciler  •  Mantıksal Çıkarım  •  Bilgi Mühendisliği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D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Kapsam: 8.1 – 8.4.1  |  8.4.2 Elektronik Devreler hariç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6245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C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İstanbul 29 Mayıs Üniversitesi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 – FOL’YE GEÇİŞ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FOL gerekli?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3776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Önerme: B₁,₁ ⇔ (P₁,₂ ∨ P₂,₁) yalnızca tek kareye aittir.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792224"/>
            <a:ext cx="10872216" cy="1527048"/>
          </a:xfrm>
          <a:prstGeom prst="roundRect">
            <a:avLst>
              <a:gd name="adj" fmla="val 10180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3969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[PitNear(x) ⇒ Breezy(x)]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58368" y="3657600"/>
            <a:ext cx="10872216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986784"/>
            <a:ext cx="10195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“Çukura komşu olan her kare esintilidir.”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Önermeler mantığında her kareye ayrı kural yazarken, FOL ile nesneler üzerinde tek bir genel kural kullanırız.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8.1.1 – DÜŞÜNCENİN DİLİ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Doğal dil: Güçlü ama bağlama bağlı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609344"/>
            <a:ext cx="3575304" cy="420624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764792"/>
            <a:ext cx="3163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Yüksek ifade gücü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295144"/>
            <a:ext cx="31638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Günlük olaylar, ilişkiler, kurallar ve istisnalar rahatça açıklanır.</a:t>
            </a:r>
            <a:endParaRPr lang="en-US" sz="1740" dirty="0"/>
          </a:p>
        </p:txBody>
      </p:sp>
      <p:sp>
        <p:nvSpPr>
          <p:cNvPr id="12" name="Shape 10"/>
          <p:cNvSpPr/>
          <p:nvPr/>
        </p:nvSpPr>
        <p:spPr>
          <a:xfrm>
            <a:off x="4306824" y="1609344"/>
            <a:ext cx="3575304" cy="420624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6824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1764792"/>
            <a:ext cx="3163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Bağlam zorunluluğu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17136" y="2295144"/>
            <a:ext cx="31638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“Bak!” sözünün anlamı, konuşma anına ve işaret edilen şeye bağlıdır.</a:t>
            </a:r>
            <a:endParaRPr lang="en-US" sz="1740" dirty="0"/>
          </a:p>
        </p:txBody>
      </p:sp>
      <p:sp>
        <p:nvSpPr>
          <p:cNvPr id="16" name="Shape 14"/>
          <p:cNvSpPr/>
          <p:nvPr/>
        </p:nvSpPr>
        <p:spPr>
          <a:xfrm>
            <a:off x="8083296" y="1609344"/>
            <a:ext cx="3575304" cy="420624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764792"/>
            <a:ext cx="3163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anlamlılık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295144"/>
            <a:ext cx="31638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İngilizcede “spring” hem ilkbahar hem mekanik yay olabilir.</a:t>
            </a:r>
            <a:endParaRPr lang="en-US" sz="1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8.1.2 – TEMSİLİN BİLEŞENLERİ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Birinci dereceden mantığın yapı taşları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Image 0" descr="/mnt/data/ai8_work/fol_y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4025" y="1563624"/>
            <a:ext cx="6846622" cy="29900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49834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Nesne = ne hakkında?   •   İlişki = nesneler nasıl bağlantılı?   •   Fonksiyon = girdiye hangi nesne karşılık gelir?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8.1.2 – İKİ AYRI SORU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Ontoloji ve epistemoloji aynı şey değildir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609344"/>
            <a:ext cx="54635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764792"/>
            <a:ext cx="50520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Ontolojik bağlılık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295144"/>
            <a:ext cx="505206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Dünyada ne var?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Olgular mı; nesneler, ilişkiler ve zamanlar da mı?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95060" y="1609344"/>
            <a:ext cx="54635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5060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5372" y="1764792"/>
            <a:ext cx="50520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Epistemolojik bağlılık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5372" y="2295144"/>
            <a:ext cx="505206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olgu hakkında ne biliyoruz?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 olduğuna inanma, yanlış olduğuna inanma veya bilmeme.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 – TEMEL AYRIM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Sözdizimi ve anlambilim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– Sözdizimi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41248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Hangi ifadelerin yazılması geçerli?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Brother(Richard,John) geçerli bir atomdur.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∀, ∃, fonksiyon ve terimlerin kuralları.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27064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Semantics – Anlambilim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55664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Semboller neyi gösteriyor?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55664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Richard ve John hangi nesneler?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55664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Brother ilişkisi bu ikili için geçerli mi?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8.2.1 – ŞEKİL 8.2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8.2 – Beş nesneli örnek model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64208"/>
            <a:ext cx="57607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ai8_work/sekil_8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94328"/>
            <a:ext cx="5449824" cy="347168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74536" y="1783080"/>
            <a:ext cx="4928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ŞEKLİN TÜRKÇE AÇIKLAMASI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74536" y="2212848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Modelde Richard, John, iki sol bacak ve bir taç olmak üzere 5 nesne bulunur.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74536" y="3493008"/>
            <a:ext cx="82296" cy="82296"/>
          </a:xfrm>
          <a:prstGeom prst="roundRect">
            <a:avLst>
              <a:gd name="adj" fmla="val 155556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39128" y="3447288"/>
            <a:ext cx="47457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ikili ilişki: Brother ve OnHead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574536" y="4105656"/>
            <a:ext cx="82296" cy="82296"/>
          </a:xfrm>
          <a:prstGeom prst="roundRect">
            <a:avLst>
              <a:gd name="adj" fmla="val 155556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39128" y="4059936"/>
            <a:ext cx="47457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tekli özellik: Person, King, Crown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574536" y="4718304"/>
            <a:ext cx="82296" cy="82296"/>
          </a:xfrm>
          <a:prstGeom prst="roundRect">
            <a:avLst>
              <a:gd name="adj" fmla="val 155556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39128" y="4672584"/>
            <a:ext cx="47457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fonksiyon: LeftLeg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8.2.1 – ŞEKİL 8.2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8.2 – Modeli kümelerle yazalım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3776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Tuple/demet: sırayla yazılmış nesne çiftleri veya dizileri.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56232"/>
            <a:ext cx="11000232" cy="620486"/>
          </a:xfrm>
          <a:prstGeom prst="roundRect">
            <a:avLst>
              <a:gd name="adj" fmla="val 8842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883664"/>
            <a:ext cx="2295144" cy="56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parçası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163824" y="1883664"/>
            <a:ext cx="4581144" cy="56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Biçimsel gösterim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918704" y="1883664"/>
            <a:ext cx="3602736" cy="56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Anlamı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76072" y="2476718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508722"/>
            <a:ext cx="2286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Evren 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72968" y="2508722"/>
            <a:ext cx="4572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{R, J, Lᴿ, Lᴶ, C}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927848" y="2508722"/>
            <a:ext cx="35935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ayrı nesne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76072" y="3097203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129207"/>
            <a:ext cx="2286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172968" y="3129207"/>
            <a:ext cx="4572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{R, J}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927848" y="3129207"/>
            <a:ext cx="35935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kişi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76072" y="3717689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749693"/>
            <a:ext cx="2286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172968" y="3749693"/>
            <a:ext cx="4572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{J}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927848" y="3749693"/>
            <a:ext cx="35935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Yalnız John kral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76072" y="4338175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370179"/>
            <a:ext cx="2286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172968" y="4370179"/>
            <a:ext cx="4572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{C}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927848" y="4370179"/>
            <a:ext cx="35935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taç nesnesi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76072" y="4958661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4990665"/>
            <a:ext cx="2286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Brother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172968" y="4990665"/>
            <a:ext cx="4572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{(R,J), (J,R)}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927848" y="4990665"/>
            <a:ext cx="35935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yönlü kardeşlik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76072" y="5579146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" y="5611150"/>
            <a:ext cx="2286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OnHead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3172968" y="5611150"/>
            <a:ext cx="45720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{(C,J)}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927848" y="5611150"/>
            <a:ext cx="35935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Taç John’un başında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8.2.2 – SEMBOLLER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 sembollerinin üç türü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609344"/>
            <a:ext cx="3575304" cy="420624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764792"/>
            <a:ext cx="3163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Sabit (Constant)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295144"/>
            <a:ext cx="31638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Richard, John, 0</a:t>
            </a:r>
            <a:endParaRPr lang="en-US" sz="1740" dirty="0"/>
          </a:p>
          <a:p>
            <a:pPr indent="0" marL="0">
              <a:buNone/>
            </a:pPr>
            <a:endParaRPr lang="en-US" sz="1740" dirty="0"/>
          </a:p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Belirli bir nesneyi adlandırır.</a:t>
            </a:r>
            <a:endParaRPr lang="en-US" sz="1740" dirty="0"/>
          </a:p>
        </p:txBody>
      </p:sp>
      <p:sp>
        <p:nvSpPr>
          <p:cNvPr id="12" name="Shape 10"/>
          <p:cNvSpPr/>
          <p:nvPr/>
        </p:nvSpPr>
        <p:spPr>
          <a:xfrm>
            <a:off x="4306824" y="1609344"/>
            <a:ext cx="3575304" cy="420624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6824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1764792"/>
            <a:ext cx="3163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Yüklem (Predicate)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17136" y="2295144"/>
            <a:ext cx="31638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King(x), Brother(x,y)</a:t>
            </a:r>
            <a:endParaRPr lang="en-US" sz="1740" dirty="0"/>
          </a:p>
          <a:p>
            <a:pPr indent="0" marL="0">
              <a:buNone/>
            </a:pPr>
            <a:endParaRPr lang="en-US" sz="1740" dirty="0"/>
          </a:p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Özellik ya da ilişkiyi belirtir.</a:t>
            </a:r>
            <a:endParaRPr lang="en-US" sz="1740" dirty="0"/>
          </a:p>
        </p:txBody>
      </p:sp>
      <p:sp>
        <p:nvSpPr>
          <p:cNvPr id="16" name="Shape 14"/>
          <p:cNvSpPr/>
          <p:nvPr/>
        </p:nvSpPr>
        <p:spPr>
          <a:xfrm>
            <a:off x="8083296" y="1609344"/>
            <a:ext cx="3575304" cy="420624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764792"/>
            <a:ext cx="3163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Fonksiyon (Function)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295144"/>
            <a:ext cx="31638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LeftLeg(x), Mother(x)</a:t>
            </a:r>
            <a:endParaRPr lang="en-US" sz="1740" dirty="0"/>
          </a:p>
          <a:p>
            <a:pPr indent="0" marL="0">
              <a:buNone/>
            </a:pPr>
            <a:endParaRPr lang="en-US" sz="1740" dirty="0"/>
          </a:p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 olarak nesneye karşılık gelir.</a:t>
            </a:r>
            <a:endParaRPr lang="en-US" sz="1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8.2.2 – YORUMLAMA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Yorumlama (Interpretation) sembollere anlam verir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36776"/>
            <a:ext cx="105156" cy="105156"/>
          </a:xfrm>
          <a:prstGeom prst="roundRect">
            <a:avLst>
              <a:gd name="adj" fmla="val 1739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508760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Sabit: John → belirli bir kişi nesnesi.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2505456"/>
            <a:ext cx="105156" cy="105156"/>
          </a:xfrm>
          <a:prstGeom prst="roundRect">
            <a:avLst>
              <a:gd name="adj" fmla="val 17391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377440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Yüklem: King → kral olan nesnelerin kümesi.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85800" y="3374136"/>
            <a:ext cx="105156" cy="105156"/>
          </a:xfrm>
          <a:prstGeom prst="roundRect">
            <a:avLst>
              <a:gd name="adj" fmla="val 1739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246120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Fonksiyon: LeftLeg → kişileri sol bacak nesnesine eşleme.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" y="4242816"/>
            <a:ext cx="105156" cy="105156"/>
          </a:xfrm>
          <a:prstGeom prst="roundRect">
            <a:avLst>
              <a:gd name="adj" fmla="val 17391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114800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“Amaçlanan yorumlama” gerçek anlatmak istediğimiz nesne ve ilişkilerdir.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8.2.2 – ŞEKİL 8.4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8.4 – Standart FOL’de olası modeller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64208"/>
            <a:ext cx="68580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ai8_work/sekil_8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84183"/>
            <a:ext cx="6547104" cy="22919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71816" y="1783080"/>
            <a:ext cx="3831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ŞEKLİN TÜRKÇE AÇIKLAMASI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71816" y="2212848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ve J sabitleri gri oklarla nesnelere bağlanır. İlişkiye katılan nesneler siyah oklarla gösterilir.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671816" y="3493008"/>
            <a:ext cx="82296" cy="82296"/>
          </a:xfrm>
          <a:prstGeom prst="roundRect">
            <a:avLst>
              <a:gd name="adj" fmla="val 155556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36408" y="3447288"/>
            <a:ext cx="3648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Modelde nesne sayısı 1’den sonsuza değişebilir.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671816" y="4105656"/>
            <a:ext cx="82296" cy="82296"/>
          </a:xfrm>
          <a:prstGeom prst="roundRect">
            <a:avLst>
              <a:gd name="adj" fmla="val 155556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4059936"/>
            <a:ext cx="3648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ile J aynı nesneyi gösterebilir.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671816" y="4718304"/>
            <a:ext cx="82296" cy="82296"/>
          </a:xfrm>
          <a:prstGeom prst="roundRect">
            <a:avLst>
              <a:gd name="adj" fmla="val 155556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6408" y="4672584"/>
            <a:ext cx="3648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Bazı nesneler isimsiz kalabilir.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8.2.3–8.2.4 – TERİM / ATOM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 ile cümleyi karıştırmayın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Terim: nesneyi belirtir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41248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Father(Ali)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LeftLeg(John)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Plus(1,2)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41248" y="4645152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52628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nesneye gönderme yapar.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27064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7064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Cümle: doğru/yanlış olabilir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455664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Doctor(Father(Ali))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55664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Brother(Richard,John)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55664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5976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Plus(1,2)=3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55664" y="4645152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65976" y="452628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olgu ifade eder.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8.2.5 – KARMAŞIK CÜMLELER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Karmaşık cümleler ve mantıksal bağlaçlar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3776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Bağlaçlar önermeler mantığındaki aynı doğruluk koşullarını korur.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56232"/>
            <a:ext cx="11000232" cy="640080"/>
          </a:xfrm>
          <a:prstGeom prst="roundRect">
            <a:avLst>
              <a:gd name="adj" fmla="val 8571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883664"/>
            <a:ext cx="1837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Bağlaç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06624" y="1883664"/>
            <a:ext cx="4398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78624" y="1883664"/>
            <a:ext cx="4242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Türkçe anlam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76072" y="249631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52831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715768" y="2528316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¬King(Richard)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87768" y="2528316"/>
            <a:ext cx="4233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Richard kral değildir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76072" y="313639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16839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∧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715768" y="3168396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Brother(R,J) ∧ Brother(J,R)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287768" y="3168396"/>
            <a:ext cx="4233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olgu da doğru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76072" y="377647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80847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715768" y="3808476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King(R) ∨ King(J)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87768" y="3808476"/>
            <a:ext cx="4233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az biri doğru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76072" y="441655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44855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⇒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715768" y="4448556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King(J) ⇒ Person(J)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87768" y="4448556"/>
            <a:ext cx="4233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Eğer ... ise ...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76072" y="505663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508863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⇔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2715768" y="5088636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⇔ Q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287768" y="5088636"/>
            <a:ext cx="4233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Ancak ve ancak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8.2.6 – EVRENSEL NİCELEME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Evrensel niceleyici (∀)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10872216" cy="1527048"/>
          </a:xfrm>
          <a:prstGeom prst="roundRect">
            <a:avLst>
              <a:gd name="adj" fmla="val 10180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3969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(King(x) ⇒ Person(x))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58368" y="3657600"/>
            <a:ext cx="10872216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986784"/>
            <a:ext cx="10195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“Bütün krallar insandır.”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nesne x için kontrol edilir; kral olmayan nesneler hakkında insan olma zorunluluğu yoktur.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8.2.6 – EVRENSEL NİCELEME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 kullanırken yaygın hata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DOĞRU: Koşullu kural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41248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(King(x) ⇒ Person(x))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Yalnızca kral olanlardan insan olmasını ister.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Taç kral değilse cümle yine doğru olabilir.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27064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YANLIŞ: Birleşim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55664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(King(x) ∧ Person(x))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55664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Evrendeki her nesnenin hem kral hem insan olmasını ister.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55664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Taç ve bacak için de kral demektir.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8.2.6 – VAROLUŞSAL NİCELEME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Varoluşsal niceleyici (∃)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10872216" cy="1527048"/>
          </a:xfrm>
          <a:prstGeom prst="roundRect">
            <a:avLst>
              <a:gd name="adj" fmla="val 10180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3969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(Crown(x) ∧ OnHead(x,John))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58368" y="3657600"/>
            <a:ext cx="10872216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986784"/>
            <a:ext cx="10195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“John’un başında en az bir taç vardır.”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ifadeyi doğru yapan bir nesne bulmamız yeterlidir; iki taç da olsa ifade doğru kalır.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8.2.6 – VAROLUŞSAL NİCELEME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 ile neden genellikle ∧ kullanılır?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DOĞRU: Birlikte sağlama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41248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(Crown(x) ∧ OnHead(x,John))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nesne hem taçtır hem John’un başındadır.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27064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YANILTICI: ⇒ kullanmak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55664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(Crown(x) ⇒ OnHead(x,John))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55664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Taç olmayan bir nesne için de doğru olabilir.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55664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Taç bulunduğunu garanti etmez.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8.2.6 – İÇ İÇE NİCELEYİCİLER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Niceleyici sırası anlamı değiştirir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10872216" cy="1527048"/>
          </a:xfrm>
          <a:prstGeom prst="roundRect">
            <a:avLst>
              <a:gd name="adj" fmla="val 10180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3969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∃y Loves(x,y)    ≠    ∃y ∀x Loves(x,y)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58368" y="3657600"/>
            <a:ext cx="10872216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986784"/>
            <a:ext cx="10195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Sol: Herkes en az birini sever; kişiler farklı olabilir.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Sağ: Herkesin sevdiği ortak en az bir kişi vardır.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8.2.6 – İÇ İÇE NİCELEYİCİLER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Niceleyici sırası – Görsel karşılaştırma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pic>
        <p:nvPicPr>
          <p:cNvPr id="8" name="Image 0" descr="/mnt/data/ai8_work/niceleyici_sir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158" y="1600200"/>
            <a:ext cx="9587491" cy="35295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5413248"/>
            <a:ext cx="10497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Görselin mesajı:  ∀x∃y kişiye göre farklı bir y seçebilir; ∃y∀x herkes için aynı y’yi seçer.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8.2.6 – NİCELEYİCİLERİN BAĞLANTISI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Niceleyiciler için De Morgan kuralları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3776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Niceleyicinin dışına ¬ çıkarırken ∀ ↔ ∃ değişir.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56232"/>
            <a:ext cx="11000232" cy="620486"/>
          </a:xfrm>
          <a:prstGeom prst="roundRect">
            <a:avLst>
              <a:gd name="adj" fmla="val 8842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883664"/>
            <a:ext cx="5221224" cy="56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İfade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89904" y="1883664"/>
            <a:ext cx="5431536" cy="56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Eşdeğer ifade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76072" y="2476718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508722"/>
            <a:ext cx="521208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¬P(x)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48" y="2508722"/>
            <a:ext cx="54223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¬∃x P(x)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76072" y="3097203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129207"/>
            <a:ext cx="521208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¬∀x P(x)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099048" y="3129207"/>
            <a:ext cx="54223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¬P(x)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76072" y="3717689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749693"/>
            <a:ext cx="521208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P(x)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099048" y="3749693"/>
            <a:ext cx="54223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¬∃x ¬P(x)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76072" y="4338175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370179"/>
            <a:ext cx="521208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P(x)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099048" y="4370179"/>
            <a:ext cx="54223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¬∀x ¬P(x)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76072" y="4958661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4990665"/>
            <a:ext cx="521208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¬(P∨Q)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099048" y="4990665"/>
            <a:ext cx="54223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 ∧ ¬Q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76072" y="5579146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5611150"/>
            <a:ext cx="521208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¬(P∧Q)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099048" y="5611150"/>
            <a:ext cx="542239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 ∨ ¬Q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8.2.7 – EŞİTLİK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Eşitlik (Equality)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10872216" cy="1527048"/>
          </a:xfrm>
          <a:prstGeom prst="roundRect">
            <a:avLst>
              <a:gd name="adj" fmla="val 10180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3969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Father(John) = Henry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58368" y="3657600"/>
            <a:ext cx="10872216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986784"/>
            <a:ext cx="10195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“John’un babası” terimi ile “Henry” terimi aynı nesneyi gösterir.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Farklılık için x ≠ y yazılır.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8.2.7 – ÇÖZÜMLÜ ÖRNEK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“Richard’ın en az iki kardeşi vardır”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81051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92024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96596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89280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ve y adlı iki aday nesne seç: ∃x,y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" y="263347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74320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78892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271576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ikisi de Richard’ın kardeşi olmalı: Brother(x,Richard) ∧ Brother(y,Richard).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" y="345643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56616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61188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353872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değişkenin aynı John’a bağlanmasını engelle: x ≠ y.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" y="5541264"/>
            <a:ext cx="10917936" cy="603504"/>
          </a:xfrm>
          <a:prstGeom prst="roundRect">
            <a:avLst>
              <a:gd name="adj" fmla="val 13636"/>
            </a:avLst>
          </a:prstGeom>
          <a:solidFill>
            <a:srgbClr val="DDF4EE"/>
          </a:solidFill>
          <a:ln w="12700">
            <a:solidFill>
              <a:srgbClr val="DDF4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650992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   ∃x,y [Brother(x,Richard) ∧ Brother(y,Richard) ∧ x ≠ y]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8.2.8 – DATABASE SEMANTICS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Veritabanı anlambiliminin üç varsayımı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609344"/>
            <a:ext cx="3575304" cy="420624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764792"/>
            <a:ext cx="3163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Benzersiz isimler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295144"/>
            <a:ext cx="31638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farklı sabit sembolü farklı nesneyi gösterir.</a:t>
            </a:r>
            <a:endParaRPr lang="en-US" sz="1740" dirty="0"/>
          </a:p>
          <a:p>
            <a:pPr indent="0" marL="0">
              <a:buNone/>
            </a:pPr>
            <a:endParaRPr lang="en-US" sz="1740" dirty="0"/>
          </a:p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 ≠ Geoffrey</a:t>
            </a:r>
            <a:endParaRPr lang="en-US" sz="1740" dirty="0"/>
          </a:p>
        </p:txBody>
      </p:sp>
      <p:sp>
        <p:nvSpPr>
          <p:cNvPr id="12" name="Shape 10"/>
          <p:cNvSpPr/>
          <p:nvPr/>
        </p:nvSpPr>
        <p:spPr>
          <a:xfrm>
            <a:off x="4306824" y="1609344"/>
            <a:ext cx="3575304" cy="420624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6824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1764792"/>
            <a:ext cx="3163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Kapalı dünya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17136" y="2295144"/>
            <a:ext cx="31638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 olarak kaydedilmeyen atomik olgular yanlış kabul edilir.</a:t>
            </a:r>
            <a:endParaRPr lang="en-US" sz="1740" dirty="0"/>
          </a:p>
        </p:txBody>
      </p:sp>
      <p:sp>
        <p:nvSpPr>
          <p:cNvPr id="16" name="Shape 14"/>
          <p:cNvSpPr/>
          <p:nvPr/>
        </p:nvSpPr>
        <p:spPr>
          <a:xfrm>
            <a:off x="8083296" y="1609344"/>
            <a:ext cx="3575304" cy="420624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1609344"/>
            <a:ext cx="73152" cy="4206240"/>
          </a:xfrm>
          <a:prstGeom prst="roundRect">
            <a:avLst>
              <a:gd name="adj" fmla="val 175000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764792"/>
            <a:ext cx="3163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Evren kapanışı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295144"/>
            <a:ext cx="31638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İsimlendirilmemiş ek nesnelerin bulunmadığı kabul edilir.</a:t>
            </a:r>
            <a:endParaRPr lang="en-US" sz="17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8.2.8 – ŞEKİL 8.5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8.5 – Veritabanı anlambilimi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64208"/>
            <a:ext cx="68580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ai8_work/sekil_8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59336"/>
            <a:ext cx="6547104" cy="23416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71816" y="1783080"/>
            <a:ext cx="3831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ŞEKLİN TÜRKÇE AÇIKLAMASI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71816" y="2212848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modelde iki farklı nesne vardır: R ve J. Sabitlerin eşlemeleri değişmez; yalnızca ikili ilişkinin içerdiği oklar değişir.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671816" y="3493008"/>
            <a:ext cx="82296" cy="82296"/>
          </a:xfrm>
          <a:prstGeom prst="roundRect">
            <a:avLst>
              <a:gd name="adj" fmla="val 155556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36408" y="3447288"/>
            <a:ext cx="3648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ile J aynı nesne olamaz.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671816" y="4105656"/>
            <a:ext cx="82296" cy="82296"/>
          </a:xfrm>
          <a:prstGeom prst="roundRect">
            <a:avLst>
              <a:gd name="adj" fmla="val 155556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4059936"/>
            <a:ext cx="3648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nesnede dört olası sıralı ikili var.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671816" y="4718304"/>
            <a:ext cx="82296" cy="82296"/>
          </a:xfrm>
          <a:prstGeom prst="roundRect">
            <a:avLst>
              <a:gd name="adj" fmla="val 155556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6408" y="4672584"/>
            <a:ext cx="3648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ikili ya ilişkide vardır ya yoktur.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8.2.8 – ÇÖZÜMLÜ ÖRNEK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8.5: neden yalnızca 16 model?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81051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92024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96596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89280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Nesneler: D = {R, J}.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" y="263347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74320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78892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271576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Olası sıralı ikililer: (R,R), (R,J), (J,R), (J,J).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" y="345643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56616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61188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353872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sıralı ikili için ilişkiye dahil olma veya olmama seçeneği var.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" y="5541264"/>
            <a:ext cx="10917936" cy="603504"/>
          </a:xfrm>
          <a:prstGeom prst="roundRect">
            <a:avLst>
              <a:gd name="adj" fmla="val 13636"/>
            </a:avLst>
          </a:prstGeom>
          <a:solidFill>
            <a:srgbClr val="DDF4EE"/>
          </a:solidFill>
          <a:ln w="12700">
            <a:solidFill>
              <a:srgbClr val="DDF4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650992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   2⁴ = 16 farklı ikili ilişki modeli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8.3.1 – BİLDİRİM VE SORGULAR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tabanı arayüzü: TELL / ASK / ASKVARS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609344"/>
            <a:ext cx="10835640" cy="923544"/>
          </a:xfrm>
          <a:prstGeom prst="roundRect">
            <a:avLst>
              <a:gd name="adj" fmla="val 10891"/>
            </a:avLst>
          </a:prstGeom>
          <a:solidFill>
            <a:srgbClr val="E8F3F2"/>
          </a:solidFill>
          <a:ln w="12700">
            <a:solidFill>
              <a:srgbClr val="E8F3F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28216"/>
            <a:ext cx="5669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TELL(KB, King(John))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0" y="1728216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Bildirim: John kraldır.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" y="2688336"/>
            <a:ext cx="10835640" cy="923544"/>
          </a:xfrm>
          <a:prstGeom prst="roundRect">
            <a:avLst>
              <a:gd name="adj" fmla="val 108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807208"/>
            <a:ext cx="5669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TELL(KB, ∀x (King(x) ⇒ Person(x)))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807208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kural: bütün krallar insandır.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8368" y="3767328"/>
            <a:ext cx="10835640" cy="923544"/>
          </a:xfrm>
          <a:prstGeom prst="roundRect">
            <a:avLst>
              <a:gd name="adj" fmla="val 10891"/>
            </a:avLst>
          </a:prstGeom>
          <a:solidFill>
            <a:srgbClr val="E8F3F2"/>
          </a:solidFill>
          <a:ln w="12700">
            <a:solidFill>
              <a:srgbClr val="E8F3F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886200"/>
            <a:ext cx="5669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ASK(KB, Person(John))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3886200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Sorgu sonucu: True (çıkarım).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" y="4846320"/>
            <a:ext cx="10835640" cy="923544"/>
          </a:xfrm>
          <a:prstGeom prst="roundRect">
            <a:avLst>
              <a:gd name="adj" fmla="val 108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965192"/>
            <a:ext cx="5669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ASKVARS(KB, Person(x))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83680" y="4965192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Bağlama: {x/John}, {x/Richard} vb.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8.3.2 – AKRABALIK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Akrabalık: tanım şeklindeki aksiyomlar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3776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satırın başında uygun evrensel niceleyicilerin (∀) bulunduğu varsayılır.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56232"/>
            <a:ext cx="11000232" cy="640080"/>
          </a:xfrm>
          <a:prstGeom prst="roundRect">
            <a:avLst>
              <a:gd name="adj" fmla="val 8571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883664"/>
            <a:ext cx="6501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ifade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70064" y="1883664"/>
            <a:ext cx="4151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Türkçe açıklaması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76072" y="249631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528316"/>
            <a:ext cx="6492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Mother(c)=m ⇔ Female(m) ∧ Parent(m,c)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79208" y="2528316"/>
            <a:ext cx="4142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m, c’nin kadın ebeveynidir.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76072" y="313639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168396"/>
            <a:ext cx="6492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Husband(h,w) ⇔ Male(h) ∧ Spouse(h,w)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79208" y="3168396"/>
            <a:ext cx="4142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h, w’nin erkek eşidir.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76072" y="377647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808476"/>
            <a:ext cx="6492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Parent(p,c) ⇔ Child(c,p)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79208" y="3808476"/>
            <a:ext cx="4142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Ebeveyn ve çocuk ters ilişkilerdir.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76072" y="441655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448556"/>
            <a:ext cx="6492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Male(x) ⇔ ¬Female(x)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79208" y="4448556"/>
            <a:ext cx="4142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Kitabın basitleştirilmiş ikili kategorisi.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8.3.2 – AKRABALIK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Kardeşlik ilişkisi nasıl tanımlanır?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3776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Kardeşler aynı ebeveyni paylaşan iki farklı kişidir (kitaptaki model).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" y="1783080"/>
            <a:ext cx="10725912" cy="969264"/>
          </a:xfrm>
          <a:prstGeom prst="roundRect">
            <a:avLst>
              <a:gd name="adj" fmla="val 12264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9339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Sibling(x,y) ⇔ x≠y ∧ ∃p [Parent(p,x) ∧ Parent(p,y)]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184648" y="29718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DF4EE"/>
          </a:solidFill>
          <a:ln w="12700">
            <a:solidFill>
              <a:srgbClr val="DDF4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308152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Mehmet (p)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48" y="3538728"/>
            <a:ext cx="-2350008" cy="841248"/>
          </a:xfrm>
          <a:prstGeom prst="line">
            <a:avLst/>
          </a:prstGeom>
          <a:noFill/>
          <a:ln w="25400">
            <a:solidFill>
              <a:srgbClr val="5365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9048" y="3538728"/>
            <a:ext cx="2340864" cy="841248"/>
          </a:xfrm>
          <a:prstGeom prst="line">
            <a:avLst/>
          </a:prstGeom>
          <a:noFill/>
          <a:ln w="25400">
            <a:solidFill>
              <a:srgbClr val="5365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15768" y="4398264"/>
            <a:ext cx="20299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4072" y="4398264"/>
            <a:ext cx="20299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4581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 (x)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54112" y="4581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Ayşe (y)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5358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Parent(Mehmet,Ali) ve Parent(Mehmet,Ayşe) → Sibling(Ali,Ayşe)</a:t>
            </a:r>
            <a:endParaRPr lang="en-US" sz="1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8.3.2 – AKSİYOM VE TEOREM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Aksiyom (axiom) / Teorem (theorem)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Aksiyom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41248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tabanına verilen temel olgu ya da kural.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Sibling tanımı bir aksiyomdur.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Male(Jim) olgusu da aksiyom olabilir.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27064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Teorem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55664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Aksiyomlardan türetilen sonuçtur.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55664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Sibling(x,y) ⇔ Sibling(y,x) kardeşlik tanımından çıkar.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55664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Önceden saklamak hız kazandırabilir.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8.3.3 – PEANO AKSİYOMLARI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Doğal sayılar ve ardıl fonksiyon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3776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Aksiyomların nicelenmiş biçimlerinde n,m doğal sayı koşulları dikkate alınır.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56232"/>
            <a:ext cx="11000232" cy="620486"/>
          </a:xfrm>
          <a:prstGeom prst="roundRect">
            <a:avLst>
              <a:gd name="adj" fmla="val 8842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883664"/>
            <a:ext cx="5861304" cy="56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Aksiyom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29984" y="1883664"/>
            <a:ext cx="4791456" cy="56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Anlamı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76072" y="2476718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508722"/>
            <a:ext cx="585216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NatNum(0)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39128" y="2508722"/>
            <a:ext cx="478231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doğal sayıdır.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76072" y="3097203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129207"/>
            <a:ext cx="585216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NatNum(n) ⇒ NatNum(S(n))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39128" y="3129207"/>
            <a:ext cx="478231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Doğal sayının ardılı da doğaldır.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76072" y="3717689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749693"/>
            <a:ext cx="585216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≠ S(n)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39128" y="3749693"/>
            <a:ext cx="478231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Hiçbir ardıl sıfır değildir.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76072" y="4338175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370179"/>
            <a:ext cx="585216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≠ n ⇒ S(m) ≠ S(n)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39128" y="4370179"/>
            <a:ext cx="478231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Farklıların ardılları da farklıdır.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76072" y="4958661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4990665"/>
            <a:ext cx="585216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+(0,m) = 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739128" y="4990665"/>
            <a:ext cx="478231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eklemek sayıyı değiştirmez.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76072" y="5579146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5611150"/>
            <a:ext cx="585216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+(S(m),n) = S(+(m,n))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739128" y="5611150"/>
            <a:ext cx="478231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Toplama ardıl üzerinden tanımlanır.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8.3.3 – ÇÖZÜMLÜ ÖRNEK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Toplamayı aksiyomlardan çıkaralım: 2+1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81051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92024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96596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89280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= S(S(0)), 1 = S(0) olarak yazılır.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" y="263347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74320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78892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271576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S(S(0)) + S(0) = S(S(0) + S(0))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" y="345643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56616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61188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353872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S(S(0 + S(0)))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" y="427939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38912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43484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36168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S(S(S(0))) = 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" y="5541264"/>
            <a:ext cx="10917936" cy="603504"/>
          </a:xfrm>
          <a:prstGeom prst="roundRect">
            <a:avLst>
              <a:gd name="adj" fmla="val 13636"/>
            </a:avLst>
          </a:prstGeom>
          <a:solidFill>
            <a:srgbClr val="DDF4EE"/>
          </a:solidFill>
          <a:ln w="12700">
            <a:solidFill>
              <a:srgbClr val="DDF4E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50992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   2 + 1 = 3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8.3.3 – KÜMELER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Küme gösterimleri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600200"/>
            <a:ext cx="5340096" cy="90525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92224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{}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71216" y="1764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Boş küme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300216" y="1600200"/>
            <a:ext cx="5340096" cy="90525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792224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Set(s)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67344" y="1764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bir kümedir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04088" y="2697480"/>
            <a:ext cx="5340096" cy="90525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89504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∈ 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71216" y="2862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x, s kümesinin elemanıdır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300216" y="2697480"/>
            <a:ext cx="5340096" cy="90525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889504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 ⊆ s₂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67344" y="2862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küme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04088" y="3794760"/>
            <a:ext cx="5340096" cy="90525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86784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 ∩ s₂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871216" y="3959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Kesişim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300216" y="3794760"/>
            <a:ext cx="5340096" cy="90525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986784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 ∪ s₂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67344" y="3959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Birleşim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04088" y="4892040"/>
            <a:ext cx="5340096" cy="90525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084064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{x | s}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871216" y="5056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s’ye x elemanını ekleme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8.3.3 – KÜME AKSİYOMLARI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Küme aksiyomları: temel ilişkiler</a:t>
            </a:r>
          </a:p>
        </p:txBody>
      </p:sp>
      <p:sp>
        <p:nvSpPr>
          <p:cNvPr id="5" name="Text 3"/>
          <p:cNvSpPr/>
          <p:nvPr/>
        </p:nvSpPr>
        <p:spPr>
          <a:xfrm>
            <a:off x="493776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Üyelik, birleşim ve kesişim de yüklem/fonksiyonlarla ifade edilebilir.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56232"/>
            <a:ext cx="11000232" cy="640080"/>
          </a:xfrm>
          <a:prstGeom prst="roundRect">
            <a:avLst>
              <a:gd name="adj" fmla="val 8571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1883664"/>
            <a:ext cx="420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9304" y="1883664"/>
            <a:ext cx="3721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İlke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84648" y="1883664"/>
            <a:ext cx="6336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Sembolik ifade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76072" y="249631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4088" y="252831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2528316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küme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93792" y="2528316"/>
            <a:ext cx="6327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s₁⊆s₂ ⇔ ∀x(x∈s₁⇒x∈s₂)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76072" y="313639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4088" y="316839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98448" y="3168396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Eşit küme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93792" y="3168396"/>
            <a:ext cx="6327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s₁=s₂ ⇔ (s₁⊆s₂ ∧ s₂⊆s₁)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76072" y="377647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4088" y="380847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98448" y="3808476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Kesişim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93792" y="3808476"/>
            <a:ext cx="6327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x∈(s₁∩s₂) ⇔ (x∈s₁ ∧ x∈s₂)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76072" y="4416552"/>
            <a:ext cx="11000232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04088" y="444855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298448" y="4448556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Birleşim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93792" y="4448556"/>
            <a:ext cx="6327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x∈(s₁∪s₂) ⇔ (x∈s₁ ∨ x∈s₂)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8.3.3 – LİSTELER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Listeler kümelerden neden farklı?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Küme (Set)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41248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Sıra önemli değildir.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1248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eleman tekrar edilmez.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{A,B,A}={A,B}.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41248" y="4645152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52628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 kavram: ∈ üyelik.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27064" y="1609344"/>
            <a:ext cx="5449824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7064" y="1609344"/>
            <a:ext cx="5449824" cy="603504"/>
          </a:xfrm>
          <a:prstGeom prst="roundRect">
            <a:avLst>
              <a:gd name="adj" fmla="val 18182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1907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(List)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455664" y="2505456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2386584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Sıralama anlam taşır.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55664" y="3218688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309981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Tekrarlı eleman bulunabilir.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55664" y="3931920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5976" y="3813048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[A,B,A] ≠ [A,B].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55664" y="4645152"/>
            <a:ext cx="100584" cy="100584"/>
          </a:xfrm>
          <a:prstGeom prst="roundRect">
            <a:avLst>
              <a:gd name="adj" fmla="val 127273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65976" y="452628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Nil, Cons, First, Rest, Append kullanılır.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8.3.4 – WUMPUS 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dünyasında zamanlı algılar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" y="1682496"/>
            <a:ext cx="10853928" cy="1170432"/>
          </a:xfrm>
          <a:prstGeom prst="roundRect">
            <a:avLst>
              <a:gd name="adj" fmla="val 10156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02082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Percept([Stench, Breeze, Glitter, None, None], 5)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" y="3209544"/>
            <a:ext cx="531266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209544"/>
            <a:ext cx="73152" cy="2194560"/>
          </a:xfrm>
          <a:prstGeom prst="roundRect">
            <a:avLst>
              <a:gd name="adj" fmla="val 175000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64992"/>
            <a:ext cx="49011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Algı vektörü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95344"/>
            <a:ext cx="49011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Koku, esinti, parıltı ve diğer algıların zaman 5’teki durumunu taşır.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181344" y="3209544"/>
            <a:ext cx="528523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3209544"/>
            <a:ext cx="73152" cy="2194560"/>
          </a:xfrm>
          <a:prstGeom prst="roundRect">
            <a:avLst>
              <a:gd name="adj" fmla="val 175000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3364992"/>
            <a:ext cx="48737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zaman?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1656" y="3895344"/>
            <a:ext cx="4873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hangi şeyi hangi anda gördüğünü karıştırmamalıdır.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8.3.4 – WUMPUS 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Wumpus: esinti ve çukur aksiyomu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10872216" cy="1527048"/>
          </a:xfrm>
          <a:prstGeom prst="roundRect">
            <a:avLst>
              <a:gd name="adj" fmla="val 10180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3969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∀s [Breezy(s) ⇔ ∃r(Adjacent(r,s) ∧ Pit(r))]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58368" y="3657600"/>
            <a:ext cx="10872216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986784"/>
            <a:ext cx="10195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karede esinti vardır ancak ve ancak komşu karelerden en az birinde çukur bulunuyorsa.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Çukurlar sabit olduğu için Breezy(s) zaman argümanı gerektirmez.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8.3.4 – ÇÖZÜMLÜ ÖRNEK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Wumpus çıkarımı: [2,2]’de esinti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81051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92024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96596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89280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At(Agent,[2,2],5) ve Breeze(5) biliniyor.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" y="263347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74320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78892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271576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kuraldan Breezy([2,2]) çıkarılır.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" y="345643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56616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61188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353872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Komşu kareler: [1,2], [3,2], [2,1], [2,3].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" y="427939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38912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43484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36168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dört kareden en az birinde çukur olmalıdır.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" y="5541264"/>
            <a:ext cx="10917936" cy="603504"/>
          </a:xfrm>
          <a:prstGeom prst="roundRect">
            <a:avLst>
              <a:gd name="adj" fmla="val 13636"/>
            </a:avLst>
          </a:prstGeom>
          <a:solidFill>
            <a:srgbClr val="DDF4EE"/>
          </a:solidFill>
          <a:ln w="12700">
            <a:solidFill>
              <a:srgbClr val="DDF4E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50992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   Hangi karede çukur olduğu henüz kesinleşmez.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8.4.1 – KNOWLEDGE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mühendisliğinde 7 adımlı süreç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000" dirty="0"/>
          </a:p>
        </p:txBody>
      </p:sp>
      <p:pic>
        <p:nvPicPr>
          <p:cNvPr id="8" name="Image 0" descr="/mnt/data/ai8_work/bilgi_muhendisligi_ak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694" y="1581912"/>
            <a:ext cx="8722124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" y="5888736"/>
            <a:ext cx="10405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Görev → Bilgi → Ontoloji → Aksiyom → Somut olgu → Sorgu → Hata ayıklama</a:t>
            </a:r>
            <a:endParaRPr lang="en-US" sz="16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8.4.1 – BİLGİ TABANI HATALARI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Adım 7: Bilgi tabanını hata ayıkla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36776"/>
            <a:ext cx="105156" cy="105156"/>
          </a:xfrm>
          <a:prstGeom prst="roundRect">
            <a:avLst>
              <a:gd name="adj" fmla="val 1739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508760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Cevap gelmiyorsa eksik veya fazla zayıf bir aksiyom bulunabilir.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2505456"/>
            <a:ext cx="105156" cy="105156"/>
          </a:xfrm>
          <a:prstGeom prst="roundRect">
            <a:avLst>
              <a:gd name="adj" fmla="val 17391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377440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Yanlış cevap çıkıyorsa dünyada geçerli olmayan bir kural yazılmış olabilir.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85800" y="3374136"/>
            <a:ext cx="105156" cy="105156"/>
          </a:xfrm>
          <a:prstGeom prst="roundRect">
            <a:avLst>
              <a:gd name="adj" fmla="val 1739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246120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Hatalı örnek: ∀x (FourLegs(x) ⇒ Mammal(x)).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" y="4242816"/>
            <a:ext cx="105156" cy="105156"/>
          </a:xfrm>
          <a:prstGeom prst="roundRect">
            <a:avLst>
              <a:gd name="adj" fmla="val 17391"/>
            </a:avLst>
          </a:prstGeom>
          <a:solidFill>
            <a:srgbClr val="E9A93B"/>
          </a:solidFill>
          <a:ln w="12700">
            <a:solidFill>
              <a:srgbClr val="E9A93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114800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 ve bazı sürüngenler dört bacaklıdır; kural yanlıştır.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5111496"/>
            <a:ext cx="105156" cy="105156"/>
          </a:xfrm>
          <a:prstGeom prst="roundRect">
            <a:avLst>
              <a:gd name="adj" fmla="val 1739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983480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Sürekli önceki adımlara dönerek bilgiyi iyileştir.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8.4.1 – UYGULAMA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Yedi adımı birleştiren üniversite örneği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81051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92024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96596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89280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Amaç: “Ali AI101 dersini alıyor mu?” sorusunu cevaplamak.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" y="263347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74320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78892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271576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Ontoloji: Student, Course, Enrolled, Takes; sabitler Ali ve AI101.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" y="345643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56616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61188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353872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Kural: ∀x,c [Enrolled(x,c) ⇒ Takes(x,c)].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" y="427939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38912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43484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36168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Olgu: Enrolled(Ali,AI101). Sorgu: ASK(KB,Takes(Ali,AI101)).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" y="5541264"/>
            <a:ext cx="10917936" cy="603504"/>
          </a:xfrm>
          <a:prstGeom prst="roundRect">
            <a:avLst>
              <a:gd name="adj" fmla="val 13636"/>
            </a:avLst>
          </a:prstGeom>
          <a:solidFill>
            <a:srgbClr val="DDF4EE"/>
          </a:solidFill>
          <a:ln w="12700">
            <a:solidFill>
              <a:srgbClr val="DDF4E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50992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   True — sonuç mantıksal olarak çıkarılır.</a:t>
            </a:r>
            <a:endParaRPr lang="en-US" sz="1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ÜNİTE ÖZETİ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Ünitenin temel kavramlarını hatırlayalım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3776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kavramları günlük Türkçe cümlelere uygulayabilmek ana hedef.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56232"/>
            <a:ext cx="11000232" cy="620486"/>
          </a:xfrm>
          <a:prstGeom prst="roundRect">
            <a:avLst>
              <a:gd name="adj" fmla="val 8842"/>
            </a:avLst>
          </a:prstGeom>
          <a:solidFill>
            <a:srgbClr val="11223C"/>
          </a:solidFill>
          <a:ln w="12700">
            <a:solidFill>
              <a:srgbClr val="112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883664"/>
            <a:ext cx="2752344" cy="56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Kavram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21024" y="1883664"/>
            <a:ext cx="7900416" cy="56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cümlelik açıklama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76072" y="2476718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508722"/>
            <a:ext cx="27432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/ Domain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30168" y="2508722"/>
            <a:ext cx="789127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Olası dünyadaki nesneler ve yorumlama.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76072" y="3097203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129207"/>
            <a:ext cx="27432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/ Predicate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30168" y="3129207"/>
            <a:ext cx="789127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Nesnenin adı / özellik veya ilişki.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76072" y="3717689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749693"/>
            <a:ext cx="27432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/ Term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30168" y="3749693"/>
            <a:ext cx="789127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Girdiye nesne eşleme / nesneye gönderme yapan ifade.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76072" y="4338175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370179"/>
            <a:ext cx="27432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 / ∃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630168" y="4370179"/>
            <a:ext cx="789127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nesneler için / en az bir nesne için.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76072" y="4958661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ECF3F6"/>
          </a:solidFill>
          <a:ln w="12700">
            <a:solidFill>
              <a:srgbClr val="ECF3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4990665"/>
            <a:ext cx="27432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Axiom / Theorem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630168" y="4990665"/>
            <a:ext cx="789127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 kural / kurallardan çıkarılan sonuç.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76072" y="5579146"/>
            <a:ext cx="11000232" cy="620486"/>
          </a:xfrm>
          <a:prstGeom prst="roundRect">
            <a:avLst>
              <a:gd name="adj" fmla="val 206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5611150"/>
            <a:ext cx="2743200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/ ASK / ASKVARS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630168" y="5611150"/>
            <a:ext cx="7891272" cy="55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Bilgi ekle / doğruluk sor / nesne bağlaması bul.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07692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SINIF İÇİ UYGULAMA</a:t>
            </a:r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Çözümlü alıştırma – Her öğrencinin bir danışmanı var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6382512"/>
            <a:ext cx="11228832" cy="0"/>
          </a:xfrm>
          <a:prstGeom prst="line">
            <a:avLst/>
          </a:prstGeom>
          <a:noFill/>
          <a:ln w="15240">
            <a:solidFill>
              <a:srgbClr val="E2EA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ZEKÂYA GİRİŞ  •  ÜNİTE 8  •  8.1–8.4.1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81051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86384" y="192024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32104" y="196596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89280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öğrenci için ∀x (Student(x) ⇒ …) ile başla.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" y="263347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86384" y="274320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19334E"/>
          </a:solidFill>
          <a:ln w="12700">
            <a:solidFill>
              <a:srgbClr val="19334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2104" y="278892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271576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Danışman görevi gören bir kişi gerektiğinden ∃y ekle.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" y="3456432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86384" y="3566160"/>
            <a:ext cx="347472" cy="356616"/>
          </a:xfrm>
          <a:prstGeom prst="roundRect">
            <a:avLst>
              <a:gd name="adj" fmla="val 18421"/>
            </a:avLst>
          </a:prstGeom>
          <a:solidFill>
            <a:srgbClr val="008D86"/>
          </a:solidFill>
          <a:ln w="12700">
            <a:solidFill>
              <a:srgbClr val="008D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2104" y="3611880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3538728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Teacher(y) ve AdvisorOf(y,x) aynı y için sağlanmalı.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" y="5541264"/>
            <a:ext cx="10917936" cy="603504"/>
          </a:xfrm>
          <a:prstGeom prst="roundRect">
            <a:avLst>
              <a:gd name="adj" fmla="val 13636"/>
            </a:avLst>
          </a:prstGeom>
          <a:solidFill>
            <a:srgbClr val="DDF4EE"/>
          </a:solidFill>
          <a:ln w="12700">
            <a:solidFill>
              <a:srgbClr val="DDF4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650992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   ∀x [Student(x) ⇒ ∃y(Teacher(y) ∧ AdvisorOf(y,x))]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İstanbul 29 Mayıs Üniversitesi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Zekâya Giriş - 8. Ünite (Kısa Ders Slaytları, 42 Slayt)</dc:title>
  <dc:subject>Birinci Dereceden Mantık; 8.1-8.4.1; 8.4.2 hariç</dc:subject>
  <dc:creator>OpenAI</dc:creator>
  <cp:lastModifiedBy>OpenAI</cp:lastModifiedBy>
  <cp:revision>1</cp:revision>
  <dcterms:created xsi:type="dcterms:W3CDTF">2026-10-27T12:46:19Z</dcterms:created>
  <dcterms:modified xsi:type="dcterms:W3CDTF">2026-10-27T12:46:19Z</dcterms:modified>
  <dc:description>Kaynak sunumdan seçilmiş ve yeniden numaralandırılmış kısa ders sunumu.</dc:description>
</cp:coreProperties>
</file>