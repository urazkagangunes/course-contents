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2. ünitenin genel başlığıdır. Öğrencilere bu ünitede yapay zekâ sistemlerine etmen bakışıyla yaklaşılacağını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Ünite akışını verin. Öğrencilerden her başlıkta neyin değiştiğini takip etmelerini isteyin: algı, hedef, fayda, öğrenme.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kavramını robotla sınırlamayın. İnsan, robot veya yazılım sistemi etmen olabilir.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assets/agent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ECF5FF"/>
          </a:solidFill>
          <a:ln w="12700">
            <a:solidFill>
              <a:srgbClr val="ECF5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005840"/>
            <a:ext cx="1143000" cy="292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ÜNİTE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0B1220"/>
                </a:solidFill>
              </a:rPr>
              <a:t>Akıllı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B1220"/>
                </a:solidFill>
              </a:rPr>
              <a:t>Etmenler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13232" y="3383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033"/>
                </a:solidFill>
              </a:rPr>
              <a:t>Agents, environments, rationality, PEAS ve etmen mimarileri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13232" y="4160520"/>
            <a:ext cx="2194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44074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</a:rPr>
              <a:t>Ders slaytı • Türkçe anlatım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ünitede ne öğreneceğiz?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2. üniteyi dört temel parçaya ayırıyoruz.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63624"/>
            <a:ext cx="2066544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2.1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Etmenler ve ortamlar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212848" cy="123444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Agent, sensor, actuator, percept sequence ve agent function.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2862072" y="1965960"/>
            <a:ext cx="402336" cy="0"/>
          </a:xfrm>
          <a:prstGeom prst="line">
            <a:avLst/>
          </a:prstGeom>
          <a:noFill/>
          <a:ln w="21590">
            <a:solidFill>
              <a:srgbClr val="AEB8C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50876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563624"/>
            <a:ext cx="2066544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2.2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Rasyonellik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212848" cy="123444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 davranış, performans ölçütü ve beklenen performans.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605272" y="1965960"/>
            <a:ext cx="402336" cy="0"/>
          </a:xfrm>
          <a:prstGeom prst="line">
            <a:avLst/>
          </a:prstGeom>
          <a:noFill/>
          <a:ln w="21590">
            <a:solidFill>
              <a:srgbClr val="AEB8C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26480" y="150876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563624"/>
            <a:ext cx="2066544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2.3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Ortamların doğası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2212848" cy="123444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PEAS tanımı ve görev ortamlarının özellikleri.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348472" y="1965960"/>
            <a:ext cx="402336" cy="0"/>
          </a:xfrm>
          <a:prstGeom prst="line">
            <a:avLst/>
          </a:prstGeom>
          <a:noFill/>
          <a:ln w="21590">
            <a:solidFill>
              <a:srgbClr val="AEB8C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150876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2832" y="1563624"/>
            <a:ext cx="2066544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2.4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Etmen yapıları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9680" y="2606040"/>
            <a:ext cx="2212848" cy="123444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Refleks, model tabanlı, hedef, fayda ve öğrenen etmenler.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1097280" y="4800600"/>
            <a:ext cx="9966960" cy="594360"/>
          </a:xfrm>
          <a:prstGeom prst="roundRect">
            <a:avLst>
              <a:gd name="adj" fmla="val 15385"/>
            </a:avLst>
          </a:prstGeom>
          <a:solidFill>
            <a:srgbClr val="EEF6FF"/>
          </a:solidFill>
          <a:ln w="12700">
            <a:solidFill>
              <a:srgbClr val="C9DD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95604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Ana fikir: Etmen tasarımı, ortamı ve başarı ölçütünü doğru tanımlamakla başlar.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assets/agent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0"/>
            <a:ext cx="607161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051560"/>
            <a:ext cx="1645920" cy="292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2.1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</a:rPr>
              <a:t>Etmenler ve Ortamlar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58368" y="29077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</a:rPr>
              <a:t>Bir etmen ortamını algılar, karar verir ve eyleyicilerle ortamı etkiler.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nedir?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Etmen = algılayan ve eylem yapan sistem.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2103120"/>
            <a:ext cx="1783080" cy="0"/>
          </a:xfrm>
          <a:prstGeom prst="line">
            <a:avLst/>
          </a:prstGeom>
          <a:noFill/>
          <a:ln w="30480">
            <a:solidFill>
              <a:srgbClr val="0D948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498080" y="2103120"/>
            <a:ext cx="1755648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646920" y="2971800"/>
            <a:ext cx="0" cy="1280160"/>
          </a:xfrm>
          <a:prstGeom prst="line">
            <a:avLst/>
          </a:prstGeom>
          <a:noFill/>
          <a:ln w="22860">
            <a:solidFill>
              <a:srgbClr val="A6ADB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0" y="4480560"/>
            <a:ext cx="-1874520" cy="0"/>
          </a:xfrm>
          <a:prstGeom prst="line">
            <a:avLst/>
          </a:prstGeom>
          <a:noFill/>
          <a:ln w="22860">
            <a:solidFill>
              <a:srgbClr val="A6ADB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" y="155448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9FBF7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09344"/>
            <a:ext cx="1773936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ORTAM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Environment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17720" y="1581912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E9F2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636776"/>
            <a:ext cx="255117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ALGILAR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Percepts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17720" y="324612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032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3300984"/>
            <a:ext cx="255117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ETMEN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Agent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281160" y="158191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54312" y="1636776"/>
            <a:ext cx="177393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EYLEMLER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Actions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32520" y="4343400"/>
            <a:ext cx="2514600" cy="749808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2032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05672" y="4398264"/>
            <a:ext cx="236829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DEĞİŞEN ORTAM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51560" y="34290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288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👁️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664208" y="35478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Sensors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64208" y="3840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Ortamdan bilgi toplar.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8549640" y="34290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9368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⚙️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162288" y="35478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Actuators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162288" y="3840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Seçilen eylemi uygular.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Etmen olmak için robot olmak şart değil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Fiziksel sistemler ve yazılımlar aynı çerçevede anlatılabilir.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🧑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44168" y="15819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İnsan etmen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44168" y="1874520"/>
            <a:ext cx="2514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Sensör: göz/kulak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Eyleyici: el, bacak, ses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80560" y="146304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🤖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093208" y="15819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Robot etmen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93208" y="1874520"/>
            <a:ext cx="2514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Sensör: kamera/lidar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Eyleyici: motor, kol, teker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💻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842248" y="15819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Yazılım etmeni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842248" y="1874520"/>
            <a:ext cx="2514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Sensör: veri, dosya, paket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Eyleyici: çıktı, kayıt, mesaj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1005840" y="3840480"/>
            <a:ext cx="10058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Önemli nokta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98678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Etmenlik, sistemin fiziksel olup olmamasından çok ortamla algı–eylem döngüsü kurmasına bağlıdır.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 → Percept sequence → Agent function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Karar, yalnızca mevcut algıya değil geçmiş algılara da bağlı olabilir.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E9FBF7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09344"/>
            <a:ext cx="168249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p₁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[A, Clean]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5544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7E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609344"/>
            <a:ext cx="168249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p₂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[B, Dirty]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0992" y="1609344"/>
            <a:ext cx="168249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p₃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[B, Clean]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1920240"/>
            <a:ext cx="393192" cy="0"/>
          </a:xfrm>
          <a:prstGeom prst="line">
            <a:avLst/>
          </a:prstGeom>
          <a:noFill/>
          <a:ln w="2032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920240"/>
            <a:ext cx="393192" cy="0"/>
          </a:xfrm>
          <a:prstGeom prst="line">
            <a:avLst/>
          </a:prstGeom>
          <a:noFill/>
          <a:ln w="2032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" y="2606040"/>
            <a:ext cx="6492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 sequence = etmenin şimdiye kadar algıladığı her şeyin sıralı geçmişi.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66760" y="1691640"/>
            <a:ext cx="2743200" cy="1024128"/>
          </a:xfrm>
          <a:prstGeom prst="roundRect">
            <a:avLst>
              <a:gd name="adj" fmla="val 7143"/>
            </a:avLst>
          </a:prstGeom>
          <a:solidFill>
            <a:srgbClr val="E9F2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746504"/>
            <a:ext cx="259689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Agent function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f : P* → 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0" y="2029968"/>
            <a:ext cx="777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6868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Örnek: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57400" y="373075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33"/>
                </a:solidFill>
              </a:rPr>
              <a:t>f([A, Dirty]) = Suck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62033"/>
                </a:solidFill>
              </a:rPr>
              <a:t>f([A, Clean]) = Right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0" y="3675888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675888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381304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Agent function ≠ Agent program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65392" y="4133088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Fonksiyon soyut matematiksel tanımdır. Program ise bu davranışı gerçekleştiren çalışan yazılımdır.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Elektrikli süpürge dünyası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İki konumlu küçük dünya, etmen kavramlarını somutlaştırır.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63040"/>
            <a:ext cx="3931920" cy="2148840"/>
          </a:xfrm>
          <a:prstGeom prst="rect">
            <a:avLst/>
          </a:prstGeom>
          <a:solidFill>
            <a:srgbClr val="FFFFFF"/>
          </a:solidFill>
          <a:ln w="1778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463040"/>
            <a:ext cx="0" cy="214884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6324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Temiz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6324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Kirli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19933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000000"/>
                </a:solidFill>
              </a:rPr>
              <a:t>🧹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669280" y="1417320"/>
            <a:ext cx="2788920" cy="466344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</a:rPr>
              <a:t>Algı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58200" y="1417320"/>
            <a:ext cx="2606040" cy="466344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</a:rPr>
              <a:t>Eylem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0" y="1883664"/>
            <a:ext cx="278892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[A, Clean]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1883664"/>
            <a:ext cx="260604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Right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2350008"/>
            <a:ext cx="278892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[A, Dirty]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2350008"/>
            <a:ext cx="260604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Suck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2816352"/>
            <a:ext cx="278892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[B, Clean]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816352"/>
            <a:ext cx="260604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Left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3282696"/>
            <a:ext cx="278892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[B, Dirty]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3282696"/>
            <a:ext cx="260604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3"/>
                </a:solidFill>
              </a:rPr>
              <a:t>Suck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443484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43484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57200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Basit kural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4892040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Bulunulan kare kirliyse temizle; değilse diğer kareye git.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43484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457200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Temel soru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82512" y="4892040"/>
            <a:ext cx="4599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Tablonun sağ sütunu nasıl doldurulmalı? Bir etmeni iyi yapan şey nedir?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assets/utility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0"/>
            <a:ext cx="607161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051560"/>
            <a:ext cx="1645920" cy="292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2.2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</a:rPr>
              <a:t>İyi Davranış ve Rasyonellik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58368" y="29077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</a:rPr>
              <a:t>Rasyonel etmen, mevcut bilgiye göre beklenen performansını en üst düzeye çıkaracak eylemi seçer.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Performans ölçütü: başarıyı neye göre ölçeceğiz?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Doğru hedefi yanlış ölçersen, etmen yanlış şeyi optimize eder.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55448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Yanlış ölçüt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874520"/>
            <a:ext cx="47365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“Sekiz saatte ne kadar kir temizlendi?”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Etmen kiri tekrar yere döküp tekrar temizleyerek puan kazanabilir.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417320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55448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Daha uygun ölçüt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9672" y="1874520"/>
            <a:ext cx="47365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“Zemin zaman boyunca ne kadar temiz kaldı?”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Gerekirse enerji ve gürültü için ceza eklenebilir.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188720" y="3977640"/>
            <a:ext cx="9784080" cy="868680"/>
          </a:xfrm>
          <a:prstGeom prst="roundRect">
            <a:avLst>
              <a:gd name="adj" fmla="val 12632"/>
            </a:avLst>
          </a:prstGeom>
          <a:solidFill>
            <a:srgbClr val="FFF7E6"/>
          </a:solidFill>
          <a:ln w="12700">
            <a:solidFill>
              <a:srgbClr val="F8D7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42245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220"/>
                </a:solidFill>
              </a:rPr>
              <a:t>Genel kural: Performans ölçütünü, etmenin nasıl davranması gerektiğini düşündüğümüze göre değil; ortamda gerçekten istediğimiz sonuca göre tasarla.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Rasyonellik dört şeye bağlıdır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Aynı davranış bir ortamda rasyonel, başka ortamda irrasyonel olabilir.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🎯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44168" y="15361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Performans ölçütü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44168" y="182880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Başarı nasıl ölçülüyor?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🧠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922008" y="15361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Ön bilgi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22008" y="182880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Etmen ortam hakkında ne biliyor?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🛠️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344168" y="29992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Eylemler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44168" y="329184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Etmen hangi eylemleri yapabiliyor?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309360" y="288036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👁️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922008" y="29992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Algı dizisi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22008" y="329184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Şimdiye kadar neleri algıladı?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10287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Tanım: Rasyonel etmen, algı dizisinin sağladığı kanıtlar ve yerleşik bilgisiyle, beklenen performansı en çok artıran eylemi seçer.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Rasyonellik kusursuzluk değildir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Rasyonel karar, karar anındaki bilgiye göre değerlendirilir.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E9F2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09344"/>
            <a:ext cx="2962656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Rationality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Rasyonellik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75320" y="155448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2032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8472" y="1609344"/>
            <a:ext cx="2962656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Omniscience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Her şeyi bilme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60520" y="2011680"/>
            <a:ext cx="3886200" cy="0"/>
          </a:xfrm>
          <a:prstGeom prst="line">
            <a:avLst/>
          </a:prstGeom>
          <a:noFill/>
          <a:ln w="20320">
            <a:solidFill>
              <a:srgbClr val="A6ADB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80644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220"/>
                </a:solidFill>
              </a:rPr>
              <a:t>≠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868680" y="30632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06324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20040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Rasyonellik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3272" y="3520440"/>
            <a:ext cx="45537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Mevcut algı ve bilgiye göre beklenen performansı maksimize eder.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46520" y="30632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3063240"/>
            <a:ext cx="64008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320040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Kusursuzluk / her şeyi bilme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11112" y="3520440"/>
            <a:ext cx="45537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Gerçekleşecek sonucu önceden bilmeyi gerektirir; gerçek dünyada mümkün değildir.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1143000" y="4983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62033"/>
                </a:solidFill>
              </a:rPr>
              <a:t>Örnek: Boş görünen yoldan geçmek rasyonel olabilir; sonradan çok beklenmedik bir kaza yaşanması kararı otomatik olarak irrasyonel yapmaz.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Rasyonel etmen yalnızca tepki vermez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Bilgi toplar, öğrenir ve giderek daha özerk hâle gelir.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🔎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98448" y="1536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Information gathering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98448" y="1828800"/>
            <a:ext cx="2834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Daha iyi karar vermek için yeni algılar elde eder.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Örn: karşıya geçmeden önce bakmak.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🧭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956048" y="1536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Exploration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56048" y="1828800"/>
            <a:ext cx="2834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Bilinmeyen ortamı keşfeder.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Örn: robotun yeni odayı kontrol etmesi.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📈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613648" y="1536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Learning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13648" y="1828800"/>
            <a:ext cx="2834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</a:rPr>
              <a:t>Algılardan gelecekte daha iyi davranmayı öğrenir.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1051560" y="3977640"/>
            <a:ext cx="2834640" cy="329184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Autonomy — Özerklik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389120"/>
            <a:ext cx="9966960" cy="640080"/>
          </a:xfrm>
          <a:prstGeom prst="rect">
            <a:avLst/>
          </a:prstGeom>
          <a:solidFill>
            <a:srgbClr val="F1ECFF"/>
          </a:solidFill>
          <a:ln w="12700">
            <a:solidFill>
              <a:srgbClr val="D8CFF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Etmen, yalnızca tasarımcının verdiği ön bilgiye bağlı kalmaz; deneyimlerinden yararlanarak eksik veya yanlış bilgiyi telafi eder.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assets/taxi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0"/>
            <a:ext cx="607161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051560"/>
            <a:ext cx="1645920" cy="292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2.3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</a:rPr>
              <a:t>Ortamların Doğası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58368" y="29077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</a:rPr>
              <a:t>Yapay zekâda problemler görev ortamı olarak tanımlanır. İlk araç: PEAS.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PEAS: görev ortamını tanımlama şablonu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Bir etmen tasarımına algoritma seçerek değil, görevi tanımlayarak başlanır.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716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96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399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03320" y="1389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</a:rPr>
              <a:t>Başarı nasıl ölçülür?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39572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237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Environment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414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</a:rPr>
              <a:t>Etmen nerede çalışır?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3419856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4472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Actuators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34381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</a:rPr>
              <a:t>Hangi eylemleri yapabilir?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4443984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572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4714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Sensors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03320" y="4462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</a:rPr>
              <a:t>Hangi bilgileri algılar?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5532120"/>
            <a:ext cx="10241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53212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5669280"/>
            <a:ext cx="9948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Tasarım ilkesi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5989320"/>
            <a:ext cx="99486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Görev ortamını mümkün olduğunca eksiksiz belirtmeden “hangi algoritmayı kullanayım?” sorusu erken kalır.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Otomatik taksi için PEAS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Sürüş ortamı açık uçlu ve çok değişkenlidir.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pic>
        <p:nvPicPr>
          <p:cNvPr id="5" name="Image 0" descr="/mnt/data/slide_assets/taxi_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420624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74920" y="132588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74920" y="132588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39512" y="146304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39512" y="1783080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Güvenli, hızlı, yasal, konforlu yolculuk; yakıt ve maliyetleri azaltma; kârı artırma.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458200" y="132588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58200" y="132588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22792" y="146304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Environment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22792" y="1783080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Yollar, diğer araçlar, yayalar, hayvanlar, yol çalışmaları, hava koşulları, müşteriler.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5074920" y="28346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74920" y="283464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39512" y="297180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Actuators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39512" y="3291840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Direksiyon, gaz, fren, sinyal, korna, ekran, sesli yanıt, araçlar arası iletişim.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8458200" y="28346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58200" y="28346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2792" y="297180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Sensors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22792" y="3291840"/>
            <a:ext cx="2770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Kamera, sonar/lidar, hız göstergesi, GPS, kilometre, ivmeölçer, motor sensörleri, mikrofon.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5166360" y="4800600"/>
            <a:ext cx="626364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F8D78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Not: Hedefler çatışabilir. Örneğin hız ile güvenlik arasında trade-off gerekebilir.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Farklı etmenler için PEAS örnekleri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Aynı şablon hem robotlar hem yazılım etmenleri için çalışır.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53312"/>
            <a:ext cx="2057400" cy="76809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Etmen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24328" y="1353312"/>
            <a:ext cx="2560320" cy="76809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84648" y="1353312"/>
            <a:ext cx="2057400" cy="76809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42048" y="1353312"/>
            <a:ext cx="2194560" cy="76809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436608" y="1353312"/>
            <a:ext cx="2194560" cy="76809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033"/>
                </a:solidFill>
              </a:rPr>
              <a:t>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121408"/>
            <a:ext cx="2057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Tıbbi teşhis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24328" y="2121408"/>
            <a:ext cx="25603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Sağlıklı hasta, düşük maliyet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84648" y="2121408"/>
            <a:ext cx="2057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Hasta, hastane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42048" y="2121408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Sorular, testler, teşhis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436608" y="2121408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Belirti girişi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2889504"/>
            <a:ext cx="2057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Uydu görüntü analizi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24328" y="2889504"/>
            <a:ext cx="25603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Doğru sınıflandırma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84648" y="2889504"/>
            <a:ext cx="2057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Uydu veri akışı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42048" y="2889504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Sınıflandırma çıktısı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36608" y="2889504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Piksel dizileri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3657600"/>
            <a:ext cx="2057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Parça ayırma robotu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24328" y="3657600"/>
            <a:ext cx="25603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Doğru kutu yüzdesi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84648" y="3657600"/>
            <a:ext cx="2057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Bant ve kutular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42048" y="3657600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Robot kol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36608" y="3657600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Kamera, eklem sensörü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4425696"/>
            <a:ext cx="2057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İngilizce öğretmeni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4425696"/>
            <a:ext cx="25603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Sınav puanı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84648" y="4425696"/>
            <a:ext cx="2057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Öğrenciler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42048" y="4425696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Alıştırma/geri bildirim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36608" y="4425696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3"/>
                </a:solidFill>
              </a:rPr>
              <a:t>Klavye girdisi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solidFill>
            <a:srgbClr val="EEF6FF"/>
          </a:solidFill>
          <a:ln w="12700">
            <a:solidFill>
              <a:srgbClr val="C9DD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Önemli: “Gerçek ortam” olmak zorunda değil; klavye girdisi ve ekran çıktısı da bir yazılım etmeni için ortam oluşturabilir.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Görev ortamlarının 7 temel boyutu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Ortam özellikleri, uygun etmen tasarımını doğrudan etkiler.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46304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Gözlemlenebilirlik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1783080"/>
            <a:ext cx="4462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Fully ↔ Partially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2588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46304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Etmen sayısı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1783080"/>
            <a:ext cx="4462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Single ↔ Multi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77240" y="22860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86000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42316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Belirlilik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" y="2743200"/>
            <a:ext cx="4462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Deterministic ↔ Stochastic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63640" y="22860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286000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42316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Görev yapısı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28232" y="2743200"/>
            <a:ext cx="4462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Episodic ↔ Sequential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77240" y="32461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246120"/>
            <a:ext cx="6400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38328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Zaman etkisi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3703320"/>
            <a:ext cx="4462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Static ↔ Dynamic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263640" y="32461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246120"/>
            <a:ext cx="64008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338328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Değer yapısı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28232" y="3703320"/>
            <a:ext cx="4462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Discrete ↔ Continuous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77240" y="42062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20624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434340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Bilgi durumu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41832" y="4663440"/>
            <a:ext cx="4462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Known ↔ Unknown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Fully observable vs. partially observable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Karar için gerekli bütün bilgi görülebiliyor mu?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54480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Tam gözlemlenebilir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874520"/>
            <a:ext cx="46908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Etmenin sensörleri, eylem seçimi için gerekli tüm duruma erişir.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Örnek: satranç tahtasındaki bütün taşları görmek.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417320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554480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Kısmen gözlemlenebilir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9672" y="1874520"/>
            <a:ext cx="46908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Sensörler gürültülü, eksik veya sınırlıdır.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Örnek: pokerde rakibin kartlarını görememek; takside diğer sürücülerin niyetini bilememek.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97280" y="42519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E9F2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306824"/>
            <a:ext cx="2779776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Yerel kir sensörü olan süpürge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4572000"/>
            <a:ext cx="132588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32120" y="42519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1F2"/>
          </a:solidFill>
          <a:ln w="2032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4306824"/>
            <a:ext cx="2779776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Diğer karede kir var mı?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Bilemez.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4572000"/>
            <a:ext cx="114300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29800" y="425196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F1EC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02952" y="4306824"/>
            <a:ext cx="1362456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İç durum gerekebilir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Single-agent vs. multiagent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Başka karar vericiler etmenin performansını etkiliyor mu?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554480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Tek etmenli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874520"/>
            <a:ext cx="46908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Bulmaca çözme, bağımsız görüntü sınıflandırma veya basit parça ayırma gibi görevlerde başka etmen yoktur.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41732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554480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Çok etmenli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9672" y="1874520"/>
            <a:ext cx="46908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Satranç, trafik ve pazarlık gibi ortamlarda diğer etmenler de kendi hedeflerine göre davranır.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371600" y="37033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1F2"/>
          </a:solidFill>
          <a:ln w="2032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4752" y="3758184"/>
            <a:ext cx="259689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Competitive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Rekabetçi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09160" y="37033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3758184"/>
            <a:ext cx="259689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Cooperative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İş birlikçi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37033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3758184"/>
            <a:ext cx="259689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Mixed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Karma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029200"/>
            <a:ext cx="9555480" cy="347472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Trafik: çarpışmadan kaçınmak iş birlikçidir; aynı park yerini istemek rekabetçidir.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vs. stochastic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Aynı durum + aynı eylem her zaman aynı sonucu mu üretir?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220"/>
                </a:solidFill>
              </a:rPr>
              <a:t>sₜ + aₜ → sₜ₊₁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5740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19456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Deterministik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2514600"/>
            <a:ext cx="4553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Sonraki durum tamamen bellidir.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Basit süpürge dünyasında Right eylemi B’ye götürür.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</a:rPr>
              <a:t>P(sₜ₊₁ | sₜ, aₜ)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05740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19456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Stokastik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9672" y="2514600"/>
            <a:ext cx="4553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Sonuç olasılıksaldır.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Tekerlek kayabilir, trafik beklenmedik davranabilir, motor arızalanabilir.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10058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 ortam = tam gözlemlenebilir değilse veya deterministik değilse belirsizlik vardır.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Episodic vs. sequential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Bugünkü eylem gelecekteki kararları etkiliyor mu?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6400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55448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Episodic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874520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Her bölüm bağımsızdır. Etmen bir algı alır, tek eylem yapar; sonraki bölüm önceki eylemden etkilenmez.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Örnek: üretim hattında her parçayı ayrı sınıflandırma.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41732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55448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Sequential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9672" y="1874520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Mevcut karar gelecekteki durumları ve kararları etkiler.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Örnek: satrançta kısa vadeli hamle uzun vadeli sonucu değiştirir; taksi sürüşü de böyledir.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234440" y="429768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4352544"/>
            <a:ext cx="23225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Sınıflandırma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40480" y="4617720"/>
            <a:ext cx="1051560" cy="0"/>
          </a:xfrm>
          <a:prstGeom prst="line">
            <a:avLst/>
          </a:prstGeom>
          <a:noFill/>
          <a:ln w="20320">
            <a:solidFill>
              <a:srgbClr val="A6ADB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429768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4352544"/>
            <a:ext cx="23225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Bağımsız çıktı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0" y="429768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F1EC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4352544"/>
            <a:ext cx="122529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Hamle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55480" y="4617720"/>
            <a:ext cx="77724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96728" y="429768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1EC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9880" y="4352544"/>
            <a:ext cx="8595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Gelecek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Diğer üç ayrım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Zaman, değer yapısı ve ortam bilgisinin etkisi.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5087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Static ↔ Dynamic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828800"/>
            <a:ext cx="31821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Etmen düşünürken ortam değişiyor mu?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Çengel bulmaca statik; trafik dinamik. Saatli satranç yarı dinamiktir.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371600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5087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Discrete ↔ Continuous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1828800"/>
            <a:ext cx="31821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Durumlar, zaman, algılar ve eylemler ayrık mı, sürekli mi?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Satranç ayrık; araç sürüşü sürekli.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863840" y="13716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37160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15087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Known ↔ Unknown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28432" y="1828800"/>
            <a:ext cx="31821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Etmen ortamın işleyiş kurallarını biliyor mu?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Kuralları bilinen ama kartları kapalı oyun: known + partially observable.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2103120" cy="2743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zor kombinasyon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4407408"/>
            <a:ext cx="10058400" cy="502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Kısmen gözlemlenebilir + çok etmenli + stokastik + sıralı + dinamik + sürekli + bilinmeyen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Örnek ortam sınıflandırmaları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Sınıflandırma, görevi nasıl tanımladığımıza bağlı olarak değişebilir.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2148840" cy="62048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62033"/>
                </a:solidFill>
              </a:rPr>
              <a:t>Görev</a:t>
            </a:r>
            <a:endParaRPr lang="en-US" sz="1010" dirty="0"/>
          </a:p>
        </p:txBody>
      </p:sp>
      <p:sp>
        <p:nvSpPr>
          <p:cNvPr id="6" name="Text 4"/>
          <p:cNvSpPr/>
          <p:nvPr/>
        </p:nvSpPr>
        <p:spPr>
          <a:xfrm>
            <a:off x="2651760" y="1325880"/>
            <a:ext cx="1234440" cy="62048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62033"/>
                </a:solidFill>
              </a:rPr>
              <a:t>Obs.</a:t>
            </a:r>
            <a:endParaRPr lang="en-US" sz="1010" dirty="0"/>
          </a:p>
        </p:txBody>
      </p:sp>
      <p:sp>
        <p:nvSpPr>
          <p:cNvPr id="7" name="Text 5"/>
          <p:cNvSpPr/>
          <p:nvPr/>
        </p:nvSpPr>
        <p:spPr>
          <a:xfrm>
            <a:off x="3886200" y="1325880"/>
            <a:ext cx="1143000" cy="62048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62033"/>
                </a:solidFill>
              </a:rPr>
              <a:t>Agent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5029200" y="1325880"/>
            <a:ext cx="1143000" cy="62048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62033"/>
                </a:solidFill>
              </a:rPr>
              <a:t>Det.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6172200" y="1325880"/>
            <a:ext cx="1508760" cy="62048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62033"/>
                </a:solidFill>
              </a:rPr>
              <a:t>Yapı</a:t>
            </a:r>
            <a:endParaRPr lang="en-US" sz="1010" dirty="0"/>
          </a:p>
        </p:txBody>
      </p:sp>
      <p:sp>
        <p:nvSpPr>
          <p:cNvPr id="10" name="Text 8"/>
          <p:cNvSpPr/>
          <p:nvPr/>
        </p:nvSpPr>
        <p:spPr>
          <a:xfrm>
            <a:off x="7680960" y="1325880"/>
            <a:ext cx="1234440" cy="62048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62033"/>
                </a:solidFill>
              </a:rPr>
              <a:t>Zaman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8915400" y="1325880"/>
            <a:ext cx="1325880" cy="620486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62033"/>
                </a:solidFill>
              </a:rPr>
              <a:t>Değer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502920" y="1946366"/>
            <a:ext cx="21488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Çengel bulmaca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651760" y="1946366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Tam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886200" y="1946366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Tek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5029200" y="1946366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Det.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172200" y="1946366"/>
            <a:ext cx="150876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Sıralı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7680960" y="1946366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Statik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8915400" y="1946366"/>
            <a:ext cx="132588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Ayrık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502920" y="2566851"/>
            <a:ext cx="21488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Saatli satranç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2651760" y="2566851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Tam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3886200" y="2566851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Çok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5029200" y="2566851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Det.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172200" y="2566851"/>
            <a:ext cx="150876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Sıralı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680960" y="2566851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Yarı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915400" y="2566851"/>
            <a:ext cx="132588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Ayrık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502920" y="3187337"/>
            <a:ext cx="21488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Poker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2651760" y="3187337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Kısmi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3886200" y="3187337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Çok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029200" y="3187337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Stok.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6172200" y="3187337"/>
            <a:ext cx="150876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Sıralı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7680960" y="3187337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Statik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8915400" y="3187337"/>
            <a:ext cx="132588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Ayrık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502920" y="3807823"/>
            <a:ext cx="21488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Taksi sürüşü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2651760" y="3807823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Kısmi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3886200" y="3807823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Çok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5029200" y="3807823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Stok.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6172200" y="3807823"/>
            <a:ext cx="150876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Sıralı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7680960" y="3807823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Dinamik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915400" y="3807823"/>
            <a:ext cx="132588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Sürekli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502920" y="4428309"/>
            <a:ext cx="21488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Tıbbi teşhis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2651760" y="4428309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Kısmi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3886200" y="4428309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Tek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5029200" y="4428309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Stok.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6172200" y="4428309"/>
            <a:ext cx="150876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Sıralı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7680960" y="4428309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Dinamik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8915400" y="4428309"/>
            <a:ext cx="132588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Sürekli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502920" y="5048794"/>
            <a:ext cx="21488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Parça robotu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2651760" y="5048794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Kısmi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3886200" y="5048794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Tek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5029200" y="5048794"/>
            <a:ext cx="114300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Stok.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6172200" y="5048794"/>
            <a:ext cx="150876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Epizodik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7680960" y="5048794"/>
            <a:ext cx="123444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Dinamik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8915400" y="5048794"/>
            <a:ext cx="1325880" cy="620486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2033"/>
                </a:solidFill>
              </a:rPr>
              <a:t>Sürekli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914400" y="5897880"/>
            <a:ext cx="10332720" cy="329184"/>
          </a:xfrm>
          <a:prstGeom prst="rect">
            <a:avLst/>
          </a:prstGeom>
          <a:solidFill>
            <a:srgbClr val="EEF6FF"/>
          </a:solidFill>
          <a:ln w="12700">
            <a:solidFill>
              <a:srgbClr val="C9DD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7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Known/unknown ayrı bir sütun değildir; bu çoğunlukla ortamın kendisinden çok etmenin ortamın kurallarını bilip bilmemesiyle ilgilidir.</a:t>
            </a:r>
            <a:endParaRPr lang="en-US" sz="1370" dirty="0"/>
          </a:p>
        </p:txBody>
      </p:sp>
      <p:sp>
        <p:nvSpPr>
          <p:cNvPr id="55" name="Text 53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assets/agent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0"/>
            <a:ext cx="607161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051560"/>
            <a:ext cx="1645920" cy="292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2.4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B1220"/>
                </a:solidFill>
              </a:rPr>
              <a:t>Etmenlerin Yapısı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58368" y="29077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</a:rPr>
              <a:t>Etmenin davranışı bir mimari üzerinde çalışan programla gerçekleşir.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= Architecture + Program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Programın seçtiği eylemler mimarinin yetenekleriyle uyumlu olmalıdır.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7373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9FBF7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792224"/>
            <a:ext cx="296265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Architecture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Donanım / altyapı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2628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220"/>
                </a:solidFill>
              </a:rPr>
              <a:t>+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212080" y="17373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9F2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85232" y="1792224"/>
            <a:ext cx="296265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Program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Karar verme yazılımı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4108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220"/>
                </a:solidFill>
              </a:rPr>
              <a:t>=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326880" y="17373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00032" y="1792224"/>
            <a:ext cx="168249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Agent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Etmen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05840" y="388620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88620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02336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Mimari ne yapar?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4343400"/>
            <a:ext cx="4645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Sensör verisini programa verir, programı çalıştırır, programın seçtiği eylemleri eyleyicilere iletir.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400800" y="388620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88620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402336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Program ne yapar?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65392" y="4343400"/>
            <a:ext cx="4370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Mevcut algıyı girdi alır; gerekiyorsa geçmişi bellekte tutar; eylem seçer.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Table-driven agent neden çalışmaz?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Her algı dizisi için eylemi tabloya yazmak teorik olarak mümkün ama pratikte imkânsızdır.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220"/>
                </a:solidFill>
              </a:rPr>
              <a:t>N = Σ |P|ᵗ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1417320" cy="350520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Uzunluk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0" y="2423160"/>
            <a:ext cx="1463040" cy="350520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Olası dizi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773680"/>
            <a:ext cx="141732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773680"/>
            <a:ext cx="146304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124200"/>
            <a:ext cx="141732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124200"/>
            <a:ext cx="146304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141732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474720"/>
            <a:ext cx="146304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64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825240"/>
            <a:ext cx="141732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825240"/>
            <a:ext cx="146304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1.024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175760"/>
            <a:ext cx="141732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4175760"/>
            <a:ext cx="1463040" cy="350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1.048.576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32588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146304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Sorun 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82312" y="1783080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Tabloyu saklamak için fiziksel alan yetmez.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001000" y="132588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132588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5592" y="146304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Sorun 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65592" y="1783080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Tasarımcının tabloyu dolduracak zamanı olmaz.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617720" y="278892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78892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92608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Sorun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82312" y="3246120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Etmen bütün doğru girişleri deneyimden öğrenemez.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001000" y="278892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278892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292608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AI’nin hedefi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65592" y="3246120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Devasa tablo yerine küçük ve genel bir programla rasyonel davranış üretmek.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reflex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Yalnızca mevcut algıya bakar ve koşul–eylem kuralı çalıştırır.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03120"/>
            <a:ext cx="1645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46320" y="2103120"/>
            <a:ext cx="1645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412480" y="2103120"/>
            <a:ext cx="16459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9FBF7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46504"/>
            <a:ext cx="122529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Percept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63240" y="1691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9F2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746504"/>
            <a:ext cx="149961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Durum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yorumla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16916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1EC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746504"/>
            <a:ext cx="15910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IF koşul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THEN eylem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0" y="1691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7E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31552" y="1746504"/>
            <a:ext cx="122529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3101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Örnek kural: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94560" y="3566160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status = Dirty THEN Suck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ELSE IF location = A THEN Right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ELSE IF location = B THEN Left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7635240" y="3401568"/>
            <a:ext cx="3337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3401568"/>
            <a:ext cx="64008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353872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Avantaj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99832" y="3858768"/>
            <a:ext cx="30449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Basit ve hızlıdır.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635240" y="429768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429768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9832" y="443484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Sınır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99832" y="475488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Sadece mevcut algıyla doğru karar verilebildiğinde iyi çalışır.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Model-based reflex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Kısmi gözlemlenebilirlikte etmen iç durum tutar.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1EC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17904"/>
            <a:ext cx="1865376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Önceki iç durum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9FBF7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98064"/>
            <a:ext cx="1865376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Mevcut algı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187452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E9F2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0752" y="1929384"/>
            <a:ext cx="2779776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Dünya nasıl değişir?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Eylemlerim ne yapar?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71232" y="1975104"/>
            <a:ext cx="213969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Güncel durum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(best guess)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12680" y="19202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85832" y="1975104"/>
            <a:ext cx="149961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Kural eşleştir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→ eylem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1810512"/>
            <a:ext cx="822960" cy="429768"/>
          </a:xfrm>
          <a:prstGeom prst="line">
            <a:avLst/>
          </a:prstGeom>
          <a:noFill/>
          <a:ln w="2159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0" y="3090672"/>
            <a:ext cx="822960" cy="-484632"/>
          </a:xfrm>
          <a:prstGeom prst="line">
            <a:avLst/>
          </a:prstGeom>
          <a:noFill/>
          <a:ln w="21590">
            <a:solidFill>
              <a:srgbClr val="0D948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01968" y="2423160"/>
            <a:ext cx="804672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02368" y="2423160"/>
            <a:ext cx="164592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4389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38912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52628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Örnek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4846320"/>
            <a:ext cx="4736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Taksi bir önceki kamera karesini hatırlar; iki kırmızı lambanın aynı anda yanıp yanmadığını algılar.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400800" y="43891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38912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452628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Not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65392" y="4846320"/>
            <a:ext cx="4370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İç durum her zaman kesin gerçek değildir; çoğu zaman etmenin en iyi tahminidir.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Goal-based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Mevcut durumu ve hedefi kullanarak geleceği değerlendirir.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E9FBF7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00784"/>
            <a:ext cx="186537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Şu anki durum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7E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935224"/>
            <a:ext cx="186537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Hedef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86200" y="21031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9F2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2157984"/>
            <a:ext cx="2596896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 eylemini yaparsam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ne olur?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18120" y="21031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91272" y="2157984"/>
            <a:ext cx="2596896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Hedefe götüren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eylem dizisi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80360" y="2011680"/>
            <a:ext cx="868680" cy="411480"/>
          </a:xfrm>
          <a:prstGeom prst="line">
            <a:avLst/>
          </a:prstGeom>
          <a:noFill/>
          <a:ln w="22860">
            <a:solidFill>
              <a:srgbClr val="0D948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0360" y="3246120"/>
            <a:ext cx="868680" cy="-54864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75120" y="2560320"/>
            <a:ext cx="10515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457200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72000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70916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Refleks etmen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5029200"/>
            <a:ext cx="4553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“Fren lambası gördüm → fren yap.”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309360" y="457200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572000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470916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Hedef tabanlı etmen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3952" y="5029200"/>
            <a:ext cx="4553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“Fren yapmazsam çarparım; hedefim çarpmamak → fren yap.”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Utility-based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Hedefe ulaşmanın farklı yollarını kaliteye göre karşılaştırır.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pic>
        <p:nvPicPr>
          <p:cNvPr id="5" name="Image 0" descr="/mnt/data/slide_assets/utility_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38404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00600" y="13716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00600" y="137160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65192" y="150876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Goal-based sınırlaması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5192" y="1828800"/>
            <a:ext cx="2679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Hedef gerçekleşti / gerçekleşmedi ayrımı çoğu zaman çok kabadır.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229600" y="13716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37160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94192" y="150876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Utility function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94192" y="1828800"/>
            <a:ext cx="2679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Dünya durumlarını ne kadar arzu edilir olduklarına göre puanlar.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5120640" y="2971800"/>
            <a:ext cx="5760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EU(a) = Σ P(sᵢ | a) U(sᵢ)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074920" y="3977640"/>
            <a:ext cx="914400" cy="426720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Eylem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989320" y="3977640"/>
            <a:ext cx="3063240" cy="426720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Olası sonuç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052560" y="3977640"/>
            <a:ext cx="1783080" cy="426720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33"/>
                </a:solidFill>
              </a:rPr>
              <a:t>Beklenen fayda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74920" y="4404360"/>
            <a:ext cx="914400" cy="426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89320" y="4404360"/>
            <a:ext cx="3063240" cy="426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%80 × 100 + %20 × 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52560" y="4404360"/>
            <a:ext cx="1783080" cy="426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80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4920" y="4831080"/>
            <a:ext cx="914400" cy="426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B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89320" y="4831080"/>
            <a:ext cx="3063240" cy="426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%100 × 75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52560" y="4831080"/>
            <a:ext cx="1783080" cy="426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033"/>
                </a:solidFill>
              </a:rPr>
              <a:t>75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Etmen bileşenleri geri bildirimle geliştirilir.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pic>
        <p:nvPicPr>
          <p:cNvPr id="5" name="Image 0" descr="/mnt/data/slide_assets/learning_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42062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2080" y="141732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E9F2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85232" y="1472184"/>
            <a:ext cx="227685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Performance element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Eylem seçer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0" y="141732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FF1F2"/>
          </a:solidFill>
          <a:ln w="2032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02752" y="1472184"/>
            <a:ext cx="227685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Critic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Performansı değerlendirir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0" y="32004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02752" y="3255264"/>
            <a:ext cx="227685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Learning element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İyileştirir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12080" y="32004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FF7E6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3255264"/>
            <a:ext cx="227685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Problem generator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Keşif önerir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80960" y="1810512"/>
            <a:ext cx="457200" cy="0"/>
          </a:xfrm>
          <a:prstGeom prst="line">
            <a:avLst/>
          </a:prstGeom>
          <a:noFill/>
          <a:ln w="2159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464040" y="2212848"/>
            <a:ext cx="0" cy="914400"/>
          </a:xfrm>
          <a:prstGeom prst="line">
            <a:avLst/>
          </a:prstGeom>
          <a:noFill/>
          <a:ln w="2159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138160" y="3584448"/>
            <a:ext cx="-411480" cy="0"/>
          </a:xfrm>
          <a:prstGeom prst="line">
            <a:avLst/>
          </a:prstGeom>
          <a:noFill/>
          <a:ln w="2159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419088" y="3127248"/>
            <a:ext cx="0" cy="-914400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349240" y="4892040"/>
            <a:ext cx="5166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Öğrenme = bileşenleri geri bildirimle değiştirerek genel performansı artırma süreci.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Bilgi gösterimi: atomic, factored, structured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İfade gücü arttıkça temsil kolaylaşır; akıl yürütme zorlaşır.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55448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Atomic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1874520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Durum bölünmez bir kara kutudur.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Örnek: “İstanbul” yalnızca bir durum adı.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55448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Factored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1874520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Durum özniteliklerden oluşur.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Örnek: şehir, yakıt, hız, motor durumu.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55448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Structured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57032" y="1874520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Nesneler ve ilişkiler temsil edilir.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Örnek: araba kamyonun arkasında, inek yolu kapatıyor.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097280" y="3840480"/>
            <a:ext cx="96926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72000" y="4069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İfade gücü artar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074920"/>
            <a:ext cx="9875520" cy="411480"/>
          </a:xfrm>
          <a:prstGeom prst="rect">
            <a:avLst/>
          </a:prstGeom>
          <a:solidFill>
            <a:srgbClr val="F1ECFF"/>
          </a:solidFill>
          <a:ln w="12700">
            <a:solidFill>
              <a:srgbClr val="D8CFF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dünya sistemleri çoğu zaman bu eksenin farklı noktalarını birlikte kullanır.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Etmen türlerini tek tabloda karşılaştıralım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Hangi ek bilgi kullanılıyor?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828800" cy="739140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2033"/>
                </a:solidFill>
              </a:rPr>
              <a:t>Etmen türü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2331720" y="1371600"/>
            <a:ext cx="3749040" cy="739140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2033"/>
                </a:solidFill>
              </a:rPr>
              <a:t>Karar için kullandığı bilgi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6080760" y="1371600"/>
            <a:ext cx="2788920" cy="739140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2033"/>
                </a:solidFill>
              </a:rPr>
              <a:t>Güçlü yanı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8869680" y="1371600"/>
            <a:ext cx="2834640" cy="739140"/>
          </a:xfrm>
          <a:prstGeom prst="rect">
            <a:avLst/>
          </a:prstGeom>
          <a:solidFill>
            <a:srgbClr val="E9F2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2033"/>
                </a:solidFill>
              </a:rPr>
              <a:t>Zayıf yanı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502920" y="2110740"/>
            <a:ext cx="182880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Simple reflex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2331720" y="2110740"/>
            <a:ext cx="37490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Mevcut algı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080760" y="2110740"/>
            <a:ext cx="278892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Hızlı ve basit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869680" y="2110740"/>
            <a:ext cx="28346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Kısmi gözlemde zayıf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02920" y="2849880"/>
            <a:ext cx="182880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Model-based reflex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2331720" y="2849880"/>
            <a:ext cx="37490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Algı + iç durum + model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080760" y="2849880"/>
            <a:ext cx="278892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Gizli bilgiyi takip eder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869680" y="2849880"/>
            <a:ext cx="28346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Model gerekir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02920" y="3589020"/>
            <a:ext cx="182880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Goal-based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2331720" y="3589020"/>
            <a:ext cx="37490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Durum + hedef + model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080760" y="3589020"/>
            <a:ext cx="278892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Esnek hedef değişimi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8869680" y="3589020"/>
            <a:ext cx="28346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Planlama maliyeti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02920" y="4328160"/>
            <a:ext cx="182880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Utility-based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2331720" y="4328160"/>
            <a:ext cx="37490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Olasılık + fayda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080760" y="4328160"/>
            <a:ext cx="278892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Trade-off ve belirsizlik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869680" y="4328160"/>
            <a:ext cx="28346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Fayda tanımı zor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5067300"/>
            <a:ext cx="182880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Learning agent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2331720" y="5067300"/>
            <a:ext cx="37490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Geri bildirim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080760" y="5067300"/>
            <a:ext cx="278892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Zamanla gelişir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869680" y="5067300"/>
            <a:ext cx="2834640" cy="7391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62033"/>
                </a:solidFill>
              </a:rPr>
              <a:t>Eğitim ve deneyim gerekir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Sınıf içi uygulama: bir etmeni analiz 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Örnek: spam filtreleme sistemi veya duygu analizi sistemi.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4023360" cy="38404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PEAS tanımını çıkar.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4754880" cy="38404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Ortam özelliklerini sınıflandır.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84048" cy="38404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063240"/>
            <a:ext cx="4937760" cy="384048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Hangi etmen türü uygun olur?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46520" y="150876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508760"/>
            <a:ext cx="64008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64592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Örnek yönlendirme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11112" y="1965960"/>
            <a:ext cx="41879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33"/>
                </a:solidFill>
              </a:rPr>
              <a:t>Duygu analizi çoğunlukla epizodik sınıflandırma olarak ele alınabilir; fakat sohbet bağlamı varsa görev sıralı hâle gelebilir.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60120" y="5074920"/>
            <a:ext cx="10058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Amaç: Tanımların ezber değil, görev analiz aracı olduğunu göstermek.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quiz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Kısa kontrol soruları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216152"/>
            <a:ext cx="987552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function ile agent program arasındaki fark nedir?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020824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02536"/>
            <a:ext cx="987552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Rasyonellik neden “her zaman başarılı olmak” değildir?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807208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788920"/>
            <a:ext cx="987552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Taksi sürüşü neden kısmen gözlemlenebilir ve dinamik kabul edilir?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32004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575304"/>
            <a:ext cx="987552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Goal-based ve utility-based agent arasındaki temel fark nedir?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2960" y="4379976"/>
            <a:ext cx="32004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361688"/>
            <a:ext cx="9875520" cy="36576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Öğrenen etmenin critic bileşeni ne işe yarar?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Yapay Zekâ • Ünite 2: Akıllı Etmenler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Ünite 2’den kalması gereken ana fikir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51560" y="1600200"/>
            <a:ext cx="1005840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187452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Bir yapay zekâ sistemini anlamak için önce şu soruları sor: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691640" y="2514600"/>
            <a:ext cx="256032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algılıyor?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617720" y="2514600"/>
            <a:ext cx="2560320" cy="41148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Nerede çalışıyor?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43800" y="2514600"/>
            <a:ext cx="2560320" cy="4114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Hangi eylemleri yapabiliyor?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3264408"/>
            <a:ext cx="2560320" cy="4114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Başarı nasıl ölçülüyor?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7720" y="3264408"/>
            <a:ext cx="256032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Geleceği, hedefi, faydayı veya öğrenmeyi kullanıyor mu?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5230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Sonraki adım: Bu etmenleri arama, planlama ve karar verme algoritmalarıyla gerçekleştirmek.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Ünite 2 - Akıllı Etmenler</dc:title>
  <dc:subject>Yapay Zekâ - Ünite 2: Akıllı Etmenler</dc:subject>
  <dc:creator>OpenAI</dc:creator>
  <cp:lastModifiedBy>OpenAI</cp:lastModifiedBy>
  <cp:revision>1</cp:revision>
  <dcterms:created xsi:type="dcterms:W3CDTF">2026-09-22T13:55:32Z</dcterms:created>
  <dcterms:modified xsi:type="dcterms:W3CDTF">2026-09-22T13:55:32Z</dcterms:modified>
</cp:coreProperties>
</file>