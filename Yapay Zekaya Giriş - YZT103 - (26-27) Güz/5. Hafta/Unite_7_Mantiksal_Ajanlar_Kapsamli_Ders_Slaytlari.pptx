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</p:sldIdLst>
  <p:notesMasterIdLst>
    <p:notesMasterId r:id="rId1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notesMaster" Target="notesMasters/notesMaster1.xml"/><Relationship Id="rId139" Type="http://schemas.openxmlformats.org/officeDocument/2006/relationships/presProps" Target="presProps.xml"/><Relationship Id="rId140" Type="http://schemas.openxmlformats.org/officeDocument/2006/relationships/viewProps" Target="viewProps.xml"/><Relationship Id="rId141" Type="http://schemas.openxmlformats.org/officeDocument/2006/relationships/theme" Target="theme/theme1.xml"/><Relationship Id="rId1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" cy="6858000"/>
          </a:xfrm>
          <a:prstGeom prst="rect">
            <a:avLst>
              <a:gd name="adj" fmla="val 5000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" y="704088"/>
            <a:ext cx="1993392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768096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77824" y="150876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ÜNİTE 7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41248" y="2148840"/>
            <a:ext cx="10332720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3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MANTIKSAL</a:t>
            </a:r>
            <a:endParaRPr lang="en-US" sz="53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53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AJANLAR</a:t>
            </a:r>
            <a:endParaRPr lang="en-US" sz="5300" dirty="0"/>
          </a:p>
        </p:txBody>
      </p:sp>
      <p:sp>
        <p:nvSpPr>
          <p:cNvPr id="7" name="Text 5"/>
          <p:cNvSpPr/>
          <p:nvPr/>
        </p:nvSpPr>
        <p:spPr>
          <a:xfrm>
            <a:off x="877824" y="4727448"/>
            <a:ext cx="10607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Knowledge-Based Agents · Wumpus · Logic · SAT · Planning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77824" y="5897880"/>
            <a:ext cx="10241280" cy="22860"/>
          </a:xfrm>
          <a:prstGeom prst="rect">
            <a:avLst>
              <a:gd name="adj" fmla="val 48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6099048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AIMA, 3. Baskı • Türkçe açıklamalı ders slaytları • Ekim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GIRIŞ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sunumdan ne öğreneceğiz?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002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04088" y="1810512"/>
            <a:ext cx="118872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719072"/>
            <a:ext cx="10378440" cy="7004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Bilgiyi mantıksal cümlelerle nasıl temsil ederiz?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04088" y="2602382"/>
            <a:ext cx="118872" cy="118872"/>
          </a:xfrm>
          <a:prstGeom prst="rect">
            <a:avLst>
              <a:gd name="adj" fmla="val 92308"/>
            </a:avLst>
          </a:prstGeom>
          <a:solidFill>
            <a:srgbClr val="75D1E8"/>
          </a:solidFill>
          <a:ln w="12700">
            <a:solidFill>
              <a:srgbClr val="75D1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510942"/>
            <a:ext cx="10378440" cy="7004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Algılardan yeni sonuçlar nasıl türetiriz?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04088" y="3394253"/>
            <a:ext cx="118872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302813"/>
            <a:ext cx="10378440" cy="7004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Wumpus dünyasında güvenli kararlar nasıl veririz?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04088" y="4186123"/>
            <a:ext cx="118872" cy="118872"/>
          </a:xfrm>
          <a:prstGeom prst="rect">
            <a:avLst>
              <a:gd name="adj" fmla="val 92308"/>
            </a:avLst>
          </a:prstGeom>
          <a:solidFill>
            <a:srgbClr val="75D1E8"/>
          </a:solidFill>
          <a:ln w="12700">
            <a:solidFill>
              <a:srgbClr val="75D1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094683"/>
            <a:ext cx="10378440" cy="7004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SAT, Resolution ve zincirleme algoritmaları nasıl çalışır?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04088" y="4977994"/>
            <a:ext cx="118872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886554"/>
            <a:ext cx="10378440" cy="7004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Mantıktan eylem planı nasıl oluşturulur?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Hedef: Formülü ezberlemek değil, her adımın neden doğru olduğunu anlamak.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GIRIŞ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ünitenin yol haritası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003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94944" y="1755648"/>
            <a:ext cx="1371600" cy="502920"/>
          </a:xfrm>
          <a:prstGeom prst="rect">
            <a:avLst>
              <a:gd name="adj" fmla="val 21818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181965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Bölüm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077517" y="1755648"/>
            <a:ext cx="3977640" cy="502920"/>
          </a:xfrm>
          <a:prstGeom prst="rect">
            <a:avLst>
              <a:gd name="adj" fmla="val 21818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68957" y="1819656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Konu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66130" y="1755648"/>
            <a:ext cx="5376672" cy="502920"/>
          </a:xfrm>
          <a:prstGeom prst="rect">
            <a:avLst>
              <a:gd name="adj" fmla="val 21818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57570" y="1819656"/>
            <a:ext cx="5193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 soru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94944" y="2322576"/>
            <a:ext cx="1371600" cy="566928"/>
          </a:xfrm>
          <a:prstGeom prst="rect">
            <a:avLst>
              <a:gd name="adj" fmla="val 19355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2377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7.1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077517" y="2322576"/>
            <a:ext cx="3977640" cy="566928"/>
          </a:xfrm>
          <a:prstGeom prst="rect">
            <a:avLst>
              <a:gd name="adj" fmla="val 19355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68957" y="237744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Bilgi tabanlı ajanlar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066130" y="2322576"/>
            <a:ext cx="5376672" cy="566928"/>
          </a:xfrm>
          <a:prstGeom prst="rect">
            <a:avLst>
              <a:gd name="adj" fmla="val 19355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57570" y="2377440"/>
            <a:ext cx="5193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Ajan bilgiyi nasıl kullanır?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94944" y="2907792"/>
            <a:ext cx="1371600" cy="566928"/>
          </a:xfrm>
          <a:prstGeom prst="rect">
            <a:avLst>
              <a:gd name="adj" fmla="val 19355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" y="296265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7.2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2077517" y="2907792"/>
            <a:ext cx="3977640" cy="566928"/>
          </a:xfrm>
          <a:prstGeom prst="rect">
            <a:avLst>
              <a:gd name="adj" fmla="val 19355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68957" y="2962656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Wumpus dünyası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066130" y="2907792"/>
            <a:ext cx="5376672" cy="566928"/>
          </a:xfrm>
          <a:prstGeom prst="rect">
            <a:avLst>
              <a:gd name="adj" fmla="val 19355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57570" y="2962656"/>
            <a:ext cx="5193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Tehlike görünmeden bulunabilir mi?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94944" y="3493008"/>
            <a:ext cx="1371600" cy="566928"/>
          </a:xfrm>
          <a:prstGeom prst="rect">
            <a:avLst>
              <a:gd name="adj" fmla="val 19355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" y="354787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7.3–7.4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2077517" y="3493008"/>
            <a:ext cx="3977640" cy="566928"/>
          </a:xfrm>
          <a:prstGeom prst="rect">
            <a:avLst>
              <a:gd name="adj" fmla="val 19355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68957" y="354787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Mantık ve önermeler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066130" y="3493008"/>
            <a:ext cx="5376672" cy="566928"/>
          </a:xfrm>
          <a:prstGeom prst="rect">
            <a:avLst>
              <a:gd name="adj" fmla="val 19355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57570" y="3547872"/>
            <a:ext cx="5193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Doğruluk nasıl ifade edilir?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94944" y="4078224"/>
            <a:ext cx="1371600" cy="566928"/>
          </a:xfrm>
          <a:prstGeom prst="rect">
            <a:avLst>
              <a:gd name="adj" fmla="val 19355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6384" y="413308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7.5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2077517" y="4078224"/>
            <a:ext cx="3977640" cy="566928"/>
          </a:xfrm>
          <a:prstGeom prst="rect">
            <a:avLst>
              <a:gd name="adj" fmla="val 19355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68957" y="413308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Teorem ispatlama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066130" y="4078224"/>
            <a:ext cx="5376672" cy="566928"/>
          </a:xfrm>
          <a:prstGeom prst="rect">
            <a:avLst>
              <a:gd name="adj" fmla="val 19355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57570" y="4133088"/>
            <a:ext cx="5193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Bir sonuç nasıl kanıtlanır?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694944" y="4663440"/>
            <a:ext cx="1371600" cy="566928"/>
          </a:xfrm>
          <a:prstGeom prst="rect">
            <a:avLst>
              <a:gd name="adj" fmla="val 19355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6384" y="471830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7.6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2077517" y="4663440"/>
            <a:ext cx="3977640" cy="566928"/>
          </a:xfrm>
          <a:prstGeom prst="rect">
            <a:avLst>
              <a:gd name="adj" fmla="val 19355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168957" y="4718304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DPLL ve WalkSAT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6066130" y="4663440"/>
            <a:ext cx="5376672" cy="566928"/>
          </a:xfrm>
          <a:prstGeom prst="rect">
            <a:avLst>
              <a:gd name="adj" fmla="val 19355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57570" y="4718304"/>
            <a:ext cx="5193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 problemleri nasıl çözülür?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694944" y="5248656"/>
            <a:ext cx="1371600" cy="566928"/>
          </a:xfrm>
          <a:prstGeom prst="rect">
            <a:avLst>
              <a:gd name="adj" fmla="val 19355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86384" y="53035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7.7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2077517" y="5248656"/>
            <a:ext cx="3977640" cy="566928"/>
          </a:xfrm>
          <a:prstGeom prst="rect">
            <a:avLst>
              <a:gd name="adj" fmla="val 19355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168957" y="530352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Mantığa dayalı ajanlar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6066130" y="5248656"/>
            <a:ext cx="5376672" cy="566928"/>
          </a:xfrm>
          <a:prstGeom prst="rect">
            <a:avLst>
              <a:gd name="adj" fmla="val 19355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57570" y="5303520"/>
            <a:ext cx="5193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Bilgi nasıl eyleme dönüşür?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sıralama ders kitabının 7.1–7.7 yapısını izler.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" cy="6858000"/>
          </a:xfrm>
          <a:prstGeom prst="rect">
            <a:avLst>
              <a:gd name="adj" fmla="val 6315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243584"/>
            <a:ext cx="1783080" cy="1783080"/>
          </a:xfrm>
          <a:prstGeom prst="roundRect">
            <a:avLst>
              <a:gd name="adj" fmla="val 6154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91056"/>
            <a:ext cx="1600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4700" b="1" dirty="0">
                <a:solidFill>
                  <a:srgbClr val="0A14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7.1</a:t>
            </a:r>
            <a:endParaRPr lang="en-US" sz="4700" dirty="0"/>
          </a:p>
        </p:txBody>
      </p:sp>
      <p:sp>
        <p:nvSpPr>
          <p:cNvPr id="5" name="Text 3"/>
          <p:cNvSpPr/>
          <p:nvPr/>
        </p:nvSpPr>
        <p:spPr>
          <a:xfrm>
            <a:off x="2916936" y="1609344"/>
            <a:ext cx="8549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Bilgi Tabanlı Ajanlar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953512" y="2926080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4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Bilgi saklama → yeni bilgi çıkarma → akılcı eylem seçme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41248" y="6300216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ÜNİTE 7  /  MANTIKSAL AJANLAR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055096" y="6446520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7.1 · BILGI TABANLI AJANLAR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Mantıksal ajanı neden öğreniyoruz?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005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04088" y="1810512"/>
            <a:ext cx="118872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719072"/>
            <a:ext cx="10378440" cy="8983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Refleks ajan yalnızca mevcut uyarana tepki verir.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04088" y="2800350"/>
            <a:ext cx="118872" cy="118872"/>
          </a:xfrm>
          <a:prstGeom prst="rect">
            <a:avLst>
              <a:gd name="adj" fmla="val 92308"/>
            </a:avLst>
          </a:prstGeom>
          <a:solidFill>
            <a:srgbClr val="75D1E8"/>
          </a:solidFill>
          <a:ln w="12700">
            <a:solidFill>
              <a:srgbClr val="75D1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708910"/>
            <a:ext cx="10378440" cy="8983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Arama ajanı durumları ve eylemleri inceler; bazı kurallar kodun içine gömülüdür.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04088" y="3790188"/>
            <a:ext cx="118872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698748"/>
            <a:ext cx="10378440" cy="8983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Bilgi tabanlı ajan açık kuralları ve gözlemleri saklar.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04088" y="4780026"/>
            <a:ext cx="118872" cy="118872"/>
          </a:xfrm>
          <a:prstGeom prst="rect">
            <a:avLst>
              <a:gd name="adj" fmla="val 92308"/>
            </a:avLst>
          </a:prstGeom>
          <a:solidFill>
            <a:srgbClr val="75D1E8"/>
          </a:solidFill>
          <a:ln w="12700">
            <a:solidFill>
              <a:srgbClr val="75D1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688586"/>
            <a:ext cx="10378440" cy="8983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Aynı kurallar farklı sorulara yanıt vermek için yeniden kullanılabilir.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Zekâ yalnızca hareket etmek değil, bilgiden yeni sonuç çıkarabilmektir.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7.1 · BILGI TABANLI AJANLAR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Temel kavramlar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006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755648"/>
            <a:ext cx="5376672" cy="4005072"/>
          </a:xfrm>
          <a:prstGeom prst="roundRect">
            <a:avLst>
              <a:gd name="adj" fmla="val 274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911096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Bilgi Tabanı — KB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50392" y="2377440"/>
            <a:ext cx="49560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Dünya hakkında doğru/yanlış olabilen cümlelerin saklandığı yapıdır.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Örnek: “Bütün öğrencilerin kimlik numarası vardır.”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172200" y="1755648"/>
            <a:ext cx="5376672" cy="4005072"/>
          </a:xfrm>
          <a:prstGeom prst="roundRect">
            <a:avLst>
              <a:gd name="adj" fmla="val 274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1911096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Aksiyom ve çıkarım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82512" y="2377440"/>
            <a:ext cx="49560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Aksiyom: Başlangıçta kabul edilen bilgi.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Çıkarım: Var olan cümlelerden yeni cümle üretme.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Örnek: “Ali öğrenci” ⇒ “Ali’nin kimlik numarası vardır.”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Sonucun gücü, öncüllerin doğru olmasına bağlıdır.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7.1 · BILGI TABANLI AJANLAR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TELL ve ASK: İki temel işlem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007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755648"/>
            <a:ext cx="5376672" cy="4005072"/>
          </a:xfrm>
          <a:prstGeom prst="roundRect">
            <a:avLst>
              <a:gd name="adj" fmla="val 274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911096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TELL(KB, cümle)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50392" y="2377440"/>
            <a:ext cx="49560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Bilgi tabanına yeni cümle ekler.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Örnek: “Önümde duvar var.” bilgisini kaydet.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172200" y="1755648"/>
            <a:ext cx="5376672" cy="4005072"/>
          </a:xfrm>
          <a:prstGeom prst="roundRect">
            <a:avLst>
              <a:gd name="adj" fmla="val 274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1911096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ASK(KB, soru)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82512" y="2377440"/>
            <a:ext cx="49560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KB’nin mantıksal olarak desteklediği cevabı sorar.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Örnek: “İleri gitmek güvenli mi?”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TELL yeni bilgi ekler; ASK mevcut bilgilerden sonuç arar.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 ÖĞRETİCİ GÖRSEL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7.1 — Bilgi tabanlı ajan döngüsü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008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700784"/>
            <a:ext cx="10817352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0" descr="/mnt/data/_unit7_work/assets/ajan_akis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828800"/>
            <a:ext cx="10488168" cy="3813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50392" y="5998464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Öğretici yeniden çizim: algı → KB/TELL → çıkarım/ASK → eylem → kayıt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7.1 · BILGI TABANLI AJANLAR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KB-AGENT bir turda ne yapar?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009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04088" y="170078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3736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353312" y="169164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PERCEPT: Sensör verisini alır; zamanı t ile belirtir.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04088" y="275234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78892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353312" y="274320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TELL: “t anında bu algıyı aldım” bilgisini KB’ye ekler.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04088" y="380390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84048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353312" y="379476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ASK: “t anında hangi eylem uygun?” sorusunu sorar.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704088" y="485546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89204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353312" y="484632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TELL: Seçilen eylemi KB’ye kaydeder; zamanı t+1 yapar.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Ajan yalnızca çevreyi değil, kendi geçmiş eylemlerini de takip eder.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7.1 · BILGI TABANLI AJANLAR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7.1 — Genel ajan sözde kodu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6656" y="1627632"/>
            <a:ext cx="10835640" cy="4005072"/>
          </a:xfrm>
          <a:prstGeom prst="roundRect">
            <a:avLst>
              <a:gd name="adj" fmla="val 2740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892808"/>
            <a:ext cx="10186416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1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KB-AGENT(percept):</a:t>
            </a:r>
            <a:endParaRPr lang="en-US" sz="21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21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TELL(KB, MAKE-PERCEPT-SENTENCE(percept, t))</a:t>
            </a:r>
            <a:endParaRPr lang="en-US" sz="21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21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action ← ASK(KB, MAKE-ACTION-QUERY(t))</a:t>
            </a:r>
            <a:endParaRPr lang="en-US" sz="21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21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TELL(KB, MAKE-ACTION-SENTENCE(action, t))</a:t>
            </a:r>
            <a:endParaRPr lang="en-US" sz="21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21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t ← t + 1</a:t>
            </a:r>
            <a:endParaRPr lang="en-US" sz="21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21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return action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Algı giriş, eylem çıkıştır; çıkarım TELL ve ASK işlemlerinin içinde yürütülebilir.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7.1 · BILGI TABANLI AJANLAR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Bilgi seviyesi ile uygulama seviyesi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755648"/>
            <a:ext cx="5376672" cy="4005072"/>
          </a:xfrm>
          <a:prstGeom prst="roundRect">
            <a:avLst>
              <a:gd name="adj" fmla="val 274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911096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Level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50392" y="2377440"/>
            <a:ext cx="49560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Ajan NE biliyor?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Hedefi NE?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Örnek: “Tek geçiş köprü; hedef karşı yakada.”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172200" y="1755648"/>
            <a:ext cx="5376672" cy="4005072"/>
          </a:xfrm>
          <a:prstGeom prst="roundRect">
            <a:avLst>
              <a:gd name="adj" fmla="val 274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1911096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Level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82512" y="2377440"/>
            <a:ext cx="49560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Bilgiler NASIL depolanıyor?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Hangi veri yapısı ve algoritma var?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Örnek: Graf, yol bulma, sembol işleme.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Davranışı açıklamak için her zaman kodun ayrıntılarını bilmek gerekmez.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7.1 · BILGI TABANLI AJANLAR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Bildirimsel ve prosedürel yaklaşım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755648"/>
            <a:ext cx="5376672" cy="4005072"/>
          </a:xfrm>
          <a:prstGeom prst="roundRect">
            <a:avLst>
              <a:gd name="adj" fmla="val 274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911096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Declarative — Bildirimsel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50392" y="2377440"/>
            <a:ext cx="49560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Kuralları bilgi olarak yaz.</a:t>
            </a:r>
            <a:endParaRPr lang="en-US" sz="1800" dirty="0"/>
          </a:p>
          <a:p>
            <a:pPr algn="l" indent="0" marL="0">
              <a:lnSpc>
                <a:spcPct val="103000"/>
              </a:lnSpc>
              <a:buNone/>
            </a:pPr>
            <a:endParaRPr lang="en-US" sz="18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“Sıcaklık yüksekse klima gerekli.”</a:t>
            </a:r>
            <a:endParaRPr lang="en-US" sz="18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“Sıcaklık yüksek.”</a:t>
            </a:r>
            <a:endParaRPr lang="en-US" sz="18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“Klima gerekli.”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172200" y="1755648"/>
            <a:ext cx="5376672" cy="4005072"/>
          </a:xfrm>
          <a:prstGeom prst="roundRect">
            <a:avLst>
              <a:gd name="adj" fmla="val 274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1911096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Procedural — Prosedürel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82512" y="2377440"/>
            <a:ext cx="49560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Doğrudan eylem kodla.</a:t>
            </a:r>
            <a:endParaRPr lang="en-US" sz="1800" dirty="0"/>
          </a:p>
          <a:p>
            <a:pPr algn="l" indent="0" marL="0">
              <a:lnSpc>
                <a:spcPct val="103000"/>
              </a:lnSpc>
              <a:buNone/>
            </a:pPr>
            <a:endParaRPr lang="en-US" sz="18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(sicaklik &gt; 30) {</a:t>
            </a:r>
            <a:endParaRPr lang="en-US" sz="18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klima_ac();</a:t>
            </a:r>
            <a:endParaRPr lang="en-US" sz="18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}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İyi yapay zekâ sistemleri bu iki yaklaşımı birleştirebilir.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7.1 · BILGI TABANLI AJANLAR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7.1 — Kısa tekrar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04088" y="1810512"/>
            <a:ext cx="118872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719072"/>
            <a:ext cx="10378440" cy="8983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KB: Cümleler ve aksiyomlardan oluşur.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04088" y="2800350"/>
            <a:ext cx="118872" cy="118872"/>
          </a:xfrm>
          <a:prstGeom prst="rect">
            <a:avLst>
              <a:gd name="adj" fmla="val 92308"/>
            </a:avLst>
          </a:prstGeom>
          <a:solidFill>
            <a:srgbClr val="75D1E8"/>
          </a:solidFill>
          <a:ln w="12700">
            <a:solidFill>
              <a:srgbClr val="75D1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708910"/>
            <a:ext cx="10378440" cy="8983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TELL: Bilgi ekler; ASK: Sorgu yapar.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04088" y="3790188"/>
            <a:ext cx="118872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698748"/>
            <a:ext cx="10378440" cy="8983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Çıkarım: Var olan bilgiden yeni bilgi türetir.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04088" y="4780026"/>
            <a:ext cx="118872" cy="118872"/>
          </a:xfrm>
          <a:prstGeom prst="rect">
            <a:avLst>
              <a:gd name="adj" fmla="val 92308"/>
            </a:avLst>
          </a:prstGeom>
          <a:solidFill>
            <a:srgbClr val="75D1E8"/>
          </a:solidFill>
          <a:ln w="12700">
            <a:solidFill>
              <a:srgbClr val="75D1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688586"/>
            <a:ext cx="10378440" cy="8983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Bilgi seviyesi “ne biliyor?”, uygulama seviyesi “nasıl çalışıyor?” sorusudur.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Kontrol sorusu: Bir ajan “Yağmur başladı” bilgisinden “zemin ıslak olabilir” sonucuna hangi mekanizmayla ulaşır?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" cy="6858000"/>
          </a:xfrm>
          <a:prstGeom prst="rect">
            <a:avLst>
              <a:gd name="adj" fmla="val 6315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243584"/>
            <a:ext cx="1783080" cy="1783080"/>
          </a:xfrm>
          <a:prstGeom prst="roundRect">
            <a:avLst>
              <a:gd name="adj" fmla="val 6154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91056"/>
            <a:ext cx="1600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4700" b="1" dirty="0">
                <a:solidFill>
                  <a:srgbClr val="0A14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7.2</a:t>
            </a:r>
            <a:endParaRPr lang="en-US" sz="4700" dirty="0"/>
          </a:p>
        </p:txBody>
      </p:sp>
      <p:sp>
        <p:nvSpPr>
          <p:cNvPr id="5" name="Text 3"/>
          <p:cNvSpPr/>
          <p:nvPr/>
        </p:nvSpPr>
        <p:spPr>
          <a:xfrm>
            <a:off x="2916936" y="1609344"/>
            <a:ext cx="8549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Wumpus Dünyası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953512" y="2926080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4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Kısmen gözlemlenebilir tehlikeli bir mağarada mantıksal karar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41248" y="6300216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ÜNİTE 7  /  MANTIKSAL AJANLAR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055096" y="6446520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7.2 · WUMPUS DÜNYASI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Wumpus dünyasının amacı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04088" y="1810512"/>
            <a:ext cx="118872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719072"/>
            <a:ext cx="10378440" cy="8983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× 4 mağara, 16 kare ve tek başlangıç noktası [1,1].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04088" y="2800350"/>
            <a:ext cx="118872" cy="118872"/>
          </a:xfrm>
          <a:prstGeom prst="rect">
            <a:avLst>
              <a:gd name="adj" fmla="val 92308"/>
            </a:avLst>
          </a:prstGeom>
          <a:solidFill>
            <a:srgbClr val="75D1E8"/>
          </a:solidFill>
          <a:ln w="12700">
            <a:solidFill>
              <a:srgbClr val="75D1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708910"/>
            <a:ext cx="10378440" cy="8983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Wumpus bulunan kareye girmek ölümcüldür; bazı karelerde çukur vardır.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04088" y="3790188"/>
            <a:ext cx="118872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698748"/>
            <a:ext cx="10378440" cy="8983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Altını bulup başlangıçtan mağaradan çıkmak gerekir.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04088" y="4780026"/>
            <a:ext cx="118872" cy="118872"/>
          </a:xfrm>
          <a:prstGeom prst="rect">
            <a:avLst>
              <a:gd name="adj" fmla="val 92308"/>
            </a:avLst>
          </a:prstGeom>
          <a:solidFill>
            <a:srgbClr val="75D1E8"/>
          </a:solidFill>
          <a:ln w="12700">
            <a:solidFill>
              <a:srgbClr val="75D1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688586"/>
            <a:ext cx="10378440" cy="8983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Ajan, tehlikeleri doğrudan görmez: koku ve esinti gibi işaretler algılar.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 soru: Görmediğimiz bir tehlikenin yerini yalnızca kurallarla bulabilir miyiz?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KAYNAK ŞEKİL 7.2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Wumpus dünyasının gerçek haritası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6656" y="1609344"/>
            <a:ext cx="10835640" cy="4626864"/>
          </a:xfrm>
          <a:prstGeom prst="roundRect">
            <a:avLst>
              <a:gd name="adj" fmla="val 237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0" descr="/mnt/data/image(20261013-105714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73352"/>
            <a:ext cx="10607040" cy="44988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8096" y="6263640"/>
            <a:ext cx="10844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7.2 · Kaynakta ajan sol altta sağa bakmaktadır.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ŞEKİL AÇIKLAMASI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7.2 — Koordinatları okuyalım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1664208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[x,y] sırasını kullanıyoruz: sağa gidince x, yukarı çıkınca y artar.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04088" y="2395728"/>
            <a:ext cx="118872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304288"/>
            <a:ext cx="1037844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Başlangıç [1,1]; Wumpus [1,3]; altın [2,3].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04088" y="3239262"/>
            <a:ext cx="118872" cy="118872"/>
          </a:xfrm>
          <a:prstGeom prst="rect">
            <a:avLst>
              <a:gd name="adj" fmla="val 92308"/>
            </a:avLst>
          </a:prstGeom>
          <a:solidFill>
            <a:srgbClr val="75D1E8"/>
          </a:solidFill>
          <a:ln w="12700">
            <a:solidFill>
              <a:srgbClr val="75D1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147822"/>
            <a:ext cx="1037844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Çukurlar [3,1], [3,3], [4,4] karelerindedir.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04088" y="4082796"/>
            <a:ext cx="118872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991356"/>
            <a:ext cx="1037844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Breeze: Çukura komşu kare; Stench: Wumpus’un bulunduğu veya komşusu.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04088" y="4926330"/>
            <a:ext cx="118872" cy="118872"/>
          </a:xfrm>
          <a:prstGeom prst="rect">
            <a:avLst>
              <a:gd name="adj" fmla="val 92308"/>
            </a:avLst>
          </a:prstGeom>
          <a:solidFill>
            <a:srgbClr val="75D1E8"/>
          </a:solidFill>
          <a:ln w="12700">
            <a:solidFill>
              <a:srgbClr val="75D1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834890"/>
            <a:ext cx="1037844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Önemli: Bu haritayı biz görüyoruz, ajan başlangıçta görmüyor.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Ajanın bilgi haritasıyla gerçek haritayı karıştırmayın.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7.2 · WUMPUS DÜNYASI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PEAS — Ajanın görev tanımı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94944" y="1755648"/>
            <a:ext cx="3154680" cy="502920"/>
          </a:xfrm>
          <a:prstGeom prst="rect">
            <a:avLst>
              <a:gd name="adj" fmla="val 21818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1819656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Öğe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60597" y="1755648"/>
            <a:ext cx="7543800" cy="502920"/>
          </a:xfrm>
          <a:prstGeom prst="rect">
            <a:avLst>
              <a:gd name="adj" fmla="val 21818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52037" y="1819656"/>
            <a:ext cx="7360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Wumpus karşılığı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94944" y="2322576"/>
            <a:ext cx="3154680" cy="722376"/>
          </a:xfrm>
          <a:prstGeom prst="rect">
            <a:avLst>
              <a:gd name="adj" fmla="val 1519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2377440"/>
            <a:ext cx="29718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— Performance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60597" y="2322576"/>
            <a:ext cx="7543800" cy="722376"/>
          </a:xfrm>
          <a:prstGeom prst="rect">
            <a:avLst>
              <a:gd name="adj" fmla="val 1519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52037" y="2377440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Altınla çıkış +1000; ölüm −1000; eylem −1; ok −10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94944" y="3063240"/>
            <a:ext cx="3154680" cy="722376"/>
          </a:xfrm>
          <a:prstGeom prst="rect">
            <a:avLst>
              <a:gd name="adj" fmla="val 15190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" y="3118104"/>
            <a:ext cx="29718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 — Environment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60597" y="3063240"/>
            <a:ext cx="7543800" cy="722376"/>
          </a:xfrm>
          <a:prstGeom prst="rect">
            <a:avLst>
              <a:gd name="adj" fmla="val 15190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52037" y="3118104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× 4 mağara; Wumpus, altın ve olası çukurlar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94944" y="3803904"/>
            <a:ext cx="3154680" cy="722376"/>
          </a:xfrm>
          <a:prstGeom prst="rect">
            <a:avLst>
              <a:gd name="adj" fmla="val 1519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" y="3858768"/>
            <a:ext cx="29718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— Actuators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60597" y="3803904"/>
            <a:ext cx="7543800" cy="722376"/>
          </a:xfrm>
          <a:prstGeom prst="rect">
            <a:avLst>
              <a:gd name="adj" fmla="val 1519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52037" y="3858768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Forward, TurnLeft, TurnRight, Grab, Shoot, Climb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94944" y="4544568"/>
            <a:ext cx="3154680" cy="722376"/>
          </a:xfrm>
          <a:prstGeom prst="rect">
            <a:avLst>
              <a:gd name="adj" fmla="val 15190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" y="4599432"/>
            <a:ext cx="29718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 — Sensors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860597" y="4544568"/>
            <a:ext cx="7543800" cy="722376"/>
          </a:xfrm>
          <a:prstGeom prst="rect">
            <a:avLst>
              <a:gd name="adj" fmla="val 15190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52037" y="4599432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Stench, Breeze, Glitter, Bump, Scream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İyi davranış = yalnızca altını bulmak değil, güvenli ve ekonomik dönmek.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7.2 · WUMPUS DÜNYASI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Beş algıyı çok iyi öğrenelim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755648"/>
            <a:ext cx="5376672" cy="4005072"/>
          </a:xfrm>
          <a:prstGeom prst="roundRect">
            <a:avLst>
              <a:gd name="adj" fmla="val 274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911096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Çevresel tehlike algıları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50392" y="2377440"/>
            <a:ext cx="49560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STENCH: Wumpus’un kendi karesinde veya doğrudan komşusunda koku.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BREEZE: Çukura doğrudan komşu karede esinti.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GLITTER: Altınla aynı karede parıltı.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172200" y="1755648"/>
            <a:ext cx="5376672" cy="4005072"/>
          </a:xfrm>
          <a:prstGeom prst="roundRect">
            <a:avLst>
              <a:gd name="adj" fmla="val 274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1911096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Hareket ve olay algıları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82512" y="2377440"/>
            <a:ext cx="49560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BUMP: İleri hareket duvara çarptı.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SCREAM: Wumpus öldüğünde mağaranın her yerinden duyulur.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Sıra: [Stench, Breeze, Glitter, Bump, Scream]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Çapraz komşuluk sayılmaz; yalnızca sağ/sol/yukarı/aşağı.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7.2 · WUMPUS DÜNYASI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Ajan için güvenli karar akışı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04088" y="170078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3736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353312" y="169164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[1,1] başlangıçta güvenlidir: çukur ve Wumpus içermez.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04088" y="275234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78892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353312" y="274320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Koku yok → komşu karelerde Wumpus yok.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04088" y="380390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84048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353312" y="379476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Esinti yok → komşu karelerde çukur yok.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704088" y="485546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89204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353312" y="484632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Ajan yalnızca güvenli olduğu kanıtlanan karelere girer.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Bir algının yokluğu da yeni bilgi sağlar.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KAYNAK ŞEKİL 7.3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7.3 — İlk iki bilgi durumu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6656" y="1609344"/>
            <a:ext cx="10835640" cy="4626864"/>
          </a:xfrm>
          <a:prstGeom prst="roundRect">
            <a:avLst>
              <a:gd name="adj" fmla="val 237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0" descr="/mnt/data/image(20261013-105722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73352"/>
            <a:ext cx="10607040" cy="44988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8096" y="6263640"/>
            <a:ext cx="10844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7.3 · (a) İlk algı yok; (b) [2,1] karesinde esinti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ŞEKİL AÇIKLAMASI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7.3(a) — İlk algının mantığı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1664208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[1,1] karesinde algı: [None, None, None, None, None].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04088" y="2395728"/>
            <a:ext cx="118872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304288"/>
            <a:ext cx="1037844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Koku yok: [1,2] ve [2,1] karelerinde Wumpus yok.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04088" y="3239262"/>
            <a:ext cx="118872" cy="118872"/>
          </a:xfrm>
          <a:prstGeom prst="rect">
            <a:avLst>
              <a:gd name="adj" fmla="val 92308"/>
            </a:avLst>
          </a:prstGeom>
          <a:solidFill>
            <a:srgbClr val="75D1E8"/>
          </a:solidFill>
          <a:ln w="12700">
            <a:solidFill>
              <a:srgbClr val="75D1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147822"/>
            <a:ext cx="1037844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Esinti yok: Aynı komşu karelerde çukur yok.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04088" y="4082796"/>
            <a:ext cx="118872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991356"/>
            <a:ext cx="1037844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İki sonuç birleşir: [1,2] ve [2,1] = OK.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04088" y="4926330"/>
            <a:ext cx="118872" cy="118872"/>
          </a:xfrm>
          <a:prstGeom prst="rect">
            <a:avLst>
              <a:gd name="adj" fmla="val 92308"/>
            </a:avLst>
          </a:prstGeom>
          <a:solidFill>
            <a:srgbClr val="75D1E8"/>
          </a:solidFill>
          <a:ln w="12700">
            <a:solidFill>
              <a:srgbClr val="75D1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834890"/>
            <a:ext cx="1037844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Ajan [2,1] yönüne güvenle ilerleyebilir.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İlk algıda bile iki komşu karenin güvenliği kanıtlandı.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7.2 · WUMPUS DÜNYASI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7.3(b) — Esintiden çıkarım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728216"/>
            <a:ext cx="10817352" cy="1417320"/>
          </a:xfrm>
          <a:prstGeom prst="roundRect">
            <a:avLst>
              <a:gd name="adj" fmla="val 7742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965960"/>
            <a:ext cx="102412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3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P₂,₂ ∨ P₃,₁</a:t>
            </a:r>
            <a:endParaRPr lang="en-US" sz="3500" dirty="0"/>
          </a:p>
        </p:txBody>
      </p:sp>
      <p:sp>
        <p:nvSpPr>
          <p:cNvPr id="10" name="Shape 8"/>
          <p:cNvSpPr/>
          <p:nvPr/>
        </p:nvSpPr>
        <p:spPr>
          <a:xfrm>
            <a:off x="685800" y="3401568"/>
            <a:ext cx="10817352" cy="2194560"/>
          </a:xfrm>
          <a:prstGeom prst="roundRect">
            <a:avLst>
              <a:gd name="adj" fmla="val 500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557016"/>
            <a:ext cx="10396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[2,1] konumunda esinti var.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96112" y="4023360"/>
            <a:ext cx="1039672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Esinti → komşulardan en az birinde çukur vardır.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[1,1] güvenli → geriye [2,2] veya [3,1] kalır.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“Veya” ikisinin birden çukur olabileceğini de kapsar.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P? işareti kesin tehlike demek değildir.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KAYNAK ŞEKİL 7.4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7.4 — Wumpus ve çukurun yerini bulma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6656" y="1609344"/>
            <a:ext cx="10835640" cy="4626864"/>
          </a:xfrm>
          <a:prstGeom prst="roundRect">
            <a:avLst>
              <a:gd name="adj" fmla="val 237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0" descr="/mnt/data/image(20261013-105730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73352"/>
            <a:ext cx="10607040" cy="44988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8096" y="6263640"/>
            <a:ext cx="10844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7.4 · (a) Üçüncü algı; (b) altın bulunduğundaki durum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7.2 · WUMPUS DÜNYASI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7.4(a) — Wumpus’u bulalım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04088" y="170078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3736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353312" y="169164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Ajan [1,2] karesine geçer: koku VAR, esinti YOK.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04088" y="275234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78892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353312" y="274320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Koku → Wumpus komşulardan [1,1], [1,3] veya [2,2] olabilir.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04088" y="380390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84048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353312" y="379476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[1,1] başlangıçtır; Wumpus yok. [2,1]’de koku yoktu → [2,2] elenir.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704088" y="485546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89204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353312" y="484632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Tek seçenek [1,3] kalır: W₁,₃ = True.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W? olasılık; W! kesinleşmiş Wumpus demektir.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7.2 · WUMPUS DÜNYASI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7.4(a) — Çukuru bulalım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04088" y="170078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3736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353312" y="169164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[2,1]’de esinti algılanmıştı: P₂,₂ ∨ P₃,₁.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04088" y="275234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78892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353312" y="274320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[1,2]’de esinti YOK → [2,2]’de çukur yok: ¬P₂,₂.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04088" y="380390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84048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353312" y="379476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P₂,₂ seçeneği elendiğinde P₃,₁ zorunlu olur.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704088" y="485546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89204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353312" y="484632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Ajan [3,1]’e gitmeden oradaki çukuru kanıtlar.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Birden farklı zamanlarda alınan bilgileri birleştirmek çıkarımın özüdür.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7.2 · WUMPUS DÜNYASI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Güvenli kareyi kanıtlamak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728216"/>
            <a:ext cx="10817352" cy="1417320"/>
          </a:xfrm>
          <a:prstGeom prst="roundRect">
            <a:avLst>
              <a:gd name="adj" fmla="val 7742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965960"/>
            <a:ext cx="102412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Safe(2,2) = ¬P₂,₂ ∧ ¬W₂,₂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685800" y="3401568"/>
            <a:ext cx="10817352" cy="2194560"/>
          </a:xfrm>
          <a:prstGeom prst="roundRect">
            <a:avLst>
              <a:gd name="adj" fmla="val 500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557016"/>
            <a:ext cx="10396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[2,2] karesinin iki tehlikeden de arınmış olması gerekir.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96112" y="4023360"/>
            <a:ext cx="1039672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[1,2]’de esinti yok → ¬P₂,₂.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[2,1]’de koku yok → ¬W₂,₂.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İki koşul birden sağlanınca [2,2] = OK olur.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Güvenli olduğunu bilmek, henüz tehlike algılamamakla aynı şey değildir.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7.2 · WUMPUS DÜNYASI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7.4(b) — Altına ulaşma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04088" y="170078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3736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353312" y="169164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[2,2] güvenli olduğu için ajan bu kareden ilerler.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04088" y="275234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78892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353312" y="274320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[2,3] karesinde [Stench, Breeze, Glitter, None, None] algılar.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04088" y="380390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84048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353312" y="379476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Glitter aynı karede altın olduğu anlamına gelir → Grab.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704088" y="485546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89204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353312" y="484632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Güvenli yolu izleyerek [1,1]’e döner; Climb ile çıkar.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Altını bulmak tek başına yetmez: görev güvenli biçimde çıkınca tamamlanır.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" cy="6858000"/>
          </a:xfrm>
          <a:prstGeom prst="rect">
            <a:avLst>
              <a:gd name="adj" fmla="val 6315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243584"/>
            <a:ext cx="1783080" cy="1783080"/>
          </a:xfrm>
          <a:prstGeom prst="roundRect">
            <a:avLst>
              <a:gd name="adj" fmla="val 6154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91056"/>
            <a:ext cx="1600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4700" b="1" dirty="0">
                <a:solidFill>
                  <a:srgbClr val="0A14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7.3</a:t>
            </a:r>
            <a:endParaRPr lang="en-US" sz="4700" dirty="0"/>
          </a:p>
        </p:txBody>
      </p:sp>
      <p:sp>
        <p:nvSpPr>
          <p:cNvPr id="5" name="Text 3"/>
          <p:cNvSpPr/>
          <p:nvPr/>
        </p:nvSpPr>
        <p:spPr>
          <a:xfrm>
            <a:off x="2916936" y="1609344"/>
            <a:ext cx="8549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Mantığın Temelleri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953512" y="2926080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4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Sözdizimi, anlambilim, modeller ve mantıksal gerektirme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41248" y="6300216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ÜNİTE 7  /  MANTIKSAL AJANLAR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055096" y="6446520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7.3 · MANTIĞIN TEMELLERI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Syntax ve Semantics: Ayrım nedir?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755648"/>
            <a:ext cx="5376672" cy="4005072"/>
          </a:xfrm>
          <a:prstGeom prst="roundRect">
            <a:avLst>
              <a:gd name="adj" fmla="val 274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911096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Syntax — Sözdizimi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50392" y="2377440"/>
            <a:ext cx="49560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İfade dilin kurallarına uygun mu?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“x + y = 4” → doğru biçim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“x4y+=” → geçersiz biçim.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172200" y="1755648"/>
            <a:ext cx="5376672" cy="4005072"/>
          </a:xfrm>
          <a:prstGeom prst="roundRect">
            <a:avLst>
              <a:gd name="adj" fmla="val 274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1911096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Semantics — Anlambilim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82512" y="2377440"/>
            <a:ext cx="49560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İfade ilgili modelde doğru mu?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x=2, y=2 → x+y=4 doğru.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x=1, y=1 → x+y=4 yanlış.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Geçerli yazılmış bir cümle yanlış olabilir.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7.3 · MANTIĞIN TEMELLERI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Model, olası dünya ve satisfaction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755648"/>
            <a:ext cx="5376672" cy="4005072"/>
          </a:xfrm>
          <a:prstGeom prst="roundRect">
            <a:avLst>
              <a:gd name="adj" fmla="val 274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911096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Possible World / Model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50392" y="2377440"/>
            <a:ext cx="49560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Olası dünya: Ortamın belirli bir düzeni.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Model: İlgili cümlelerin doğruluklarını belirleyen matematiksel atama.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172200" y="1755648"/>
            <a:ext cx="5376672" cy="4005072"/>
          </a:xfrm>
          <a:prstGeom prst="roundRect">
            <a:avLst>
              <a:gd name="adj" fmla="val 274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1911096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Satisfaction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82512" y="2377440"/>
            <a:ext cx="49560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m, α’yı doğru yapıyorsa “m, α’yı sağlar.”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M(α): α’yı sağlayan bütün modellerin kümesi.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Tek bir ifade farklı modellerde farklı doğruluk değeri alabilir.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7.3 · MANTIĞIN TEMELLERI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Mantıksal gerektirme — Entailment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728216"/>
            <a:ext cx="10817352" cy="1417320"/>
          </a:xfrm>
          <a:prstGeom prst="roundRect">
            <a:avLst>
              <a:gd name="adj" fmla="val 7742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965960"/>
            <a:ext cx="102412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33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α ⊨ β   ⇔   M(α) ⊆ M(β)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685800" y="3401568"/>
            <a:ext cx="10817352" cy="2194560"/>
          </a:xfrm>
          <a:prstGeom prst="roundRect">
            <a:avLst>
              <a:gd name="adj" fmla="val 500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557016"/>
            <a:ext cx="10396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α’nın doğru olduğu her modelde β da doğru olmalıdır.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96112" y="4023360"/>
            <a:ext cx="1039672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Örnek: x=0 ⊨ x·y=0.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Çünkü x sıfırsa y ne olursa olsun çarpım sıfırdır.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 x·y=0 bilgisi tek başına x=0 demek değildir.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⊨ = modeller üzerinden zorunlu doğruluk ilişkisi.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KAYNAK ŞEKİL 7.5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7.5 — Wumpus için sekiz olası model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6656" y="1609344"/>
            <a:ext cx="10835640" cy="4626864"/>
          </a:xfrm>
          <a:prstGeom prst="roundRect">
            <a:avLst>
              <a:gd name="adj" fmla="val 237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0" descr="/mnt/data/image(20261013-105835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73352"/>
            <a:ext cx="10607040" cy="44988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8096" y="6263640"/>
            <a:ext cx="10844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7.5 · Düz çizgi: KB; noktalı çizgi: α₁ ve α₂ modelleri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 ÖĞRETİCİ GÖRSEL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Sekiz model: Her bir değişken 0 veya 1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700784"/>
            <a:ext cx="10817352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0" descr="/mnt/data/_unit7_work/assets/sekiz_mod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828800"/>
            <a:ext cx="10488168" cy="3813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50392" y="5998464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[1,2], [2,2], [3,1] için 2³ = 8 kombinasyon vardır.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ŞEKİL AÇIKLAMASI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7.5 — Hangi sonuç kesin?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1664208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Ajanın bildikleri: [1,1]’de esinti yok, [2,1]’de esinti var.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04088" y="2395728"/>
            <a:ext cx="118872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304288"/>
            <a:ext cx="1037844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Üç kareden her biri çukur VAR / YOK olabilir → 8 model.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04088" y="3239262"/>
            <a:ext cx="118872" cy="118872"/>
          </a:xfrm>
          <a:prstGeom prst="rect">
            <a:avLst>
              <a:gd name="adj" fmla="val 92308"/>
            </a:avLst>
          </a:prstGeom>
          <a:solidFill>
            <a:srgbClr val="75D1E8"/>
          </a:solidFill>
          <a:ln w="12700">
            <a:solidFill>
              <a:srgbClr val="75D1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147822"/>
            <a:ext cx="1037844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KB, yalnızca 3 modelle uyumludur.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04088" y="4082796"/>
            <a:ext cx="118872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991356"/>
            <a:ext cx="1037844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Üç geçerli modelin hepsinde ¬P₁,₂ doğru → KB ⊨ ¬P₁,₂.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04088" y="4926330"/>
            <a:ext cx="118872" cy="118872"/>
          </a:xfrm>
          <a:prstGeom prst="rect">
            <a:avLst>
              <a:gd name="adj" fmla="val 92308"/>
            </a:avLst>
          </a:prstGeom>
          <a:solidFill>
            <a:srgbClr val="75D1E8"/>
          </a:solidFill>
          <a:ln w="12700">
            <a:solidFill>
              <a:srgbClr val="75D1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834890"/>
            <a:ext cx="1037844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P₂,₂ bazı geçerli modellerde doğru, bazılarında yanlış → karar verilemez.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Mantıksal gerektirme “çoğunlukta doğru” değil “hepsinde doğru” demektir.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7.3 · MANTIĞIN TEMELLERI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Entailment ile Inference ayrımı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755648"/>
            <a:ext cx="5376672" cy="4005072"/>
          </a:xfrm>
          <a:prstGeom prst="roundRect">
            <a:avLst>
              <a:gd name="adj" fmla="val 274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911096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Entailment — ⊨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50392" y="2377440"/>
            <a:ext cx="49560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KB ⊨ α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α, KB’nin doğru olduğu her modelde doğrudur.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Bir ilişkiyi tanımlar.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172200" y="1755648"/>
            <a:ext cx="5376672" cy="4005072"/>
          </a:xfrm>
          <a:prstGeom prst="roundRect">
            <a:avLst>
              <a:gd name="adj" fmla="val 274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1911096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Inference — ⊢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82512" y="2377440"/>
            <a:ext cx="49560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KB ⊢ᵢ α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algoritması KB’den α sonucunu türetmiştir.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Bir hesaplama/ispat sürecidir.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Saman yığınında iğnenin bulunması ≠ iğneyi arayıp bulma süreci.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7.3 · MANTIĞIN TEMELLERI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Soundness ve Completeness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755648"/>
            <a:ext cx="5376672" cy="4005072"/>
          </a:xfrm>
          <a:prstGeom prst="roundRect">
            <a:avLst>
              <a:gd name="adj" fmla="val 274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911096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Soundness — Sağlamlık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50392" y="2377440"/>
            <a:ext cx="49560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Çıkarılan her sonuç KB’nin mantıksal sonucu olmalı.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KB ⊢ᵢ α ⇒ KB ⊨ α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172200" y="1755648"/>
            <a:ext cx="5376672" cy="4005072"/>
          </a:xfrm>
          <a:prstGeom prst="roundRect">
            <a:avLst>
              <a:gd name="adj" fmla="val 274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1911096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Completeness — Tamlık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82512" y="2377440"/>
            <a:ext cx="49560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KB’nin mantıksal olarak gerektirdiği bütün sonuçlar türetilebilir olmalı.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KB ⊨ α ⇒ KB ⊢ᵢ α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Sound: Uydurma sonuç üretme. Complete: Gerçek sonucu kaçırma.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KAYNAK ŞEKİL 7.6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7.6 — Temsil ve gerçek dünya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6656" y="1609344"/>
            <a:ext cx="10835640" cy="4361688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0" descr="/mnt/data/image(20261013-105854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73352"/>
            <a:ext cx="10607040" cy="42336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8096" y="6263640"/>
            <a:ext cx="10844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7.6 · Üstte semboller; altta onların dünya karşılıkları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ŞEKİL AÇIKLAMASI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7.6 — İki seviyeyi ayıralım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1664208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Mantıksal işlem, semboller üzerinde gerçekleştirilir.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04088" y="2395728"/>
            <a:ext cx="118872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304288"/>
            <a:ext cx="1037844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Üst sıra: Ajanın sakladığı cümleler ve üretilen yeni cümle.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04088" y="3239262"/>
            <a:ext cx="118872" cy="118872"/>
          </a:xfrm>
          <a:prstGeom prst="rect">
            <a:avLst>
              <a:gd name="adj" fmla="val 92308"/>
            </a:avLst>
          </a:prstGeom>
          <a:solidFill>
            <a:srgbClr val="75D1E8"/>
          </a:solidFill>
          <a:ln w="12700">
            <a:solidFill>
              <a:srgbClr val="75D1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147822"/>
            <a:ext cx="1037844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 sıra: Cümlelerin işaret ettiği gerçek dünya durumları.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04088" y="4082796"/>
            <a:ext cx="118872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991356"/>
            <a:ext cx="1037844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Sağlam çıkarım, doğru öncüllerden çıkan sonucun dünyada da doğru olmasını sağlar.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04088" y="4926330"/>
            <a:ext cx="118872" cy="118872"/>
          </a:xfrm>
          <a:prstGeom prst="rect">
            <a:avLst>
              <a:gd name="adj" fmla="val 92308"/>
            </a:avLst>
          </a:prstGeom>
          <a:solidFill>
            <a:srgbClr val="75D1E8"/>
          </a:solidFill>
          <a:ln w="12700">
            <a:solidFill>
              <a:srgbClr val="75D1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834890"/>
            <a:ext cx="1037844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Grounding: İçsel sembol ve algıların gerçek dünya ile ilişkilendirilmesidir.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Yanlış sensör/yanlış kural → mantıksal olarak geçerli ama gerçekte yanlış sonuç olabilir.</a:t>
            </a:r>
            <a:endParaRPr lang="en-US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7.3 · MANTIĞIN TEMELLERI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7.3 — Temellendirme (Grounding)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04088" y="1810512"/>
            <a:ext cx="118872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719072"/>
            <a:ext cx="10378440" cy="8983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KB, fiziksel sistemde saklanan sembollerden oluşur.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04088" y="2800350"/>
            <a:ext cx="118872" cy="118872"/>
          </a:xfrm>
          <a:prstGeom prst="rect">
            <a:avLst>
              <a:gd name="adj" fmla="val 92308"/>
            </a:avLst>
          </a:prstGeom>
          <a:solidFill>
            <a:srgbClr val="75D1E8"/>
          </a:solidFill>
          <a:ln w="12700">
            <a:solidFill>
              <a:srgbClr val="75D1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708910"/>
            <a:ext cx="10378440" cy="8983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Sensörler gerçek dünyadan gelen algıyı sembole dönüştürür.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04088" y="3790188"/>
            <a:ext cx="118872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698748"/>
            <a:ext cx="10378440" cy="8983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Ajan genel kuralları önceden alabilir veya öğrenebilir.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04088" y="4780026"/>
            <a:ext cx="118872" cy="118872"/>
          </a:xfrm>
          <a:prstGeom prst="rect">
            <a:avLst>
              <a:gd name="adj" fmla="val 92308"/>
            </a:avLst>
          </a:prstGeom>
          <a:solidFill>
            <a:srgbClr val="75D1E8"/>
          </a:solidFill>
          <a:ln w="12700">
            <a:solidFill>
              <a:srgbClr val="75D1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688586"/>
            <a:ext cx="10378440" cy="8983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Öğrenilmiş kurallar hatalı olabilir: Mantıksal garantinin öncülü “KB doğruysa”dır.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Kontrol sorusu: Sensör yanlış koku algılarsa çıkarım doğru kalabilir mi?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" cy="6858000"/>
          </a:xfrm>
          <a:prstGeom prst="rect">
            <a:avLst>
              <a:gd name="adj" fmla="val 6315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243584"/>
            <a:ext cx="1783080" cy="1783080"/>
          </a:xfrm>
          <a:prstGeom prst="roundRect">
            <a:avLst>
              <a:gd name="adj" fmla="val 6154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91056"/>
            <a:ext cx="1600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4700" b="1" dirty="0">
                <a:solidFill>
                  <a:srgbClr val="0A14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7.4</a:t>
            </a:r>
            <a:endParaRPr lang="en-US" sz="4700" dirty="0"/>
          </a:p>
        </p:txBody>
      </p:sp>
      <p:sp>
        <p:nvSpPr>
          <p:cNvPr id="5" name="Text 3"/>
          <p:cNvSpPr/>
          <p:nvPr/>
        </p:nvSpPr>
        <p:spPr>
          <a:xfrm>
            <a:off x="2916936" y="1609344"/>
            <a:ext cx="8549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Önermeler Mantığı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953512" y="2926080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4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Semboller, bağlaçlar, doğruluk tabloları ve bilgi tabanı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41248" y="6300216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ÜNİTE 7  /  MANTIKSAL AJANLAR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055096" y="6446520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041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7.4 · ÖNERMELER MANTIĞI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Önerme nedir?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04088" y="1810512"/>
            <a:ext cx="118872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719072"/>
            <a:ext cx="10378440" cy="8983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Önerme, doğru veya yanlış olabilen bir ifadedir.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04088" y="2800350"/>
            <a:ext cx="118872" cy="118872"/>
          </a:xfrm>
          <a:prstGeom prst="rect">
            <a:avLst>
              <a:gd name="adj" fmla="val 92308"/>
            </a:avLst>
          </a:prstGeom>
          <a:solidFill>
            <a:srgbClr val="75D1E8"/>
          </a:solidFill>
          <a:ln w="12700">
            <a:solidFill>
              <a:srgbClr val="75D1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708910"/>
            <a:ext cx="10378440" cy="8983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P, Q, R, W₁,₃ gibi semboller atomik önermelerdir.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04088" y="3790188"/>
            <a:ext cx="118872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698748"/>
            <a:ext cx="10378440" cy="8983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W₁,₃ tek bir semboldür: “[1,3]’te Wumpus var.”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04088" y="4780026"/>
            <a:ext cx="118872" cy="118872"/>
          </a:xfrm>
          <a:prstGeom prst="rect">
            <a:avLst>
              <a:gd name="adj" fmla="val 92308"/>
            </a:avLst>
          </a:prstGeom>
          <a:solidFill>
            <a:srgbClr val="75D1E8"/>
          </a:solidFill>
          <a:ln w="12700">
            <a:solidFill>
              <a:srgbClr val="75D1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688586"/>
            <a:ext cx="10378440" cy="8983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True bütün modellerde doğru, False bütün modellerde yanlıştır.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“Kapıyı aç!” emir, “Kapı açık.” önerme cümlesidir.</a:t>
            </a:r>
            <a:endParaRPr lang="en-US" sz="15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7.4 · ÖNERMELER MANTIĞI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Beş temel mantıksal bağlaç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94944" y="1755648"/>
            <a:ext cx="2194560" cy="502920"/>
          </a:xfrm>
          <a:prstGeom prst="rect">
            <a:avLst>
              <a:gd name="adj" fmla="val 21818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18196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Bağlaç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900477" y="1755648"/>
            <a:ext cx="2788920" cy="502920"/>
          </a:xfrm>
          <a:prstGeom prst="rect">
            <a:avLst>
              <a:gd name="adj" fmla="val 21818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91917" y="181965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Türkçe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00370" y="1755648"/>
            <a:ext cx="5715000" cy="502920"/>
          </a:xfrm>
          <a:prstGeom prst="rect">
            <a:avLst>
              <a:gd name="adj" fmla="val 21818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91810" y="1819656"/>
            <a:ext cx="553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Doğru olma koşulu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94944" y="2322576"/>
            <a:ext cx="2194560" cy="683971"/>
          </a:xfrm>
          <a:prstGeom prst="rect">
            <a:avLst>
              <a:gd name="adj" fmla="val 16043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2377440"/>
            <a:ext cx="2011680" cy="5742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¬P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2900477" y="2322576"/>
            <a:ext cx="2788920" cy="683971"/>
          </a:xfrm>
          <a:prstGeom prst="rect">
            <a:avLst>
              <a:gd name="adj" fmla="val 16043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91917" y="2377440"/>
            <a:ext cx="2606040" cy="5742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DEĞİL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700370" y="2322576"/>
            <a:ext cx="5715000" cy="683971"/>
          </a:xfrm>
          <a:prstGeom prst="rect">
            <a:avLst>
              <a:gd name="adj" fmla="val 16043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91810" y="2377440"/>
            <a:ext cx="5532120" cy="5742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yanlışsa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94944" y="3024835"/>
            <a:ext cx="2194560" cy="683971"/>
          </a:xfrm>
          <a:prstGeom prst="rect">
            <a:avLst>
              <a:gd name="adj" fmla="val 16043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" y="3079699"/>
            <a:ext cx="2011680" cy="5742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∧ Q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2900477" y="3024835"/>
            <a:ext cx="2788920" cy="683971"/>
          </a:xfrm>
          <a:prstGeom prst="rect">
            <a:avLst>
              <a:gd name="adj" fmla="val 16043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91917" y="3079699"/>
            <a:ext cx="2606040" cy="5742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700370" y="3024835"/>
            <a:ext cx="5715000" cy="683971"/>
          </a:xfrm>
          <a:prstGeom prst="rect">
            <a:avLst>
              <a:gd name="adj" fmla="val 16043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91810" y="3079699"/>
            <a:ext cx="5532120" cy="5742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İkisi de doğruysa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94944" y="3727094"/>
            <a:ext cx="2194560" cy="683971"/>
          </a:xfrm>
          <a:prstGeom prst="rect">
            <a:avLst>
              <a:gd name="adj" fmla="val 16043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" y="3781958"/>
            <a:ext cx="2011680" cy="5742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∨ Q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2900477" y="3727094"/>
            <a:ext cx="2788920" cy="683971"/>
          </a:xfrm>
          <a:prstGeom prst="rect">
            <a:avLst>
              <a:gd name="adj" fmla="val 16043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91917" y="3781958"/>
            <a:ext cx="2606040" cy="5742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VEYA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5700370" y="3727094"/>
            <a:ext cx="5715000" cy="683971"/>
          </a:xfrm>
          <a:prstGeom prst="rect">
            <a:avLst>
              <a:gd name="adj" fmla="val 16043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91810" y="3781958"/>
            <a:ext cx="5532120" cy="5742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az biri doğruysa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694944" y="4429354"/>
            <a:ext cx="2194560" cy="683971"/>
          </a:xfrm>
          <a:prstGeom prst="rect">
            <a:avLst>
              <a:gd name="adj" fmla="val 16043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6384" y="4484218"/>
            <a:ext cx="2011680" cy="5742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⇒ Q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2900477" y="4429354"/>
            <a:ext cx="2788920" cy="683971"/>
          </a:xfrm>
          <a:prstGeom prst="rect">
            <a:avLst>
              <a:gd name="adj" fmla="val 16043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91917" y="4484218"/>
            <a:ext cx="2606040" cy="5742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İSE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5700370" y="4429354"/>
            <a:ext cx="5715000" cy="683971"/>
          </a:xfrm>
          <a:prstGeom prst="rect">
            <a:avLst>
              <a:gd name="adj" fmla="val 16043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91810" y="4484218"/>
            <a:ext cx="5532120" cy="5742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Yalnız P doğru Q yanlışken yanlıştır</a:t>
            </a:r>
            <a:endParaRPr lang="en-US" sz="1700" dirty="0"/>
          </a:p>
        </p:txBody>
      </p:sp>
      <p:sp>
        <p:nvSpPr>
          <p:cNvPr id="38" name="Shape 36"/>
          <p:cNvSpPr/>
          <p:nvPr/>
        </p:nvSpPr>
        <p:spPr>
          <a:xfrm>
            <a:off x="694944" y="5131613"/>
            <a:ext cx="2194560" cy="683971"/>
          </a:xfrm>
          <a:prstGeom prst="rect">
            <a:avLst>
              <a:gd name="adj" fmla="val 16043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6384" y="5186477"/>
            <a:ext cx="2011680" cy="5742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⇔ Q</a:t>
            </a:r>
            <a:endParaRPr lang="en-US" sz="1700" dirty="0"/>
          </a:p>
        </p:txBody>
      </p:sp>
      <p:sp>
        <p:nvSpPr>
          <p:cNvPr id="40" name="Shape 38"/>
          <p:cNvSpPr/>
          <p:nvPr/>
        </p:nvSpPr>
        <p:spPr>
          <a:xfrm>
            <a:off x="2900477" y="5131613"/>
            <a:ext cx="2788920" cy="683971"/>
          </a:xfrm>
          <a:prstGeom prst="rect">
            <a:avLst>
              <a:gd name="adj" fmla="val 16043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91917" y="5186477"/>
            <a:ext cx="2606040" cy="5742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ANCAK VE ANCAK</a:t>
            </a:r>
            <a:endParaRPr lang="en-US" sz="1700" dirty="0"/>
          </a:p>
        </p:txBody>
      </p:sp>
      <p:sp>
        <p:nvSpPr>
          <p:cNvPr id="42" name="Shape 40"/>
          <p:cNvSpPr/>
          <p:nvPr/>
        </p:nvSpPr>
        <p:spPr>
          <a:xfrm>
            <a:off x="5700370" y="5131613"/>
            <a:ext cx="5715000" cy="683971"/>
          </a:xfrm>
          <a:prstGeom prst="rect">
            <a:avLst>
              <a:gd name="adj" fmla="val 16043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91810" y="5186477"/>
            <a:ext cx="5532120" cy="5742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İkisi aynı değerdeyse</a:t>
            </a:r>
            <a:endParaRPr lang="en-US" sz="1700" dirty="0"/>
          </a:p>
        </p:txBody>
      </p:sp>
      <p:sp>
        <p:nvSpPr>
          <p:cNvPr id="44" name="Shape 42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 VEYA kapsayıcıdır: her iki önerme doğruysa sonuç da doğrudur.</a:t>
            </a:r>
            <a:endParaRPr lang="en-US" sz="15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KAYNAK ŞEKİL 7.7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7.7 — BNF sözdizimi ve öncelik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6656" y="1609344"/>
            <a:ext cx="10835640" cy="4626864"/>
          </a:xfrm>
          <a:prstGeom prst="roundRect">
            <a:avLst>
              <a:gd name="adj" fmla="val 237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0" descr="/mnt/data/image(20261013-105902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73352"/>
            <a:ext cx="10607040" cy="44988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8096" y="6263640"/>
            <a:ext cx="10844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7.7 · ¬, ∧, ∨, ⇒, ⇔ yüksekten düşüğe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ŞEKİL AÇIKLAMASI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7.7 — Operatör önceliği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1664208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BNF hangi yapıların geçerli cümle oluşturduğunu tarif eder.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04088" y="2395728"/>
            <a:ext cx="118872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304288"/>
            <a:ext cx="1037844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¬ en yüksek, ⇔ en düşük önceliğe sahiptir.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04088" y="3239262"/>
            <a:ext cx="118872" cy="118872"/>
          </a:xfrm>
          <a:prstGeom prst="rect">
            <a:avLst>
              <a:gd name="adj" fmla="val 92308"/>
            </a:avLst>
          </a:prstGeom>
          <a:solidFill>
            <a:srgbClr val="75D1E8"/>
          </a:solidFill>
          <a:ln w="12700">
            <a:solidFill>
              <a:srgbClr val="75D1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147822"/>
            <a:ext cx="1037844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¬A ∧ B = (¬A) ∧ B; ¬(A ∧ B) ile karıştırmayın.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04088" y="4082796"/>
            <a:ext cx="118872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991356"/>
            <a:ext cx="1037844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∧, ∨’dan önce; ⇒ ise ∨’dan sonra değerlendirilir.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04088" y="4926330"/>
            <a:ext cx="118872" cy="118872"/>
          </a:xfrm>
          <a:prstGeom prst="rect">
            <a:avLst>
              <a:gd name="adj" fmla="val 92308"/>
            </a:avLst>
          </a:prstGeom>
          <a:solidFill>
            <a:srgbClr val="75D1E8"/>
          </a:solidFill>
          <a:ln w="12700">
            <a:solidFill>
              <a:srgbClr val="75D1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834890"/>
            <a:ext cx="1037844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Karmaşık ifadelere parantez koymak en güvenli alışkanlıktır.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Örnek: ¬P ∨ Q ∧ R = (¬P) ∨ (Q ∧ R).</a:t>
            </a:r>
            <a:endParaRPr lang="en-US" sz="15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KAYNAK ŞEKİL 7.8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7.8 — Doğruluk tablosu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6656" y="1609344"/>
            <a:ext cx="10835640" cy="4361688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0" descr="/mnt/data/image(20261013-105915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73352"/>
            <a:ext cx="10607040" cy="42336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8096" y="6263640"/>
            <a:ext cx="10844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7.8 · Bağlaçların bütün P/Q kombinasyonlarında sonucu</a:t>
            </a:r>
            <a:endParaRPr lang="en-US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7.4 · ÖNERMELER MANTIĞI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Doğruluk tablosunu Türkçe okuyalım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94944" y="1755648"/>
            <a:ext cx="1051560" cy="502920"/>
          </a:xfrm>
          <a:prstGeom prst="rect">
            <a:avLst>
              <a:gd name="adj" fmla="val 21818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1819656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757477" y="1755648"/>
            <a:ext cx="1051560" cy="502920"/>
          </a:xfrm>
          <a:prstGeom prst="rect">
            <a:avLst>
              <a:gd name="adj" fmla="val 21818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48917" y="1819656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820010" y="1755648"/>
            <a:ext cx="1325880" cy="502920"/>
          </a:xfrm>
          <a:prstGeom prst="rect">
            <a:avLst>
              <a:gd name="adj" fmla="val 21818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11450" y="1819656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¬P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156862" y="1755648"/>
            <a:ext cx="1600200" cy="502920"/>
          </a:xfrm>
          <a:prstGeom prst="rect">
            <a:avLst>
              <a:gd name="adj" fmla="val 21818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48302" y="181965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P∧Q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768035" y="1755648"/>
            <a:ext cx="1600200" cy="502920"/>
          </a:xfrm>
          <a:prstGeom prst="rect">
            <a:avLst>
              <a:gd name="adj" fmla="val 21818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9475" y="181965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P∨Q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79208" y="1755648"/>
            <a:ext cx="1600200" cy="502920"/>
          </a:xfrm>
          <a:prstGeom prst="rect">
            <a:avLst>
              <a:gd name="adj" fmla="val 21818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70648" y="181965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P⇒Q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990381" y="1755648"/>
            <a:ext cx="2377440" cy="502920"/>
          </a:xfrm>
          <a:prstGeom prst="rect">
            <a:avLst>
              <a:gd name="adj" fmla="val 21818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81821" y="181965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P⇔Q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94944" y="2322576"/>
            <a:ext cx="1051560" cy="722376"/>
          </a:xfrm>
          <a:prstGeom prst="rect">
            <a:avLst>
              <a:gd name="adj" fmla="val 1519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" y="2377440"/>
            <a:ext cx="8686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1757477" y="2322576"/>
            <a:ext cx="1051560" cy="722376"/>
          </a:xfrm>
          <a:prstGeom prst="rect">
            <a:avLst>
              <a:gd name="adj" fmla="val 1519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48917" y="2377440"/>
            <a:ext cx="8686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2820010" y="2322576"/>
            <a:ext cx="1325880" cy="722376"/>
          </a:xfrm>
          <a:prstGeom prst="rect">
            <a:avLst>
              <a:gd name="adj" fmla="val 1519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11450" y="2377440"/>
            <a:ext cx="1143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900" dirty="0"/>
          </a:p>
        </p:txBody>
      </p:sp>
      <p:sp>
        <p:nvSpPr>
          <p:cNvPr id="28" name="Shape 26"/>
          <p:cNvSpPr/>
          <p:nvPr/>
        </p:nvSpPr>
        <p:spPr>
          <a:xfrm>
            <a:off x="4156862" y="2322576"/>
            <a:ext cx="1600200" cy="722376"/>
          </a:xfrm>
          <a:prstGeom prst="rect">
            <a:avLst>
              <a:gd name="adj" fmla="val 1519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48302" y="2377440"/>
            <a:ext cx="1417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</a:t>
            </a:r>
            <a:endParaRPr lang="en-US" sz="1900" dirty="0"/>
          </a:p>
        </p:txBody>
      </p:sp>
      <p:sp>
        <p:nvSpPr>
          <p:cNvPr id="30" name="Shape 28"/>
          <p:cNvSpPr/>
          <p:nvPr/>
        </p:nvSpPr>
        <p:spPr>
          <a:xfrm>
            <a:off x="5768035" y="2322576"/>
            <a:ext cx="1600200" cy="722376"/>
          </a:xfrm>
          <a:prstGeom prst="rect">
            <a:avLst>
              <a:gd name="adj" fmla="val 1519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59475" y="2377440"/>
            <a:ext cx="1417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</a:t>
            </a:r>
            <a:endParaRPr lang="en-US" sz="1900" dirty="0"/>
          </a:p>
        </p:txBody>
      </p:sp>
      <p:sp>
        <p:nvSpPr>
          <p:cNvPr id="32" name="Shape 30"/>
          <p:cNvSpPr/>
          <p:nvPr/>
        </p:nvSpPr>
        <p:spPr>
          <a:xfrm>
            <a:off x="7379208" y="2322576"/>
            <a:ext cx="1600200" cy="722376"/>
          </a:xfrm>
          <a:prstGeom prst="rect">
            <a:avLst>
              <a:gd name="adj" fmla="val 1519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70648" y="2377440"/>
            <a:ext cx="1417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900" dirty="0"/>
          </a:p>
        </p:txBody>
      </p:sp>
      <p:sp>
        <p:nvSpPr>
          <p:cNvPr id="34" name="Shape 32"/>
          <p:cNvSpPr/>
          <p:nvPr/>
        </p:nvSpPr>
        <p:spPr>
          <a:xfrm>
            <a:off x="8990381" y="2322576"/>
            <a:ext cx="2377440" cy="722376"/>
          </a:xfrm>
          <a:prstGeom prst="rect">
            <a:avLst>
              <a:gd name="adj" fmla="val 1519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81821" y="2377440"/>
            <a:ext cx="2194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900" dirty="0"/>
          </a:p>
        </p:txBody>
      </p:sp>
      <p:sp>
        <p:nvSpPr>
          <p:cNvPr id="36" name="Shape 34"/>
          <p:cNvSpPr/>
          <p:nvPr/>
        </p:nvSpPr>
        <p:spPr>
          <a:xfrm>
            <a:off x="694944" y="3063240"/>
            <a:ext cx="1051560" cy="722376"/>
          </a:xfrm>
          <a:prstGeom prst="rect">
            <a:avLst>
              <a:gd name="adj" fmla="val 15190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6384" y="3118104"/>
            <a:ext cx="8686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</a:t>
            </a:r>
            <a:endParaRPr lang="en-US" sz="1900" dirty="0"/>
          </a:p>
        </p:txBody>
      </p:sp>
      <p:sp>
        <p:nvSpPr>
          <p:cNvPr id="38" name="Shape 36"/>
          <p:cNvSpPr/>
          <p:nvPr/>
        </p:nvSpPr>
        <p:spPr>
          <a:xfrm>
            <a:off x="1757477" y="3063240"/>
            <a:ext cx="1051560" cy="722376"/>
          </a:xfrm>
          <a:prstGeom prst="rect">
            <a:avLst>
              <a:gd name="adj" fmla="val 15190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848917" y="3118104"/>
            <a:ext cx="8686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900" dirty="0"/>
          </a:p>
        </p:txBody>
      </p:sp>
      <p:sp>
        <p:nvSpPr>
          <p:cNvPr id="40" name="Shape 38"/>
          <p:cNvSpPr/>
          <p:nvPr/>
        </p:nvSpPr>
        <p:spPr>
          <a:xfrm>
            <a:off x="2820010" y="3063240"/>
            <a:ext cx="1325880" cy="722376"/>
          </a:xfrm>
          <a:prstGeom prst="rect">
            <a:avLst>
              <a:gd name="adj" fmla="val 15190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11450" y="3118104"/>
            <a:ext cx="1143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900" dirty="0"/>
          </a:p>
        </p:txBody>
      </p:sp>
      <p:sp>
        <p:nvSpPr>
          <p:cNvPr id="42" name="Shape 40"/>
          <p:cNvSpPr/>
          <p:nvPr/>
        </p:nvSpPr>
        <p:spPr>
          <a:xfrm>
            <a:off x="4156862" y="3063240"/>
            <a:ext cx="1600200" cy="722376"/>
          </a:xfrm>
          <a:prstGeom prst="rect">
            <a:avLst>
              <a:gd name="adj" fmla="val 15190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48302" y="3118104"/>
            <a:ext cx="1417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</a:t>
            </a:r>
            <a:endParaRPr lang="en-US" sz="1900" dirty="0"/>
          </a:p>
        </p:txBody>
      </p:sp>
      <p:sp>
        <p:nvSpPr>
          <p:cNvPr id="44" name="Shape 42"/>
          <p:cNvSpPr/>
          <p:nvPr/>
        </p:nvSpPr>
        <p:spPr>
          <a:xfrm>
            <a:off x="5768035" y="3063240"/>
            <a:ext cx="1600200" cy="722376"/>
          </a:xfrm>
          <a:prstGeom prst="rect">
            <a:avLst>
              <a:gd name="adj" fmla="val 15190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59475" y="3118104"/>
            <a:ext cx="1417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900" dirty="0"/>
          </a:p>
        </p:txBody>
      </p:sp>
      <p:sp>
        <p:nvSpPr>
          <p:cNvPr id="46" name="Shape 44"/>
          <p:cNvSpPr/>
          <p:nvPr/>
        </p:nvSpPr>
        <p:spPr>
          <a:xfrm>
            <a:off x="7379208" y="3063240"/>
            <a:ext cx="1600200" cy="722376"/>
          </a:xfrm>
          <a:prstGeom prst="rect">
            <a:avLst>
              <a:gd name="adj" fmla="val 15190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70648" y="3118104"/>
            <a:ext cx="1417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900" dirty="0"/>
          </a:p>
        </p:txBody>
      </p:sp>
      <p:sp>
        <p:nvSpPr>
          <p:cNvPr id="48" name="Shape 46"/>
          <p:cNvSpPr/>
          <p:nvPr/>
        </p:nvSpPr>
        <p:spPr>
          <a:xfrm>
            <a:off x="8990381" y="3063240"/>
            <a:ext cx="2377440" cy="722376"/>
          </a:xfrm>
          <a:prstGeom prst="rect">
            <a:avLst>
              <a:gd name="adj" fmla="val 15190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081821" y="3118104"/>
            <a:ext cx="2194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</a:t>
            </a:r>
            <a:endParaRPr lang="en-US" sz="1900" dirty="0"/>
          </a:p>
        </p:txBody>
      </p:sp>
      <p:sp>
        <p:nvSpPr>
          <p:cNvPr id="50" name="Shape 48"/>
          <p:cNvSpPr/>
          <p:nvPr/>
        </p:nvSpPr>
        <p:spPr>
          <a:xfrm>
            <a:off x="694944" y="3803904"/>
            <a:ext cx="1051560" cy="722376"/>
          </a:xfrm>
          <a:prstGeom prst="rect">
            <a:avLst>
              <a:gd name="adj" fmla="val 1519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86384" y="3858768"/>
            <a:ext cx="8686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900" dirty="0"/>
          </a:p>
        </p:txBody>
      </p:sp>
      <p:sp>
        <p:nvSpPr>
          <p:cNvPr id="52" name="Shape 50"/>
          <p:cNvSpPr/>
          <p:nvPr/>
        </p:nvSpPr>
        <p:spPr>
          <a:xfrm>
            <a:off x="1757477" y="3803904"/>
            <a:ext cx="1051560" cy="722376"/>
          </a:xfrm>
          <a:prstGeom prst="rect">
            <a:avLst>
              <a:gd name="adj" fmla="val 1519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848917" y="3858768"/>
            <a:ext cx="8686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</a:t>
            </a:r>
            <a:endParaRPr lang="en-US" sz="1900" dirty="0"/>
          </a:p>
        </p:txBody>
      </p:sp>
      <p:sp>
        <p:nvSpPr>
          <p:cNvPr id="54" name="Shape 52"/>
          <p:cNvSpPr/>
          <p:nvPr/>
        </p:nvSpPr>
        <p:spPr>
          <a:xfrm>
            <a:off x="2820010" y="3803904"/>
            <a:ext cx="1325880" cy="722376"/>
          </a:xfrm>
          <a:prstGeom prst="rect">
            <a:avLst>
              <a:gd name="adj" fmla="val 1519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911450" y="3858768"/>
            <a:ext cx="1143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</a:t>
            </a:r>
            <a:endParaRPr lang="en-US" sz="1900" dirty="0"/>
          </a:p>
        </p:txBody>
      </p:sp>
      <p:sp>
        <p:nvSpPr>
          <p:cNvPr id="56" name="Shape 54"/>
          <p:cNvSpPr/>
          <p:nvPr/>
        </p:nvSpPr>
        <p:spPr>
          <a:xfrm>
            <a:off x="4156862" y="3803904"/>
            <a:ext cx="1600200" cy="722376"/>
          </a:xfrm>
          <a:prstGeom prst="rect">
            <a:avLst>
              <a:gd name="adj" fmla="val 1519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248302" y="3858768"/>
            <a:ext cx="1417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</a:t>
            </a:r>
            <a:endParaRPr lang="en-US" sz="1900" dirty="0"/>
          </a:p>
        </p:txBody>
      </p:sp>
      <p:sp>
        <p:nvSpPr>
          <p:cNvPr id="58" name="Shape 56"/>
          <p:cNvSpPr/>
          <p:nvPr/>
        </p:nvSpPr>
        <p:spPr>
          <a:xfrm>
            <a:off x="5768035" y="3803904"/>
            <a:ext cx="1600200" cy="722376"/>
          </a:xfrm>
          <a:prstGeom prst="rect">
            <a:avLst>
              <a:gd name="adj" fmla="val 1519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859475" y="3858768"/>
            <a:ext cx="1417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900" dirty="0"/>
          </a:p>
        </p:txBody>
      </p:sp>
      <p:sp>
        <p:nvSpPr>
          <p:cNvPr id="60" name="Shape 58"/>
          <p:cNvSpPr/>
          <p:nvPr/>
        </p:nvSpPr>
        <p:spPr>
          <a:xfrm>
            <a:off x="7379208" y="3803904"/>
            <a:ext cx="1600200" cy="722376"/>
          </a:xfrm>
          <a:prstGeom prst="rect">
            <a:avLst>
              <a:gd name="adj" fmla="val 1519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470648" y="3858768"/>
            <a:ext cx="1417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</a:t>
            </a:r>
            <a:endParaRPr lang="en-US" sz="1900" dirty="0"/>
          </a:p>
        </p:txBody>
      </p:sp>
      <p:sp>
        <p:nvSpPr>
          <p:cNvPr id="62" name="Shape 60"/>
          <p:cNvSpPr/>
          <p:nvPr/>
        </p:nvSpPr>
        <p:spPr>
          <a:xfrm>
            <a:off x="8990381" y="3803904"/>
            <a:ext cx="2377440" cy="722376"/>
          </a:xfrm>
          <a:prstGeom prst="rect">
            <a:avLst>
              <a:gd name="adj" fmla="val 1519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081821" y="3858768"/>
            <a:ext cx="2194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</a:t>
            </a:r>
            <a:endParaRPr lang="en-US" sz="1900" dirty="0"/>
          </a:p>
        </p:txBody>
      </p:sp>
      <p:sp>
        <p:nvSpPr>
          <p:cNvPr id="64" name="Shape 62"/>
          <p:cNvSpPr/>
          <p:nvPr/>
        </p:nvSpPr>
        <p:spPr>
          <a:xfrm>
            <a:off x="694944" y="4544568"/>
            <a:ext cx="1051560" cy="722376"/>
          </a:xfrm>
          <a:prstGeom prst="rect">
            <a:avLst>
              <a:gd name="adj" fmla="val 15190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86384" y="4599432"/>
            <a:ext cx="8686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900" dirty="0"/>
          </a:p>
        </p:txBody>
      </p:sp>
      <p:sp>
        <p:nvSpPr>
          <p:cNvPr id="66" name="Shape 64"/>
          <p:cNvSpPr/>
          <p:nvPr/>
        </p:nvSpPr>
        <p:spPr>
          <a:xfrm>
            <a:off x="1757477" y="4544568"/>
            <a:ext cx="1051560" cy="722376"/>
          </a:xfrm>
          <a:prstGeom prst="rect">
            <a:avLst>
              <a:gd name="adj" fmla="val 15190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848917" y="4599432"/>
            <a:ext cx="8686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900" dirty="0"/>
          </a:p>
        </p:txBody>
      </p:sp>
      <p:sp>
        <p:nvSpPr>
          <p:cNvPr id="68" name="Shape 66"/>
          <p:cNvSpPr/>
          <p:nvPr/>
        </p:nvSpPr>
        <p:spPr>
          <a:xfrm>
            <a:off x="2820010" y="4544568"/>
            <a:ext cx="1325880" cy="722376"/>
          </a:xfrm>
          <a:prstGeom prst="rect">
            <a:avLst>
              <a:gd name="adj" fmla="val 15190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911450" y="4599432"/>
            <a:ext cx="1143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</a:t>
            </a:r>
            <a:endParaRPr lang="en-US" sz="1900" dirty="0"/>
          </a:p>
        </p:txBody>
      </p:sp>
      <p:sp>
        <p:nvSpPr>
          <p:cNvPr id="70" name="Shape 68"/>
          <p:cNvSpPr/>
          <p:nvPr/>
        </p:nvSpPr>
        <p:spPr>
          <a:xfrm>
            <a:off x="4156862" y="4544568"/>
            <a:ext cx="1600200" cy="722376"/>
          </a:xfrm>
          <a:prstGeom prst="rect">
            <a:avLst>
              <a:gd name="adj" fmla="val 15190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248302" y="4599432"/>
            <a:ext cx="1417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900" dirty="0"/>
          </a:p>
        </p:txBody>
      </p:sp>
      <p:sp>
        <p:nvSpPr>
          <p:cNvPr id="72" name="Shape 70"/>
          <p:cNvSpPr/>
          <p:nvPr/>
        </p:nvSpPr>
        <p:spPr>
          <a:xfrm>
            <a:off x="5768035" y="4544568"/>
            <a:ext cx="1600200" cy="722376"/>
          </a:xfrm>
          <a:prstGeom prst="rect">
            <a:avLst>
              <a:gd name="adj" fmla="val 15190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859475" y="4599432"/>
            <a:ext cx="1417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900" dirty="0"/>
          </a:p>
        </p:txBody>
      </p:sp>
      <p:sp>
        <p:nvSpPr>
          <p:cNvPr id="74" name="Shape 72"/>
          <p:cNvSpPr/>
          <p:nvPr/>
        </p:nvSpPr>
        <p:spPr>
          <a:xfrm>
            <a:off x="7379208" y="4544568"/>
            <a:ext cx="1600200" cy="722376"/>
          </a:xfrm>
          <a:prstGeom prst="rect">
            <a:avLst>
              <a:gd name="adj" fmla="val 15190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470648" y="4599432"/>
            <a:ext cx="1417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900" dirty="0"/>
          </a:p>
        </p:txBody>
      </p:sp>
      <p:sp>
        <p:nvSpPr>
          <p:cNvPr id="76" name="Shape 74"/>
          <p:cNvSpPr/>
          <p:nvPr/>
        </p:nvSpPr>
        <p:spPr>
          <a:xfrm>
            <a:off x="8990381" y="4544568"/>
            <a:ext cx="2377440" cy="722376"/>
          </a:xfrm>
          <a:prstGeom prst="rect">
            <a:avLst>
              <a:gd name="adj" fmla="val 15190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081821" y="4599432"/>
            <a:ext cx="2194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900" dirty="0"/>
          </a:p>
        </p:txBody>
      </p:sp>
      <p:sp>
        <p:nvSpPr>
          <p:cNvPr id="78" name="Shape 76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 = doğru, Y = yanlış. P⇒Q sadece (D,Y) durumunda yanlıştır.</a:t>
            </a:r>
            <a:endParaRPr lang="en-US" sz="15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7.4 · ÖNERMELER MANTIĞI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VEYA ile XOR karıştırılmamalı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755648"/>
            <a:ext cx="5376672" cy="4005072"/>
          </a:xfrm>
          <a:prstGeom prst="roundRect">
            <a:avLst>
              <a:gd name="adj" fmla="val 274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911096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— Kapsayıcı VEYA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50392" y="2377440"/>
            <a:ext cx="49560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∨ Q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doğru olabilir, Q doğru olabilir, ikisi birden doğru olabilir.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True ∨ True = True.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172200" y="1755648"/>
            <a:ext cx="5376672" cy="4005072"/>
          </a:xfrm>
          <a:prstGeom prst="roundRect">
            <a:avLst>
              <a:gd name="adj" fmla="val 274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1911096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XOR — Özel VEYA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82512" y="2377440"/>
            <a:ext cx="49560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⊕ Q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Yalnızca biri doğruysa sonuç doğrudur.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True ⊕ True = False.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“En az birisi” = OR, “yalnızca biri” = XOR.</a:t>
            </a:r>
            <a:endParaRPr lang="en-US" sz="15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7.4 · ÖNERMELER MANTIĞI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İSE neden bazen şaşırtır?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728216"/>
            <a:ext cx="10817352" cy="1417320"/>
          </a:xfrm>
          <a:prstGeom prst="roundRect">
            <a:avLst>
              <a:gd name="adj" fmla="val 7742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965960"/>
            <a:ext cx="102412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⇒ Q  ≡  ¬P ∨ Q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685800" y="3401568"/>
            <a:ext cx="10817352" cy="2194560"/>
          </a:xfrm>
          <a:prstGeom prst="roundRect">
            <a:avLst>
              <a:gd name="adj" fmla="val 500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557016"/>
            <a:ext cx="10396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Koşullu önerme yalnızca P doğru ve Q yanlışken yanlıştır.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96112" y="4023360"/>
            <a:ext cx="1039672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P: Yağmur var. Q: Yol ıslak.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Yağmur yok, yol ıslak olabilir (ör. yıkanmış).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durum “Yağmur varsa yol ıslak” kuralını bozmaz.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Öncül P yanlışsa P⇒Q doğrudur; nedensellik şartı yoktur.</a:t>
            </a:r>
            <a:endParaRPr lang="en-US" sz="15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7.4 · ÖNERMELER MANTIĞI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İki yönlü koşul — ⇔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728216"/>
            <a:ext cx="10817352" cy="1417320"/>
          </a:xfrm>
          <a:prstGeom prst="roundRect">
            <a:avLst>
              <a:gd name="adj" fmla="val 7742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965960"/>
            <a:ext cx="102412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⇔ Q  ≡  (P ⇒ Q) ∧ (Q ⇒ P)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685800" y="3401568"/>
            <a:ext cx="10817352" cy="2194560"/>
          </a:xfrm>
          <a:prstGeom prst="roundRect">
            <a:avLst>
              <a:gd name="adj" fmla="val 500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557016"/>
            <a:ext cx="10396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“P ancak ve ancak Q” iki ayrı yönü birlikte söyler.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96112" y="4023360"/>
            <a:ext cx="1039672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Wumpus örneği: B₁,₁ ⇔ (P₁,₂ ∨ P₂,₁).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B₁,₁ → komşuda en az bir çukur vardır.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Komşuda çukur varsa → B₁,₁ vardır.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Kuralların iki yönde de doğru olması gerekiyorsa ⇔ kullanılır.</a:t>
            </a:r>
            <a:endParaRPr lang="en-US" sz="15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7.4 · ÖNERMELER MANTIĞI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Doğruluk değeri: Bir örnek çözelim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04088" y="170078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3736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353312" y="169164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Model: P₁,₂=False, P₂,₂=False, P₃,₁=True.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04088" y="275234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78892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353312" y="274320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İfade: ¬P₁,₂ ∧ (P₂,₂ ∨ P₃,₁).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04088" y="380390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84048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353312" y="379476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Değerleri yaz: ¬False ∧ (False ∨ True).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704088" y="485546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89204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353312" y="484632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Hesapla: True ∧ True = True.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Parantezler → DEĞİL → VE/VEYA sırasını izlemek işlemi kolaylaştırır.</a:t>
            </a:r>
            <a:endParaRPr lang="en-US" sz="15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7.4 · ÖNERMELER MANTIĞI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Wumpus bilgi tabanının beş cümlesi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94944" y="1755648"/>
            <a:ext cx="1938528" cy="502920"/>
          </a:xfrm>
          <a:prstGeom prst="rect">
            <a:avLst>
              <a:gd name="adj" fmla="val 21818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1819656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Kural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644445" y="1755648"/>
            <a:ext cx="8778240" cy="502920"/>
          </a:xfrm>
          <a:prstGeom prst="rect">
            <a:avLst>
              <a:gd name="adj" fmla="val 21818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35885" y="1819656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Mantıksal içerik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94944" y="2322576"/>
            <a:ext cx="1938528" cy="683971"/>
          </a:xfrm>
          <a:prstGeom prst="rect">
            <a:avLst>
              <a:gd name="adj" fmla="val 16043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2377440"/>
            <a:ext cx="1755648" cy="5742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0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644445" y="2322576"/>
            <a:ext cx="8778240" cy="683971"/>
          </a:xfrm>
          <a:prstGeom prst="rect">
            <a:avLst>
              <a:gd name="adj" fmla="val 16043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35885" y="2377440"/>
            <a:ext cx="8595360" cy="5742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¬P₁,₁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94944" y="3024835"/>
            <a:ext cx="1938528" cy="683971"/>
          </a:xfrm>
          <a:prstGeom prst="rect">
            <a:avLst>
              <a:gd name="adj" fmla="val 16043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" y="3079699"/>
            <a:ext cx="1755648" cy="5742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0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R2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2644445" y="3024835"/>
            <a:ext cx="8778240" cy="683971"/>
          </a:xfrm>
          <a:prstGeom prst="rect">
            <a:avLst>
              <a:gd name="adj" fmla="val 16043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35885" y="3079699"/>
            <a:ext cx="8595360" cy="5742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B₁,₁ ⇔ (P₁,₂ ∨ P₂,₁)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94944" y="3727094"/>
            <a:ext cx="1938528" cy="683971"/>
          </a:xfrm>
          <a:prstGeom prst="rect">
            <a:avLst>
              <a:gd name="adj" fmla="val 16043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" y="3781958"/>
            <a:ext cx="1755648" cy="5742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0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R3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2644445" y="3727094"/>
            <a:ext cx="8778240" cy="683971"/>
          </a:xfrm>
          <a:prstGeom prst="rect">
            <a:avLst>
              <a:gd name="adj" fmla="val 16043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35885" y="3781958"/>
            <a:ext cx="8595360" cy="5742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B₂,₁ ⇔ (P₁,₁ ∨ P₂,₂ ∨ P₃,₁)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94944" y="4429354"/>
            <a:ext cx="1938528" cy="683971"/>
          </a:xfrm>
          <a:prstGeom prst="rect">
            <a:avLst>
              <a:gd name="adj" fmla="val 16043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" y="4484218"/>
            <a:ext cx="1755648" cy="5742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0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R4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2644445" y="4429354"/>
            <a:ext cx="8778240" cy="683971"/>
          </a:xfrm>
          <a:prstGeom prst="rect">
            <a:avLst>
              <a:gd name="adj" fmla="val 16043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35885" y="4484218"/>
            <a:ext cx="8595360" cy="5742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¬B₁,₁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94944" y="5131613"/>
            <a:ext cx="1938528" cy="683971"/>
          </a:xfrm>
          <a:prstGeom prst="rect">
            <a:avLst>
              <a:gd name="adj" fmla="val 16043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6384" y="5186477"/>
            <a:ext cx="1755648" cy="5742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0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R5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2644445" y="5131613"/>
            <a:ext cx="8778240" cy="683971"/>
          </a:xfrm>
          <a:prstGeom prst="rect">
            <a:avLst>
              <a:gd name="adj" fmla="val 16043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35885" y="5186477"/>
            <a:ext cx="8595360" cy="5742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B₂,₁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KB = R1 ∧ R2 ∧ R3 ∧ R4 ∧ R5.</a:t>
            </a:r>
            <a:endParaRPr lang="en-US" sz="15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7.4 · ÖNERMELER MANTIĞI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KB’den [1,2]’de çukur yok çıkarımı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04088" y="170078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3736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353312" y="169164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R4: [1,1]’de esinti yok → ¬B₁,₁.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04088" y="275234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78892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353312" y="274320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R2: B₁,₁ ⇔ (P₁,₂ ∨ P₂,₁).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04088" y="380390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84048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353312" y="379476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hâlde ¬(P₁,₂ ∨ P₂,₁).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704088" y="485546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89204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353312" y="484632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Morgan: ¬P₁,₂ ∧ ¬P₂,₁.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Ajan [1,2] ve [2,1] karelerini mantıksal olarak çukursuz buldu.</a:t>
            </a:r>
            <a:endParaRPr lang="en-US" sz="15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KAYNAK ŞEKİL 7.9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7.9 — 128 satırlık model denetimi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6656" y="1609344"/>
            <a:ext cx="10835640" cy="4626864"/>
          </a:xfrm>
          <a:prstGeom prst="roundRect">
            <a:avLst>
              <a:gd name="adj" fmla="val 237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0" descr="/mnt/data/image(20261013-105925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73352"/>
            <a:ext cx="10607040" cy="44988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8096" y="6263640"/>
            <a:ext cx="10844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7.9 · 7 önerme sembolü → 2⁷ = 128 model</a:t>
            </a:r>
            <a:endParaRPr lang="en-US" sz="11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ŞEKİL AÇIKLAMASI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7.9 — Neden yalnız 3 satır geçerli?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1664208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atomik önerme: B₁,₁, B₂,₁, P₁,₁, P₁,₂, P₂,₁, P₂,₂, P₃,₁.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04088" y="2395728"/>
            <a:ext cx="118872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304288"/>
            <a:ext cx="1037844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 sembol true/false → 2⁷ = 128 kombinasyon.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04088" y="3239262"/>
            <a:ext cx="118872" cy="118872"/>
          </a:xfrm>
          <a:prstGeom prst="rect">
            <a:avLst>
              <a:gd name="adj" fmla="val 92308"/>
            </a:avLst>
          </a:prstGeom>
          <a:solidFill>
            <a:srgbClr val="75D1E8"/>
          </a:solidFill>
          <a:ln w="12700">
            <a:solidFill>
              <a:srgbClr val="75D1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147822"/>
            <a:ext cx="1037844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Yalnız R1–R5’in tamamı doğru olan 3 satırda KB doğrudur.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04088" y="4082796"/>
            <a:ext cx="118872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991356"/>
            <a:ext cx="1037844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üç satırın hepsinde P₁,₂=False → ¬P₁,₂ kesindir.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04088" y="4926330"/>
            <a:ext cx="118872" cy="118872"/>
          </a:xfrm>
          <a:prstGeom prst="rect">
            <a:avLst>
              <a:gd name="adj" fmla="val 92308"/>
            </a:avLst>
          </a:prstGeom>
          <a:solidFill>
            <a:srgbClr val="75D1E8"/>
          </a:solidFill>
          <a:ln w="12700">
            <a:solidFill>
              <a:srgbClr val="75D1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834890"/>
            <a:ext cx="1037844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P₂,₂ iki modelde doğru, birinde yanlış → kesinlik yoktur.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Üç geçerli modelin ikisi çukur içeriyor diye otomatik “%67 olasılık” denmez.</a:t>
            </a:r>
            <a:endParaRPr lang="en-US" sz="15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7.4 · ÖNERMELER MANTIĞI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7.10 — TT-ENTAILS? (model denetimi)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6656" y="1627632"/>
            <a:ext cx="10835640" cy="4005072"/>
          </a:xfrm>
          <a:prstGeom prst="roundRect">
            <a:avLst>
              <a:gd name="adj" fmla="val 2740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892808"/>
            <a:ext cx="10186416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TT-ENTAILS?(KB, α):</a:t>
            </a:r>
            <a:endParaRPr lang="en-US" sz="17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7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symbols ← KB ve α sembolleri</a:t>
            </a:r>
            <a:endParaRPr lang="en-US" sz="17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7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return TT-CHECK-ALL(KB, α, symbols, {})</a:t>
            </a:r>
            <a:endParaRPr lang="en-US" sz="1700" dirty="0"/>
          </a:p>
          <a:p>
            <a:pPr algn="l" indent="0" marL="0">
              <a:lnSpc>
                <a:spcPct val="103000"/>
              </a:lnSpc>
              <a:buNone/>
            </a:pPr>
            <a:endParaRPr lang="en-US" sz="17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7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TT-CHECK-ALL(...):</a:t>
            </a:r>
            <a:endParaRPr lang="en-US" sz="17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7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if sembol kalmadıysa:</a:t>
            </a:r>
            <a:endParaRPr lang="en-US" sz="17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7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if KB doğruysa: return α doğru mu?</a:t>
            </a:r>
            <a:endParaRPr lang="en-US" sz="17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7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else: return true</a:t>
            </a:r>
            <a:endParaRPr lang="en-US" sz="17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7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else:</a:t>
            </a:r>
            <a:endParaRPr lang="en-US" sz="17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7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P için önce True, sonra False dalını dene</a:t>
            </a:r>
            <a:endParaRPr lang="en-US" sz="17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7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iki dalın sonuçlarını AND ile birleştir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Tam doğruluk tablosu taraması: zaman O(2ⁿ), yinelemeli derinlik belleği O(n).</a:t>
            </a:r>
            <a:endParaRPr lang="en-US" sz="15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KAYNAK ŞEKİL 7.11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7.11 — Standart eşdeğerlikler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6656" y="1609344"/>
            <a:ext cx="10835640" cy="4626864"/>
          </a:xfrm>
          <a:prstGeom prst="roundRect">
            <a:avLst>
              <a:gd name="adj" fmla="val 237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0" descr="/mnt/data/image(20261013-105937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73352"/>
            <a:ext cx="10607040" cy="44988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8096" y="6263640"/>
            <a:ext cx="10844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7.11 · De Morgan, karşıt tersleme, dağılma, çifte olumsuzlama</a:t>
            </a:r>
            <a:endParaRPr lang="en-US" sz="11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7.4 · ÖNERMELER MANTIĞI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Sık kullanılan dönüşümler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94944" y="1755648"/>
            <a:ext cx="2834640" cy="502920"/>
          </a:xfrm>
          <a:prstGeom prst="rect">
            <a:avLst>
              <a:gd name="adj" fmla="val 21818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181965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Kural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540557" y="1755648"/>
            <a:ext cx="7863840" cy="502920"/>
          </a:xfrm>
          <a:prstGeom prst="rect">
            <a:avLst>
              <a:gd name="adj" fmla="val 21818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1997" y="181965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Eşdeğerlik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94944" y="2322576"/>
            <a:ext cx="2834640" cy="566928"/>
          </a:xfrm>
          <a:prstGeom prst="rect">
            <a:avLst>
              <a:gd name="adj" fmla="val 19355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2377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Morgan 1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3540557" y="2322576"/>
            <a:ext cx="7863840" cy="566928"/>
          </a:xfrm>
          <a:prstGeom prst="rect">
            <a:avLst>
              <a:gd name="adj" fmla="val 19355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31997" y="23774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¬(P ∧ Q) ≡ ¬P ∨ ¬Q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94944" y="2907792"/>
            <a:ext cx="2834640" cy="566928"/>
          </a:xfrm>
          <a:prstGeom prst="rect">
            <a:avLst>
              <a:gd name="adj" fmla="val 19355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" y="296265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Morgan 2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3540557" y="2907792"/>
            <a:ext cx="7863840" cy="566928"/>
          </a:xfrm>
          <a:prstGeom prst="rect">
            <a:avLst>
              <a:gd name="adj" fmla="val 19355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31997" y="296265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¬(P ∨ Q) ≡ ¬P ∧ ¬Q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94944" y="3493008"/>
            <a:ext cx="2834640" cy="566928"/>
          </a:xfrm>
          <a:prstGeom prst="rect">
            <a:avLst>
              <a:gd name="adj" fmla="val 19355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" y="35478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Koşullu kaldırma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3540557" y="3493008"/>
            <a:ext cx="7863840" cy="566928"/>
          </a:xfrm>
          <a:prstGeom prst="rect">
            <a:avLst>
              <a:gd name="adj" fmla="val 19355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31997" y="354787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⇒ Q ≡ ¬P ∨ Q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94944" y="4078224"/>
            <a:ext cx="2834640" cy="566928"/>
          </a:xfrm>
          <a:prstGeom prst="rect">
            <a:avLst>
              <a:gd name="adj" fmla="val 19355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" y="41330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Karşıt tersleme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3540557" y="4078224"/>
            <a:ext cx="7863840" cy="566928"/>
          </a:xfrm>
          <a:prstGeom prst="rect">
            <a:avLst>
              <a:gd name="adj" fmla="val 19355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31997" y="413308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⇒ Q ≡ ¬Q ⇒ ¬P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94944" y="4663440"/>
            <a:ext cx="2834640" cy="566928"/>
          </a:xfrm>
          <a:prstGeom prst="rect">
            <a:avLst>
              <a:gd name="adj" fmla="val 19355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6384" y="471830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Çift olumsuzlama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3540557" y="4663440"/>
            <a:ext cx="7863840" cy="566928"/>
          </a:xfrm>
          <a:prstGeom prst="rect">
            <a:avLst>
              <a:gd name="adj" fmla="val 19355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31997" y="4718304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¬¬P ≡ P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694944" y="5248656"/>
            <a:ext cx="2834640" cy="566928"/>
          </a:xfrm>
          <a:prstGeom prst="rect">
            <a:avLst>
              <a:gd name="adj" fmla="val 19355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6384" y="5303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Çift yönlü kaldırma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3540557" y="5248656"/>
            <a:ext cx="7863840" cy="566928"/>
          </a:xfrm>
          <a:prstGeom prst="rect">
            <a:avLst>
              <a:gd name="adj" fmla="val 19355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31997" y="5303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⇔ Q ≡ (P ⇒ Q) ∧ (Q ⇒ P)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 eşdeğerlikte iki taraf bütün modellerde aynı sonucu verir.</a:t>
            </a:r>
            <a:endParaRPr lang="en-US" sz="15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7.4 · ÖNERMELER MANTIĞI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çözüm: ¬(P ⇒ Q) ifadesi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04088" y="170078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3736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353312" y="169164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İSE’yi kaldır: P ⇒ Q ≡ ¬P ∨ Q.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04088" y="275234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78892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353312" y="274320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Dıştaki ¬ korunur: ¬(¬P ∨ Q).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04088" y="380390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84048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353312" y="379476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Morgan: ¬¬P ∧ ¬Q.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704088" y="485546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89204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353312" y="484632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Çift olumsuzluk: P ∧ ¬Q.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Demek ki bir koşul, sadece P doğru ve Q yanlışken başarısızdır.</a:t>
            </a:r>
            <a:endParaRPr lang="en-US" sz="15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" cy="6858000"/>
          </a:xfrm>
          <a:prstGeom prst="rect">
            <a:avLst>
              <a:gd name="adj" fmla="val 6315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243584"/>
            <a:ext cx="1783080" cy="1783080"/>
          </a:xfrm>
          <a:prstGeom prst="roundRect">
            <a:avLst>
              <a:gd name="adj" fmla="val 6154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91056"/>
            <a:ext cx="1600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4700" b="1" dirty="0">
                <a:solidFill>
                  <a:srgbClr val="0A14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7.5</a:t>
            </a:r>
            <a:endParaRPr lang="en-US" sz="4700" dirty="0"/>
          </a:p>
        </p:txBody>
      </p:sp>
      <p:sp>
        <p:nvSpPr>
          <p:cNvPr id="5" name="Text 3"/>
          <p:cNvSpPr/>
          <p:nvPr/>
        </p:nvSpPr>
        <p:spPr>
          <a:xfrm>
            <a:off x="2916936" y="1609344"/>
            <a:ext cx="8549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Teorem İspatlama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953512" y="2926080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4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Modelleri saymak yerine kurallarla kanıt oluşturma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41248" y="6300216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ÜNİTE 7  /  MANTIKSAL AJANLAR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055096" y="6446520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060</a:t>
            </a:r>
            <a:endParaRPr lang="en-US" sz="1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7.5 · TEOREM İSPATLAMA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denetimi vs. ispat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755648"/>
            <a:ext cx="5376672" cy="4005072"/>
          </a:xfrm>
          <a:prstGeom prst="roundRect">
            <a:avLst>
              <a:gd name="adj" fmla="val 274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911096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Checking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50392" y="2377440"/>
            <a:ext cx="49560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KB’nin doğru olduğu bütün modellerde α doğru mu?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Bütün atamaları test eder.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Genel yöntemin maliyeti üstel olabilir.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172200" y="1755648"/>
            <a:ext cx="5376672" cy="4005072"/>
          </a:xfrm>
          <a:prstGeom prst="roundRect">
            <a:avLst>
              <a:gd name="adj" fmla="val 274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1911096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Theorem Proving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82512" y="2377440"/>
            <a:ext cx="49560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KB’deki cümlelere çıkarım kuralları uygular.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İlgisiz sembolleri atlayabilir.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Kısa ispatlarda çok verimlidir.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İspat, mantıksal kuralların uygulandığı bir adım zinciridir.</a:t>
            </a:r>
            <a:endParaRPr lang="en-US" sz="15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7.5 · TEOREM İSPATLAMA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Üç kavram: Valid / SAT / Unsat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94944" y="1755648"/>
            <a:ext cx="2761488" cy="502920"/>
          </a:xfrm>
          <a:prstGeom prst="rect">
            <a:avLst>
              <a:gd name="adj" fmla="val 21818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1819656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Kavram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467405" y="1755648"/>
            <a:ext cx="4434840" cy="502920"/>
          </a:xfrm>
          <a:prstGeom prst="rect">
            <a:avLst>
              <a:gd name="adj" fmla="val 21818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58845" y="1819656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Koşul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913218" y="1755648"/>
            <a:ext cx="3474720" cy="502920"/>
          </a:xfrm>
          <a:prstGeom prst="rect">
            <a:avLst>
              <a:gd name="adj" fmla="val 21818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04658" y="18196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Örnek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94944" y="2322576"/>
            <a:ext cx="2761488" cy="722376"/>
          </a:xfrm>
          <a:prstGeom prst="rect">
            <a:avLst>
              <a:gd name="adj" fmla="val 1519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2377440"/>
            <a:ext cx="257860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467405" y="2322576"/>
            <a:ext cx="4434840" cy="722376"/>
          </a:xfrm>
          <a:prstGeom prst="rect">
            <a:avLst>
              <a:gd name="adj" fmla="val 1519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58845" y="2377440"/>
            <a:ext cx="4251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Bütün modellerde doğru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913218" y="2322576"/>
            <a:ext cx="3474720" cy="722376"/>
          </a:xfrm>
          <a:prstGeom prst="rect">
            <a:avLst>
              <a:gd name="adj" fmla="val 1519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04658" y="2377440"/>
            <a:ext cx="3291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∨ ¬P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94944" y="3063240"/>
            <a:ext cx="2761488" cy="722376"/>
          </a:xfrm>
          <a:prstGeom prst="rect">
            <a:avLst>
              <a:gd name="adj" fmla="val 15190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" y="3118104"/>
            <a:ext cx="257860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Satisfiable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467405" y="3063240"/>
            <a:ext cx="4434840" cy="722376"/>
          </a:xfrm>
          <a:prstGeom prst="rect">
            <a:avLst>
              <a:gd name="adj" fmla="val 15190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58845" y="3118104"/>
            <a:ext cx="4251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az bir modelde doğru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913218" y="3063240"/>
            <a:ext cx="3474720" cy="722376"/>
          </a:xfrm>
          <a:prstGeom prst="rect">
            <a:avLst>
              <a:gd name="adj" fmla="val 15190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04658" y="3118104"/>
            <a:ext cx="3291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∧ Q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94944" y="3803904"/>
            <a:ext cx="2761488" cy="722376"/>
          </a:xfrm>
          <a:prstGeom prst="rect">
            <a:avLst>
              <a:gd name="adj" fmla="val 1519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" y="3858768"/>
            <a:ext cx="257860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Unsatisfiable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3467405" y="3803904"/>
            <a:ext cx="4434840" cy="722376"/>
          </a:xfrm>
          <a:prstGeom prst="rect">
            <a:avLst>
              <a:gd name="adj" fmla="val 1519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58845" y="3858768"/>
            <a:ext cx="4251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Hiçbir modelde doğru değil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7913218" y="3803904"/>
            <a:ext cx="3474720" cy="722376"/>
          </a:xfrm>
          <a:prstGeom prst="rect">
            <a:avLst>
              <a:gd name="adj" fmla="val 1519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04658" y="3858768"/>
            <a:ext cx="3291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∧ ¬P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Bir cümle hem doyurulabilir hem geçerli olabilir; her geçerli cümle doyurulabilirdir.</a:t>
            </a:r>
            <a:endParaRPr lang="en-US" sz="15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7.5 · TEOREM İSPATLAMA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Çelişkiyle ispatın kalbi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728216"/>
            <a:ext cx="10817352" cy="1417320"/>
          </a:xfrm>
          <a:prstGeom prst="roundRect">
            <a:avLst>
              <a:gd name="adj" fmla="val 7742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965960"/>
            <a:ext cx="102412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31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KB ⊨ α  ⇔  KB ∧ ¬α  UNSAT</a:t>
            </a:r>
            <a:endParaRPr lang="en-US" sz="3100" dirty="0"/>
          </a:p>
        </p:txBody>
      </p:sp>
      <p:sp>
        <p:nvSpPr>
          <p:cNvPr id="10" name="Shape 8"/>
          <p:cNvSpPr/>
          <p:nvPr/>
        </p:nvSpPr>
        <p:spPr>
          <a:xfrm>
            <a:off x="685800" y="3401568"/>
            <a:ext cx="10817352" cy="2194560"/>
          </a:xfrm>
          <a:prstGeom prst="roundRect">
            <a:avLst>
              <a:gd name="adj" fmla="val 500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557016"/>
            <a:ext cx="10396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α’yı yanlış varsay; KB ile çelişiyorsa α zorunlu doğrudur.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96112" y="4023360"/>
            <a:ext cx="1039672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Örnek: KB = (P⇒Q) ∧ P.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Q’yu yanlış varsay: ¬Q.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¬P∨Q, P ve ¬Q birlikte çelişir → Q kanıtlandı.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SAT: uygun model var; UNSAT: hiçbir uygun model yok.</a:t>
            </a:r>
            <a:endParaRPr lang="en-US" sz="15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7.5 · TEOREM İSPATLAMA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Modus Ponens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728216"/>
            <a:ext cx="10817352" cy="1417320"/>
          </a:xfrm>
          <a:prstGeom prst="roundRect">
            <a:avLst>
              <a:gd name="adj" fmla="val 7742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965960"/>
            <a:ext cx="102412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(P ⇒ Q),  P  ⟹  Q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685800" y="3401568"/>
            <a:ext cx="10817352" cy="2194560"/>
          </a:xfrm>
          <a:prstGeom prst="roundRect">
            <a:avLst>
              <a:gd name="adj" fmla="val 500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557016"/>
            <a:ext cx="10396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Koşul ve öncül doğruysa sonuç da doğrudur.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96112" y="4023360"/>
            <a:ext cx="1039672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Örnek: “Wumpus önümde ve canlıysa ateş et.”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Wumpus önümde ve canlı.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Shoot eylemi türetilebilir.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Modus Ponens, en temel sağlam çıkarım kurallarındandır.</a:t>
            </a:r>
            <a:endParaRPr lang="en-US" sz="15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7.5 · TEOREM İSPATLAMA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And-Elimination (VE’yi ayırma)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728216"/>
            <a:ext cx="10817352" cy="1417320"/>
          </a:xfrm>
          <a:prstGeom prst="roundRect">
            <a:avLst>
              <a:gd name="adj" fmla="val 7742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965960"/>
            <a:ext cx="102412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∧ Q  ⟹  P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685800" y="3401568"/>
            <a:ext cx="10817352" cy="2194560"/>
          </a:xfrm>
          <a:prstGeom prst="roundRect">
            <a:avLst>
              <a:gd name="adj" fmla="val 500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557016"/>
            <a:ext cx="10396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İki önermenin birlikte doğru olmasından her birinin doğruluğu çıkar.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96112" y="4023360"/>
            <a:ext cx="1039672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Örnek: “Ajanın oku var VE doğuya bakıyor.”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“Ajanın oku var.”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Aynı şekilde “Doğuya bakıyor.” da çıkarılabilir.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Bütün VE bileşenleri tek tek elde edilebilir.</a:t>
            </a:r>
            <a:endParaRPr lang="en-US" sz="15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7.5 · TEOREM İSPATLAMA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Kurallarla Wumpus ispatı (R2–R10)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04088" y="170078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3736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353312" y="169164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R2: B₁,₁ ⇔ (P₁,₂ ∨ P₂,₁).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04088" y="275234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78892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353312" y="274320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Çift yönlü ayrılır: (P₁,₂ ∨ P₂,₁) ⇒ B₁,₁.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04088" y="380390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84048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353312" y="379476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Karşıt tersleme: ¬B₁,₁ ⇒ ¬(P₁,₂ ∨ P₂,₁).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704088" y="485546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89204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353312" y="484632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R4: ¬B₁,₁; Modus Ponens ve De Morgan → ¬P₁,₂ ∧ ¬P₂,₁.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İlgisiz milyonlarca bilgi olsa bile bu kısa ispat korunur.</a:t>
            </a:r>
            <a:endParaRPr lang="en-US" sz="15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7.5 · TEOREM İSPATLAMA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Monotonluk — Monotonicity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04088" y="1810512"/>
            <a:ext cx="118872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719072"/>
            <a:ext cx="10378440" cy="8983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KB ⊨ α ise, yeni bir β bilgisi eklenince de KB ∧ β ⊨ α.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04088" y="2800350"/>
            <a:ext cx="118872" cy="118872"/>
          </a:xfrm>
          <a:prstGeom prst="rect">
            <a:avLst>
              <a:gd name="adj" fmla="val 92308"/>
            </a:avLst>
          </a:prstGeom>
          <a:solidFill>
            <a:srgbClr val="75D1E8"/>
          </a:solidFill>
          <a:ln w="12700">
            <a:solidFill>
              <a:srgbClr val="75D1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708910"/>
            <a:ext cx="10378440" cy="8983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Yeni bilgi daha fazla sonuca götürebilir; geçerli çıkarımı geri almaz.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04088" y="3790188"/>
            <a:ext cx="118872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698748"/>
            <a:ext cx="10378440" cy="8983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Örnek: ¬P₁,₂ ispatlandıktan sonra “8 çukur var” bilgisi bunu değiştirmez.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04088" y="4780026"/>
            <a:ext cx="118872" cy="118872"/>
          </a:xfrm>
          <a:prstGeom prst="rect">
            <a:avLst>
              <a:gd name="adj" fmla="val 92308"/>
            </a:avLst>
          </a:prstGeom>
          <a:solidFill>
            <a:srgbClr val="75D1E8"/>
          </a:solidFill>
          <a:ln w="12700">
            <a:solidFill>
              <a:srgbClr val="75D1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688586"/>
            <a:ext cx="10378440" cy="8983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Gündelik “fikrimi değiştirdim” türü akıl yürütme monoton olmayan mantıkta ele alınır.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Yeni bilgilerin doğruluğu ve tutarlılığı, gerçek dünyada güvenilir kullanım için önemlidir.</a:t>
            </a:r>
            <a:endParaRPr lang="en-US" sz="15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7.5 · TEOREM İSPATLAMA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Resolution — Tamamlayıcı literaller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755648"/>
            <a:ext cx="5376672" cy="4005072"/>
          </a:xfrm>
          <a:prstGeom prst="roundRect">
            <a:avLst>
              <a:gd name="adj" fmla="val 274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911096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Clause nedir?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50392" y="2377440"/>
            <a:ext cx="49560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VEYA ile bağlanan literaller.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Örnek: P ∨ Q ∨ ¬R.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clause: tek literal (¬P gibi).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172200" y="1755648"/>
            <a:ext cx="5376672" cy="4005072"/>
          </a:xfrm>
          <a:prstGeom prst="roundRect">
            <a:avLst>
              <a:gd name="adj" fmla="val 274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1911096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Resolution fikri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82512" y="2377440"/>
            <a:ext cx="49560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∨ Q ve ¬P verildiğinde: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ile ¬P elenir.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Geriye Q kalır.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çıkarım sound’dur.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Birbirinin olumsuzu olan iki literal “tamamlayıcı”dır.</a:t>
            </a:r>
            <a:endParaRPr lang="en-US" sz="15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7.5 · TEOREM İSPATLAMA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Resolution ile çukuru belirleme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04088" y="170078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3736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353312" y="169164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[2,1]’de esinti: P₁,₁ ∨ P₂,₂ ∨ P₃,₁.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04088" y="275234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78892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353312" y="274320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[1,2]’de esinti yok: ¬P₂,₂.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04088" y="380390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84048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353312" y="379476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Resolution → P₁,₁ ∨ P₃,₁.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704088" y="485546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89204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353312" y="484632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Başlangıç çukursuz: ¬P₁,₁ → P₃,₁.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Birbirini tamamlayan iki literal her Resolution adımında elenir.</a:t>
            </a:r>
            <a:endParaRPr lang="en-US" sz="15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7.5 · TEOREM İSPATLAMA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Genel Resolution ve factoring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728216"/>
            <a:ext cx="10817352" cy="1417320"/>
          </a:xfrm>
          <a:prstGeom prst="roundRect">
            <a:avLst>
              <a:gd name="adj" fmla="val 7742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965960"/>
            <a:ext cx="102412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(A ∨ B), (¬B ∨ C)  ⟹  A ∨ C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685800" y="3401568"/>
            <a:ext cx="10817352" cy="2194560"/>
          </a:xfrm>
          <a:prstGeom prst="roundRect">
            <a:avLst>
              <a:gd name="adj" fmla="val 500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557016"/>
            <a:ext cx="10396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İki clause içinde B ve ¬B birbirini götürür.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96112" y="4023360"/>
            <a:ext cx="1039672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Factoring: tekrar eden aynı literali tekleştirir.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(A ∨ B) ile (A ∨ ¬B) → A ∨ A → A.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sadeleştirme tekrarlı sonuç oluşmasını engeller.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Resolution çıktısı da bir clause olmalıdır.</a:t>
            </a:r>
            <a:endParaRPr lang="en-US" sz="15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7.5 · TEOREM İSPATLAMA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CNF nedir? (Conjunctive Normal Form)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04088" y="170078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3736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353312" y="169164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Literal: P veya ¬P.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04088" y="275234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78892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353312" y="274320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Clause: Literallerin VEYA ile birleşmesi: P ∨ ¬Q.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04088" y="380390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84048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353312" y="379476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CNF: Clause’ların VE ile birleşmesi: (P∨Q)∧(¬P∨R).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704088" y="485546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89204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353312" y="484632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 önermeler mantığı cümlesi eşdeğer bir CNF’ye çevrilebilir.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Resolution doğrudan CNF’deki clause’lar üzerinde çalışır.</a:t>
            </a:r>
            <a:endParaRPr lang="en-US" sz="15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7.5 · TEOREM İSPATLAMA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CNF dönüşümü — Wumpus örneği I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04088" y="170078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3736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353312" y="169164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Başlangıç: B ⇔ (P ∨ Q).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04088" y="275234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78892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353312" y="274320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⇔ kaldır: (B ⇒ (P∨Q)) ∧ ((P∨Q) ⇒ B).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04088" y="380390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84048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353312" y="379476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⇒ kaldır: (¬B∨P∨Q) ∧ (¬(P∨Q)∨B).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704088" y="485546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89204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353312" y="484632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Morgan: (¬B∨P∨Q) ∧ ((¬P∧¬Q)∨B).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Burada B=B₁,₁; P=P₁,₂; Q=P₂,₁ kısa yazılmıştır.</a:t>
            </a:r>
            <a:endParaRPr lang="en-US" sz="15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7.5 · TEOREM İSPATLAMA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CNF dönüşümü — Wumpus örneği II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728216"/>
            <a:ext cx="10817352" cy="1417320"/>
          </a:xfrm>
          <a:prstGeom prst="roundRect">
            <a:avLst>
              <a:gd name="adj" fmla="val 7742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965960"/>
            <a:ext cx="102412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2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(¬B∨P∨Q) ∧ (¬P∨B) ∧ (¬Q∨B)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685800" y="3401568"/>
            <a:ext cx="10817352" cy="2194560"/>
          </a:xfrm>
          <a:prstGeom prst="roundRect">
            <a:avLst>
              <a:gd name="adj" fmla="val 500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557016"/>
            <a:ext cx="10396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Dağılma kuralıyla CNF elde edilir.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96112" y="4023360"/>
            <a:ext cx="1039672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(¬P∧¬Q)∨B  ≡  (¬P∨B)∧(¬Q∨B).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Üç clause oluşur.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Artık Resolution algoritmasına doğrudan verilebilir.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Dönüşüm sırasında mantıksal anlam değişmez.</a:t>
            </a:r>
            <a:endParaRPr lang="en-US" sz="15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7.5 · TEOREM İSPATLAMA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7.12 — PL-RESOLUTION sözde kodu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6656" y="1627632"/>
            <a:ext cx="10835640" cy="4005072"/>
          </a:xfrm>
          <a:prstGeom prst="roundRect">
            <a:avLst>
              <a:gd name="adj" fmla="val 2740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892808"/>
            <a:ext cx="10186416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0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PL-RESOLUTION(KB, α):</a:t>
            </a:r>
            <a:endParaRPr lang="en-US" sz="2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20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clauses ← CNF(KB ∧ ¬α)</a:t>
            </a:r>
            <a:endParaRPr lang="en-US" sz="2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20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loop:</a:t>
            </a:r>
            <a:endParaRPr lang="en-US" sz="2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20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her Ci, Cj clause çifti için:</a:t>
            </a:r>
            <a:endParaRPr lang="en-US" sz="2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20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resolvents ← RESOLVE(Ci, Cj)</a:t>
            </a:r>
            <a:endParaRPr lang="en-US" sz="2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20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if ∅ (boş clause) türedi: return True</a:t>
            </a:r>
            <a:endParaRPr lang="en-US" sz="2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20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yeni sonuçları clause kümesine ekle</a:t>
            </a:r>
            <a:endParaRPr lang="en-US" sz="2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20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hiç yeni clause oluşmadıysa: return False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Boş clause = çelişki = KB ⊨ α kanıtı.</a:t>
            </a:r>
            <a:endParaRPr lang="en-US" sz="15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KAYNAK ŞEKİL 7.13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7.13 — Resolution ispat ağacı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6656" y="1609344"/>
            <a:ext cx="10835640" cy="4361688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0" descr="/mnt/data/image(20261013-110404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73352"/>
            <a:ext cx="10607040" cy="42336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8096" y="6263640"/>
            <a:ext cx="10844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7.13 · ¬P₁,₂’nin ispatında boş clause oluşumu</a:t>
            </a:r>
            <a:endParaRPr lang="en-US" sz="11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ŞEKİL AÇIKLAMASI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7.13 — Grafı adım adım oku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1664208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İspatlamak istediğimiz α = ¬P₁,₂; tersini ekliyoruz: P₁,₂.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04088" y="2395728"/>
            <a:ext cx="118872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304288"/>
            <a:ext cx="1037844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KB’nin CNF biçiminden ilk clause’lar oluşturulur.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04088" y="3239262"/>
            <a:ext cx="118872" cy="118872"/>
          </a:xfrm>
          <a:prstGeom prst="rect">
            <a:avLst>
              <a:gd name="adj" fmla="val 92308"/>
            </a:avLst>
          </a:prstGeom>
          <a:solidFill>
            <a:srgbClr val="75D1E8"/>
          </a:solidFill>
          <a:ln w="12700">
            <a:solidFill>
              <a:srgbClr val="75D1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147822"/>
            <a:ext cx="1037844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¬P₁,₂∨B₁,₁ ve ¬B₁,₁ → ¬P₁,₂.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04088" y="4082796"/>
            <a:ext cx="118872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991356"/>
            <a:ext cx="1037844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Hedefin tersi P₁,₂ ile ¬P₁,₂ Resolution uygulanınca boş clause oluşur.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04088" y="4926330"/>
            <a:ext cx="118872" cy="118872"/>
          </a:xfrm>
          <a:prstGeom prst="rect">
            <a:avLst>
              <a:gd name="adj" fmla="val 92308"/>
            </a:avLst>
          </a:prstGeom>
          <a:solidFill>
            <a:srgbClr val="75D1E8"/>
          </a:solidFill>
          <a:ln w="12700">
            <a:solidFill>
              <a:srgbClr val="75D1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834890"/>
            <a:ext cx="1037844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Boş clause: KB ∧ P₁,₂ doyurulamaz → KB ⊨ ¬P₁,₂.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Grafın her bağlantısı, iki clause’dan yeni clause üretme adımıdır.</a:t>
            </a:r>
            <a:endParaRPr lang="en-US" sz="15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7.5 · TEOREM İSPATLAMA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Resolution: Neden tam?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04088" y="1810512"/>
            <a:ext cx="118872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719072"/>
            <a:ext cx="10378440" cy="8983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RC(S), S’den tekrar tekrar Resolution ile üretilebilen tüm clause’lardır.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04088" y="2800350"/>
            <a:ext cx="118872" cy="118872"/>
          </a:xfrm>
          <a:prstGeom prst="rect">
            <a:avLst>
              <a:gd name="adj" fmla="val 92308"/>
            </a:avLst>
          </a:prstGeom>
          <a:solidFill>
            <a:srgbClr val="75D1E8"/>
          </a:solidFill>
          <a:ln w="12700">
            <a:solidFill>
              <a:srgbClr val="75D1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708910"/>
            <a:ext cx="10378440" cy="8983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Sonlu semboller ve factoring varsa farklı clause sayısı sonludur.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04088" y="3790188"/>
            <a:ext cx="118872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698748"/>
            <a:ext cx="10378440" cy="8983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 Resolution Theorem: S doyurulamazsa RC(S) boş clause içerir.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04088" y="4780026"/>
            <a:ext cx="118872" cy="118872"/>
          </a:xfrm>
          <a:prstGeom prst="rect">
            <a:avLst>
              <a:gd name="adj" fmla="val 92308"/>
            </a:avLst>
          </a:prstGeom>
          <a:solidFill>
            <a:srgbClr val="75D1E8"/>
          </a:solidFill>
          <a:ln w="12700">
            <a:solidFill>
              <a:srgbClr val="75D1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688586"/>
            <a:ext cx="10378440" cy="8983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Dolayısıyla sistematik Resolution araması varsa her çelişki bulunabilir.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özellik genel önermesel çürütme ispatı için tamamlık sağlar.</a:t>
            </a:r>
            <a:endParaRPr lang="en-US" sz="15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KAYNAK ŞEKİL 7.14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7.14 — CNF ve Horn grameri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6656" y="1609344"/>
            <a:ext cx="10835640" cy="4626864"/>
          </a:xfrm>
          <a:prstGeom prst="roundRect">
            <a:avLst>
              <a:gd name="adj" fmla="val 237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0" descr="/mnt/data/image(20261013-110417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73352"/>
            <a:ext cx="10607040" cy="44988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8096" y="6263640"/>
            <a:ext cx="10844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7.14 · Horn: En çok bir pozitif literal</a:t>
            </a:r>
            <a:endParaRPr lang="en-US" sz="11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7.5 · TEOREM İSPATLAMA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Horn ve Definite clause arasındaki fark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94944" y="1755648"/>
            <a:ext cx="3063240" cy="502920"/>
          </a:xfrm>
          <a:prstGeom prst="rect">
            <a:avLst>
              <a:gd name="adj" fmla="val 21818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1819656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Tür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769157" y="1755648"/>
            <a:ext cx="3429000" cy="502920"/>
          </a:xfrm>
          <a:prstGeom prst="rect">
            <a:avLst>
              <a:gd name="adj" fmla="val 21818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60597" y="181965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Pozitif literal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209130" y="1755648"/>
            <a:ext cx="4187952" cy="502920"/>
          </a:xfrm>
          <a:prstGeom prst="rect">
            <a:avLst>
              <a:gd name="adj" fmla="val 21818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00570" y="1819656"/>
            <a:ext cx="4005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Örnek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94944" y="2322576"/>
            <a:ext cx="3063240" cy="722376"/>
          </a:xfrm>
          <a:prstGeom prst="rect">
            <a:avLst>
              <a:gd name="adj" fmla="val 1519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2377440"/>
            <a:ext cx="2880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Definite Clause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769157" y="2322576"/>
            <a:ext cx="3429000" cy="722376"/>
          </a:xfrm>
          <a:prstGeom prst="rect">
            <a:avLst>
              <a:gd name="adj" fmla="val 1519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60597" y="2377440"/>
            <a:ext cx="32461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Tam olarak 1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209130" y="2322576"/>
            <a:ext cx="4187952" cy="722376"/>
          </a:xfrm>
          <a:prstGeom prst="rect">
            <a:avLst>
              <a:gd name="adj" fmla="val 1519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00570" y="2377440"/>
            <a:ext cx="40050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¬A ∨ ¬B ∨ C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94944" y="3063240"/>
            <a:ext cx="3063240" cy="722376"/>
          </a:xfrm>
          <a:prstGeom prst="rect">
            <a:avLst>
              <a:gd name="adj" fmla="val 15190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" y="3118104"/>
            <a:ext cx="2880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 Clause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769157" y="3063240"/>
            <a:ext cx="3429000" cy="722376"/>
          </a:xfrm>
          <a:prstGeom prst="rect">
            <a:avLst>
              <a:gd name="adj" fmla="val 15190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60597" y="3118104"/>
            <a:ext cx="32461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209130" y="3063240"/>
            <a:ext cx="4187952" cy="722376"/>
          </a:xfrm>
          <a:prstGeom prst="rect">
            <a:avLst>
              <a:gd name="adj" fmla="val 15190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00570" y="3118104"/>
            <a:ext cx="40050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¬A ∨ ¬B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94944" y="3803904"/>
            <a:ext cx="3063240" cy="722376"/>
          </a:xfrm>
          <a:prstGeom prst="rect">
            <a:avLst>
              <a:gd name="adj" fmla="val 1519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" y="3858768"/>
            <a:ext cx="2880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Horn Clause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3769157" y="3803904"/>
            <a:ext cx="3429000" cy="722376"/>
          </a:xfrm>
          <a:prstGeom prst="rect">
            <a:avLst>
              <a:gd name="adj" fmla="val 1519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60597" y="3858768"/>
            <a:ext cx="32461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fazla 1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7209130" y="3803904"/>
            <a:ext cx="4187952" cy="722376"/>
          </a:xfrm>
          <a:prstGeom prst="rect">
            <a:avLst>
              <a:gd name="adj" fmla="val 1519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00570" y="3858768"/>
            <a:ext cx="40050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Yukarıdaki iki tür de Horn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94944" y="4544568"/>
            <a:ext cx="3063240" cy="722376"/>
          </a:xfrm>
          <a:prstGeom prst="rect">
            <a:avLst>
              <a:gd name="adj" fmla="val 15190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6384" y="4599432"/>
            <a:ext cx="2880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Horn olmayan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3769157" y="4544568"/>
            <a:ext cx="3429000" cy="722376"/>
          </a:xfrm>
          <a:prstGeom prst="rect">
            <a:avLst>
              <a:gd name="adj" fmla="val 15190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60597" y="4599432"/>
            <a:ext cx="32461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veya daha fazla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7209130" y="4544568"/>
            <a:ext cx="4187952" cy="722376"/>
          </a:xfrm>
          <a:prstGeom prst="rect">
            <a:avLst>
              <a:gd name="adj" fmla="val 15190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00570" y="4599432"/>
            <a:ext cx="40050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∨ B ∨ ¬C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∧ B ⇒ C, ¬A ∨ ¬B ∨ C ile eşdeğerdir.</a:t>
            </a:r>
            <a:endParaRPr lang="en-US" sz="15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7.5 · TEOREM İSPATLAMA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Horn kuralları: Body ve Head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755648"/>
            <a:ext cx="5376672" cy="4005072"/>
          </a:xfrm>
          <a:prstGeom prst="roundRect">
            <a:avLst>
              <a:gd name="adj" fmla="val 274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911096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Body — Gövde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50392" y="2377440"/>
            <a:ext cx="49560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Bir kuralın öncülleridir.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∧ B ⇒ C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Body: A ∧ B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172200" y="1755648"/>
            <a:ext cx="5376672" cy="4005072"/>
          </a:xfrm>
          <a:prstGeom prst="roundRect">
            <a:avLst>
              <a:gd name="adj" fmla="val 274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1911096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 — Baş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82512" y="2377440"/>
            <a:ext cx="49560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Kuralın sonuç sembolüdür.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∧ B ⇒ C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Head: C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ve B biliniyorsa C çıkar.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Horn bilgileriyle forward/backward chaining verimli çalışır.</a:t>
            </a:r>
            <a:endParaRPr lang="en-US" sz="15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KAYNAK ŞEKİL 7.16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7.16 — Horn kuralları ve AND–OR grafı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6656" y="1609344"/>
            <a:ext cx="10835640" cy="4626864"/>
          </a:xfrm>
          <a:prstGeom prst="roundRect">
            <a:avLst>
              <a:gd name="adj" fmla="val 237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0" descr="/mnt/data/image(20261013-110428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73352"/>
            <a:ext cx="10607040" cy="44988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8096" y="6263640"/>
            <a:ext cx="10844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7.16 · (a) Kurallar; (b) AND–OR grafı</a:t>
            </a:r>
            <a:endParaRPr lang="en-US" sz="11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ŞEKİL AÇIKLAMASI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7.16 — Grafın anlamı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1664208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Başlangıçta A ve B doğrudur. Hedef Q’yu kanıtlamak.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04088" y="2395728"/>
            <a:ext cx="118872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304288"/>
            <a:ext cx="1037844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düğümü: Bir kuralın bütün öncülleri doğru olmalı.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04088" y="3239262"/>
            <a:ext cx="118872" cy="118872"/>
          </a:xfrm>
          <a:prstGeom prst="rect">
            <a:avLst>
              <a:gd name="adj" fmla="val 92308"/>
            </a:avLst>
          </a:prstGeom>
          <a:solidFill>
            <a:srgbClr val="75D1E8"/>
          </a:solidFill>
          <a:ln w="12700">
            <a:solidFill>
              <a:srgbClr val="75D1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147822"/>
            <a:ext cx="1037844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yolları: Aynı sonuca ulaşmak için alternatif kurallardan biri yeterli.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04088" y="4082796"/>
            <a:ext cx="118872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991356"/>
            <a:ext cx="1037844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Forward: A,B → L → M → P → Q.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04088" y="4926330"/>
            <a:ext cx="118872" cy="118872"/>
          </a:xfrm>
          <a:prstGeom prst="rect">
            <a:avLst>
              <a:gd name="adj" fmla="val 92308"/>
            </a:avLst>
          </a:prstGeom>
          <a:solidFill>
            <a:srgbClr val="75D1E8"/>
          </a:solidFill>
          <a:ln w="12700">
            <a:solidFill>
              <a:srgbClr val="75D1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834890"/>
            <a:ext cx="1037844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Backward: Q için P; P için L ve M; sonunda A ve B’ye dön.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Başlangıç ve hedef aynı; çıkarımın yönü değişir.</a:t>
            </a:r>
            <a:endParaRPr lang="en-US" sz="15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7.5 · TEOREM İSPATLAMA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Forward chaining — Tek tek çözelim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04088" y="170078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3736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353312" y="169164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ve B başlangıç olguları.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04088" y="275234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78892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353312" y="274320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∧ B ⇒ L: Önce L bulunur.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04088" y="380390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84048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353312" y="379476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∧ L ⇒ M: Sonra M bulunur.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704088" y="485546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89204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353312" y="484632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 ∧ M ⇒ P ve P ⇒ Q: P, ardından Q bulunur.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Veriden başlar; yeni bilgi üretimi sona erene kadar sürer.</a:t>
            </a:r>
            <a:endParaRPr lang="en-US" sz="15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7.5 · TEOREM İSPATLAMA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7.15 — İleri zincirleme algoritması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6656" y="1627632"/>
            <a:ext cx="10835640" cy="4005072"/>
          </a:xfrm>
          <a:prstGeom prst="roundRect">
            <a:avLst>
              <a:gd name="adj" fmla="val 2740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892808"/>
            <a:ext cx="10186416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PL-FC-ENTAILS?(KB, q):</a:t>
            </a:r>
            <a:endParaRPr lang="en-US" sz="17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7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count[c] ← c kuralında eksik öncül sayısı</a:t>
            </a:r>
            <a:endParaRPr lang="en-US" sz="17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7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inferred[s] ← False</a:t>
            </a:r>
            <a:endParaRPr lang="en-US" sz="17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7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agenda ← başlangıç olguları</a:t>
            </a:r>
            <a:endParaRPr lang="en-US" sz="17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7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while agenda dolu:</a:t>
            </a:r>
            <a:endParaRPr lang="en-US" sz="17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7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p ← agenda'dan çıkar</a:t>
            </a:r>
            <a:endParaRPr lang="en-US" sz="17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7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if p == q: return True</a:t>
            </a:r>
            <a:endParaRPr lang="en-US" sz="17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7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if p henüz işlenmediyse:</a:t>
            </a:r>
            <a:endParaRPr lang="en-US" sz="17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7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işaretle, kullanan kuralların count'unu azalt</a:t>
            </a:r>
            <a:endParaRPr lang="en-US" sz="17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7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count = 0 olursa sonucu agenda'ya ekle</a:t>
            </a:r>
            <a:endParaRPr lang="en-US" sz="17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7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return False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Agenda: Bekleyen olgu; count: Kuralın henüz sağlanmamış öncül sayısı.</a:t>
            </a:r>
            <a:endParaRPr lang="en-US" sz="15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7.5 · TEOREM İSPATLAMA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Backward chaining — Aynı örnekte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04088" y="170078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3736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353312" y="169164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Hedef Q. Q’yu üreten kural: P ⇒ Q → önce P gerekir.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04088" y="275234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78892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353312" y="274320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için L ∧ M ⇒ P → önce L ve M gerekir.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04088" y="380390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84048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353312" y="379476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 için A ∧ B ⇒ L; A ve B zaten biliniyor → L doğru.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704088" y="485546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89204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353312" y="484632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 için B ∧ L ⇒ M → M; ardından P ve Q doğru.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Hedeften başlar, yalnızca gerekli öncülleri sorgular.</a:t>
            </a:r>
            <a:endParaRPr lang="en-US" sz="15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 ÖĞRETİCİ GÖRSEL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İleri zincirleme ve geri zincirleme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700784"/>
            <a:ext cx="10817352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0" descr="/mnt/data/_unit7_work/assets/zincirle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828800"/>
            <a:ext cx="10488168" cy="3813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50392" y="5998464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Öğretici yeniden çizim: ileri zincirleme veriden; geri zincirleme hedeften gider.</a:t>
            </a:r>
            <a:endParaRPr lang="en-US" sz="13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7.5 · TEOREM İSPATLAMA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Forward vs. Backward: Ne zaman?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755648"/>
            <a:ext cx="5376672" cy="4005072"/>
          </a:xfrm>
          <a:prstGeom prst="roundRect">
            <a:avLst>
              <a:gd name="adj" fmla="val 274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911096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Forward — Veri odaklı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50392" y="2377440"/>
            <a:ext cx="49560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Yeni algı geldikçe çok sayıda yararlı bilgi türetmek için iyi.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Örnek: Isı yükseldi → alarm / klima kararı.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172200" y="1755648"/>
            <a:ext cx="5376672" cy="4005072"/>
          </a:xfrm>
          <a:prstGeom prst="roundRect">
            <a:avLst>
              <a:gd name="adj" fmla="val 274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1911096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Backward — Hedef odaklı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82512" y="2377440"/>
            <a:ext cx="49560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Tek bir soruyu yanıtlamak için gerekli bilgileri inceler.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Örnek: “Şu oda güvenli mi?”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gerekli kuralları geriye izle.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İkisi de definite clause’larda sağlam ve tam çıkarım sağlayabilir.</a:t>
            </a:r>
            <a:endParaRPr lang="en-US" sz="15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" cy="6858000"/>
          </a:xfrm>
          <a:prstGeom prst="rect">
            <a:avLst>
              <a:gd name="adj" fmla="val 6315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243584"/>
            <a:ext cx="1783080" cy="1783080"/>
          </a:xfrm>
          <a:prstGeom prst="roundRect">
            <a:avLst>
              <a:gd name="adj" fmla="val 6154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91056"/>
            <a:ext cx="1600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4700" b="1" dirty="0">
                <a:solidFill>
                  <a:srgbClr val="0A14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7.6</a:t>
            </a:r>
            <a:endParaRPr lang="en-US" sz="4700" dirty="0"/>
          </a:p>
        </p:txBody>
      </p:sp>
      <p:sp>
        <p:nvSpPr>
          <p:cNvPr id="5" name="Text 3"/>
          <p:cNvSpPr/>
          <p:nvPr/>
        </p:nvSpPr>
        <p:spPr>
          <a:xfrm>
            <a:off x="2916936" y="1609344"/>
            <a:ext cx="8549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Etkili Model Denetimi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953512" y="2926080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4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SAT: DPLL geri izleme ve WalkSAT yerel arama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41248" y="6300216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ÜNİTE 7  /  MANTIKSAL AJANLAR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055096" y="6446520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088</a:t>
            </a:r>
            <a:endParaRPr lang="en-US" sz="10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7.6 · ETKILI MODEL DENETIMI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 problemi ve iki çözüm ailesi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04088" y="1810512"/>
            <a:ext cx="118872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719072"/>
            <a:ext cx="10378440" cy="8983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SAT: Bir CNF cümlesini doğru yapan en az bir model var mı?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04088" y="2800350"/>
            <a:ext cx="118872" cy="118872"/>
          </a:xfrm>
          <a:prstGeom prst="rect">
            <a:avLst>
              <a:gd name="adj" fmla="val 92308"/>
            </a:avLst>
          </a:prstGeom>
          <a:solidFill>
            <a:srgbClr val="75D1E8"/>
          </a:solidFill>
          <a:ln w="12700">
            <a:solidFill>
              <a:srgbClr val="75D1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708910"/>
            <a:ext cx="10378440" cy="8983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DPLL: Geri izleme ile doyurulabilirlik / doyurulamazlık kararını verebilir.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04088" y="3790188"/>
            <a:ext cx="118872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698748"/>
            <a:ext cx="10378440" cy="8983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WalkSAT: Rastgele/yerel değişikliklerle doyurucu model arar.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04088" y="4780026"/>
            <a:ext cx="118872" cy="118872"/>
          </a:xfrm>
          <a:prstGeom prst="rect">
            <a:avLst>
              <a:gd name="adj" fmla="val 92308"/>
            </a:avLst>
          </a:prstGeom>
          <a:solidFill>
            <a:srgbClr val="75D1E8"/>
          </a:solidFill>
          <a:ln w="12700">
            <a:solidFill>
              <a:srgbClr val="75D1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688586"/>
            <a:ext cx="10378440" cy="8983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KB ⊨ α testi için KB ∧ ¬α’nın doyurulamazlığını gösterebiliriz.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Doyurucu bir model bulmak kolay olabilir; hiçbir model olmadığını kanıtlamak farklıdır.</a:t>
            </a:r>
            <a:endParaRPr lang="en-US" sz="15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7.6 · ETKILI MODEL DENETIMI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DPLL — Üç büyük iyileştirme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04088" y="170078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3736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353312" y="169164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Early termination: Cümle kesin doğru/yanlış olduğunda dalı erken bitir.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04088" y="275234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78892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353312" y="274320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Pure symbol: Yalnız tek işaretle bulunan sembole o işareti doğru yapan değer ver.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04088" y="380390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84048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353312" y="379476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clause: Tek kalan literalin zorunlu değerini ata.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704088" y="485546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89204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353312" y="484632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Gerekirse değişkene True/False atayıp iki dalda geri izleme yap.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Sezgiseller aramayı azaltır, gerektiğinde geri izleme tamlığı korur.</a:t>
            </a:r>
            <a:endParaRPr lang="en-US" sz="15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7.6 · ETKILI MODEL DENETIMI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DPLL: Erken sonlandırma örneği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755648"/>
            <a:ext cx="5376672" cy="4005072"/>
          </a:xfrm>
          <a:prstGeom prst="roundRect">
            <a:avLst>
              <a:gd name="adj" fmla="val 274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911096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Verilen ifade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50392" y="2377440"/>
            <a:ext cx="49560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(A ∨ B) ∧ (A ∨ C)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Toplam 3 değişken: 2³ = 8 olası model.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172200" y="1755648"/>
            <a:ext cx="5376672" cy="4005072"/>
          </a:xfrm>
          <a:prstGeom prst="roundRect">
            <a:avLst>
              <a:gd name="adj" fmla="val 274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1911096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Tek bir atama yetiyor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82512" y="2377440"/>
            <a:ext cx="49560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A=True olursa iki clause da True.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ve C’nin değerini denemeden doyurucu model bulunur.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Cümle tüm değişkenlere değer atanmadan doğru olabilir.</a:t>
            </a:r>
            <a:endParaRPr lang="en-US" sz="15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7.6 · ETKILI MODEL DENETIMI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DPLL: Saf sembolleri tanı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94944" y="1755648"/>
            <a:ext cx="2240280" cy="502920"/>
          </a:xfrm>
          <a:prstGeom prst="rect">
            <a:avLst>
              <a:gd name="adj" fmla="val 21818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181965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Sembol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946197" y="1755648"/>
            <a:ext cx="3520440" cy="502920"/>
          </a:xfrm>
          <a:prstGeom prst="rect">
            <a:avLst>
              <a:gd name="adj" fmla="val 21818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37637" y="1819656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Görünüm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77610" y="1755648"/>
            <a:ext cx="4892040" cy="502920"/>
          </a:xfrm>
          <a:prstGeom prst="rect">
            <a:avLst>
              <a:gd name="adj" fmla="val 21818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69050" y="1819656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 mı?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94944" y="2322576"/>
            <a:ext cx="2240280" cy="722376"/>
          </a:xfrm>
          <a:prstGeom prst="rect">
            <a:avLst>
              <a:gd name="adj" fmla="val 1519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2377440"/>
            <a:ext cx="20574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946197" y="2322576"/>
            <a:ext cx="3520440" cy="722376"/>
          </a:xfrm>
          <a:prstGeom prst="rect">
            <a:avLst>
              <a:gd name="adj" fmla="val 1519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37637" y="2377440"/>
            <a:ext cx="3337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A, A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477610" y="2322576"/>
            <a:ext cx="4892040" cy="722376"/>
          </a:xfrm>
          <a:prstGeom prst="rect">
            <a:avLst>
              <a:gd name="adj" fmla="val 1519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69050" y="2377440"/>
            <a:ext cx="47091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Evet → A=True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94944" y="3063240"/>
            <a:ext cx="2240280" cy="722376"/>
          </a:xfrm>
          <a:prstGeom prst="rect">
            <a:avLst>
              <a:gd name="adj" fmla="val 15190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" y="3118104"/>
            <a:ext cx="20574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2946197" y="3063240"/>
            <a:ext cx="3520440" cy="722376"/>
          </a:xfrm>
          <a:prstGeom prst="rect">
            <a:avLst>
              <a:gd name="adj" fmla="val 15190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37637" y="3118104"/>
            <a:ext cx="3337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¬B, ¬B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477610" y="3063240"/>
            <a:ext cx="4892040" cy="722376"/>
          </a:xfrm>
          <a:prstGeom prst="rect">
            <a:avLst>
              <a:gd name="adj" fmla="val 15190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69050" y="3118104"/>
            <a:ext cx="47091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Evet → B=False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94944" y="3803904"/>
            <a:ext cx="2240280" cy="722376"/>
          </a:xfrm>
          <a:prstGeom prst="rect">
            <a:avLst>
              <a:gd name="adj" fmla="val 1519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" y="3858768"/>
            <a:ext cx="20574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2946197" y="3803904"/>
            <a:ext cx="3520440" cy="722376"/>
          </a:xfrm>
          <a:prstGeom prst="rect">
            <a:avLst>
              <a:gd name="adj" fmla="val 1519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37637" y="3858768"/>
            <a:ext cx="3337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C, ¬C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477610" y="3803904"/>
            <a:ext cx="4892040" cy="722376"/>
          </a:xfrm>
          <a:prstGeom prst="rect">
            <a:avLst>
              <a:gd name="adj" fmla="val 1519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69050" y="3858768"/>
            <a:ext cx="47091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Hayır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Saflık, mevcut modelde henüz sağlanmamış clause’lar üzerinden belirlenebilir.</a:t>
            </a:r>
            <a:endParaRPr lang="en-US" sz="15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7.6 · ETKILI MODEL DENETIMI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DPLL: Unit propagation zinciri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04088" y="170078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3736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353312" y="169164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B=True verildiğinde (¬B ∨ ¬C) ifadesi ¬C olur.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04088" y="275234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78892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353312" y="274320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Böylece C=False zorunludur.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04088" y="380390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84048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353312" y="379476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(C ∨ A) cümlesi C=False sonrasında A’ya indirgenir.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704088" y="485546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89204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353312" y="484632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A=True zorunludur; zincir hâlinde atamalar yapılır.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Zorunlu atamalar dallanmayı azaltır.</a:t>
            </a:r>
            <a:endParaRPr lang="en-US" sz="15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7.6 · ETKILI MODEL DENETIMI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7.17 — DPLL özet algoritması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6656" y="1627632"/>
            <a:ext cx="10835640" cy="4005072"/>
          </a:xfrm>
          <a:prstGeom prst="roundRect">
            <a:avLst>
              <a:gd name="adj" fmla="val 2740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892808"/>
            <a:ext cx="10186416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DPLL(clauses, symbols, model):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if tüm clause'lar doğruysa: return True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if bir clause yanlışsa: return False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if saf sembol varsa: onu ata, DPLL çağır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if birim clause varsa: zorunlu değeri ata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aksi hâlde bir P sembolü seç: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DPLL(P=True) OR DPLL(P=False)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DPLL, model tamamlanmadan erken karar verebilir.</a:t>
            </a:r>
            <a:endParaRPr lang="en-US" sz="15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7.6 · ETKILI MODEL DENETIMI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 SAT çözücüler neden hızlı?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04088" y="1810512"/>
            <a:ext cx="118872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719072"/>
            <a:ext cx="10378440" cy="7004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 analysis: Bağımsız alt problemleri ayırmak.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04088" y="2602382"/>
            <a:ext cx="118872" cy="118872"/>
          </a:xfrm>
          <a:prstGeom prst="rect">
            <a:avLst>
              <a:gd name="adj" fmla="val 92308"/>
            </a:avLst>
          </a:prstGeom>
          <a:solidFill>
            <a:srgbClr val="75D1E8"/>
          </a:solidFill>
          <a:ln w="12700">
            <a:solidFill>
              <a:srgbClr val="75D1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510942"/>
            <a:ext cx="10378440" cy="7004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 ordering: Çok kuralda yer alan sembole öncelik vermek.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04088" y="3394253"/>
            <a:ext cx="118872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302813"/>
            <a:ext cx="10378440" cy="7004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Conflict learning/backjumping: Çatışmanın gerçek sebebine dönmek.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04088" y="4186123"/>
            <a:ext cx="118872" cy="118872"/>
          </a:xfrm>
          <a:prstGeom prst="rect">
            <a:avLst>
              <a:gd name="adj" fmla="val 92308"/>
            </a:avLst>
          </a:prstGeom>
          <a:solidFill>
            <a:srgbClr val="75D1E8"/>
          </a:solidFill>
          <a:ln w="12700">
            <a:solidFill>
              <a:srgbClr val="75D1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094683"/>
            <a:ext cx="10378440" cy="7004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restarts: Aramayı farklı seçimlerle yeniden başlatmak.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04088" y="4977994"/>
            <a:ext cx="118872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886554"/>
            <a:ext cx="10378440" cy="7004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Clever indexing: Bir değişkenin geçtiği clause’ları hızlı bulmak.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teknikler büyük SAT örneklerini pratik hâle getirir.</a:t>
            </a:r>
            <a:endParaRPr lang="en-US" sz="15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7.6 · ETKILI MODEL DENETIMI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WalkSAT’ın temel fikri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755648"/>
            <a:ext cx="5376672" cy="4005072"/>
          </a:xfrm>
          <a:prstGeom prst="roundRect">
            <a:avLst>
              <a:gd name="adj" fmla="val 274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911096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Tam modelle başlar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50392" y="2377440"/>
            <a:ext cx="49560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Bütün değişkenlere rastgele True/False atanır.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Doğru olmayan clause seçilir.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172200" y="1755648"/>
            <a:ext cx="5376672" cy="4005072"/>
          </a:xfrm>
          <a:prstGeom prst="roundRect">
            <a:avLst>
              <a:gd name="adj" fmla="val 274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1911096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Bir sembolü tersine çevirir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82512" y="2377440"/>
            <a:ext cx="49560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Olasılık p ile rastgele seçim.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Diğer durumda yanlış clause sayısını azaltan seçim.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WalkSAT çözüm bulursa SAT kanıtlanır; bulamazsa UNSAT kanıtlanmaz.</a:t>
            </a:r>
            <a:endParaRPr lang="en-US" sz="15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7.6 · ETKILI MODEL DENETIMI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WalkSAT: Küçük bir çözümlü örnek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04088" y="170078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3736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353312" y="169164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 = (A∨B)∧(¬A∨C)∧(B∨C).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04088" y="275234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78892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353312" y="274320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Başlangıç A=False, B=False, C=False → iki clause yanlış.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04088" y="380390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84048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353312" y="379476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Yanlış A∨B clause’unda B’yi True yap.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704088" y="485546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89204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353312" y="484632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Yeni model (False, True, False) → üç clause da doğru.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Bir tek değişken değişimi çözüm getirdi.</a:t>
            </a:r>
            <a:endParaRPr lang="en-US" sz="15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7.6 · ETKILI MODEL DENETIMI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7.18 — WalkSAT sözde kodu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6656" y="1627632"/>
            <a:ext cx="10835640" cy="4005072"/>
          </a:xfrm>
          <a:prstGeom prst="roundRect">
            <a:avLst>
              <a:gd name="adj" fmla="val 2740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892808"/>
            <a:ext cx="10186416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WALKSAT(clauses, p, max_flips):</a:t>
            </a:r>
            <a:endParaRPr lang="en-US" sz="18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model ← rastgele tam atama</a:t>
            </a:r>
            <a:endParaRPr lang="en-US" sz="18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max_flips defa:</a:t>
            </a:r>
            <a:endParaRPr lang="en-US" sz="18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if tüm clause'lar doğru: return model</a:t>
            </a:r>
            <a:endParaRPr lang="en-US" sz="18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yanlış clause'lardan birini seç</a:t>
            </a:r>
            <a:endParaRPr lang="en-US" sz="18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p olasılıkla içinden rastgele sembol seç</a:t>
            </a:r>
            <a:endParaRPr lang="en-US" sz="18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aksi hâlde en çok clause sağlayanı seç</a:t>
            </a:r>
            <a:endParaRPr lang="en-US" sz="18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seçilen sembolün True/False değerini tersle</a:t>
            </a:r>
            <a:endParaRPr lang="en-US" sz="18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return failure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Failure: “belki çözüm yok, belki süre yetmedi” demektir.</a:t>
            </a:r>
            <a:endParaRPr lang="en-US" sz="15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KAYNAK ŞEKİL 7.19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7.19 — Rastgele 3-SAT problemleri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6656" y="1609344"/>
            <a:ext cx="10835640" cy="4626864"/>
          </a:xfrm>
          <a:prstGeom prst="roundRect">
            <a:avLst>
              <a:gd name="adj" fmla="val 237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0" descr="/mnt/data/image(20261013-111253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73352"/>
            <a:ext cx="10607040" cy="44988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8096" y="6263640"/>
            <a:ext cx="10844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7.19 · (a) Doyurulabilirlik; (b) çözüm maliyeti</a:t>
            </a:r>
            <a:endParaRPr lang="en-US" sz="11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ŞEKİL AÇIKLAMASI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7.19 — İki grafiği okuyalım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1664208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Yatay eksen m/n = clause sayısı / değişken sayısı.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04088" y="2395728"/>
            <a:ext cx="118872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304288"/>
            <a:ext cx="1037844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(a) m/n küçükse SAT olasılığı ≈1; büyükse ≈0.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04088" y="3239262"/>
            <a:ext cx="118872" cy="118872"/>
          </a:xfrm>
          <a:prstGeom prst="rect">
            <a:avLst>
              <a:gd name="adj" fmla="val 92308"/>
            </a:avLst>
          </a:prstGeom>
          <a:solidFill>
            <a:srgbClr val="75D1E8"/>
          </a:solidFill>
          <a:ln w="12700">
            <a:solidFill>
              <a:srgbClr val="75D1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147822"/>
            <a:ext cx="1037844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n=50 rastgele 3-CNF için keskin düşüş yaklaşık 4,3 bölgesindedir.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04088" y="4082796"/>
            <a:ext cx="118872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991356"/>
            <a:ext cx="1037844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(b) DPLL/WalkSAT zorluğu çoğu zaman bu eşik yakınında yükselir.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04088" y="4926330"/>
            <a:ext cx="118872" cy="118872"/>
          </a:xfrm>
          <a:prstGeom prst="rect">
            <a:avLst>
              <a:gd name="adj" fmla="val 92308"/>
            </a:avLst>
          </a:prstGeom>
          <a:solidFill>
            <a:srgbClr val="75D1E8"/>
          </a:solidFill>
          <a:ln w="12700">
            <a:solidFill>
              <a:srgbClr val="75D1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834890"/>
            <a:ext cx="1037844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 değişkende eşik kabaca m = 4,3 × 50 ≈ 215 clause demektir.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4,3 bir örnek ailesinin ampirik eşiğidir; her SAT problemi için sabit kural değildir.</a:t>
            </a:r>
            <a:endParaRPr lang="en-US" sz="15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 ÖĞRETİCİ GÖRSEL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2ⁿ modeli taramak neden pahalı?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700784"/>
            <a:ext cx="10817352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0" descr="/mnt/data/_unit7_work/assets/model_buyumes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828800"/>
            <a:ext cx="10488168" cy="3813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50392" y="5998464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sembol için tüm doğruluk değerlerini sıralayan basit algoritma 2ⁿ model üretir.</a:t>
            </a:r>
            <a:endParaRPr lang="en-US" sz="13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" cy="6858000"/>
          </a:xfrm>
          <a:prstGeom prst="rect">
            <a:avLst>
              <a:gd name="adj" fmla="val 6315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243584"/>
            <a:ext cx="1783080" cy="1783080"/>
          </a:xfrm>
          <a:prstGeom prst="roundRect">
            <a:avLst>
              <a:gd name="adj" fmla="val 6154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91056"/>
            <a:ext cx="1600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4700" b="1" dirty="0">
                <a:solidFill>
                  <a:srgbClr val="0A14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7.7</a:t>
            </a:r>
            <a:endParaRPr lang="en-US" sz="4700" dirty="0"/>
          </a:p>
        </p:txBody>
      </p:sp>
      <p:sp>
        <p:nvSpPr>
          <p:cNvPr id="5" name="Text 3"/>
          <p:cNvSpPr/>
          <p:nvPr/>
        </p:nvSpPr>
        <p:spPr>
          <a:xfrm>
            <a:off x="2916936" y="1609344"/>
            <a:ext cx="8549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Mantığa Dayalı Ajanlar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953512" y="2926080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4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Zaman, eylem etkileri, belief state, hibrit karar ve SATPLAN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41248" y="6300216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ÜNİTE 7  /  MANTIKSAL AJANLAR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055096" y="6446520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102</a:t>
            </a:r>
            <a:endParaRPr lang="en-US" sz="10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7.7 · MANTIĞA DAYALI AJANLAR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Mantıksal ajanı şimdi birleştiriyoruz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04088" y="1810512"/>
            <a:ext cx="118872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719072"/>
            <a:ext cx="10378440" cy="8983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KB: Wumpus dünyasının genel kurallarını saklar.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04088" y="2800350"/>
            <a:ext cx="118872" cy="118872"/>
          </a:xfrm>
          <a:prstGeom prst="rect">
            <a:avLst>
              <a:gd name="adj" fmla="val 92308"/>
            </a:avLst>
          </a:prstGeom>
          <a:solidFill>
            <a:srgbClr val="75D1E8"/>
          </a:solidFill>
          <a:ln w="12700">
            <a:solidFill>
              <a:srgbClr val="75D1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708910"/>
            <a:ext cx="10378440" cy="8983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Percept: O an alınan koku, esinti, parıltı vb. gözlemler.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04088" y="3790188"/>
            <a:ext cx="118872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698748"/>
            <a:ext cx="10378440" cy="8983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Inference: Konum, tehlike ve güvenlik hakkında sonuç çıkarır.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04088" y="4780026"/>
            <a:ext cx="118872" cy="118872"/>
          </a:xfrm>
          <a:prstGeom prst="rect">
            <a:avLst>
              <a:gd name="adj" fmla="val 92308"/>
            </a:avLst>
          </a:prstGeom>
          <a:solidFill>
            <a:srgbClr val="75D1E8"/>
          </a:solidFill>
          <a:ln w="12700">
            <a:solidFill>
              <a:srgbClr val="75D1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688586"/>
            <a:ext cx="10378440" cy="8983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Planning: Hedefe ulaşmak için eylem dizisi oluşturur.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Sorular: “Neredeyim?”, “Güvenli mi?”, “Şimdi ne yapmalıyım?”</a:t>
            </a:r>
            <a:endParaRPr lang="en-US" sz="15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7.7 · MANTIĞA DAYALI AJANLAR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Tam olarak bir Wumpus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728216"/>
            <a:ext cx="10817352" cy="1417320"/>
          </a:xfrm>
          <a:prstGeom prst="roundRect">
            <a:avLst>
              <a:gd name="adj" fmla="val 7742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965960"/>
            <a:ext cx="102412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24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(W₁,₁ ∨ … ∨ W₄,₄)  ∧  her i≠j için (¬Wᵢ ∨ ¬Wⱼ)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85800" y="3401568"/>
            <a:ext cx="10817352" cy="2194560"/>
          </a:xfrm>
          <a:prstGeom prst="roundRect">
            <a:avLst>
              <a:gd name="adj" fmla="val 500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557016"/>
            <a:ext cx="10396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“En az bir” ve “en fazla bir” koşulları birlikte gerekir.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96112" y="4023360"/>
            <a:ext cx="1039672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Birinci ifade en az bir Wumpus olmasını ister.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 iki farklı kare için ¬Wᵢ∨¬Wⱼ, ikisinde birden Wumpus olmasını yasaklar.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Aynı mantık “ajan her anda tek konumdadır” kısıtında da kullanılır.</a:t>
            </a:r>
            <a:endParaRPr lang="en-US" sz="15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7.7 · MANTIĞA DAYALI AJANLAR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Atemporal ile Fluent ayrımı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755648"/>
            <a:ext cx="5376672" cy="4005072"/>
          </a:xfrm>
          <a:prstGeom prst="roundRect">
            <a:avLst>
              <a:gd name="adj" fmla="val 274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911096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Atemporal — Kalıcı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50392" y="2377440"/>
            <a:ext cx="49560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P₃,₁: [3,1]’de çukur bulunuyor.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dünyada çukur konumu değişmez.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172200" y="1755648"/>
            <a:ext cx="5376672" cy="4005072"/>
          </a:xfrm>
          <a:prstGeom prst="roundRect">
            <a:avLst>
              <a:gd name="adj" fmla="val 274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1911096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Fluent — Zamanla değişir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82512" y="2377440"/>
            <a:ext cx="49560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L⁰₁,₁: t=0’da ajan [1,1]’de.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HaveArrow³: t=3’te oku var.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WumpusAliveᵗ: t’de canlı mı?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Durum sembolleri değişebiliyorsa zaman indisi gerekir.</a:t>
            </a:r>
            <a:endParaRPr lang="en-US" sz="15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7.7 · MANTIĞA DAYALI AJANLAR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Algı neden zaman indeksli tutulmalı?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728216"/>
            <a:ext cx="10817352" cy="1417320"/>
          </a:xfrm>
          <a:prstGeom prst="roundRect">
            <a:avLst>
              <a:gd name="adj" fmla="val 7742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965960"/>
            <a:ext cx="102412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¬Stench³  ve  Stench⁴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685800" y="3401568"/>
            <a:ext cx="10817352" cy="2194560"/>
          </a:xfrm>
          <a:prstGeom prst="roundRect">
            <a:avLst>
              <a:gd name="adj" fmla="val 500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557016"/>
            <a:ext cx="10396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Farklı zamanlardaki iki algı birbiriyle çelişmez.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96112" y="4023360"/>
            <a:ext cx="1039672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t=3’te koku yok. Ajan hareket ediyor.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t=4’te koku var.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Sadece Stench ve ¬Stench yazmak yanlış bir çelişki üretirdi.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Algı, konum ve eylemler zamanla ilişkilendirilmelidir.</a:t>
            </a:r>
            <a:endParaRPr lang="en-US" sz="15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7.7 · MANTIĞA DAYALI AJANLAR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Kare özelliğiyle zamanlı algıyı bağla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728216"/>
            <a:ext cx="10817352" cy="1417320"/>
          </a:xfrm>
          <a:prstGeom prst="roundRect">
            <a:avLst>
              <a:gd name="adj" fmla="val 7742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965960"/>
            <a:ext cx="102412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Lᵗₓ,ᵧ ⇒ (Breezeᵗ ⇔ Bₓ,ᵧ)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685800" y="3401568"/>
            <a:ext cx="10817352" cy="2194560"/>
          </a:xfrm>
          <a:prstGeom prst="roundRect">
            <a:avLst>
              <a:gd name="adj" fmla="val 500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557016"/>
            <a:ext cx="10396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Ajan o karedeyse esinti algısı karenin esinti durumuna eşittir.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96112" y="4023360"/>
            <a:ext cx="1039672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Örnek: L³₂,₁ ve Breeze³ doğru.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hâlde B₂,₁ doğru.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bilgi, ajan başka kareye geçse de kare özelliği olarak saklanır.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Benzer kural koku ve Sₓ,ᵧ için de vardır.</a:t>
            </a:r>
            <a:endParaRPr lang="en-US" sz="15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7.7 · MANTIĞA DAYALI AJANLAR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Denklem 7.1 — Eylemin etkisi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728216"/>
            <a:ext cx="10817352" cy="1417320"/>
          </a:xfrm>
          <a:prstGeom prst="roundRect">
            <a:avLst>
              <a:gd name="adj" fmla="val 7742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965960"/>
            <a:ext cx="102412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24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L⁰₁,₁ ∧ East⁰ ∧ Forward⁰ ⇒ (L¹₂,₁ ∧ ¬L¹₁,₁)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85800" y="3401568"/>
            <a:ext cx="10817352" cy="2194560"/>
          </a:xfrm>
          <a:prstGeom prst="roundRect">
            <a:avLst>
              <a:gd name="adj" fmla="val 500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557016"/>
            <a:ext cx="10396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“Başlangıçtan doğuya bir adım” hareketini mantıkla yazmak.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96112" y="4023360"/>
            <a:ext cx="1039672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 taraf: [1,1]’de, doğuya bakıyor, ileri gidiyor.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Sağ taraf: [2,1]’de, artık [1,1]’de değil.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tür ifadeye effect axiom denir.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Bir eylemin neyi değiştirdiği söylendi; henüz neyi değiştirmediği belirtilmedi.</a:t>
            </a:r>
            <a:endParaRPr lang="en-US" sz="15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7.7 · MANTIĞA DAYALI AJANLAR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 problem: Değişmeyenler?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755648"/>
            <a:ext cx="5376672" cy="4005072"/>
          </a:xfrm>
          <a:prstGeom prst="roundRect">
            <a:avLst>
              <a:gd name="adj" fmla="val 274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911096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Sorun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50392" y="2377440"/>
            <a:ext cx="49560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Forward → konum değişti.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Peki ok hâlâ var mı?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Wumpus hâlâ canlı mı?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Kurallar belirtmiyorsa cevap ispatlanamaz.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172200" y="1755648"/>
            <a:ext cx="5376672" cy="4005072"/>
          </a:xfrm>
          <a:prstGeom prst="roundRect">
            <a:avLst>
              <a:gd name="adj" fmla="val 274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1911096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Naif çözüm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82512" y="2377440"/>
            <a:ext cx="49560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 eylem için bütün değişmeyen fluent’leri tek tek yaz.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Fakat m eylem, n fluent → O(mn) aksiyom.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Dünyada eylemler çoğu zaman az sayıda şeyi değiştirir: locality.</a:t>
            </a:r>
            <a:endParaRPr lang="en-US" sz="15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7.7 · MANTIĞA DAYALI AJANLAR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Successor-State Axiom — Ana fikir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728216"/>
            <a:ext cx="10817352" cy="1417320"/>
          </a:xfrm>
          <a:prstGeom prst="roundRect">
            <a:avLst>
              <a:gd name="adj" fmla="val 7742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965960"/>
            <a:ext cx="102412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2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Fᵗ⁺¹ ⇔ CausesFᵗ ∨ (Fᵗ ∧ ¬CausesNotFᵗ)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685800" y="3401568"/>
            <a:ext cx="10817352" cy="2194560"/>
          </a:xfrm>
          <a:prstGeom prst="roundRect">
            <a:avLst>
              <a:gd name="adj" fmla="val 500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557016"/>
            <a:ext cx="10396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Sonraki anda F doğruysa ya yeni doğru oldu ya da doğru kalmaya devam etti.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96112" y="4023360"/>
            <a:ext cx="1039672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Örnek: Lamba açık kalırsa sonraki anda da açıktır.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Bir eylem lambayı açmış olabilir; ya da zaten açıktı ve kimse kapatmadı.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Fluent başına değişim kuralı yazmak frame sorununu hafifletir.</a:t>
            </a:r>
            <a:endParaRPr lang="en-US" sz="15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7.7 · MANTIĞA DAYALI AJANLAR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Denklem 7.2 — Okun korunması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728216"/>
            <a:ext cx="10817352" cy="1417320"/>
          </a:xfrm>
          <a:prstGeom prst="roundRect">
            <a:avLst>
              <a:gd name="adj" fmla="val 7742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965960"/>
            <a:ext cx="102412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HaveArrowᵗ⁺¹ ⇔ HaveArrowᵗ ∧ ¬Shootᵗ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685800" y="3401568"/>
            <a:ext cx="10817352" cy="2194560"/>
          </a:xfrm>
          <a:prstGeom prst="roundRect">
            <a:avLst>
              <a:gd name="adj" fmla="val 500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557016"/>
            <a:ext cx="10396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Yeniden ok yükleme eylemi bulunmadığından basit bir kuraldır.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96112" y="4023360"/>
            <a:ext cx="1039672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t=0: ok var, ateş edilmedi → t=1: ok var.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t=1: ok var, ateş edildi → t=2: ok yok.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Ajan sonraki eylemlerini buna göre seçer.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Durum geçmişi yalnızca konumdan ibaret değildir.</a:t>
            </a:r>
            <a:endParaRPr lang="en-US" sz="15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7.7 · MANTIĞA DAYALI AJANLAR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Denklem 7.3 — [1,1] konumuna nasıl gelinir?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04088" y="170078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3736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353312" y="169164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Ajan zaten [1,1]’deydi; ileri gitmedi veya duvara çarptı.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04088" y="275234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78892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353312" y="274320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Ajan [1,2]’deydi, güneye bakarak ileri gitti.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04088" y="380390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84048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353312" y="379476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Ajan [2,1]’deydi, batıya bakarak ileri gitti.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704088" y="485546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89204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353312" y="484632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Üç alternatif VEYA ile birleşir: herhangi biri yeterlidir.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Konum için successor-state kuralı birden fazla “önceki durum + eylem” içerir.</a:t>
            </a:r>
            <a:endParaRPr lang="en-US" sz="15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7.7 · MANTIĞA DAYALI AJANLAR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Güvenli kare aksiyomu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728216"/>
            <a:ext cx="10817352" cy="1417320"/>
          </a:xfrm>
          <a:prstGeom prst="roundRect">
            <a:avLst>
              <a:gd name="adj" fmla="val 7742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965960"/>
            <a:ext cx="102412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24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OKᵗₓ,ᵧ ⇔ ¬Pₓ,ᵧ ∧ ¬(Wₓ,ᵧ ∧ WumpusAliveᵗ)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85800" y="3401568"/>
            <a:ext cx="10817352" cy="2194560"/>
          </a:xfrm>
          <a:prstGeom prst="roundRect">
            <a:avLst>
              <a:gd name="adj" fmla="val 500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557016"/>
            <a:ext cx="10396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Çukur yoksa ve canlı Wumpus yoksa kare güvenlidir.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96112" y="4023360"/>
            <a:ext cx="1039672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Ölü Wumpus’un bulunduğu kare, çukur yoksa güvenli olabilir.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KB’den ASK(KB, OK⁶₂,₂)=True çıktığında [2,2]’ye gidilebilir.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“Güvenli” bir mantıksal sonuçtur; duyusal bir etiket değildir.</a:t>
            </a:r>
            <a:endParaRPr lang="en-US" sz="15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7.7 · MANTIĞA DAYALI AJANLAR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Qualification problem — Eylem istisnaları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755648"/>
            <a:ext cx="5376672" cy="4005072"/>
          </a:xfrm>
          <a:prstGeom prst="roundRect">
            <a:avLst>
              <a:gd name="adj" fmla="val 274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911096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İstenen etki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50392" y="2377440"/>
            <a:ext cx="49560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“Forward” komutu ajanı ileri götürür.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 bunun için birçok koşul gerekir.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172200" y="1755648"/>
            <a:ext cx="5376672" cy="4005072"/>
          </a:xfrm>
          <a:prstGeom prst="roundRect">
            <a:avLst>
              <a:gd name="adj" fmla="val 274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1911096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Gerçek yaşam istisnaları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82512" y="2377440"/>
            <a:ext cx="49560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Duvar, arıza, kaygan zemin, enerji yokluğu…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Bütün istisnaları tek tek modellemek zor olabilir.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modelleme sınırına qualification problem denir.</a:t>
            </a:r>
            <a:endParaRPr lang="en-US" sz="15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7.7 · MANTIĞA DAYALI AJANLAR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Hibrit Wumpus ajanı: Karar öncelikleri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04088" y="170078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3736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353312" y="169164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Glitter algılandıysa: Grab → güvenli dönüş → Climb.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04088" y="275234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78892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353312" y="274320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Altın yoksa: en yakın ziyaret edilmemiş güvenli kareye rota.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04088" y="380390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84048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353312" y="379476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Güvenli keşif yoksa ve ok varsa: olası Wumpus’a uygun atış planı.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704088" y="485546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89204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353312" y="484632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 çare: Kesin tehlikeli olduğu kanıtlanmamış kare; yoksa dönüş.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Mantık “hangi kare güvenli?” der; A* “nasıl giderim?” sorusunu çözer.</a:t>
            </a:r>
            <a:endParaRPr lang="en-US" sz="15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7.7 · MANTIĞA DAYALI AJANLAR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7.20 — HYBRID-WUMPUS-AGENT özeti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6656" y="1627632"/>
            <a:ext cx="10835640" cy="4005072"/>
          </a:xfrm>
          <a:prstGeom prst="roundRect">
            <a:avLst>
              <a:gd name="adj" fmla="val 2740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892808"/>
            <a:ext cx="10186416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HYBRID-WUMPUS-AGENT(percept):</a:t>
            </a:r>
            <a:endParaRPr lang="en-US" sz="17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7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TELL(KB, algı ve zamanlı kurallar)</a:t>
            </a:r>
            <a:endParaRPr lang="en-US" sz="17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7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safe ← ASK ile güvenli olduğu kanıtlanan kareler</a:t>
            </a:r>
            <a:endParaRPr lang="en-US" sz="17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7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if Glitter: Grab + eve rota + Climb</a:t>
            </a:r>
            <a:endParaRPr lang="en-US" sz="17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7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else if plan boş: en yakın güvenli/ziyaretsiz kare</a:t>
            </a:r>
            <a:endParaRPr lang="en-US" sz="17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7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else if ok varsa: PLAN-SHOT</a:t>
            </a:r>
            <a:endParaRPr lang="en-US" sz="17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7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else: henüz tehlikeli olduğu ispatlanmayan kare</a:t>
            </a:r>
            <a:endParaRPr lang="en-US" sz="17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7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rota yoksa: eve dön + Climb</a:t>
            </a:r>
            <a:endParaRPr lang="en-US" sz="17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7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sonraki action'ı seç, KB'ye kaydet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PLAN-ROUTE alt yordamı A* arama kullanır; ASK mantıksal çıkarımdır.</a:t>
            </a:r>
            <a:endParaRPr lang="en-US" sz="15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7.7 · MANTIĞA DAYALI AJANLAR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Bilinmeyen ≠ Güvenli ≠ Tehlikeli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94944" y="1755648"/>
            <a:ext cx="4297680" cy="502920"/>
          </a:xfrm>
          <a:prstGeom prst="rect">
            <a:avLst>
              <a:gd name="adj" fmla="val 21818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181965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KB’de ispatlanan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03597" y="1755648"/>
            <a:ext cx="6373368" cy="502920"/>
          </a:xfrm>
          <a:prstGeom prst="rect">
            <a:avLst>
              <a:gd name="adj" fmla="val 21818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95037" y="1819656"/>
            <a:ext cx="6190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Yorum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94944" y="2322576"/>
            <a:ext cx="4297680" cy="722376"/>
          </a:xfrm>
          <a:prstGeom prst="rect">
            <a:avLst>
              <a:gd name="adj" fmla="val 1519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2377440"/>
            <a:ext cx="41148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KB ⊨ OKᵗₓ,ᵧ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003597" y="2322576"/>
            <a:ext cx="6373368" cy="722376"/>
          </a:xfrm>
          <a:prstGeom prst="rect">
            <a:avLst>
              <a:gd name="adj" fmla="val 1519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5037" y="2377440"/>
            <a:ext cx="61904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Kare kesin güvenli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94944" y="3063240"/>
            <a:ext cx="4297680" cy="722376"/>
          </a:xfrm>
          <a:prstGeom prst="rect">
            <a:avLst>
              <a:gd name="adj" fmla="val 15190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" y="3118104"/>
            <a:ext cx="41148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KB ⊨ ¬OKᵗₓ,ᵧ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003597" y="3063240"/>
            <a:ext cx="6373368" cy="722376"/>
          </a:xfrm>
          <a:prstGeom prst="rect">
            <a:avLst>
              <a:gd name="adj" fmla="val 15190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95037" y="3118104"/>
            <a:ext cx="61904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Kare kesin tehlikeli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94944" y="3803904"/>
            <a:ext cx="4297680" cy="722376"/>
          </a:xfrm>
          <a:prstGeom prst="rect">
            <a:avLst>
              <a:gd name="adj" fmla="val 1519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" y="3858768"/>
            <a:ext cx="41148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İkisi de ispatlanamıyor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003597" y="3803904"/>
            <a:ext cx="6373368" cy="722376"/>
          </a:xfrm>
          <a:prstGeom prst="rect">
            <a:avLst>
              <a:gd name="adj" fmla="val 1519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95037" y="3858768"/>
            <a:ext cx="61904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Kare hakkında yeterli bilgi yok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ASK’in “ispat yok” cevabı, karşıt ifadenin doğru olduğu anlamına gelmez.</a:t>
            </a:r>
            <a:endParaRPr lang="en-US" sz="15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7.7 · MANTIĞA DAYALI AJANLAR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Durum tahmini — State Estimation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755648"/>
            <a:ext cx="5376672" cy="4005072"/>
          </a:xfrm>
          <a:prstGeom prst="roundRect">
            <a:avLst>
              <a:gd name="adj" fmla="val 274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911096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İhtiyaç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50392" y="2377440"/>
            <a:ext cx="49560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 ASK sorgusunda bütün algı geçmişini yeniden işlemek zamanla pahalılaşır.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Önceki çıkarımları cache’lemek isteriz.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172200" y="1755648"/>
            <a:ext cx="5376672" cy="4005072"/>
          </a:xfrm>
          <a:prstGeom prst="roundRect">
            <a:avLst>
              <a:gd name="adj" fmla="val 274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1911096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Belief State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82512" y="2377440"/>
            <a:ext cx="49560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Geçerli algılarla uyumlu olan olası mevcut dünya durumları kümesidir.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Yeni algılar geldikçe güncellenir.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Amaç: Geçmiş büyüse de güncelleme maliyetini kontrol etmek.</a:t>
            </a:r>
            <a:endParaRPr lang="en-US" sz="15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7.7 · MANTIĞA DAYALI AJANLAR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Denklem 7.4 — Belief state örneği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728216"/>
            <a:ext cx="10817352" cy="1417320"/>
          </a:xfrm>
          <a:prstGeom prst="roundRect">
            <a:avLst>
              <a:gd name="adj" fmla="val 7742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965960"/>
            <a:ext cx="102412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23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Alive¹ ∧ L¹₂,₁ ∧ B₂,₁ ∧ (P₃,₁ ∨ P₂,₂)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685800" y="3401568"/>
            <a:ext cx="10817352" cy="2194560"/>
          </a:xfrm>
          <a:prstGeom prst="roundRect">
            <a:avLst>
              <a:gd name="adj" fmla="val 500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557016"/>
            <a:ext cx="10396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Tek bir dünya değil, birden çok dünya temsil edilebilir.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96112" y="4023360"/>
            <a:ext cx="1039672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Wumpus canlı; ajan [2,1]’de; bu kare esintili.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[3,1] veya [2,2] en az birinde çukur var.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Hangisinde olduğu henüz kesin değil.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Belirsizlik, mantıksal VEYA şeklinde saklanabilir.</a:t>
            </a:r>
            <a:endParaRPr lang="en-US" sz="15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7.7 · MANTIĞA DAYALI AJANLAR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Belief state sayısı neden devasa?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728216"/>
            <a:ext cx="10817352" cy="1417320"/>
          </a:xfrm>
          <a:prstGeom prst="roundRect">
            <a:avLst>
              <a:gd name="adj" fmla="val 7742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965960"/>
            <a:ext cx="102412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2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fluent → 2ⁿ fiziksel durum → 2^(2ⁿ) belief state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685800" y="3401568"/>
            <a:ext cx="10817352" cy="2194560"/>
          </a:xfrm>
          <a:prstGeom prst="roundRect">
            <a:avLst>
              <a:gd name="adj" fmla="val 500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557016"/>
            <a:ext cx="10396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Belief state, olası fiziksel durumların herhangi bir alt kümesidir.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96112" y="4023360"/>
            <a:ext cx="1039672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n=3: 2³=8 fiziksel durum → 2⁸=256 belief state.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n=5: 2⁵=32 fiziksel durum → 2³²≈4,29 milyar belief state.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Tam durum tahmini pahalı olabilir.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1-CNF gibi korumacı yaklaşımlar hafızayı ve hesabı azaltır.</a:t>
            </a:r>
            <a:endParaRPr lang="en-US" sz="15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KAYNAK ŞEKİL 7.21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7.21 — Exact ve yaklaşık belief state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6656" y="1609344"/>
            <a:ext cx="10835640" cy="4626864"/>
          </a:xfrm>
          <a:prstGeom prst="roundRect">
            <a:avLst>
              <a:gd name="adj" fmla="val 237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0" descr="/mnt/data/image(20261013-111310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73352"/>
            <a:ext cx="10607040" cy="44988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8096" y="6263640"/>
            <a:ext cx="10844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7.21 · Gri bölge tam; kalın sınır korumacı 1-CNF</a:t>
            </a:r>
            <a:endParaRPr lang="en-US" sz="11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ŞEKİL AÇIKLAMASI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7.21 — Korumacı yaklaşım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1664208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 daire bir olası dünyayı temsil ediyor.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04088" y="2395728"/>
            <a:ext cx="118872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304288"/>
            <a:ext cx="1037844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Kesikli sınır içindeki gri daireler, algılarla tam uyumlu dünyalar.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04088" y="3239262"/>
            <a:ext cx="118872" cy="118872"/>
          </a:xfrm>
          <a:prstGeom prst="rect">
            <a:avLst>
              <a:gd name="adj" fmla="val 92308"/>
            </a:avLst>
          </a:prstGeom>
          <a:solidFill>
            <a:srgbClr val="75D1E8"/>
          </a:solidFill>
          <a:ln w="12700">
            <a:solidFill>
              <a:srgbClr val="75D1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147822"/>
            <a:ext cx="1037844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Kalın sınır, 1-CNF ile temsil edilen daha basit bir dış zarf.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04088" y="4082796"/>
            <a:ext cx="118872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991356"/>
            <a:ext cx="1037844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Yaklaşık küme bütün gerçek olası durumları içerir; ek durumlar da içerebilir.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04088" y="4926330"/>
            <a:ext cx="118872" cy="118872"/>
          </a:xfrm>
          <a:prstGeom prst="rect">
            <a:avLst>
              <a:gd name="adj" fmla="val 92308"/>
            </a:avLst>
          </a:prstGeom>
          <a:solidFill>
            <a:srgbClr val="75D1E8"/>
          </a:solidFill>
          <a:ln w="12700">
            <a:solidFill>
              <a:srgbClr val="75D1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834890"/>
            <a:ext cx="1037844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P₃,₁∨P₂,₂ gibi birleşik bilgi, 1-CNF’ye indirgenince kaybolabilir.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B_exact ⊆ B_approx: Korumacı temsil kesin olasılıkları dışlamaz.</a:t>
            </a:r>
            <a:endParaRPr lang="en-US" sz="15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7.7 · MANTIĞA DAYALI AJANLAR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SATPLAN: Mantık kullanarak plan oluşturma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04088" y="1810512"/>
            <a:ext cx="118872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719072"/>
            <a:ext cx="10378440" cy="8983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Başlangıç bilgilerini Init⁰ ile mantık cümlesi yap.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04088" y="2800350"/>
            <a:ext cx="118872" cy="118872"/>
          </a:xfrm>
          <a:prstGeom prst="rect">
            <a:avLst>
              <a:gd name="adj" fmla="val 92308"/>
            </a:avLst>
          </a:prstGeom>
          <a:solidFill>
            <a:srgbClr val="75D1E8"/>
          </a:solidFill>
          <a:ln w="12700">
            <a:solidFill>
              <a:srgbClr val="75D1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708910"/>
            <a:ext cx="10378440" cy="8983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 zaman adımının geçiş kurallarını ekle.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04088" y="3790188"/>
            <a:ext cx="118872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698748"/>
            <a:ext cx="10378440" cy="8983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Hedefi belirli t anında doğru olmaya zorla (altın + çıkış).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04088" y="4780026"/>
            <a:ext cx="118872" cy="118872"/>
          </a:xfrm>
          <a:prstGeom prst="rect">
            <a:avLst>
              <a:gd name="adj" fmla="val 92308"/>
            </a:avLst>
          </a:prstGeom>
          <a:solidFill>
            <a:srgbClr val="75D1E8"/>
          </a:solidFill>
          <a:ln w="12700">
            <a:solidFill>
              <a:srgbClr val="75D1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688586"/>
            <a:ext cx="10378440" cy="8983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 çözücüye ver; model varsa True atanan eylemleri sıraya koy.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 = 0, 1, 2, ... sırayla denenirse ilk bulunan yasal plan en kısa plan olur.</a:t>
            </a:r>
            <a:endParaRPr lang="en-US" sz="15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7.7 · MANTIĞA DAYALI AJANLAR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7.22 — SATPLAN algoritması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6656" y="1627632"/>
            <a:ext cx="10835640" cy="4005072"/>
          </a:xfrm>
          <a:prstGeom prst="roundRect">
            <a:avLst>
              <a:gd name="adj" fmla="val 2740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892808"/>
            <a:ext cx="10186416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0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SATPLAN(init, transition, goal, Tmax):</a:t>
            </a:r>
            <a:endParaRPr lang="en-US" sz="2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20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for t = 0 .. Tmax:</a:t>
            </a:r>
            <a:endParaRPr lang="en-US" sz="2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20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cnf ← TRANSLATE-TO-SAT(</a:t>
            </a:r>
            <a:endParaRPr lang="en-US" sz="2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20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      init, transition, goal, t)</a:t>
            </a:r>
            <a:endParaRPr lang="en-US" sz="2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20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model ← SAT-SOLVER(cnf)</a:t>
            </a:r>
            <a:endParaRPr lang="en-US" sz="2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20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if model varsa:</a:t>
            </a:r>
            <a:endParaRPr lang="en-US" sz="2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20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return EXTRACT-SOLUTION(model)</a:t>
            </a:r>
            <a:endParaRPr lang="en-US" sz="2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20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return failure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 arttırılarak en kısa adımlı plan aranır; eksiksiz aksiyomlar gerekir.</a:t>
            </a:r>
            <a:endParaRPr lang="en-US" sz="15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7.7 · MANTIĞA DAYALI AJANLAR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SATPLAN’in yanlış planı: “Shoot ile git!”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755648"/>
            <a:ext cx="5376672" cy="4005072"/>
          </a:xfrm>
          <a:prstGeom prst="roundRect">
            <a:avLst>
              <a:gd name="adj" fmla="val 274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911096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Neden hata oluyor?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50392" y="2377440"/>
            <a:ext cx="49560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Başlangıçta L⁰₁,₁=True denmiş.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 L⁰₂,₁=False denmemiş.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 modeli ajanın iki yerde birden olmasına izin verebilir.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172200" y="1755648"/>
            <a:ext cx="5376672" cy="4005072"/>
          </a:xfrm>
          <a:prstGeom prst="roundRect">
            <a:avLst>
              <a:gd name="adj" fmla="val 274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1911096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Nasıl düzeltilir?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82512" y="2377440"/>
            <a:ext cx="49560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 t’de ajan TAM OLARAK bir konumdadır.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Başlangıç diğer kareleri False yap.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Tek yön kısıtlarını da ekle.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SAT’te bilinmeyen sembol uygun doğruluk değerine atanabilir.</a:t>
            </a:r>
            <a:endParaRPr lang="en-US" sz="15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7.7 · MANTIĞA DAYALI AJANLAR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SATPLAN’de iki ek güvenlik kuralı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755648"/>
            <a:ext cx="5376672" cy="4005072"/>
          </a:xfrm>
          <a:prstGeom prst="roundRect">
            <a:avLst>
              <a:gd name="adj" fmla="val 274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911096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Precondition Axiom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50392" y="2377440"/>
            <a:ext cx="49560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Shootᵗ ⇒ HaveArrowᵗ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 yoksa Shoot eylemi planlanamaz.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Eylemin yapılabilmesi için önkoşul gerekir.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172200" y="1755648"/>
            <a:ext cx="5376672" cy="4005072"/>
          </a:xfrm>
          <a:prstGeom prst="roundRect">
            <a:avLst>
              <a:gd name="adj" fmla="val 274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1911096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Exclusion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82512" y="2377440"/>
            <a:ext cx="49560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¬Forwardᵗ ∨ ¬Shootᵗ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Aynı anda izin verilmeyen iki eylem birlikte seçilemez.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Alternatif: Yalnız çatışanları yasakla.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Doğru geçiş modeli kadar yasal eylem kısıtları da gereklidir.</a:t>
            </a:r>
            <a:endParaRPr lang="en-US" sz="15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7.7 · MANTIĞA DAYALI AJANLAR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SATPLAN: Plan geçerli olsun diye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04088" y="170078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3736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353312" y="1691640"/>
            <a:ext cx="10012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Başlangıç: Ajan nerede, neye sahip, hangi yöne bakıyor?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04088" y="2542032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578608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353312" y="2532888"/>
            <a:ext cx="10012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Successor-state: Her eylemden sonra durum nasıl değişiyor?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04088" y="3383280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419856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353312" y="3374136"/>
            <a:ext cx="10012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Preconditions: Seçilen eylem gerçekten uygulanabilir mi?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704088" y="4224528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261104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353312" y="4215384"/>
            <a:ext cx="10012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Exclusion: Bir zaman adımında hangi eylemler birlikte yasak?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704088" y="5065776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102352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353312" y="5056632"/>
            <a:ext cx="10012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Altın alındı mı ve mağaradan çıkıldı mı?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Kitabın örnek Wumpus haritası için 11 adımlı SATPLAN çözümü verilir.</a:t>
            </a:r>
            <a:endParaRPr lang="en-US" sz="15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7.7 · MANTIĞA DAYALI AJANLAR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Önermeler mantığı neden yetmeyebilir?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755648"/>
            <a:ext cx="5376672" cy="4005072"/>
          </a:xfrm>
          <a:prstGeom prst="roundRect">
            <a:avLst>
              <a:gd name="adj" fmla="val 274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911096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Sorun: Kuralı tekrar tekrar yazmak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50392" y="2377440"/>
            <a:ext cx="49560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“Her kare için”, “her zaman için” ifadelerini örnekleyerek çok sayıda cümle üretiriz.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100×100 dünya, uzun zaman ufku → devasa KB.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172200" y="1755648"/>
            <a:ext cx="5376672" cy="4005072"/>
          </a:xfrm>
          <a:prstGeom prst="roundRect">
            <a:avLst>
              <a:gd name="adj" fmla="val 274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1911096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Sonraki adım: First-Order Logic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82512" y="2377440"/>
            <a:ext cx="49560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“Bütün x,y kareleri için ...” gibi genel kuralları doğrudan yazar.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 sayıda genel ifadeyle geniş dünyayı anlatır.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 ünitenin konusu: Birinci dereceden mantık.</a:t>
            </a:r>
            <a:endParaRPr lang="en-US" sz="15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" cy="6858000"/>
          </a:xfrm>
          <a:prstGeom prst="rect">
            <a:avLst>
              <a:gd name="adj" fmla="val 6315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243584"/>
            <a:ext cx="1783080" cy="1783080"/>
          </a:xfrm>
          <a:prstGeom prst="roundRect">
            <a:avLst>
              <a:gd name="adj" fmla="val 6154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91056"/>
            <a:ext cx="1600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0A14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TEKRAR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2916936" y="1609344"/>
            <a:ext cx="8549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7 — Genel Tekrar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953512" y="2926080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4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Sembollerden güvenli eyleme: Baştan sona tek bir düşünme zinciri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41248" y="6300216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ÜNİTE 7  /  MANTIKSAL AJANLAR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055096" y="6446520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129</a:t>
            </a:r>
            <a:endParaRPr lang="en-US" sz="10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TEKRAR · ÜNITE 7 — GENEL TEKRAR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Bütün ünitenin mantığı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04088" y="170078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3736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353312" y="1691640"/>
            <a:ext cx="10012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Percept → duyusal bilgi al.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04088" y="2542032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578608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353312" y="2532888"/>
            <a:ext cx="10012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TELL → zamanlı cümleyi bilgi tabanına ekle.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04088" y="3383280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419856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353312" y="3374136"/>
            <a:ext cx="10012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Inference → mantıksal çıkarımla durum ve güvenlik belirle.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704088" y="4224528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261104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353312" y="4215384"/>
            <a:ext cx="10012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 → hedefe uygun eylem sırası üret.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704088" y="5065776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102352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353312" y="5056632"/>
            <a:ext cx="10012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→ hareket et; eylemi KB’ye kaydet ve tekrar et.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Bilgi → çıkarım → plan → eylem döngüsü mantıksal ajanın özüdür.</a:t>
            </a:r>
            <a:endParaRPr lang="en-US" sz="15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TEKRAR · ÜNITE 7 — GENEL TEKRAR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Karıştırılmaması gereken kavramlar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94944" y="1755648"/>
            <a:ext cx="2240280" cy="502920"/>
          </a:xfrm>
          <a:prstGeom prst="rect">
            <a:avLst>
              <a:gd name="adj" fmla="val 21818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181965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946197" y="1755648"/>
            <a:ext cx="2212848" cy="502920"/>
          </a:xfrm>
          <a:prstGeom prst="rect">
            <a:avLst>
              <a:gd name="adj" fmla="val 21818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37637" y="1819656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170018" y="1755648"/>
            <a:ext cx="6181344" cy="502920"/>
          </a:xfrm>
          <a:prstGeom prst="rect">
            <a:avLst>
              <a:gd name="adj" fmla="val 21818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61458" y="1819656"/>
            <a:ext cx="5998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Temel fark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94944" y="2322576"/>
            <a:ext cx="2240280" cy="566928"/>
          </a:xfrm>
          <a:prstGeom prst="rect">
            <a:avLst>
              <a:gd name="adj" fmla="val 19355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23774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Syntax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946197" y="2322576"/>
            <a:ext cx="2212848" cy="566928"/>
          </a:xfrm>
          <a:prstGeom prst="rect">
            <a:avLst>
              <a:gd name="adj" fmla="val 19355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37637" y="237744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170018" y="2322576"/>
            <a:ext cx="6181344" cy="566928"/>
          </a:xfrm>
          <a:prstGeom prst="rect">
            <a:avLst>
              <a:gd name="adj" fmla="val 19355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61458" y="2377440"/>
            <a:ext cx="5998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Biçim / anlam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94944" y="2907792"/>
            <a:ext cx="2240280" cy="566928"/>
          </a:xfrm>
          <a:prstGeom prst="rect">
            <a:avLst>
              <a:gd name="adj" fmla="val 19355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" y="2962656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Entailment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2946197" y="2907792"/>
            <a:ext cx="2212848" cy="566928"/>
          </a:xfrm>
          <a:prstGeom prst="rect">
            <a:avLst>
              <a:gd name="adj" fmla="val 19355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37637" y="2962656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Inference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170018" y="2907792"/>
            <a:ext cx="6181344" cy="566928"/>
          </a:xfrm>
          <a:prstGeom prst="rect">
            <a:avLst>
              <a:gd name="adj" fmla="val 19355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61458" y="2962656"/>
            <a:ext cx="5998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Mantıksal ilişki / algoritmik türetme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94944" y="3493008"/>
            <a:ext cx="2240280" cy="566928"/>
          </a:xfrm>
          <a:prstGeom prst="rect">
            <a:avLst>
              <a:gd name="adj" fmla="val 19355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" y="354787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Soundness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2946197" y="3493008"/>
            <a:ext cx="2212848" cy="566928"/>
          </a:xfrm>
          <a:prstGeom prst="rect">
            <a:avLst>
              <a:gd name="adj" fmla="val 19355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37637" y="3547872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Completeness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170018" y="3493008"/>
            <a:ext cx="6181344" cy="566928"/>
          </a:xfrm>
          <a:prstGeom prst="rect">
            <a:avLst>
              <a:gd name="adj" fmla="val 19355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61458" y="3547872"/>
            <a:ext cx="5998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Yanlış sonuç üretmemek / sonuç kaçırmamak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94944" y="4078224"/>
            <a:ext cx="2240280" cy="566928"/>
          </a:xfrm>
          <a:prstGeom prst="rect">
            <a:avLst>
              <a:gd name="adj" fmla="val 19355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6384" y="413308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2946197" y="4078224"/>
            <a:ext cx="2212848" cy="566928"/>
          </a:xfrm>
          <a:prstGeom prst="rect">
            <a:avLst>
              <a:gd name="adj" fmla="val 19355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37637" y="4133088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5170018" y="4078224"/>
            <a:ext cx="6181344" cy="566928"/>
          </a:xfrm>
          <a:prstGeom prst="rect">
            <a:avLst>
              <a:gd name="adj" fmla="val 19355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61458" y="4133088"/>
            <a:ext cx="5998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az 1 model / bütün modeller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694944" y="4663440"/>
            <a:ext cx="2240280" cy="566928"/>
          </a:xfrm>
          <a:prstGeom prst="rect">
            <a:avLst>
              <a:gd name="adj" fmla="val 19355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6384" y="4718304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DPLL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2946197" y="4663440"/>
            <a:ext cx="2212848" cy="566928"/>
          </a:xfrm>
          <a:prstGeom prst="rect">
            <a:avLst>
              <a:gd name="adj" fmla="val 19355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37637" y="4718304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WalkSAT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5170018" y="4663440"/>
            <a:ext cx="6181344" cy="566928"/>
          </a:xfrm>
          <a:prstGeom prst="rect">
            <a:avLst>
              <a:gd name="adj" fmla="val 19355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61458" y="4718304"/>
            <a:ext cx="5998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Tam sistematik / yerel rastgele arama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694944" y="5248656"/>
            <a:ext cx="2240280" cy="566928"/>
          </a:xfrm>
          <a:prstGeom prst="rect">
            <a:avLst>
              <a:gd name="adj" fmla="val 19355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86384" y="53035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Forward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2946197" y="5248656"/>
            <a:ext cx="2212848" cy="566928"/>
          </a:xfrm>
          <a:prstGeom prst="rect">
            <a:avLst>
              <a:gd name="adj" fmla="val 19355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37637" y="530352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Backward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5170018" y="5248656"/>
            <a:ext cx="6181344" cy="566928"/>
          </a:xfrm>
          <a:prstGeom prst="rect">
            <a:avLst>
              <a:gd name="adj" fmla="val 19355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61458" y="5303520"/>
            <a:ext cx="5998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Veriden hedefe / hedeften öncüle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altı ayrımı öğrenmek konunun büyük bölümünü anlamayı sağlar.</a:t>
            </a:r>
            <a:endParaRPr lang="en-US" sz="15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TEKRAR · ÜNITE 7 — GENEL TEKRAR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Soru 1 — Wumpus çıkarımı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728216"/>
            <a:ext cx="10817352" cy="1417320"/>
          </a:xfrm>
          <a:prstGeom prst="roundRect">
            <a:avLst>
              <a:gd name="adj" fmla="val 7742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965960"/>
            <a:ext cx="102412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P₂,₂ ∨ P₃,₁    ve    ¬P₂,₂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685800" y="3401568"/>
            <a:ext cx="10817352" cy="2194560"/>
          </a:xfrm>
          <a:prstGeom prst="roundRect">
            <a:avLst>
              <a:gd name="adj" fmla="val 500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557016"/>
            <a:ext cx="10396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Hangi sonuç kesindir?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96112" y="4023360"/>
            <a:ext cx="1039672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Adım 1: En az birinde çukur var.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Adım 2: [2,2] seçeneği elendi.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Adım 3: P₃,₁ zorunlu.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Cevap: [3,1] karesinde çukur vardır.</a:t>
            </a:r>
            <a:endParaRPr lang="en-US" sz="15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TEKRAR · ÜNITE 7 — GENEL TEKRAR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Soru 2 — CNF’ye çevir: ¬(P ⇒ Q)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04088" y="170078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3736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353312" y="169164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⇒ Q yerine ¬P ∨ Q yaz.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04088" y="275234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78892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353312" y="274320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Dıştaki olumsuzluğu koru: ¬(¬P ∨ Q).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04088" y="380390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84048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353312" y="379476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Morgan: ¬¬P ∧ ¬Q.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704088" y="485546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89204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353312" y="484632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Çift olumsuzluğu kaldır: P ∧ ¬Q.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aynı zamanda P⇒Q’nun ne zaman yanlış olduğunu da gösterir.</a:t>
            </a:r>
            <a:endParaRPr lang="en-US" sz="15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TEKRAR · ÜNITE 7 — GENEL TEKRAR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Soru 3 — Horn çıkarımı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04088" y="170078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3736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353312" y="169164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Bilgiler: A, B; kurallar A∧B⇒L ve L⇒Q.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04088" y="275234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78892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353312" y="274320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A∧B doğrudur → L elde edilir.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04088" y="380390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84048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353312" y="379476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 doğru → Q elde edilir.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704088" y="485546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89204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353312" y="484632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Hedef Q, forward chaining ile ispatlandı.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Backward chaining de Q’dan başlayıp L, ardından A ve B’ye ulaşır.</a:t>
            </a:r>
            <a:endParaRPr lang="en-US" sz="15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TEKRAR · ÜNITE 7 — GENEL TEKRAR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Soru 4 — DPLL mi WalkSAT mi?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04088" y="170078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3736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353312" y="169164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“Her durumda UNSAT/SAT kararı istiyorum.” → DPLL.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04088" y="275234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78892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353312" y="274320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“Çok büyük problemde hızlı doyurucu model arıyorum.” → WalkSAT.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04088" y="380390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84048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353312" y="379476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WalkSAT bir model bulursa sonucun SAT olduğu kesindir.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704088" y="4855464"/>
            <a:ext cx="448056" cy="448056"/>
          </a:xfrm>
          <a:prstGeom prst="roundRect">
            <a:avLst>
              <a:gd name="adj" fmla="val 24490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892040"/>
            <a:ext cx="283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1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353312" y="4846320"/>
            <a:ext cx="10012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WalkSAT süre sonunda bulamazsa “UNSAT” diyemez.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DPLL mantıksal ispat için; WalkSAT pratik model arama için kullanışlıdır.</a:t>
            </a:r>
            <a:endParaRPr lang="en-US" sz="15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20" kern="0" dirty="0">
                <a:solidFill>
                  <a:srgbClr val="75D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TEKRAR · ÜNITE 7 — GENEL TEKRAR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Kapanış: Sonraki üniteye köprü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8288"/>
          </a:xfrm>
          <a:prstGeom prst="rect">
            <a:avLst>
              <a:gd name="adj" fmla="val 600000"/>
            </a:avLst>
          </a:prstGeom>
          <a:solidFill>
            <a:srgbClr val="3B526B"/>
          </a:solidFill>
          <a:ln w="12700">
            <a:solidFill>
              <a:srgbClr val="3B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C0CB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04088" y="1810512"/>
            <a:ext cx="118872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719072"/>
            <a:ext cx="10378440" cy="8983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Önermeler mantığı açık bilgi temsili sunar.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04088" y="2800350"/>
            <a:ext cx="118872" cy="118872"/>
          </a:xfrm>
          <a:prstGeom prst="rect">
            <a:avLst>
              <a:gd name="adj" fmla="val 92308"/>
            </a:avLst>
          </a:prstGeom>
          <a:solidFill>
            <a:srgbClr val="75D1E8"/>
          </a:solidFill>
          <a:ln w="12700">
            <a:solidFill>
              <a:srgbClr val="75D1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708910"/>
            <a:ext cx="10378440" cy="8983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Mantıksal çıkarım ve SAT, doğru sonuç ve geçerli planlar üretebilir.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04088" y="3790188"/>
            <a:ext cx="118872" cy="118872"/>
          </a:xfrm>
          <a:prstGeom prst="rect">
            <a:avLst>
              <a:gd name="adj" fmla="val 92308"/>
            </a:avLst>
          </a:prstGeom>
          <a:solidFill>
            <a:srgbClr val="FFBC55"/>
          </a:solidFill>
          <a:ln w="12700">
            <a:solidFill>
              <a:srgbClr val="FFBC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698748"/>
            <a:ext cx="10378440" cy="8983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Ancak “her kare”, “her nesne” gibi genellemeler ayrı ayrı yazılır.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04088" y="4780026"/>
            <a:ext cx="118872" cy="118872"/>
          </a:xfrm>
          <a:prstGeom prst="rect">
            <a:avLst>
              <a:gd name="adj" fmla="val 92308"/>
            </a:avLst>
          </a:prstGeom>
          <a:solidFill>
            <a:srgbClr val="75D1E8"/>
          </a:solidFill>
          <a:ln w="12700">
            <a:solidFill>
              <a:srgbClr val="75D1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688586"/>
            <a:ext cx="10378440" cy="8983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Birinci dereceden mantık (Ünite 8), değişkenler ve niceleyicilerle bu sınırı aşar.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21792" y="5916168"/>
            <a:ext cx="10936224" cy="393192"/>
          </a:xfrm>
          <a:prstGeom prst="roundRect">
            <a:avLst>
              <a:gd name="adj" fmla="val 27907"/>
            </a:avLst>
          </a:prstGeom>
          <a:solidFill>
            <a:srgbClr val="1B3048"/>
          </a:solidFill>
          <a:ln w="12700">
            <a:solidFill>
              <a:srgbClr val="1B30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952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Kaynak: Russell &amp; Norvig, Artificial Intelligence: A Modern Approach, 3. Baskı, Bölüm 7.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136</Slides>
  <Notes>136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136</vt:i4>
      </vt:variant>
    </vt:vector>
  </HeadingPairs>
  <TitlesOfParts>
    <vt:vector size="1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Ünite 7 — Mantıksal Ajanlar | Ayrıntılı Türkçe Ders Slaytları</dc:title>
  <dc:subject>Ünite 7 — Mantıksal Ajanlar</dc:subject>
  <dc:creator>Yapay Zekâya Giriş — Ders Materyali</dc:creator>
  <cp:lastModifiedBy>Yapay Zekâya Giriş — Ders Materyali</cp:lastModifiedBy>
  <cp:revision>1</cp:revision>
  <dcterms:created xsi:type="dcterms:W3CDTF">2026-10-13T12:09:11Z</dcterms:created>
  <dcterms:modified xsi:type="dcterms:W3CDTF">2026-10-13T12:09:11Z</dcterms:modified>
</cp:coreProperties>
</file>