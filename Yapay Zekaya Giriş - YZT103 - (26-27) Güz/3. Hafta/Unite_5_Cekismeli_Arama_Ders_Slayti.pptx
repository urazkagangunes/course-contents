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93392"/>
            <a:ext cx="108356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Ünite 5: Çekişmeli Arama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2971800"/>
            <a:ext cx="1051560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AFE"/>
                </a:solidFill>
              </a:rPr>
              <a:t>Rakipli oyunlarda karar verme • Minimax • Alpha–Beta • Şans • Eksik bilgi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6FF"/>
                </a:solidFill>
              </a:rPr>
              <a:t>İlk kez öğrenen öğrenciler için kapsamlı ders slaytı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ünitede ne öğreniyoruz?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Büyük resmi önce kuralım.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102870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Oyunları arama problemi gibi modellemeyi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1837944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88720" y="1837944"/>
            <a:ext cx="102870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Minimax ile “rakip en iyi oynarsa” karar vermeyi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2532888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88720" y="2532888"/>
            <a:ext cx="102870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Alpha–Beta ile gereksiz dalları budamayı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7240" y="3227832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4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88720" y="3227832"/>
            <a:ext cx="102870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Gerçek zaman sınırında evaluation ve cutoff kullanmayı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3922776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5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188720" y="3922776"/>
            <a:ext cx="102870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Zar, kart ve eksik bilgi varsa modeli genişletmeyi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60120" y="5212080"/>
            <a:ext cx="10149840" cy="749808"/>
          </a:xfrm>
          <a:prstGeom prst="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1288" y="5349240"/>
            <a:ext cx="974750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Ana fikir: Rakip de plan yapıyorsa, iyi karar sadece “en iyi hamleyi” değil, rakibin cevabını da hesaba katmalıdır.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Klasik arama neden yetmez?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 bulma ile oyun oynama arasındaki fark.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D8"/>
                </a:solidFill>
              </a:rPr>
              <a:t>Tek ajanlı arama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1627632"/>
            <a:ext cx="4956048" cy="43488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Çevre bilinçli olarak size karşı oynamaz.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7627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" y="2157984"/>
            <a:ext cx="4956048" cy="43488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Amaç genelde hedefe en düşük maliyetle ulaşmaktır.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270662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87552" y="2688336"/>
            <a:ext cx="4956048" cy="43488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Örnek: şehirler arasında en kısa yol.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12344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580C"/>
                </a:solidFill>
              </a:rPr>
              <a:t>Çekişmeli arama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164592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</a:rPr>
              <a:t>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56832" y="1627632"/>
            <a:ext cx="4956048" cy="43488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Başka bir ajan sizin başarınızı engeller.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17627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</a:rPr>
              <a:t>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56832" y="2157984"/>
            <a:ext cx="4956048" cy="43488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Her hamlenin karşı hamlesi vardır.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270662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</a:rPr>
              <a:t>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56832" y="2688336"/>
            <a:ext cx="4956048" cy="43488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Örnek: satranç, dama, tic-tac-toe.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468880" y="5257800"/>
            <a:ext cx="73152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33472" y="5367528"/>
            <a:ext cx="698601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Ders notu sezgisi: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 hamle yaparım → rakip cevap verir → ben tekrar planlarım.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zekâda oyun modeli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ünite çoğunlukla iki oyunculu, sıra tabanlı, tam bilgili oyunları inceler.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2527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87552" y="1234440"/>
            <a:ext cx="523036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Deterministik: Hamlenin sonucu rastgele değildir.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181965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87552" y="1801368"/>
            <a:ext cx="523036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Sıra tabanlı: Oyuncular sırayla hamle yapar.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31520" y="238658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87552" y="2368296"/>
            <a:ext cx="523036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Tam bilgili: Tahtanın durumu herkes tarafından görülür.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295351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87552" y="2935224"/>
            <a:ext cx="523036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Sıfır toplamlı: Bir oyuncunun kazancı diğerinin kaybıdır.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87552" y="3502152"/>
            <a:ext cx="523036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İki oyuncu: MAX kendi faydasını artırır, MIN azaltmaya çalışır.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720840" y="1325880"/>
            <a:ext cx="4389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85432" y="1435608"/>
            <a:ext cx="4059936" cy="1289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utility: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kazanırsa +1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Beraberlik 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kaybederse −1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720840" y="3154680"/>
            <a:ext cx="43891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5432" y="3264408"/>
            <a:ext cx="405993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Sıfır toplamlı sezgi: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U_MAX = − U_MIN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Biri için iyi olan diğerine kötüdür.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720840" y="4754880"/>
            <a:ext cx="4389120" cy="777240"/>
          </a:xfrm>
          <a:prstGeom prst="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2008" y="4892040"/>
            <a:ext cx="398678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A580C"/>
                </a:solidFill>
              </a:rPr>
              <a:t>Öğrenci notu: “MAX” iyi oyuncu demek değildir; sadece değeri maksimize eden oyuncudur.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oyunu problem olarak tanımlamak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Oyun, arama problemi gibi biçimsel olarak yazılabilir.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1143000"/>
            <a:ext cx="5989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S₀: başlangıç durumu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709928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1709928"/>
            <a:ext cx="5989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PLAYER(s): sıradaki oyuncu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276856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43000" y="2276856"/>
            <a:ext cx="5989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ACTIONS(s): yasal hamleler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2843784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43000" y="2843784"/>
            <a:ext cx="5989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RESULT(s,a): hamle sonrası yeni durum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410712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43000" y="3410712"/>
            <a:ext cx="5989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TERMINAL-TEST(s): oyun bitti mi?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3977640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6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43000" y="3977640"/>
            <a:ext cx="5989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UTILITY(s,p): terminal durumun oyuncuya değeri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0" y="1371600"/>
            <a:ext cx="3840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9792" y="1481328"/>
            <a:ext cx="3511296" cy="1609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Tic-tac-toe örneği: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S₀ = boş tahta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= boş kareye X/O koy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= üçlü sıra veya tahta dolu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15200" y="3749040"/>
            <a:ext cx="38404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9792" y="3858768"/>
            <a:ext cx="3511296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Oyun ağacı: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Düğüm = oyun durumu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Kenar = hamle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Şekil 5.1: Tic-tac-toe oyun ağacı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X koyar, MIN O koyar; oyun terminal durumlara kadar dallanır.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6</a:t>
            </a:r>
            <a:endParaRPr lang="en-US" sz="850" dirty="0"/>
          </a:p>
        </p:txBody>
      </p:sp>
      <p:pic>
        <p:nvPicPr>
          <p:cNvPr id="7" name="Image 0" descr="/mnt/data/image(20261006-13074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52022"/>
            <a:ext cx="6446520" cy="49391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0" y="143560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571232" y="1417320"/>
            <a:ext cx="4041648" cy="4873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En üst düğüm başlangıç durumudur.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0" y="202996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571232" y="2011680"/>
            <a:ext cx="4041648" cy="4873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MAX ilk hamlede 9 farklı kare seçebilir.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0" y="26243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571232" y="2606040"/>
            <a:ext cx="4041648" cy="4873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Katmanlar sırayla MAX/MIN şeklinde ilerler.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315200" y="321868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571232" y="3200400"/>
            <a:ext cx="4041648" cy="4873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Yapraklarda utility değeri MAX açısından yazılır: −1, 0, +1.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315200" y="5074920"/>
            <a:ext cx="4297680" cy="777240"/>
          </a:xfrm>
          <a:prstGeom prst="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16368" y="5212080"/>
            <a:ext cx="389534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Önemli: Game tree teoriktir; gerçek program çoğu zaman sadece küçük bir search tree açar.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Örnek: Terminal utility nasıl okunur?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değerler MAX açısından yorumlanır.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344168"/>
            <a:ext cx="2962656" cy="2523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Tahta sonucu: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X X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 _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 _ _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= X kazandı → Utility = +1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34840" y="123444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344168"/>
            <a:ext cx="2962656" cy="2523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Tahta sonucu: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 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X _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 _ _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= O kazandı → Utility = −1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46720" y="123444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344168"/>
            <a:ext cx="2962656" cy="2523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Tahta sonucu: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O X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O 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X X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Beraberlik → Utility = 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481888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16152" y="4800600"/>
            <a:ext cx="10076688" cy="33741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MAX yüksek utility ister.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523036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16152" y="5212080"/>
            <a:ext cx="10076688" cy="33741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MIN, MAX’in utility değerini düşürmek ister.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564184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16152" y="5623560"/>
            <a:ext cx="10076688" cy="33741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Bu zıtlık Minimax algoritmasının temelidir.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hamle değil, strateji gerekir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Rakip ne yaparsa ona göre cevap verilmelidir.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8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2527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87552" y="1234440"/>
            <a:ext cx="5230368" cy="50986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Normal aramada çözüm genellikle sabit bir eylem dizisidir.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1856232"/>
            <a:ext cx="5230368" cy="50986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Oyunlarda rakibin cevabı belirsizdir.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249631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87552" y="2478024"/>
            <a:ext cx="5230368" cy="50986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Bu yüzden çözüm bir “koşullu plan”dır.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31181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87552" y="3099816"/>
            <a:ext cx="5230368" cy="50986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Strateji: her olası rakip cevabına karşı ne yapılacağını söyler.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629400" y="1325880"/>
            <a:ext cx="44805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93992" y="1435608"/>
            <a:ext cx="4151376" cy="1837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Strateji örneği: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 A oynarım.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Rakip X oynarsa → B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Rakip Y oynarsa → 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Rakip Z oynarsa → 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29400" y="3794760"/>
            <a:ext cx="4480560" cy="914400"/>
          </a:xfrm>
          <a:prstGeom prst="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0568" y="3931920"/>
            <a:ext cx="407822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</a:rPr>
              <a:t>MAX’in hedefi: “Rakip en iyi cevabı verse bile bana en iyi garantiyi veren hamle hangisi?”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Şekil 5.2: İki ply’lik oyun ağacı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Minimax’ın en temel örneği.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9</a:t>
            </a:r>
            <a:endParaRPr lang="en-US" sz="850" dirty="0"/>
          </a:p>
        </p:txBody>
      </p:sp>
      <p:pic>
        <p:nvPicPr>
          <p:cNvPr id="7" name="Image 0" descr="/mnt/data/image(20261006-130748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14359"/>
            <a:ext cx="6355080" cy="31915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0" y="134416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571232" y="1325880"/>
            <a:ext cx="4041648" cy="4873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Üstteki A düğümü MAX düğümüdür.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0" y="19385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571232" y="1920240"/>
            <a:ext cx="4041648" cy="4873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B, C, D düğümleri MIN düğümleridir.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0" y="253288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571232" y="2514600"/>
            <a:ext cx="4041648" cy="4873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Terminal değerler MAX’in utility değeridir.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315200" y="312724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571232" y="3108960"/>
            <a:ext cx="4041648" cy="4873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MIN çocuklardan minimumu, MAX ise maksimumu seçer.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315200" y="4846320"/>
            <a:ext cx="42976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79792" y="4956048"/>
            <a:ext cx="396849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Ply: Bir oyuncunun tek hamlesi.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ply = MAX hamlesi + MIN cevabı.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 değeri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oyuncunun kusursuz oynadığı varsayılır.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188720"/>
            <a:ext cx="56692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298448"/>
            <a:ext cx="5340096" cy="2523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MINIMAX(s) =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UTILITY(s), terminal ise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maxₐ MINIMAX(RESULT(s,a)), PLAYER(s)=MAX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minₐ MINIMAX(RESULT(s,a)), PLAYER(s)=MIN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12280" y="131673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068312" y="1298448"/>
            <a:ext cx="431596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Terminal durumdaysak gerçek utility kullanılır.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812280" y="18836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068312" y="1865376"/>
            <a:ext cx="431596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MAX düğümünde en büyük değer seçilir.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12280" y="245059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068312" y="2432304"/>
            <a:ext cx="431596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MIN düğümünde en küçük değer seçilir.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812280" y="301752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068312" y="2999232"/>
            <a:ext cx="431596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Değerler yapraklardan köke doğru taşınır.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2743200" y="4892040"/>
            <a:ext cx="6720840" cy="777240"/>
          </a:xfrm>
          <a:prstGeom prst="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44368" y="5029200"/>
            <a:ext cx="631850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Minimax = “En kötü durumda en iyi garanti”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çözüm: Şekil 5.2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B, C, D değerlerini yapraklardan hesaplayalım.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4400" y="1234440"/>
            <a:ext cx="34747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344168"/>
            <a:ext cx="314553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= min(3,12,8) = 3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148840"/>
            <a:ext cx="34747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258568"/>
            <a:ext cx="314553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= min(2,4,6) = 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063240"/>
            <a:ext cx="34747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172968"/>
            <a:ext cx="314553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= min(14,5,2) = 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160520"/>
            <a:ext cx="34747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4270248"/>
            <a:ext cx="314553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max(B,C,D)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max(3,2,2) = 3</a:t>
            </a:r>
            <a:endParaRPr lang="en-US" sz="1800" dirty="0"/>
          </a:p>
        </p:txBody>
      </p:sp>
      <p:pic>
        <p:nvPicPr>
          <p:cNvPr id="15" name="Image 0" descr="/mnt/data/image(20261006-130748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679717"/>
            <a:ext cx="6675120" cy="3352263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937760" y="5532120"/>
            <a:ext cx="6355080" cy="658368"/>
          </a:xfrm>
          <a:prstGeom prst="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38928" y="5669280"/>
            <a:ext cx="595274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</a:rPr>
              <a:t>MAX’in optimal hamlesi a₁ olur; çünkü MIN en kötü cevabı verse bile 3 değeri garanti edilir.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Örnek: Parlak görünen hamle her zaman iyi değildir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Rakip size en iyi sonucu seçtirmez.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1887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298448"/>
            <a:ext cx="3328416" cy="1609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MAX’in 3 seçeneği olsun: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→ {8, 5, 3}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→ {9, 7, 1}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→ {6, 6, 6}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298448"/>
            <a:ext cx="3328416" cy="1609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cevapları: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min(8,5,3)=3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= min(9,7,1)=1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= min(6,6,6)=6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66760" y="1188720"/>
            <a:ext cx="2971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31352" y="1298448"/>
            <a:ext cx="2642616" cy="1609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seçimi: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max(3,1,6)=6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iyi hamle: 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9959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</a:rPr>
              <a:t>•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444752" y="3977640"/>
            <a:ext cx="9619488" cy="3599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</a:rPr>
              <a:t>B seçeneğinde 9 var ama MIN onu seçmez.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88720" y="443484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</a:rPr>
              <a:t>•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444752" y="4416552"/>
            <a:ext cx="9619488" cy="3599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</a:rPr>
              <a:t>C seçeneği çok gösterişli değil ama garantisi daha yüksek.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188720" y="487375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</a:rPr>
              <a:t>•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444752" y="4855464"/>
            <a:ext cx="9619488" cy="3599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827"/>
                </a:solidFill>
              </a:rPr>
              <a:t>Minimax garanti mantığıyla çalışır.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 algoritması nasıl çalışır?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olarak ağacın sonuna iner, sonra değerleri geri taşır.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1143000"/>
            <a:ext cx="48463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252728"/>
            <a:ext cx="4517136" cy="2112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MAX-VALUE(state)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terminal ise UTILITY dön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 = −∞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her hamle için: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v = max(v, MIN-VALUE(child))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 dön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92240" y="1143000"/>
            <a:ext cx="48463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56832" y="1252728"/>
            <a:ext cx="4517136" cy="2112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MIN-VALUE(state)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terminal ise UTILITY dön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 = +∞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her hamle için: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v = min(v, MAX-VALUE(child))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 dön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828800" y="4069080"/>
            <a:ext cx="8503920" cy="749808"/>
          </a:xfrm>
          <a:prstGeom prst="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9968" y="4206240"/>
            <a:ext cx="810158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Ağaç aşağı doğru açılır; değerler yukarı doğru “back up” edilir.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143000" y="518464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99032" y="5166360"/>
            <a:ext cx="9710928" cy="31491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Depth-first arama mantığı kullanılır.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556869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99032" y="5550408"/>
            <a:ext cx="9710928" cy="31491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Gerçek oyunlarda bütün ağaç çoğu zaman açılamaz.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 neden pahalıdır?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Dallanma faktörü ve derinlik üstel maliyet üretir.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128016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389888"/>
            <a:ext cx="3694176" cy="1609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= her durumda ortalama yasal hamle sayısı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= maksimum derinlik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Zaman karmaşıklığı: O(b^m)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0" y="12527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742432" y="1234440"/>
            <a:ext cx="513892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Satrançta b yaklaşık 35 olabilir.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0" y="181965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742432" y="1801368"/>
            <a:ext cx="513892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100 yarım hamlede arama ağacı astronomik büyür.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486400" y="238658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742432" y="2368296"/>
            <a:ext cx="513892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Bu yüzden pratik oyun programları budama ve evaluation kullanır.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8680" y="3703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D8"/>
                </a:solidFill>
              </a:rPr>
              <a:t>Kaba karşılaştırma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b=10,m=3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31720" y="4187952"/>
            <a:ext cx="914400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1.000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663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b=10,m=5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331720" y="4690872"/>
            <a:ext cx="3200400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4663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100.000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5166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b=35,m=5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331720" y="5193792"/>
            <a:ext cx="5486400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5166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52M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0" y="5532120"/>
            <a:ext cx="5394960" cy="502920"/>
          </a:xfrm>
          <a:prstGeom prst="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5669280"/>
            <a:ext cx="499262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A580C"/>
                </a:solidFill>
              </a:rPr>
              <a:t>Ders mesajı: Arama derinliği birkaç ply artsa bile maliyet katlanarak büyür.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Çok oyunculu oyunlar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oyuncu yetmezse tek utility değeri de yetmez.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15</a:t>
            </a:r>
            <a:endParaRPr lang="en-US" sz="850" dirty="0"/>
          </a:p>
        </p:txBody>
      </p:sp>
      <p:pic>
        <p:nvPicPr>
          <p:cNvPr id="7" name="Image 0" descr="/mnt/data/image(20261006-13080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40802"/>
            <a:ext cx="5897880" cy="253865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0" y="129844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205472" y="1280160"/>
            <a:ext cx="41330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Üç oyuncu: A, B, C.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949440" y="186537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205472" y="1847088"/>
            <a:ext cx="41330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Her düğümde utility vektörü tutulur: (vA, vB, vC).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949440" y="24323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205472" y="2414016"/>
            <a:ext cx="41330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Sıradaki oyuncu kendi bileşeni en yüksek olan hamleyi seçer.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949440" y="29992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205472" y="2980944"/>
            <a:ext cx="41330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İki oyunculu sıfır toplamlı oyunda tek sayı yeterlidir; burada yetmez.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903720" y="4892040"/>
            <a:ext cx="44805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68312" y="5001768"/>
            <a:ext cx="415137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Örnek: C oynuyorsa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(1,2,6) ile (4,2,3) arasında C için 6 &gt; 3, yani ilk seçenek seçilir.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Örnek: Utility vektörü nasıl okunur?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oyuncu kendi değerini maksimize eder.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344168"/>
            <a:ext cx="332841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Durum 1: (5, 1, 7)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için 5, B için 1, C için 7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46888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578608"/>
            <a:ext cx="332841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Durum 2: (4, 9, 2)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için 4, B için 9, C için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134416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39512" y="1325880"/>
            <a:ext cx="5779008" cy="4873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Sıradaki oyuncu A ise Durum 1’i seçer: 5 &gt; 4.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83480" y="19385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39512" y="1920240"/>
            <a:ext cx="5779008" cy="4873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Sıradaki oyuncu B ise Durum 2’yi seçer: 9 &gt; 1.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83480" y="253288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39512" y="2514600"/>
            <a:ext cx="5779008" cy="4873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Sıradaki oyuncu C ise Durum 1’i seçer: 7 &gt; 2.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14400" y="4572000"/>
            <a:ext cx="10424160" cy="868680"/>
          </a:xfrm>
          <a:prstGeom prst="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4709160"/>
            <a:ext cx="1002182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Çok oyunculu oyunlarda ittifaklar ortaya çıkabilir: iki zayıf oyuncu güçlü oyuncuya karşı geçici işbirliği yapabilir.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Alpha–Beta budama: aynı karar, daha az arama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 doğru ama çok pahalıdır. Budama gereksiz dalları atar.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2527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8992" y="1234440"/>
            <a:ext cx="5413248" cy="50986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Alpha–Beta, Minimax ile aynı hamleyi döndürür.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1856232"/>
            <a:ext cx="5413248" cy="50986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Farkı: sonucu değiştiremeyecek dalları incelemez.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249631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8992" y="2478024"/>
            <a:ext cx="5413248" cy="50986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Bu, yaklaşık bir yöntem değildir; güvenli budamadır.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31181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78992" y="3099816"/>
            <a:ext cx="5413248" cy="50986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Etkisi, hamlelerin hangi sırada incelendiğine çok bağlıdır.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903720" y="1234440"/>
            <a:ext cx="4297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68312" y="1344168"/>
            <a:ext cx="3968496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Kısa sezgi: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“Zaten daha iyi bir alternatifim varsa, daha kötü olduğu belli olan dalı neden araştırayım?”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903720" y="3246120"/>
            <a:ext cx="4297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68312" y="3355848"/>
            <a:ext cx="396849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= MAX’in şu ana kadarki en iyi garantisi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= MIN’in şu ana kadarki en iyi garantisi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Şekil 5.5: Alpha–Beta adımları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Olası değer aralıkları daraldıkça bazı yapraklar gereksiz hale gelir.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18</a:t>
            </a:r>
            <a:endParaRPr lang="en-US" sz="850" dirty="0"/>
          </a:p>
        </p:txBody>
      </p:sp>
      <p:pic>
        <p:nvPicPr>
          <p:cNvPr id="7" name="Image 0" descr="/mnt/data/image(20261006-130813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379" y="1207008"/>
            <a:ext cx="4654001" cy="5257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129844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•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39912" y="1280160"/>
            <a:ext cx="3172968" cy="44988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B düğümü tamamen görülünce değeri 3 olur.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83880" y="184708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•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439912" y="1828800"/>
            <a:ext cx="3172968" cy="44988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Kök MAX artık en az 3 alabileceğini bilir.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183880" y="23957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•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439912" y="2377440"/>
            <a:ext cx="3172968" cy="44988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C’nin ilk çocuğu 2 ise C en fazla 2 olabilir.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183880" y="294436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•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439912" y="2926080"/>
            <a:ext cx="3172968" cy="44988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MAX, 3 varken C’yi seçmeyeceği için C’nin kalanı budanır.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8092440" y="5120640"/>
            <a:ext cx="3520440" cy="749808"/>
          </a:xfrm>
          <a:prstGeom prst="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93608" y="5257800"/>
            <a:ext cx="311810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A580C"/>
                </a:solidFill>
              </a:rPr>
              <a:t>Budama: 4 ve 6 yapraklarına hiç bakmadan yine doğru karar verilir.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Örnek: C düğümü neden budanır?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Şekil 5.5’in en kritik noktası.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344168"/>
            <a:ext cx="3511296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Önce B hesaplanır: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= min(3,12,8) = 3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Kök MAX için α = 3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2788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344168"/>
            <a:ext cx="245973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C’ye bakınca ilk çocuk 2: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= min(2, x, y) ≤ 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818120" y="1234440"/>
            <a:ext cx="34747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82712" y="1344168"/>
            <a:ext cx="3145536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zaten 3 alabiliyor: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&gt; C’nin alabileceği en iyi üst sınır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x ve y’ye bakmaya gerek yok.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05840" y="3886200"/>
            <a:ext cx="10149840" cy="731520"/>
          </a:xfrm>
          <a:prstGeom prst="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4023360"/>
            <a:ext cx="9747504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</a:rPr>
              <a:t>Matematiksel ifade: max(3, min(2,x,y), 2) = 3. x ve y sonucu değiştiremez.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88720" y="518464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44752" y="5166360"/>
            <a:ext cx="9528048" cy="33741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Bu nedenle Alpha–Beta doğru minimax kararını korur.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55961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44752" y="5577840"/>
            <a:ext cx="9528048" cy="33741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Sadece hesaplama maliyetini azaltır.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Şekil 5.6: Budamanın genel durumu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Oyuncunun elinde daha iyi bir seçenek varsa kötü dal oynanmaz.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20</a:t>
            </a:r>
            <a:endParaRPr lang="en-US" sz="850" dirty="0"/>
          </a:p>
        </p:txBody>
      </p:sp>
      <p:pic>
        <p:nvPicPr>
          <p:cNvPr id="7" name="Image 0" descr="/mnt/data/image(20261006-130824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3729"/>
            <a:ext cx="4937760" cy="24761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92240" y="143560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748272" y="1417320"/>
            <a:ext cx="4407408" cy="52486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m, oyuncu için n’den daha iyiyse gerçek oyunda n’ye gidilmez.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492240" y="207568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748272" y="2057400"/>
            <a:ext cx="4407408" cy="52486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Bu durum yeterince erken anlaşılırsa n’nin alt ağacı budanır.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492240" y="271576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748272" y="2697480"/>
            <a:ext cx="4407408" cy="52486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Depth-first aramada o anda yalnızca tek yol üzerindeki sınırlar tutulur.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6492240" y="4617720"/>
            <a:ext cx="46634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56832" y="4727448"/>
            <a:ext cx="433425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düğümünde: v ≥ β ise buda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düğümünde: v ≤ α ise buda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ve Beta değerleri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Sınırlar her recursive çağrıda taşınır.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68680" y="1234440"/>
            <a:ext cx="4754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344168"/>
            <a:ext cx="442569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(alpha)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MAX’in şimdiye kadar bulduğu en iyi değer.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Başlangıç: −∞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92240" y="1234440"/>
            <a:ext cx="4754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56832" y="1344168"/>
            <a:ext cx="442569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(beta)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MIN’in şimdiye kadar bulduğu en iyi değer.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Başlangıç: +∞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35584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61872" y="3337560"/>
            <a:ext cx="9802368" cy="389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MAX-VALUE içinde değer β’ye ulaşırsa MIN bu yolu seçmez.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383133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61872" y="3813048"/>
            <a:ext cx="9802368" cy="389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MIN-VALUE içinde değer α’nın altına düşerse MAX bu yolu seçmez.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430682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61872" y="4288536"/>
            <a:ext cx="9802368" cy="3899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α ve β daraldıkça budama olasılığı artar.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965960" y="5230368"/>
            <a:ext cx="8229600" cy="749808"/>
          </a:xfrm>
          <a:prstGeom prst="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67128" y="5367528"/>
            <a:ext cx="782726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Öğrenci ezberi: Alpha = MAX’in cebindeki garanti, Beta = MIN’in cebindeki garanti.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Hamle sıralaması neden çok önemli?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Alpha–Beta en iyi dallar önce gelirse çok daha fazla budama yapar.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2527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87552" y="1234440"/>
            <a:ext cx="5413248" cy="4723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Eğer iyi hamle erken bulunursa α veya β hızlı güncellenir.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87552" y="1810512"/>
            <a:ext cx="5413248" cy="4723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Kötü dallar daha erken elenir.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31520" y="240487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87552" y="2386584"/>
            <a:ext cx="5413248" cy="4723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Satrançta önce taş alma ve tehdit hamlelerini denemek işe yarar.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298094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87552" y="2962656"/>
            <a:ext cx="5413248" cy="4723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Killer move heuristic: geçmişte güçlü çıkan hamleleri önce dene.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812280" y="1325880"/>
            <a:ext cx="44805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6872" y="1435608"/>
            <a:ext cx="4151376" cy="1792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Minimax: O(b^m)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İdeal Alpha–Beta: O(b^(m/2))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Satranç için b≈35 yerine etkin b≈√35≈6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12280" y="4206240"/>
            <a:ext cx="4480560" cy="786384"/>
          </a:xfrm>
          <a:prstGeom prst="rect">
            <a:avLst>
              <a:gd name="adj" fmla="val 930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13448" y="4343400"/>
            <a:ext cx="4078224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A580C"/>
                </a:solidFill>
              </a:rPr>
              <a:t>İyi sıralama, aynı sürede yaklaşık iki kat derine bakmak anlamına gelebilir.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deepening ve transposition table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 oyun programlarında Alpha–Beta tek başına yetmez.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D8"/>
                </a:solidFill>
              </a:rPr>
              <a:t>Iterative deepening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1627632"/>
            <a:ext cx="4956048" cy="43488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Önce 1 ply, sonra 2 ply, sonra 3 ply ara.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7627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" y="2157984"/>
            <a:ext cx="4956048" cy="43488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Zaman dolarsa tamamlanmış en derin sonucu kullan.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270662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87552" y="2688336"/>
            <a:ext cx="4956048" cy="43488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Önceki arama hamle sıralamasını iyileştirir.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12344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580C"/>
                </a:solidFill>
              </a:rPr>
              <a:t>Transposition table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164592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</a:rPr>
              <a:t>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56832" y="1627632"/>
            <a:ext cx="4956048" cy="43488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Farklı hamle sıraları aynı pozisyona gelebilir.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17627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</a:rPr>
              <a:t>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56832" y="2157984"/>
            <a:ext cx="4956048" cy="43488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Hesaplanan pozisyon hash table’da saklanır.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270662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</a:rPr>
              <a:t>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56832" y="2688336"/>
            <a:ext cx="4956048" cy="43488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Aynı pozisyon tekrar gelirse değer yeniden hesaplanmaz.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011680" y="5285232"/>
            <a:ext cx="80467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76272" y="5394960"/>
            <a:ext cx="77175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transposition: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[a₁,b₁,a₂,b₂] ve [a₂,b₂,a₁,b₁] aynı tahta durumuna ulaşabilir.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 zamanda karar: oyunun sonuna kadar gidemezsin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nedenle arama erken kesilir ve pozisyon tahmin edilir.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344168"/>
            <a:ext cx="3877056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Klasik Minimax: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Terminale kadar git → UTILITY(s)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92240" y="123444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56832" y="1344168"/>
            <a:ext cx="3877056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Minimax: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Belli derinlikte dur → EVAL(s)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0" y="2788920"/>
            <a:ext cx="57607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2898648"/>
            <a:ext cx="5431536" cy="1289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H-MINIMAX(s,d) =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EVAL(s), cutoff ise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child, MAX ise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child, MIN ise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920240" y="5074920"/>
            <a:ext cx="8321040" cy="749808"/>
          </a:xfrm>
          <a:prstGeom prst="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21408" y="5212080"/>
            <a:ext cx="791870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EVAL gerçek sonuç değildir; pozisyonun ne kadar iyi olduğunu tahmin eder.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İyi evaluation function nasıl olmalı?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Yanlış tahmin, doğru aramayı bile yanlış hamleye götürebilir.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43000" y="1143000"/>
            <a:ext cx="101955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Terminal durumları doğru sıralamalı: kazanma &gt; beraberlik &gt; kaybetme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43000" y="2011680"/>
            <a:ext cx="101955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Hızlı hesaplanmalı; yoksa aramayı kesmenin anlamı kalmaz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43000" y="2880360"/>
            <a:ext cx="101955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Gerçek kazanma şansı ile güçlü korelasyona sahip olmalı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51560" y="4389120"/>
            <a:ext cx="9966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4498848"/>
            <a:ext cx="963777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Beklenen değer örneği: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%72 kazanma, %20 kayıp, %8 beraberlik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≈ 0.72·1 + 0.20·0 + 0.08·0.5 = 0.76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Ağırlıklı doğrusal değerlendirme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Satrançta taş değerleri ve konumsal özellikler birleştirilebilir.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1170432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280160"/>
            <a:ext cx="4608576" cy="1609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EVAL(s) = w₁f₁(s) + w₂f₂(s) + … + wₙfₙ(s)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fi(s): özellik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wi: ağırlık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16128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56832" y="1143000"/>
            <a:ext cx="4681728" cy="41239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Piyon ≈ 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0" y="166420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56832" y="1645920"/>
            <a:ext cx="4681728" cy="41239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At veya fil ≈ 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0800" y="21671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56832" y="2148840"/>
            <a:ext cx="4681728" cy="41239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Kale ≈ 5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00800" y="267004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56832" y="2651760"/>
            <a:ext cx="4681728" cy="41239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Vezir ≈ 9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00800" y="317296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656832" y="3154680"/>
            <a:ext cx="4681728" cy="41239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Şah güvenliği, piyon yapısı gibi özellikler eklenebilir.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188720" y="4892040"/>
            <a:ext cx="9875520" cy="822960"/>
          </a:xfrm>
          <a:prstGeom prst="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9888" y="5029200"/>
            <a:ext cx="947318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A580C"/>
                </a:solidFill>
              </a:rPr>
              <a:t>Sınırlılık: Bir filin değeri oyun başı ve oyun sonunda aynı olmayabilir. Bu yüzden modern programlar doğrusal olmayan özellikler de kullanır.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Şekil 5.8: Materyal tek başına yetmez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konum sadece sağ alttaki kalenin yerinde farklıdır.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27</a:t>
            </a:r>
            <a:endParaRPr lang="en-US" sz="850" dirty="0"/>
          </a:p>
        </p:txBody>
      </p:sp>
      <p:pic>
        <p:nvPicPr>
          <p:cNvPr id="7" name="Image 0" descr="/mnt/data/image(20261006-130943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77546"/>
            <a:ext cx="6400800" cy="3848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0" y="134416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571232" y="1325880"/>
            <a:ext cx="404164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(a) Siyah materyal olarak önde görünür: at + iki piyon.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0" y="191109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571232" y="1892808"/>
            <a:ext cx="404164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(b) Beyaz bir sonraki hamlede veziri alabilir.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0" y="247802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571232" y="2459736"/>
            <a:ext cx="404164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Aynı materyal farkı, taktik tehdit yüzünden tersine dönebilir.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315200" y="304495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571232" y="3026664"/>
            <a:ext cx="404164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Evaluation function sadece taş saymamalıdır.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315200" y="5120640"/>
            <a:ext cx="4297680" cy="685800"/>
          </a:xfrm>
          <a:prstGeom prst="rect">
            <a:avLst>
              <a:gd name="adj" fmla="val 10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16368" y="5257800"/>
            <a:ext cx="389534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Ders mesajı: “Pozisyonun kalitesi” materyal + tehdit + güvenlik + hareketlilik birleşimidir.</a:t>
            </a:r>
            <a:endParaRPr lang="en-US" sz="1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Örnek: Basit satranç değerlendirmesi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Basit materyal hesabı nasıl yapılır?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5303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44168"/>
            <a:ext cx="4974336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Beyaz: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vezir + 2 kale + 2 fil + 1 at + 6 piyon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9 + 10 + 6 + 3 + 6 = 34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2926080"/>
            <a:ext cx="5303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3035808"/>
            <a:ext cx="4974336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Siyah: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vezir + 2 kale + 1 fil + 2 at + 7 piyon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9 + 10 + 3 + 6 + 7 = 35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37960" y="1463040"/>
            <a:ext cx="44805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2552" y="1572768"/>
            <a:ext cx="4151376" cy="1700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Materyal farkı: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≈ Beyaz − Siyah = 34 − 35 = −1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kaba tahmine göre Siyah bir piyon önde.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42245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39712" y="4206240"/>
            <a:ext cx="4133088" cy="3599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Ama pozisyonel faktörler bu sonucu değiştirebilir.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466344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39712" y="4645152"/>
            <a:ext cx="4133088" cy="3599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Bu yüzden materyal hesabı başlangıçtır, tam değerlendirme değildir.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Aramayı nerede kesmeliyiz?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Derinlik sınırı tek başına hatalara yol açabilir.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20700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78992" y="1188720"/>
            <a:ext cx="559612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Sabit derinlik: depth ≥ d olunca EVAL kullanılır.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177393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78992" y="1755648"/>
            <a:ext cx="559612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Risk: tam taktik olayın ortasında arama kesilebilir.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23408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78992" y="2322576"/>
            <a:ext cx="559612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Quiescence search: sakin olmayan pozisyonlarda biraz daha derine bakılır.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" y="290779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78992" y="2889504"/>
            <a:ext cx="559612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Genellikle taş alma ve şah çekme gibi zorlayıcı hamleler incelenir.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995160" y="132588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9752" y="1435608"/>
            <a:ext cx="3694176" cy="1883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Sakin olmayan pozisyon örneği: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Vezir saldırı altında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Hemen taş alınabiliyor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Şah çekme var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durumda EVAL erken uygulanmamalı.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920240" y="4983480"/>
            <a:ext cx="8321040" cy="685800"/>
          </a:xfrm>
          <a:prstGeom prst="rect">
            <a:avLst>
              <a:gd name="adj" fmla="val 10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21408" y="5120640"/>
            <a:ext cx="791870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</a:rPr>
              <a:t>Quiescence = “pozisyon biraz durulana kadar bekle, sonra değerlendir.”</a:t>
            </a:r>
            <a:endParaRPr lang="en-US" sz="1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Şekil 5.9: Horizon Effect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Kaçınılmaz kayıp arama ufkunun ötesine itilebilir.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30</a:t>
            </a:r>
            <a:endParaRPr lang="en-US" sz="850" dirty="0"/>
          </a:p>
        </p:txBody>
      </p:sp>
      <p:pic>
        <p:nvPicPr>
          <p:cNvPr id="7" name="Image 0" descr="/mnt/data/image(20261006-13095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8157"/>
            <a:ext cx="5394960" cy="32353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92240" y="129844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748272" y="1280160"/>
            <a:ext cx="440740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Siyah fil aslında kaçamayacak durumdadır.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92240" y="186537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748272" y="1847088"/>
            <a:ext cx="440740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Siyah piyonlarla şah çekerek yakalanmayı geciktirir.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92240" y="24323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748272" y="2414016"/>
            <a:ext cx="440740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Arama sınırı dolarsa algoritma “fili kurtardım” sanabilir.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92240" y="29992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748272" y="2980944"/>
            <a:ext cx="440740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Gerçekte sadece kayıp ufkun ötesine ertelenmiştir.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492240" y="5029200"/>
            <a:ext cx="4663440" cy="749808"/>
          </a:xfrm>
          <a:prstGeom prst="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93408" y="5166360"/>
            <a:ext cx="426110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91C1C"/>
                </a:solidFill>
              </a:rPr>
              <a:t>Horizon effect: Kötü olay çözülmedi; sadece algoritmanın göremeyeceği kadar ileriye itildi.</a:t>
            </a:r>
            <a:endParaRPr lang="en-US" sz="1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pruning: riskli ama hızlı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Bazı hamleleri daha baştan araştırmamayı seçeriz.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D8"/>
                </a:solidFill>
              </a:rPr>
              <a:t>Güvenli budama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1627632"/>
            <a:ext cx="4956048" cy="43488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Alpha–Beta gibi yöntemler sonucu değiştirmeyeceği kanıtlanan dalları siler.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7627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" y="2157984"/>
            <a:ext cx="4956048" cy="43488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Doğru Minimax kararı korunur.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12344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580C"/>
                </a:solidFill>
              </a:rPr>
              <a:t>Forward pruning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164592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</a:rPr>
              <a:t>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56832" y="1627632"/>
            <a:ext cx="4956048" cy="43488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Bazı hamleler “muhtemelen kötü” diye erken elenir.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17627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</a:rPr>
              <a:t>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56832" y="2157984"/>
            <a:ext cx="4956048" cy="43488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Hız kazandırır ama en iyi hamleyi yanlışlıkla silebilir.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011680" y="5029200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76272" y="5138928"/>
            <a:ext cx="771753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 search örneği: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seviyede tüm 35 hamle yerine en iyi görünen 5 hamleyi araştır.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Arama mı, tabloya bakma mı?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Açılış ve oyun sonlarında arama yerine lookup kullanılabilir.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2527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78992" y="1234440"/>
            <a:ext cx="541324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Açılış kitapları: insan uzmanlığı ve büyükusta oyunları kullanılır.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181965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78992" y="1801368"/>
            <a:ext cx="541324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Endgame tablebase: az taşlı oyun sonları tamamen çözülebilir.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238658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78992" y="2368296"/>
            <a:ext cx="541324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Policy: her durumdan en iyi hamleye eşleme yapılır.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" y="295351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78992" y="2935224"/>
            <a:ext cx="541324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Retrograde search: mat pozisyonlarından geriye doğru çözüm yapılır.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675120" y="1417320"/>
            <a:ext cx="4389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1527048"/>
            <a:ext cx="405993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KBNK örneği: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462 × 62 × 61 × 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3,494,568 pozisyon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75120" y="3200400"/>
            <a:ext cx="4389120" cy="804672"/>
          </a:xfrm>
          <a:prstGeom prst="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3337560"/>
            <a:ext cx="3986784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Oyun başında ve sonunda “bilinen bilgi” aramadan daha verimli olabilir.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Stokastik oyunlar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 veya kart gibi rastlantı varsa Minimax genişletilmelidir.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20700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87552" y="1188720"/>
            <a:ext cx="5504688" cy="4873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Gerçek dünyada her şey deterministik değildir.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180136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87552" y="1783080"/>
            <a:ext cx="5504688" cy="4873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Tavla gibi oyunlarda zar yasal hamleleri belirler.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31520" y="23957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87552" y="2377440"/>
            <a:ext cx="5504688" cy="4873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Oyun ağacına MAX ve MIN dışında CHANCE düğümleri eklenir.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299008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87552" y="2971800"/>
            <a:ext cx="5504688" cy="4873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Chance düğümünde maksimum/minimum değil, beklenen değer alınır.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766560" y="1417320"/>
            <a:ext cx="44805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31152" y="1527048"/>
            <a:ext cx="41513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 node: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Σ P(r) · V(sonuç r)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766560" y="2788920"/>
            <a:ext cx="44805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31152" y="2898648"/>
            <a:ext cx="4151376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zar: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eş olasılıklı sonuç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farklı zar kombinasyonu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Çiftler: 1/36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Diğerleri: 1/18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Şekil 5.10: Backgammon örneği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 sonucu hamle seçeneklerini belirler.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34</a:t>
            </a:r>
            <a:endParaRPr lang="en-US" sz="850" dirty="0"/>
          </a:p>
        </p:txBody>
      </p:sp>
      <p:pic>
        <p:nvPicPr>
          <p:cNvPr id="7" name="Image 0" descr="/mnt/data/image(20261006-131006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359" y="1207008"/>
            <a:ext cx="6239641" cy="4754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23760" y="129844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79792" y="1280160"/>
            <a:ext cx="41330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Amaç tüm taşları tahtadan çıkarmaktır.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223760" y="186537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479792" y="1847088"/>
            <a:ext cx="41330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Beyaz saat yönünde, Siyah ters yönde ilerler.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223760" y="24323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479792" y="2414016"/>
            <a:ext cx="41330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Beyaz 6–5 atmıştır ve dört yasal hamle seçeneği vardır.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223760" y="29992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479792" y="2980944"/>
            <a:ext cx="41330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Rakibin bir sonraki zarını bilmediği için standart Minimax ağacı yetmez.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223760" y="5285232"/>
            <a:ext cx="4389120" cy="658368"/>
          </a:xfrm>
          <a:prstGeom prst="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24928" y="5422392"/>
            <a:ext cx="398678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A580C"/>
                </a:solidFill>
              </a:rPr>
              <a:t>Stokastik oyun = beceri + rastlantı birlikte modellenir.</a:t>
            </a:r>
            <a:endParaRPr lang="en-US" sz="1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Şekil 5.11: Chance düğümlü oyun ağacı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Backgammon’da oyuncu hamlesi ile zar sonucu birlikte düşünülür.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35</a:t>
            </a:r>
            <a:endParaRPr lang="en-US" sz="850" dirty="0"/>
          </a:p>
        </p:txBody>
      </p:sp>
      <p:pic>
        <p:nvPicPr>
          <p:cNvPr id="7" name="Image 0" descr="/mnt/data/image(20261006-13101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31686"/>
            <a:ext cx="6080760" cy="39854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0" y="134416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88352" y="1325880"/>
            <a:ext cx="417880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Üç düğüm tipi vardır: MAX, MIN, CHANCE.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132320" y="191109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88352" y="1892808"/>
            <a:ext cx="417880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CHANCE dalları zar sonuçlarını ve olasılıklarını taşır.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132320" y="247802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88352" y="2459736"/>
            <a:ext cx="417880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Örneğin 1–1 olasılığı 1/36, 6–5 olasılığı 1/18’dir.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132320" y="304495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388352" y="3026664"/>
            <a:ext cx="417880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Terminal değerler yine oyuncunun utility değeridir.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Expectiminimax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 + beklenen değer.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1143000"/>
            <a:ext cx="55778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252728"/>
            <a:ext cx="5248656" cy="2798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EXPECTIMINIMAX(s) =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UTILITY(s), terminal ise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maxₐ V(RESULT(s,a)), MAX ise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minₐ V(RESULT(s,a)), MIN ise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Σᵣ P(r)V(RESULT(s,r)), CHANCE ise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03720" y="134416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159752" y="1325880"/>
            <a:ext cx="41330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MAX hâlâ en büyük değeri seçer.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903720" y="191109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159752" y="1892808"/>
            <a:ext cx="41330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MIN hâlâ en küçük değeri seçer.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903720" y="247802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159752" y="2459736"/>
            <a:ext cx="41330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CHANCE olasılıklı ortalama alır.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903720" y="304495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159752" y="3026664"/>
            <a:ext cx="41330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Şans oyunlarında doğru değer beklenen utility’dir.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2011680" y="4983480"/>
            <a:ext cx="8138160" cy="749808"/>
          </a:xfrm>
          <a:prstGeom prst="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5120640"/>
            <a:ext cx="773582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Öğrenci ezberi: MAX → max, MIN → min, CHANCE → weighted average.</a:t>
            </a:r>
            <a:endParaRPr lang="en-US" sz="1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Örnek: Chance düğümünün değeri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Olasılıklarla ağırlıklı ortalama alalım.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68680" y="1234440"/>
            <a:ext cx="43891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344168"/>
            <a:ext cx="405993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sonuç olsun: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 A = 10, P(A)=0.25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 B = 4, P(B)=0.75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60720" y="1234440"/>
            <a:ext cx="43891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25312" y="1344168"/>
            <a:ext cx="405993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0.25·10 + 0.75·4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2.5 + 3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5.5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3154680"/>
            <a:ext cx="9784080" cy="731520"/>
          </a:xfrm>
          <a:prstGeom prst="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3291840"/>
            <a:ext cx="9381744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</a:rPr>
              <a:t>Chance düğümü karar vermez; olasılıklar üzerinden ortalama değer üretir.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188720" y="449884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44752" y="4480560"/>
            <a:ext cx="9436608" cy="3599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Eğer bu chance node MAX altında bir seçenekse MAX diğer seçeneklerle 5.5 değerini karşılaştırır.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493776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44752" y="4919472"/>
            <a:ext cx="9436608" cy="3599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Eğer MIN altında bir seçenekse MIN bu değeri minimize etmeye çalışır.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Şekil 5.12: Şans varsa ölçek önemlidir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Sadece sıralamayı korumak yetmeyebilir.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38</a:t>
            </a:r>
            <a:endParaRPr lang="en-US" sz="850" dirty="0"/>
          </a:p>
        </p:txBody>
      </p:sp>
      <p:pic>
        <p:nvPicPr>
          <p:cNvPr id="7" name="Image 0" descr="/mnt/data/image(20261006-13102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1647"/>
            <a:ext cx="6263640" cy="33369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23760" y="120700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79792" y="1188720"/>
            <a:ext cx="408736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Sol ağaçta değerler [1,2,3,4] iken a₁ daha iyidir.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223760" y="177393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479792" y="1755648"/>
            <a:ext cx="408736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Sağda sıralama korunur: [1,20,30,400].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223760" y="23408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479792" y="2322576"/>
            <a:ext cx="408736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Ama beklenen değerler değişir ve a₂ daha iyi olur.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223760" y="290779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479792" y="2889504"/>
            <a:ext cx="408736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Chance node varsa değerlerin aralıkları da anlamlı olmalıdır.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223760" y="5074920"/>
            <a:ext cx="4343400" cy="749808"/>
          </a:xfrm>
          <a:prstGeom prst="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24928" y="5212080"/>
            <a:ext cx="394106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91C1C"/>
                </a:solidFill>
              </a:rPr>
              <a:t>Bu yüzden EVAL, kazanma olasılığı veya expected utility ile uyumlu olmalıdır.</a:t>
            </a:r>
            <a:endParaRPr lang="en-US" sz="1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Carlo rollout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Şans oyunlarında çok sayıda simülasyonla pozisyon değeri tahmin edilir.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5440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Mevcut pozisyondan oyunu başlat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1801368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801368"/>
            <a:ext cx="5440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Zar veya rastlantısal olayları random üret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2459736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459736"/>
            <a:ext cx="5440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Ajanları belirli bir politika ile oynat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77240" y="3118104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118104"/>
            <a:ext cx="5440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Binlerce oyunun kazanma oranını hesapla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858000" y="1325880"/>
            <a:ext cx="43891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22592" y="1435608"/>
            <a:ext cx="4059936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 rollout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6.300 galibiyet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Tahmini değer = 6300/10000 = 0.63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58000" y="3703320"/>
            <a:ext cx="4389120" cy="822960"/>
          </a:xfrm>
          <a:prstGeom prst="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59168" y="3840480"/>
            <a:ext cx="398678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Rollout, özellikle Backgammon ve Go gibi oyunlarda önemli bir pratik araçtır.</a:t>
            </a:r>
            <a:endParaRPr lang="en-US" sz="1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Kısmen gözlemlenebilir oyunlar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Oyuncu gerçek durumu tam bilmiyorsa problem değişir.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2527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8992" y="1234440"/>
            <a:ext cx="5596128" cy="49487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Satrançta herkes tüm taşları görür.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18562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1837944"/>
            <a:ext cx="5596128" cy="49487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Pokerde rakibin kartlarını bilemezsin.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245973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8992" y="2441448"/>
            <a:ext cx="5596128" cy="49487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Savaş oyunlarında rakibin konumu sis içinde olabilir.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306324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78992" y="3044952"/>
            <a:ext cx="5596128" cy="49487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Karar gerçek state’e değil, belief state’e göre verilir.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812280" y="1371600"/>
            <a:ext cx="4297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6872" y="1481328"/>
            <a:ext cx="396849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 state: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 durumun hangi olasılıklar içinde olabileceğini gösteren küme/dağılım.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12280" y="3200400"/>
            <a:ext cx="4297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76872" y="3310128"/>
            <a:ext cx="3968496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bilgi stratejisi: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Rakip hamlesine cevap.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Eksik bilgi stratejisi: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Gelen algı dizisine cevap.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Örnek: Belief state nasıl çalışır?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 durumu bilmiyorsak olası durumları tutarız.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4389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344168"/>
            <a:ext cx="405993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Beyazın bakışından siyah şah şu karelerden birinde olabilir: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{s₁, s₂, s₃}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43891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852928"/>
            <a:ext cx="4059936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Beyaz bir yoklama hamlesi yapar.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Hakem “OK” veya “Illegal” der.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cevap bazı olası durumları eler.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52160" y="138988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108192" y="1371600"/>
            <a:ext cx="50474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Bilgi toplama hamleleri bazen doğrudan kazanma hamlesinden daha değerlidir.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852160" y="195681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108192" y="1938528"/>
            <a:ext cx="50474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Eksik bilgi oyunlarında amaç sadece utility değil, belirsizliği azaltmak da olabilir.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852160" y="252374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108192" y="2505456"/>
            <a:ext cx="50474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Rakibe bilgi vermemek de stratejik değer taşır.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852160" y="4297680"/>
            <a:ext cx="5303520" cy="822960"/>
          </a:xfrm>
          <a:prstGeom prst="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3328" y="4434840"/>
            <a:ext cx="490118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A580C"/>
                </a:solidFill>
              </a:rPr>
              <a:t>Tam bilgili oyunlarda anlamlı olmayan “blöf”, eksik bilgi oyunlarında çok değerlidir.</a:t>
            </a:r>
            <a:endParaRPr lang="en-US" sz="1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Şekil 5.13: Kriegspiel’de garantili mat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Siyah şah görünmez; strateji olası konumları daraltır.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42</a:t>
            </a:r>
            <a:endParaRPr lang="en-US" sz="850" dirty="0"/>
          </a:p>
        </p:txBody>
      </p:sp>
      <p:pic>
        <p:nvPicPr>
          <p:cNvPr id="7" name="Image 0" descr="/mnt/data/image(20261006-131036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366" y="1207008"/>
            <a:ext cx="5483908" cy="4754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86600" y="129844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42632" y="1280160"/>
            <a:ext cx="422452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Başlangıçta siyah şah üç olası kareden birindedir.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086600" y="186537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42632" y="1847088"/>
            <a:ext cx="422452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Kc3? gibi hamleler bilgi toplar.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086600" y="24323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42632" y="2414016"/>
            <a:ext cx="422452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Hakemin cevabı belief state’i küçültür.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086600" y="29992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342632" y="2980944"/>
            <a:ext cx="422452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Amaç her olası gerçek tahtada matı garanti etmektir.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086600" y="4983480"/>
            <a:ext cx="4480560" cy="868680"/>
          </a:xfrm>
          <a:prstGeom prst="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87768" y="5120640"/>
            <a:ext cx="407822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Garantili mat: Rakip nasıl oynarsa oynasın ve gerçek durum belief state içinde hangisi olursa olsun mat.</a:t>
            </a:r>
            <a:endParaRPr lang="en-US" sz="1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 oyunları: şans + eksik bilgi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Kartlar rastgele dağıtılır ama herkes aynı bilgiyi görmez.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16128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87552" y="1143000"/>
            <a:ext cx="5413248" cy="4873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Bridge, Hearts, Poker ve Scrabble kısmen gözlemlenebilirdir.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175564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87552" y="1737360"/>
            <a:ext cx="5413248" cy="4873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Görünmeyen kartlar için olasılıklar tutulabilir.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31520" y="235000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87552" y="2331720"/>
            <a:ext cx="5413248" cy="4873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Monte Carlo determinization: olası kart dağılımları örneklenir.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294436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87552" y="2926080"/>
            <a:ext cx="5413248" cy="4873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Her örnek “tam bilgi oyunuymuş” gibi çözülür ve ortalama alınır.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720840" y="1325880"/>
            <a:ext cx="44805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85432" y="1435608"/>
            <a:ext cx="4151376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örneği: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görünmeyen kart iki ele dağılır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C(26,13) = 10,400,600 olası dağıtım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720840" y="3200400"/>
            <a:ext cx="4480560" cy="914400"/>
          </a:xfrm>
          <a:prstGeom prst="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2008" y="3337560"/>
            <a:ext cx="407822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91C1C"/>
                </a:solidFill>
              </a:rPr>
              <a:t>Dikkat: Gelecekte her şeyi bilecekmiş gibi düşünmek “averaging over clairvoyance” hatasına yol açar.</a:t>
            </a:r>
            <a:endParaRPr lang="en-US" sz="1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oyun programları: ortak desen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Farklı oyunlar farklı teknik kombinasyonları gerektirir.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101041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Satranç: Alpha–Beta + güçlü evaluation + açılış/endgame tabloları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1837944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837944"/>
            <a:ext cx="101041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Backgammon: şans nedeniyle iyi evaluation ve rollout kritik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2532888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532888"/>
            <a:ext cx="101041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Go: büyük dallanma nedeniyle Monte Carlo Tree Search ailesi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77240" y="3227832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227832"/>
            <a:ext cx="101041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Bridge/Poker: eksik bilgi nedeniyle olasılık ve bilgi yönetimi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1143000" y="5074920"/>
            <a:ext cx="9829800" cy="749808"/>
          </a:xfrm>
          <a:prstGeom prst="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5212080"/>
            <a:ext cx="942746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Tek bir algoritma her oyuna yetmez; oyunun yapısı algoritmayı belirler.</a:t>
            </a:r>
            <a:endParaRPr lang="en-US" sz="1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programlar ve ana fikirleri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bölüm tarihsel oyun programlarını da özetler.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143000"/>
            <a:ext cx="10607040" cy="502920"/>
          </a:xfrm>
          <a:prstGeom prst="rect">
            <a:avLst/>
          </a:prstGeom>
          <a:solidFill>
            <a:srgbClr val="0F172A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527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Program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34640" y="12527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Oyun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46320" y="125272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Ana teknik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1709928"/>
            <a:ext cx="106070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96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Deep Blue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34640" y="181965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Satranç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46320" y="181965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Alpha–Beta, özel donanım, büyük evaluation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2276856"/>
            <a:ext cx="10607040" cy="50292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3865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TD-Gammon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834640" y="23865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Backgammon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46320" y="2386584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Reinforcement learning + neural network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2843784"/>
            <a:ext cx="106070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9535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Logistello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834640" y="29535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Othello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46320" y="295351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Alpha–Beta + ProbCut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77240" y="3410712"/>
            <a:ext cx="10607040" cy="50292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5204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GIB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834640" y="35204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Bridge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846320" y="35204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Monte Carlo + genel kurallar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77240" y="3977640"/>
            <a:ext cx="106070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0873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Quackle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2834640" y="408736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Scrabble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846320" y="40873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Olasılık + kelime üretimi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143000" y="5486400"/>
            <a:ext cx="9829800" cy="640080"/>
          </a:xfrm>
          <a:prstGeom prst="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44168" y="5623560"/>
            <a:ext cx="94274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</a:rPr>
              <a:t>Derin arama + iyi değerlendirme + iyi mühendislik birlikte güçlü oyun ajanı üretir.</a:t>
            </a:r>
            <a:endParaRPr lang="en-US" sz="1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Alternatif yaklaşımlar: Minimax her şeyi çözmez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hataları ve hesaplama maliyeti karar kalitesini etkiler.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16128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78992" y="1143000"/>
            <a:ext cx="55046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Heuristic Minimax yaprak değerleri doğruysa iyi çalışır.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172821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78992" y="1709928"/>
            <a:ext cx="55046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Gerçekte evaluation değerleri tahmindir ve hata içerir.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229514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78992" y="2276856"/>
            <a:ext cx="55046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Alpha–Beta bazen tek yasal hamlede bile ağacı genişletebilir; bu her zaman faydalı değildir.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" y="286207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•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78992" y="2843784"/>
            <a:ext cx="55046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Düğüm genişletmenin faydasını düşünmek gerekir.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812280" y="1325880"/>
            <a:ext cx="4389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6872" y="1435608"/>
            <a:ext cx="4059936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Metareasoning: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“Sadece hangi hamleyi değil, hangi hesaplamayı yapmaya değer olduğunu da düşün.”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12280" y="3291840"/>
            <a:ext cx="4389120" cy="960120"/>
          </a:xfrm>
          <a:prstGeom prst="rect">
            <a:avLst>
              <a:gd name="adj" fmla="val 761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13448" y="3429000"/>
            <a:ext cx="3986784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A580C"/>
                </a:solidFill>
              </a:rPr>
              <a:t>İnsanlar çoğu zaman hedef yönelimli düşünür: “rakibin vezirini sıkıştır”, “şah kanadını aç”.</a:t>
            </a:r>
            <a:endParaRPr lang="en-US" sz="1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Şekil 5.14: Heuristic Minimax hata yapabilir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Yaklaşık yaprak değerleri karar hatasına yol açabilir.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47</a:t>
            </a:r>
            <a:endParaRPr lang="en-US" sz="850" dirty="0"/>
          </a:p>
        </p:txBody>
      </p:sp>
      <p:pic>
        <p:nvPicPr>
          <p:cNvPr id="7" name="Image 0" descr="/mnt/data/image(20261006-131049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20282"/>
            <a:ext cx="5989320" cy="22195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86600" y="120700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42632" y="1188720"/>
            <a:ext cx="417880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Sağ dalın minimax değeri 100, sol dalın 99 görünür.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086600" y="177393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42632" y="1755648"/>
            <a:ext cx="417880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Ama bu değerler yalnızca tahmindir.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086600" y="23408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42632" y="2322576"/>
            <a:ext cx="417880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Sol dalın kardeşleri 1000 civarında olduğu için 99 şüpheli olabilir.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086600" y="290779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342632" y="2889504"/>
            <a:ext cx="417880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Küçük evaluation hataları en iyi hamleyi değiştirebilir.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086600" y="5047488"/>
            <a:ext cx="4434840" cy="749808"/>
          </a:xfrm>
          <a:prstGeom prst="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87768" y="5184648"/>
            <a:ext cx="403250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Ders mesajı: Daha derin arama her zaman yeterli değildir; evaluation kalitesi de kritik.</a:t>
            </a:r>
            <a:endParaRPr lang="en-US" sz="1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Alıştırma örneği: Pursuit–Evasion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Şekil 5.16’daki takipçi-kaçan oyununu okuyalım.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48</a:t>
            </a:r>
            <a:endParaRPr lang="en-US" sz="850" dirty="0"/>
          </a:p>
        </p:txBody>
      </p:sp>
      <p:pic>
        <p:nvPicPr>
          <p:cNvPr id="7" name="Image 0" descr="/mnt/data/image(20261006-131359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357" y="1207008"/>
            <a:ext cx="5257087" cy="448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0" y="134416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571232" y="1325880"/>
            <a:ext cx="404164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Durum etiketi “bd”: P=b, E=d.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0" y="191109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571232" y="1892808"/>
            <a:ext cx="404164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 takipçidir ve hızlı yakalamak ister.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0" y="247802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571232" y="2459736"/>
            <a:ext cx="404164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Utility = −toplam süre; erken yakalama daha iyidir.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315200" y="304495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571232" y="3026664"/>
            <a:ext cx="404164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 ilk hamlede b→c oynarsa en iyi garanti −4 olur.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315200" y="5074920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79792" y="5184648"/>
            <a:ext cx="39684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terminal: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→ cd → ce → de → dd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hamle → utility = −4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Alıştırma örneği: Döngülü oyun ağacı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Şekil 5.17 standart Minimax için küçük ama önemli bir tuzaktır.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49</a:t>
            </a:r>
            <a:endParaRPr lang="en-US" sz="850" dirty="0"/>
          </a:p>
        </p:txBody>
      </p:sp>
      <p:pic>
        <p:nvPicPr>
          <p:cNvPr id="7" name="Image 0" descr="/mnt/data/image(20261006-131409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18869"/>
            <a:ext cx="5852160" cy="21194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0" y="12527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205472" y="1234440"/>
            <a:ext cx="41330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 önce oynar, hedef 4’e ulaşmaktır.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949440" y="181965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205472" y="1801368"/>
            <a:ext cx="41330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B’nin hedefi 1’e ulaşmaktır.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949440" y="238658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205472" y="2368296"/>
            <a:ext cx="41330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Bazı durumlar tekrar edebilir; oyun ağacı sonsuz döngüye girebilir.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949440" y="295351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205472" y="2935224"/>
            <a:ext cx="413308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Standart Minimax ağaç varsaydığı için loop detection gerekir.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05840" y="4892040"/>
            <a:ext cx="10058400" cy="685800"/>
          </a:xfrm>
          <a:prstGeom prst="rect">
            <a:avLst>
              <a:gd name="adj" fmla="val 10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07008" y="5029200"/>
            <a:ext cx="965606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4 karelik oyunda A kazanır; genellemede n çiftse A, n tekse B kazanır.</a:t>
            </a:r>
            <a:endParaRPr lang="en-US" sz="1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Alıştırma fikri: Alpha–Beta doğruluğu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Şekil 5.18 budamanın neden güvenli olduğunu ispatlamak için kullanılır.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50</a:t>
            </a:r>
            <a:endParaRPr lang="en-US" sz="850" dirty="0"/>
          </a:p>
        </p:txBody>
      </p:sp>
      <p:pic>
        <p:nvPicPr>
          <p:cNvPr id="7" name="Image 0" descr="/mnt/data/image(20261006-13142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61875"/>
            <a:ext cx="5303520" cy="2945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20840" y="129844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976872" y="1280160"/>
            <a:ext cx="431596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nⱼ değerinin kökün kararını etkileyip etkilemediğine bakılır.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720840" y="186537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976872" y="1847088"/>
            <a:ext cx="431596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Eğer daha yukarıda oyuncunun daha iyi garantisi varsa nⱼ önemsizdir.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720840" y="24323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976872" y="2414016"/>
            <a:ext cx="431596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MAX düğümünde v ≥ β ise beta cutoff oluşur.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720840" y="29992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•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976872" y="2980944"/>
            <a:ext cx="4315968" cy="46488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MIN düğümünde v ≤ α ise alpha cutoff oluşur.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720840" y="4983480"/>
            <a:ext cx="4572000" cy="749808"/>
          </a:xfrm>
          <a:prstGeom prst="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22008" y="5120640"/>
            <a:ext cx="416966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A580C"/>
                </a:solidFill>
              </a:rPr>
              <a:t>Budama ancak kökün Minimax değerinden bağımsız olduğu gösterilen dalda güvenlidir.</a:t>
            </a:r>
            <a:endParaRPr lang="en-US" sz="1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Alıştırma örneği: Chance node’larda budama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Şekil 5.19 küçük bir expectiminimax ağacıdır.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51</a:t>
            </a:r>
            <a:endParaRPr lang="en-US" sz="850" dirty="0"/>
          </a:p>
        </p:txBody>
      </p:sp>
      <p:pic>
        <p:nvPicPr>
          <p:cNvPr id="7" name="Image 0" descr="/mnt/data/image(20261006-13143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36137"/>
            <a:ext cx="5806440" cy="243358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12280" y="1143000"/>
            <a:ext cx="43891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76872" y="1252728"/>
            <a:ext cx="4059936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değerleri: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min(2,2)=2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min(1,2)=1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min(0,2)=0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min(−1,0)=−1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812280" y="2971800"/>
            <a:ext cx="43891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76872" y="3081528"/>
            <a:ext cx="4059936" cy="1380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 değerleri: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 = 0.5·2 + 0.5·1 = 1.5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Sağ = 0.5·0 + 0.5·(−1) = −0.5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Kök MAX → sol dal seçilir.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14400" y="5166360"/>
            <a:ext cx="10241280" cy="749808"/>
          </a:xfrm>
          <a:prstGeom prst="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5303520"/>
            <a:ext cx="983894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Eğer yaprak değerleri [−2,2] ile sınırlıysa, bazı chance sonuçları üst sınırdan dolayı değerlendirilmeden budanabilir.</a:t>
            </a:r>
            <a:endParaRPr lang="en-US" sz="1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Formül sayfası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Sınav ve ödev için en kritik ifadeler.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68680" y="114300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252728"/>
            <a:ext cx="3145536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düğümü: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V(s)=maxₐ V(RESULT(s,a))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34840" y="114300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252728"/>
            <a:ext cx="3145536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düğümü: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V(s)=minₐ V(RESULT(s,a))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01000" y="114300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592" y="1252728"/>
            <a:ext cx="3145536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 düğümü: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V(s)=Σᵣ P(r)V(RESULT(s,r))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8680" y="292608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3035808"/>
            <a:ext cx="3145536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Alpha–Beta: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MAX: v ≥ β → buda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MIN: v ≤ α → buda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434840" y="292608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3035808"/>
            <a:ext cx="3145536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Minimax: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yerine cutoff durumunda EVAL(s)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01000" y="292608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3035808"/>
            <a:ext cx="3145536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EVAL(s)=Σᵢ wᵢfᵢ(s)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05840" y="5166360"/>
            <a:ext cx="10149840" cy="749808"/>
          </a:xfrm>
          <a:prstGeom prst="rect">
            <a:avLst>
              <a:gd name="adj" fmla="val 97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7008" y="5303520"/>
            <a:ext cx="974750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</a:rPr>
              <a:t>Hangi düğüm tipindeyim? MAX mı, MIN mi, CHANCE mı? Bu soruyu doğru cevaplamak çözümün yarısıdır.</a:t>
            </a:r>
            <a:endParaRPr lang="en-US" sz="1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Öğrencilerin sık yaptığı hatalar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hatalara özellikle dikkat edin.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115568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</a:rPr>
              <a:t>1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188720" y="1115568"/>
            <a:ext cx="101955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11827"/>
                </a:solidFill>
              </a:rPr>
              <a:t>MIN düğümünde maksimum almak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77240" y="1746504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88720" y="1746504"/>
            <a:ext cx="101955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11827"/>
                </a:solidFill>
              </a:rPr>
              <a:t>Utility değerlerinin MAX açısından olduğunu unutmak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</a:rPr>
              <a:t>3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188720" y="2377440"/>
            <a:ext cx="101955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11827"/>
                </a:solidFill>
              </a:rPr>
              <a:t>Alpha–Beta’nin sonucu değiştirdiğini sanmak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77240" y="3008376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</a:rPr>
              <a:t>4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188720" y="3008376"/>
            <a:ext cx="101955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11827"/>
                </a:solidFill>
              </a:rPr>
              <a:t>Chance düğümünde max/min almak yerine beklenen değer alınacağını unutmak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77240" y="3639312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</a:rPr>
              <a:t>5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188720" y="3639312"/>
            <a:ext cx="101955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11827"/>
                </a:solidFill>
              </a:rPr>
              <a:t>Evaluation değerini gerçek utility gibi yorumlamak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777240" y="4270248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</a:rPr>
              <a:t>6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188720" y="4270248"/>
            <a:ext cx="101955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11827"/>
                </a:solidFill>
              </a:rPr>
              <a:t>Kısmen gözlemlenebilir oyunda rakibin gizli bilgisini biliyormuş gibi davranmak</a:t>
            </a:r>
            <a:endParaRPr lang="en-US" sz="1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Ders içi mini etkinlikler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konudan sonra hızlı kontrol soruları.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115568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1115568"/>
            <a:ext cx="103784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Şekil 5.2’de C’nin yaprakları 2,4,6 yerine 7,4,6 olsaydı kök kararı değişir miydi?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1828800"/>
            <a:ext cx="103784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Figure 5.5’te D’nin ilk çocuğu 2 olsaydı hangi yapraklar budanırdı?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542032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43000" y="2542032"/>
            <a:ext cx="103784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Bir pozisyon materyal olarak iyi ama vezir düşüyorsa EVAL neden hatalı olabilir?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255264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43000" y="3255264"/>
            <a:ext cx="103784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Chance node’da 0.9 olasılıklı kötü sonuç ve 0.1 olasılıklı çok iyi sonuç varsa karar nasıl etkilenir?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968496"/>
            <a:ext cx="29260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43000" y="3968496"/>
            <a:ext cx="103784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Pokerde blöf neden tam bilgili oyun mantığıyla açıklanamaz?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Ünite 5’in kısa özeti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786384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8503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cümlelik bağlantılar.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Ünite 5 • Çekişmeli Arama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114300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252728"/>
            <a:ext cx="287121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Deterministik + tam bilgi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Minimax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80560" y="114300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252728"/>
            <a:ext cx="287121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 + gereksiz dalları atma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Alpha–Beta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114300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1252728"/>
            <a:ext cx="287121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Derin ağaç + zaman sınırı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Cutoff + EVAL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274320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852928"/>
            <a:ext cx="287121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Şans içeren oyun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Expectiminimax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480560" y="274320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852928"/>
            <a:ext cx="287121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Eksik bilgi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Belief state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38160" y="274320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2852928"/>
            <a:ext cx="287121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 zamanlı karar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Metareasoning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05840" y="4892040"/>
            <a:ext cx="10241280" cy="868680"/>
          </a:xfrm>
          <a:prstGeom prst="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7008" y="5029200"/>
            <a:ext cx="983894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Bu ünitenin ana dersi: İyi oyun ajanı, yalnızca hamleleri değil; rakibi, zamanı, belirsizliği ve bilgiyi birlikte düşünür.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Istanbul 29 Mayıs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Ünite 5 - Çekişmeli Arama Ders Slaytı</dc:title>
  <dc:subject>Ünite 5 - Çekişmeli Arama</dc:subject>
  <dc:creator>OpenAI</dc:creator>
  <cp:lastModifiedBy>OpenAI</cp:lastModifiedBy>
  <cp:revision>1</cp:revision>
  <dcterms:created xsi:type="dcterms:W3CDTF">2026-10-06T17:29:42Z</dcterms:created>
  <dcterms:modified xsi:type="dcterms:W3CDTF">2026-10-06T17:29:42Z</dcterms:modified>
</cp:coreProperties>
</file>