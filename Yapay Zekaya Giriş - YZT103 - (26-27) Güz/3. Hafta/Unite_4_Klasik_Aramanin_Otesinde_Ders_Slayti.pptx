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hapter4_assets/offline_online_flow.png">    </p:cNvPr>
          <p:cNvPicPr>
            <a:picLocks noChangeAspect="1"/>
          </p:cNvPicPr>
          <p:nvPr/>
        </p:nvPicPr>
        <p:blipFill>
          <a:blip r:embed="rId1"/>
          <a:srcRect l="0" r="0" t="31147" b="31147"/>
          <a:stretch/>
        </p:blipFill>
        <p:spPr>
          <a:xfrm>
            <a:off x="0" y="0"/>
            <a:ext cx="12191695" cy="1920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ÜNİTE 4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94360" y="26974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Klasik Aramanın Ötesinde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12648" y="341071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Yerel arama · Belirsizlik · Kısmi gözlem · Online arama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4160520"/>
            <a:ext cx="10927080" cy="77724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Bu slayt seti, öğrencilerin ilk kez gördüğü kavramları adım adım açıklamak için hazırlanmıştır. Her ana konunun sonunda örnek ve yorum bölümü vardır.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8368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Artificial Intelligence: A Modern Approach — Chapter 4 temelli Türkçe ders slaytı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Ders akışı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 ünitede ne öğreneceğiz?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Klasik aramanın varsayımlarını gevşetiyoruz.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GENEL BAKIŞ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566928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111827"/>
                </a:solidFill>
              </a:rPr>
              <a:t>Yolun değil, son durumun önemli olduğu optimizasyon problemleri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</a:rPr>
              <a:t>Hill climbing, simulated annealing, local beam search ve genetik algoritmalar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</a:rPr>
              <a:t>Deterministik olmayan eylemler ve AND–OR arama ağaçları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</a:rPr>
              <a:t>Kısmi gözlem durumunda belief state mantığı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</a:rPr>
              <a:t>Bilinmeyen ortamlarda online search ve LRTA*</a:t>
            </a:r>
            <a:endParaRPr lang="en-US" sz="2000" dirty="0"/>
          </a:p>
        </p:txBody>
      </p:sp>
      <p:pic>
        <p:nvPicPr>
          <p:cNvPr id="10" name="Image 0" descr="/mnt/data/chapter4_assets/offline_onlin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4091" y="1828800"/>
            <a:ext cx="4596938" cy="1920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20840" y="3794760"/>
            <a:ext cx="46634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Ünite 4: arama türlerinin büyük resmi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629400" y="4297680"/>
            <a:ext cx="4800600" cy="868680"/>
          </a:xfrm>
          <a:prstGeom prst="rect">
            <a:avLst/>
          </a:prstGeom>
          <a:solidFill>
            <a:srgbClr val="FFF7ED"/>
          </a:solidFill>
          <a:ln w="15240">
            <a:solidFill>
              <a:srgbClr val="C2410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Ana fikir: Gerçek dünya, çoğu zaman “tam bilinen, deterministik ve tamamen gözlemlenebilir” değildir.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Ders akışı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Klasik arama neden yetmez?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Bölüm 3’te güçlü ama basitleştirilmiş varsayımlar vardı.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MOTİVASYON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580644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111827"/>
                </a:solidFill>
              </a:rPr>
              <a:t>Bölüm 3: çözüm çoğunlukla başlangıçtan hedefe giden eylem dizisiydi.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Ama bazı problemlerde hangi yoldan gidildiği değil, hangi son duruma ulaşıldığı önemlidir.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Bazı ortamlarda aynı eylem farklı sonuçlar doğurur.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Bazı ortamlarda ajan gerçek durumu tam göremez.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Bazı ortamlarda harita veya eylem sonuçları baştan bilinmez.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12280" y="1554480"/>
            <a:ext cx="4160520" cy="59436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Klasik arama: “planı bul, sonra uygula”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812280" y="2377440"/>
            <a:ext cx="4160520" cy="59436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4: “ara, dene, gözle, öğren”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75120" y="3703320"/>
            <a:ext cx="4526280" cy="100584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Örnek: Yeni bir binaya giren robot, bütün koridorları önceden bilemez; dolaşırken öğrenmek zorundadır.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Yerel arama ve optimizasyon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4.1 Yerel Arama ve Optimizasyon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31546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64748B"/>
                </a:solidFill>
              </a:rPr>
              <a:t>Yol önemli değilse, çözümü “durum uzayında iyi bir nokta bulma” olarak düşünürüz.</a:t>
            </a:r>
            <a:endParaRPr lang="en-US" sz="1900" dirty="0"/>
          </a:p>
        </p:txBody>
      </p:sp>
      <p:pic>
        <p:nvPicPr>
          <p:cNvPr id="7" name="Image 0" descr="/mnt/data/image(20261006-12335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8522" y="3794760"/>
            <a:ext cx="3064476" cy="182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34640" y="5669280"/>
            <a:ext cx="64922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Figure 4.1: amaç fonksiyonu manzarası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Yerel arama ve optimizasyon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Yerel arama fikri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Tek bir mevcut durumdan komşu durumlara geçerek ilerler.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4.1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548640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111827"/>
                </a:solidFill>
              </a:rPr>
              <a:t>Klasik arama: yolları ve alternatifleri bellekte tutar.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Yerel arama: genelde yalnızca mevcut durumu ve komşularını dikkate alır.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Avantaj: çok az bellek kullanır.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Avantaj: büyük veya sürekli durum uzaylarında makul çözümler bulabilir.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Dezavantaj: optimal çözüm garantisi çoğu zaman yoktur.</a:t>
            </a:r>
            <a:endParaRPr lang="en-US" sz="1900" dirty="0"/>
          </a:p>
        </p:txBody>
      </p:sp>
      <p:pic>
        <p:nvPicPr>
          <p:cNvPr id="10" name="Image 0" descr="/mnt/data/image(20261006-12335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4731" y="1417320"/>
            <a:ext cx="4749937" cy="2834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46520" y="4297680"/>
            <a:ext cx="5166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Durum uzayı bir “arazi” gibi düşünülebilir.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537960" y="4736592"/>
            <a:ext cx="4846320" cy="685800"/>
          </a:xfrm>
          <a:prstGeom prst="rect">
            <a:avLst/>
          </a:prstGeom>
          <a:solidFill>
            <a:srgbClr val="F0FDF4"/>
          </a:solidFill>
          <a:ln w="15240">
            <a:solidFill>
              <a:srgbClr val="16653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Örnek: 8-vezir probleminde vezirleri hangi sırayla koyduğumuz değil, son tahtanın geçerli olup olmadığı önemlidir.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Yerel arama ve optimizasyon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State-space landscape: manzara metaforu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Amaç fonksiyonu yüksekliği belirler.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4.1</a:t>
            </a:r>
            <a:endParaRPr lang="en-US" sz="1050" dirty="0"/>
          </a:p>
        </p:txBody>
      </p:sp>
      <p:pic>
        <p:nvPicPr>
          <p:cNvPr id="9" name="Image 0" descr="/mnt/data/image(20261006-12335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34440"/>
            <a:ext cx="5669280" cy="3383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4663440"/>
            <a:ext cx="5669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Figure 4.1: global maksimum, local maksimum, plato ve shoulder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29400" y="1417320"/>
            <a:ext cx="475488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Yatay eksen: durum uzayı.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Dikey eksen: amaç fonksiyonu değeri.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Global maksimum: bütün uzaydaki en iyi nokta.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Local maksimum: komşularından iyi ama global olarak en iyi değil.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Plateau/shoulder: algoritmanın karar vermekte zorlandığı düz bölgeler.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629400" y="5074920"/>
            <a:ext cx="4754880" cy="822960"/>
          </a:xfrm>
          <a:prstGeom prst="rect">
            <a:avLst/>
          </a:prstGeom>
          <a:solidFill>
            <a:srgbClr val="FFF7ED"/>
          </a:solidFill>
          <a:ln w="15240">
            <a:solidFill>
              <a:srgbClr val="C2410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Mini örnek: Bulunduğun değer 80, komşular 75–78 ise hill climbing durur. Ama uzakta 100 değerli global maksimum olabilir.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Yerel arama ve optimizasyon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Hill climbing: en temel yerel arama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Her adımda daha iyi komşuya git.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HILL CLIMBING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530352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111827"/>
                </a:solidFill>
              </a:rPr>
              <a:t>Mevcut durumun komşularını değerlendirir.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En iyi komşu mevcut durumdan daha iyiyse ona geçer.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Daha iyi komşu yoksa durur.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Arama ağacı tutmaz; sadece mevcut durum ve değer yeterlidir.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4617720"/>
            <a:ext cx="4937760" cy="566928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neighbor.VALUE ≤ current.VALUE ise dur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46520" y="1417320"/>
            <a:ext cx="4846320" cy="96012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Öğrenci benzetmesi: Sisli havada dağın zirvesine çıkmaya çalışıyorsun. Sadece hemen etrafındaki eğimi görebiliyorsun.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6520" y="2880360"/>
            <a:ext cx="4846320" cy="960120"/>
          </a:xfrm>
          <a:prstGeom prst="rect">
            <a:avLst/>
          </a:prstGeom>
          <a:solidFill>
            <a:srgbClr val="F0FDF4"/>
          </a:solidFill>
          <a:ln w="15240">
            <a:solidFill>
              <a:srgbClr val="16653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Örnek: f(A)=10, komşular B=14, C=12 ise B’ye git. Sonraki turda B’nin komşularına bak.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4343400"/>
            <a:ext cx="4846320" cy="960120"/>
          </a:xfrm>
          <a:prstGeom prst="rect">
            <a:avLst/>
          </a:prstGeom>
          <a:solidFill>
            <a:srgbClr val="FFF7ED"/>
          </a:solidFill>
          <a:ln w="15240">
            <a:solidFill>
              <a:srgbClr val="C2410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Risk: Yakındaki en iyi hamle, uzun vadede kötü bir bölgeye götürebilir. Algoritma ileriye bakmaz.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Yerel arama ve optimizasyon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8-vezir örneği: h(s) maliyet fonksiyonu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Amaç: saldıran vezir çifti sayısını sıfıra indirmek.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ÖRNEK</a:t>
            </a:r>
            <a:endParaRPr lang="en-US" sz="1050" dirty="0"/>
          </a:p>
        </p:txBody>
      </p:sp>
      <p:pic>
        <p:nvPicPr>
          <p:cNvPr id="9" name="Image 0" descr="/mnt/data/image(20261006-12340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70353"/>
            <a:ext cx="5715000" cy="390581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57150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Figure 4.3: solda h=17, sağda local minimum h=1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29400" y="1325880"/>
            <a:ext cx="466344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Her sütunda bir vezir vardır.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Komşu durum: bir veziri aynı sütunda başka satıra taşı.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Her state için 8×7=56 komşu vardır.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h(s)=saldıran vezir çiftlerinin sayısı.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Hedef: h(s)=0.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629400" y="3977640"/>
            <a:ext cx="4663440" cy="86868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Şekildeki karelerde yazan değerler, vezir o kareye taşınırsa oluşacak yeni h değeridir. En küçük h en iyi hamledir.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629400" y="5074920"/>
            <a:ext cx="4663440" cy="868680"/>
          </a:xfrm>
          <a:prstGeom prst="rect">
            <a:avLst/>
          </a:prstGeom>
          <a:solidFill>
            <a:srgbClr val="FFF7ED"/>
          </a:solidFill>
          <a:ln w="15240">
            <a:solidFill>
              <a:srgbClr val="C2410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Sağdaki durumda h=1 olmasına rağmen her tek hamle h değerini artırır. Bu yüzden algoritma çözüme çok yakınken bile takılabilir.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Yerel arama ve optimizasyon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Hill climbing neden takılır?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Üç klasik tuzak: local optimum, ridge, plateau.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TUZAKLAR</a:t>
            </a:r>
            <a:endParaRPr lang="en-US" sz="1050" dirty="0"/>
          </a:p>
        </p:txBody>
      </p:sp>
      <p:pic>
        <p:nvPicPr>
          <p:cNvPr id="9" name="Image 0" descr="/mnt/data/image(20261006-12341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586" y="1234440"/>
            <a:ext cx="4969428" cy="3200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4480560"/>
            <a:ext cx="57150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Figure 4.4: ridge, yani sırt problemi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29400" y="1325880"/>
            <a:ext cx="480060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Local maximum/minimum: komşulara göre iyi ama global olarak iyi değil.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Ridge: doğru ilerleme yönü mevcut hareketlerle doğrudan yakalanamaz.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Plateau: birçok komşu aynı değerde olduğu için ilerleme yönü belirsizdir.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Shoulder: plato gibi görünür ama ileride çıkış vardır.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629400" y="4572000"/>
            <a:ext cx="4800600" cy="914400"/>
          </a:xfrm>
          <a:prstGeom prst="rect">
            <a:avLst/>
          </a:prstGeom>
          <a:solidFill>
            <a:srgbClr val="FFF7ED"/>
          </a:solidFill>
          <a:ln w="15240">
            <a:solidFill>
              <a:srgbClr val="C2410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Ridge örneği: En iyi yol çapraz ilerlemeyi gerektirir; ama izin verilen hamleler sadece sağ/sol/yukarı/aşağı ise algoritma her yönde kötüleşme görebilir.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Yerel arama ve optimizasyon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Sideways move ve random restart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Takılmayı azaltmak için iki basit fikir.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VARYANTLAR</a:t>
            </a:r>
            <a:endParaRPr lang="en-US" sz="1050" dirty="0"/>
          </a:p>
        </p:txBody>
      </p:sp>
      <p:pic>
        <p:nvPicPr>
          <p:cNvPr id="9" name="Image 0" descr="/mnt/data/chapter4_assets/8queens_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26464"/>
            <a:ext cx="5303520" cy="31821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4663440"/>
            <a:ext cx="5303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8-vezir için başarı oranı karşılaştırması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92240" y="1325880"/>
            <a:ext cx="4892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80" dirty="0">
                <a:solidFill>
                  <a:srgbClr val="111827"/>
                </a:solidFill>
              </a:rPr>
              <a:t>Sideways move: aynı değerdeki komşuya sınırlı sayıda geçişe izin verir.</a:t>
            </a:r>
            <a:endParaRPr lang="en-US" sz="1780" dirty="0"/>
          </a:p>
          <a:p>
            <a:r>
              <a:rPr lang="en-US" sz="1780" dirty="0">
                <a:solidFill>
                  <a:srgbClr val="111827"/>
                </a:solidFill>
              </a:rPr>
              <a:t>Random restart: takılırsa rastgele başka başlangıçtan tekrar başlar.</a:t>
            </a:r>
            <a:endParaRPr lang="en-US" sz="1780" dirty="0"/>
          </a:p>
          <a:p>
            <a:r>
              <a:rPr lang="en-US" sz="1780" dirty="0">
                <a:solidFill>
                  <a:srgbClr val="111827"/>
                </a:solidFill>
              </a:rPr>
              <a:t>8-vezirde normal hill climbing yaklaşık %14 başarı verir.</a:t>
            </a:r>
            <a:endParaRPr lang="en-US" sz="1780" dirty="0"/>
          </a:p>
          <a:p>
            <a:r>
              <a:rPr lang="en-US" sz="1780" dirty="0">
                <a:solidFill>
                  <a:srgbClr val="111827"/>
                </a:solidFill>
              </a:rPr>
              <a:t>Sideways move ile başarı oranı yaklaşık %94’e çıkabilir.</a:t>
            </a:r>
            <a:endParaRPr lang="en-US" sz="1780" dirty="0"/>
          </a:p>
          <a:p>
            <a:r>
              <a:rPr lang="en-US" sz="1780" dirty="0">
                <a:solidFill>
                  <a:srgbClr val="111827"/>
                </a:solidFill>
              </a:rPr>
              <a:t>Random restart: başarı olasılığı p ise beklenen deneme sayısı 1/p.</a:t>
            </a:r>
            <a:endParaRPr lang="en-US" sz="1780" dirty="0"/>
          </a:p>
        </p:txBody>
      </p:sp>
      <p:sp>
        <p:nvSpPr>
          <p:cNvPr id="12" name="Text 9"/>
          <p:cNvSpPr/>
          <p:nvPr/>
        </p:nvSpPr>
        <p:spPr>
          <a:xfrm>
            <a:off x="6492240" y="4983480"/>
            <a:ext cx="4892040" cy="50292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Beklenen restart sayısı = 1 / p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Yerel arama ve optimizasyon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Simulated annealing: kontrollü kötü hamle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Başta keşif, sonra kararlı iyileştirme.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SA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548640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Hill climbing kötü hamle yapmadığı için local optimumda takılabilir.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Simulated annealing bazen kötü hamleleri kabul eder.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Başlangıçta sıcaklık T yüksektir: kötü hamle olasılığı daha fazladır.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Zamanla T azalır: algoritma giderek daha seçici olur.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Yavaş soğutma, global optimum bulma ihtimalini artırır.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1417320"/>
            <a:ext cx="4572000" cy="64008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P(kötü hamle) = e^(ΔE / T)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572000" cy="105156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Sayısal örnek: ΔE=-4 ve T=10 ise P≈e^-0.4≈0.67. Aynı kötü hamle T=1 iken P≈e^-4≈0.018 olur.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3977640"/>
            <a:ext cx="4572000" cy="960120"/>
          </a:xfrm>
          <a:prstGeom prst="rect">
            <a:avLst/>
          </a:prstGeom>
          <a:solidFill>
            <a:srgbClr val="FFF7ED"/>
          </a:solidFill>
          <a:ln w="15240">
            <a:solidFill>
              <a:srgbClr val="C2410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Metafor: Metal önce ısıtılır, sonra yavaşça soğutulur. Aramada da önce büyük sıçramalar, sonra ince ayar yapılır.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Yerel arama ve optimizasyon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beam search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Tek durum yerine k adet durum birlikte takip edilir.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BEAM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55778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Başlangıçta k adet rastgele durum seçilir.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Her adımda tüm k durumun tüm komşuları üretilir.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Aday havuzundan en iyi k durum seçilir.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Random restart’tan farkı: iyi bölgeler diğer arama kollarını kendine çeker.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Sorun: çeşitlilik kaybı; tüm k durum aynı bölgeye toplanabilir.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1417320"/>
            <a:ext cx="4709160" cy="914400"/>
          </a:xfrm>
          <a:prstGeom prst="rect">
            <a:avLst/>
          </a:prstGeom>
          <a:solidFill>
            <a:srgbClr val="F0FDF4"/>
          </a:solidFill>
          <a:ln w="15240">
            <a:solidFill>
              <a:srgbClr val="16653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Mini örnek: k=3 ve her state’in 10 komşusu varsa 30 aday üretilir; en iyi 3 aday yeni beam olur.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743200"/>
            <a:ext cx="4709160" cy="91440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Stochastic beam search: en iyi k durumu kesin seçmek yerine, daha iyi adaylara daha yüksek olasılık vererek rastgele seçim yapar.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537960" y="4069080"/>
            <a:ext cx="4709160" cy="777240"/>
          </a:xfrm>
          <a:prstGeom prst="rect">
            <a:avLst/>
          </a:prstGeom>
          <a:solidFill>
            <a:srgbClr val="FFF7ED"/>
          </a:solidFill>
          <a:ln w="15240">
            <a:solidFill>
              <a:srgbClr val="C2410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Doğal seçilim bağlantısı: başarılı adayların sonraki nesle geçme ihtimali daha yüksektir.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Yerel arama ve optimizasyon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Genetik algoritmalar: evrimsel arama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Popülasyon, fitness, seçim, çaprazlama ve mutasyon.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GA</a:t>
            </a:r>
            <a:endParaRPr lang="en-US" sz="1050" dirty="0"/>
          </a:p>
        </p:txBody>
      </p:sp>
      <p:pic>
        <p:nvPicPr>
          <p:cNvPr id="9" name="Image 0" descr="/mnt/data/image(20261006-12343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5153"/>
            <a:ext cx="6080760" cy="278181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4343400"/>
            <a:ext cx="60807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Figure 4.6: 8-vezir durumları için genetik algoritma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949440" y="1371600"/>
            <a:ext cx="43891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Population: aday çözümler kümesi.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Individual: tek bir aday çözüm.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Fitness: adayın ne kadar iyi olduğunu ölçer.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Selection: iyi bireyler daha yüksek olasılıkla seçilir.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Crossover + mutation: yeni nesil oluşturur.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949440" y="4343400"/>
            <a:ext cx="4389120" cy="86868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8-vezirde fitness, saldırmayan vezir çiftlerinin sayısı olabilir. Maksimum değer C(8,2)=28’dir.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Yerel arama ve optimizasyon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Crossover: iyi parçaları birleştirmek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İki ebeveyn dizisinden çocuk üretme.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GA</a:t>
            </a:r>
            <a:endParaRPr lang="en-US" sz="1050" dirty="0"/>
          </a:p>
        </p:txBody>
      </p:sp>
      <p:pic>
        <p:nvPicPr>
          <p:cNvPr id="9" name="Image 0" descr="/mnt/data/image(20261006-123438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40163"/>
            <a:ext cx="5715000" cy="221171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703320"/>
            <a:ext cx="57150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Figure 4.7: çaprazlama sonucu oluşan 8-vezir durumu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92240" y="1417320"/>
            <a:ext cx="4892040" cy="64008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327|52411  +  247|48552  →  327|48552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629400" y="2377440"/>
            <a:ext cx="46634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50" dirty="0">
                <a:solidFill>
                  <a:srgbClr val="111827"/>
                </a:solidFill>
              </a:rPr>
              <a:t>Çaprazlama noktası seçilir.</a:t>
            </a:r>
            <a:endParaRPr lang="en-US" sz="1750" dirty="0"/>
          </a:p>
          <a:p>
            <a:r>
              <a:rPr lang="en-US" sz="1750" dirty="0">
                <a:solidFill>
                  <a:srgbClr val="111827"/>
                </a:solidFill>
              </a:rPr>
              <a:t>Çocuğun ilk kısmı bir ebeveynden, kalan kısmı diğerinden gelir.</a:t>
            </a:r>
            <a:endParaRPr lang="en-US" sz="1750" dirty="0"/>
          </a:p>
          <a:p>
            <a:r>
              <a:rPr lang="en-US" sz="1750" dirty="0">
                <a:solidFill>
                  <a:srgbClr val="111827"/>
                </a:solidFill>
              </a:rPr>
              <a:t>Amaç: ayrı ayrı iyi çalışan alt yapıların birleştirilmesidir.</a:t>
            </a:r>
            <a:endParaRPr lang="en-US" sz="1750" dirty="0"/>
          </a:p>
          <a:p>
            <a:r>
              <a:rPr lang="en-US" sz="1750" dirty="0">
                <a:solidFill>
                  <a:srgbClr val="111827"/>
                </a:solidFill>
              </a:rPr>
              <a:t>Mutasyon küçük rastgele değişikliklerle çeşitlilik sağlar.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22960" y="4663440"/>
            <a:ext cx="10515600" cy="731520"/>
          </a:xfrm>
          <a:prstGeom prst="rect">
            <a:avLst/>
          </a:prstGeom>
          <a:solidFill>
            <a:srgbClr val="F0FDF4"/>
          </a:solidFill>
          <a:ln w="15240">
            <a:solidFill>
              <a:srgbClr val="16653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Öğrenci örneği: Bir çözümün ilk 3 veziri çok iyi, başka çözümün son 5 veziri çok iyiyse crossover bunları tek çocukta birleştirebilir.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Sürekli uzaylarda yerel arama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4.2 Sürekli Uzaylarda Yerel Arama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1188720" y="315468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64748B"/>
                </a:solidFill>
              </a:rPr>
              <a:t>Durumlar artık sınırlı bir liste değil; koordinatlar ve gerçek sayılarla tanımlanır.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108960" y="3977640"/>
            <a:ext cx="5943600" cy="68580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(x₁, y₁, x₂, y₂, x₃, y₃)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Sürekli uzaylarda yerel arama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Sürekli uzaylarda problem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Gerçek dünyada konumlar, açılar ve hızlar çoğu zaman süreklidir.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4.2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5577840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Ayrık uzay: sınırlı sayıda komşu vardır.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Sürekli uzay: teorik olarak sonsuz sayıda komşu olabilir.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Çözüm: uzayı ayrıklaştırmak veya gradyan gibi matematiksel yön bilgisi kullanmak.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Örnek problem: Romanya’da 3 havaalanını şehirlerden ortalama uzaklık minimum olacak şekilde yerleştirmek.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1508760"/>
            <a:ext cx="4937760" cy="713232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Σ[(xᵢ−x_c)² + (yᵢ−y_c)²]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4937760" cy="96012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Durum artık altı değişkenlidir: üç havaalanı × iki koordinat. Bir havaalanını azıcık hareket ettirmek bile yeni bir state oluşturur.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492240" y="4069080"/>
            <a:ext cx="4937760" cy="914400"/>
          </a:xfrm>
          <a:prstGeom prst="rect">
            <a:avLst/>
          </a:prstGeom>
          <a:solidFill>
            <a:srgbClr val="F0FDF4"/>
          </a:solidFill>
          <a:ln w="15240">
            <a:solidFill>
              <a:srgbClr val="16653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Örnek: x=2, gradyan=4, adım büyüklüğü α=0.1 ise yeni x=2+0.1×4=2.4 olur.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Sürekli uzaylarda yerel arama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Gradient, step size ve line search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En dik yükseliş veya iniş yönü nasıl bulunur?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4.2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325880"/>
            <a:ext cx="5120640" cy="658368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ascent:  x ← x + α∇f(x)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68680" y="2194560"/>
            <a:ext cx="5120640" cy="658368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descent: x ← x − α∇f(x)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46520" y="1280160"/>
            <a:ext cx="48920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50" dirty="0">
                <a:solidFill>
                  <a:srgbClr val="111827"/>
                </a:solidFill>
              </a:rPr>
              <a:t>∇f: fonksiyonun en hızlı arttığı yön.</a:t>
            </a:r>
            <a:endParaRPr lang="en-US" sz="1750" dirty="0"/>
          </a:p>
          <a:p>
            <a:r>
              <a:rPr lang="en-US" sz="1750" dirty="0">
                <a:solidFill>
                  <a:srgbClr val="111827"/>
                </a:solidFill>
              </a:rPr>
              <a:t>α: adım büyüklüğü veya learning rate.</a:t>
            </a:r>
            <a:endParaRPr lang="en-US" sz="1750" dirty="0"/>
          </a:p>
          <a:p>
            <a:r>
              <a:rPr lang="en-US" sz="1750" dirty="0">
                <a:solidFill>
                  <a:srgbClr val="111827"/>
                </a:solidFill>
              </a:rPr>
              <a:t>α çok küçükse öğrenme çok yavaş olur.</a:t>
            </a:r>
            <a:endParaRPr lang="en-US" sz="1750" dirty="0"/>
          </a:p>
          <a:p>
            <a:r>
              <a:rPr lang="en-US" sz="1750" dirty="0">
                <a:solidFill>
                  <a:srgbClr val="111827"/>
                </a:solidFill>
              </a:rPr>
              <a:t>α çok büyükse optimumun üzerinden atlanabilir.</a:t>
            </a:r>
            <a:endParaRPr lang="en-US" sz="1750" dirty="0"/>
          </a:p>
          <a:p>
            <a:r>
              <a:rPr lang="en-US" sz="1750" dirty="0">
                <a:solidFill>
                  <a:srgbClr val="111827"/>
                </a:solidFill>
              </a:rPr>
              <a:t>Line search, aynı yönde farklı α değerleri deneyerek daha uygun adım seçer.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51560" y="4343400"/>
            <a:ext cx="10058400" cy="868680"/>
          </a:xfrm>
          <a:prstGeom prst="rect">
            <a:avLst/>
          </a:prstGeom>
          <a:solidFill>
            <a:srgbClr val="FFF7ED"/>
          </a:solidFill>
          <a:ln w="15240">
            <a:solidFill>
              <a:srgbClr val="C2410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Makine öğrenmesi bağlantısı: Gradient descent, ileride loss function minimumunu bulmak için kullanacağımız temel fikirdir.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Sürekli uzaylarda yerel arama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Kısıtlı ve konveks optimizasyon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Gerçek problemlerde her çözüm kabul edilebilir değildir.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4.2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566928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Constrained optimization: değişkenler bazı sert kısıtları sağlamalıdır.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Örnek: Havaalanı Romanya içinde ve kuru kara üzerinde olmalıdır.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Linear programming: doğrusal amaç + doğrusal eşitsizlik kısıtları.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Convex optimization: uygun koşullarda local minimum global minimumdur.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Bu nedenle konveks problemler makine öğrenmesinde çok önemlidir.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20840" y="1463040"/>
            <a:ext cx="4251960" cy="118872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3x + 5y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koşul: x+y ≤ 10, x ≥ 0, y ≥ 0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83680" y="3200400"/>
            <a:ext cx="4572000" cy="914400"/>
          </a:xfrm>
          <a:prstGeom prst="rect">
            <a:avLst/>
          </a:prstGeom>
          <a:solidFill>
            <a:srgbClr val="F0FDF4"/>
          </a:solidFill>
          <a:ln w="15240">
            <a:solidFill>
              <a:srgbClr val="16653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Öğrenci yorumu: Konveks problemi “tek çukur” gibi düşün. Nerede aşağı yürürsen yürü, sonunda global minimuma ulaşırsın.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 Deterministik olmayan eylemlerle arama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4.3 Deterministik Olmayan Eylemlerle Arama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280160" y="3127248"/>
            <a:ext cx="9646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Aynı eylem her zaman aynı sonucu vermeyebilir.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74520" y="3886200"/>
            <a:ext cx="3840480" cy="59436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Deterministik: RESULT(s,a)=s′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46520" y="3886200"/>
            <a:ext cx="4160520" cy="59436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Nondeterministik: RESULTS(s,a)={s₁,s₂,…}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 Deterministik olmayan eylemlerle arama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Erratic vacuum world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Süpürge bazen beklenenden farklı etki yapar.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4.3</a:t>
            </a:r>
            <a:endParaRPr lang="en-US" sz="1050" dirty="0"/>
          </a:p>
        </p:txBody>
      </p:sp>
      <p:pic>
        <p:nvPicPr>
          <p:cNvPr id="9" name="Image 0" descr="/mnt/data/image(20261006-12354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8661"/>
            <a:ext cx="5120640" cy="2740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4297680"/>
            <a:ext cx="51206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Figure 4.9: 8 olası vacuum-world durumu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92240" y="1325880"/>
            <a:ext cx="475488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İki oda vardır: A ve B.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Süpürge solda veya sağda olabilir.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Her oda temiz veya kirli olabilir.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Toplam durum: 2×2×2=8.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Hedef durumlar: 7 ve 8; iki oda da temizdir.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92240" y="4160520"/>
            <a:ext cx="4754880" cy="914400"/>
          </a:xfrm>
          <a:prstGeom prst="rect">
            <a:avLst/>
          </a:prstGeom>
          <a:solidFill>
            <a:srgbClr val="FFF7ED"/>
          </a:solidFill>
          <a:ln w="15240">
            <a:solidFill>
              <a:srgbClr val="C2410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Erratic Suck: kirli kareyi temizler; bazen komşu kareyi de temizler. Temiz karede kullanılırsa bazen kiri geri bırakabilir.</a:t>
            </a:r>
            <a:endParaRPr lang="en-US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 Deterministik olmayan eylemlerle arama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Çözüm artık düz eylem dizisi değildir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Sonuca göre farklı devam etmek gerekir.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KOŞULLU PLAN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5074920" cy="64008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1’de Suck → {5, 7}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5029200" cy="91440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State 1: iki oda da kirli, süpürge solda. Suck yapınca sol oda temizlenir; sağ oda temizlenebilir veya kirli kalabilir.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44652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Koşullu çözüm: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46520" y="1783080"/>
            <a:ext cx="4754880" cy="96012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[Suck, if State=5 then [Right,Suck] else []]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3154680"/>
            <a:ext cx="45720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Önce Suck yap.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Eğer sonuç State 5 ise sağa git ve tekrar Suck yap.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Eğer sonuç State 7 ise hedef zaten sağlandı.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Bu nedenle çözüm bir karar ağacıdır.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 Deterministik olmayan eylemlerle arama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AND–OR arama ağacı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Ajan seçer, çevre sonuç üretir.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AND–OR</a:t>
            </a:r>
            <a:endParaRPr lang="en-US" sz="1050" dirty="0"/>
          </a:p>
        </p:txBody>
      </p:sp>
      <p:pic>
        <p:nvPicPr>
          <p:cNvPr id="9" name="Image 0" descr="/mnt/data/image(20261006-12355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53" y="1143000"/>
            <a:ext cx="5364374" cy="4572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5760720"/>
            <a:ext cx="56235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Figure 4.10: erratic vacuum world için AND–OR ağacı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92240" y="1280160"/>
            <a:ext cx="475488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OR node: ajan hangi eylemi seçecek?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AND node: seçilen eylemin tüm olası sonuçları ele alınmalı.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Çözüm alt ağacında her yaprak hedef olmalıdır.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Her OR node’da tek eylem seçilir.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Her AND node’da bütün sonuç dalları kapsanır.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92240" y="4617720"/>
            <a:ext cx="4754880" cy="82296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Şekilde kalın çizgiler çözüm planını gösterir. LOOP yazıları daha önce görülen duruma dönüşü belirtir.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 Deterministik olmayan eylemlerle arama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Cyclic plan: “dene, olmazsa tekrar dene”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Bazı problemler döngülü plan gerektirir.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CYCLIC PLAN</a:t>
            </a:r>
            <a:endParaRPr lang="en-US" sz="1050" dirty="0"/>
          </a:p>
        </p:txBody>
      </p:sp>
      <p:pic>
        <p:nvPicPr>
          <p:cNvPr id="9" name="Image 0" descr="/mnt/data/image(20261006-12360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872" y="1234440"/>
            <a:ext cx="5316537" cy="3337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4617720"/>
            <a:ext cx="54406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Figure 4.12: slippery vacuum world, hareket bazen başarısız olur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46520" y="1325880"/>
            <a:ext cx="47548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Slippery world: Right bazen çalışır, bazen aynı yerde bırakır.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Örneğin RESULTS(1,Right)={1,2}.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Sonlu sayıda Right denemesi başarıyı garanti edemez.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Bu yüzden çözüm “başarana kadar dene” şeklinde döngülü olabilir.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37960" y="4480560"/>
            <a:ext cx="4572000" cy="59436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while State=5 do Right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446520" y="5303520"/>
            <a:ext cx="4754880" cy="777240"/>
          </a:xfrm>
          <a:prstGeom prst="rect">
            <a:avLst/>
          </a:prstGeom>
          <a:solidFill>
            <a:srgbClr val="FFF7ED"/>
          </a:solidFill>
          <a:ln w="15240">
            <a:solidFill>
              <a:srgbClr val="C2410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Günlük örnek: Otel kartı kapıyı açmazsa birkaç kez tekrar denenebilir; ama çok denemede de olmazsa “yanlış kart” ihtimali düşünülür.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 Kısmi gözlemlerle arama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4.4 Kısmi Gözlemlerle Arama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1143000" y="31546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64748B"/>
                </a:solidFill>
              </a:rPr>
              <a:t>Ajan gerçek fiziksel durumu kesin bilmiyorsa, olası durumlar kümesini tutar.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286000" y="3931920"/>
            <a:ext cx="7680960" cy="68580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Belief state: b = {olası fiziksel durumlar}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 Kısmi gözlemlerle arama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Belief state nedir?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Ajanın “nerede olabilirim?” sorusuna verdiği küme cevabı.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BELIEF STATE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548640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Physical state: gerçek durum.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Belief state: ajanın mümkün gördüğü fiziksel durumların kümesi.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Ajan fiziksel durumu bilmese bile kendi belief state’ini bilir.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Tam gözlemlenebilir durumda belief state tek elemanlıdır.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Sensorless durumda percept her zaman boştur; çözüm eylem dizisidir.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20840" y="1417320"/>
            <a:ext cx="3840480" cy="59436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{1, 3}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4251960" cy="91440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Anlamı: Ajan gerçek durumun 1 veya 3 olduğunu biliyor ama hangisi olduğunu bilmiyor.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3840480"/>
            <a:ext cx="4251960" cy="914400"/>
          </a:xfrm>
          <a:prstGeom prst="rect">
            <a:avLst/>
          </a:prstGeom>
          <a:solidFill>
            <a:srgbClr val="F0FDF4"/>
          </a:solidFill>
          <a:ln w="15240">
            <a:solidFill>
              <a:srgbClr val="16653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</a:rPr>
              <a:t>Eylemler bazen sensörsüz bile belirsizliği azaltabilir: Right sonrası sol tarafta olma ihtimali ortadan kalkar.</a:t>
            </a:r>
            <a:endParaRPr lang="en-US" sz="17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 Kısmi gözlemlerle arama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Sensorless search: prediction adımı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Eylem uygulandıktan sonra yeni belief state hesaplanır.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SENSORLESS</a:t>
            </a:r>
            <a:endParaRPr lang="en-US" sz="1050" dirty="0"/>
          </a:p>
        </p:txBody>
      </p:sp>
      <p:pic>
        <p:nvPicPr>
          <p:cNvPr id="9" name="Image 0" descr="/mnt/data/image(20261006-12375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54660"/>
            <a:ext cx="5394960" cy="2531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4160520"/>
            <a:ext cx="53949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Figure 4.13: deterministic ve slippery prediction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92240" y="1325880"/>
            <a:ext cx="470916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Başlangıç: b={1,3}.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Deterministik Right: {1,3} → {2,4}.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Slippery Right: {1,3} → {1,2,3,4}.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Deterministik eylem belirsizliği artırmayabilir.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Nondeterministik eylem belief state’i büyütebilir.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92240" y="4572000"/>
            <a:ext cx="4709160" cy="59436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b̂ = PREDICT(b,a)</a:t>
            </a:r>
            <a:endParaRPr lang="en-US" sz="2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 Kısmi gözlemlerle arama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Belief-state uzayı çok büyüyebilir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Fiziksel state sayısı N ise belief state sayısı 2ᴺ olabilir.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SENSORLESS</a:t>
            </a:r>
            <a:endParaRPr lang="en-US" sz="1050" dirty="0"/>
          </a:p>
        </p:txBody>
      </p:sp>
      <p:pic>
        <p:nvPicPr>
          <p:cNvPr id="9" name="Image 0" descr="/mnt/data/image(20261006-12383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819" y="1325880"/>
            <a:ext cx="4772403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6172200"/>
            <a:ext cx="59893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Figure 4.14: sensorless vacuum world için ulaşılabilir belief-state uzayı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12280" y="1234440"/>
            <a:ext cx="438912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30" dirty="0">
                <a:solidFill>
                  <a:srgbClr val="111827"/>
                </a:solidFill>
              </a:rPr>
              <a:t>8 fiziksel state → teorik olarak 2⁸=256 belief state.</a:t>
            </a:r>
            <a:endParaRPr lang="en-US" sz="1730" dirty="0"/>
          </a:p>
          <a:p>
            <a:r>
              <a:rPr lang="en-US" sz="1730" dirty="0">
                <a:solidFill>
                  <a:srgbClr val="111827"/>
                </a:solidFill>
              </a:rPr>
              <a:t>Bu örnekte yalnızca 12 belief state ulaşılabilir.</a:t>
            </a:r>
            <a:endParaRPr lang="en-US" sz="1730" dirty="0"/>
          </a:p>
          <a:p>
            <a:r>
              <a:rPr lang="en-US" sz="1730" dirty="0">
                <a:solidFill>
                  <a:srgbClr val="111827"/>
                </a:solidFill>
              </a:rPr>
              <a:t>Her gri kutu tek bir belief state’i gösterir.</a:t>
            </a:r>
            <a:endParaRPr lang="en-US" sz="1730" dirty="0"/>
          </a:p>
          <a:p>
            <a:r>
              <a:rPr lang="en-US" sz="1730" dirty="0">
                <a:solidFill>
                  <a:srgbClr val="111827"/>
                </a:solidFill>
              </a:rPr>
              <a:t>Üst orta kutu tam bilgisizliktir: {1,2,3,4,5,6,7,8}.</a:t>
            </a:r>
            <a:endParaRPr lang="en-US" sz="1730" dirty="0"/>
          </a:p>
          <a:p>
            <a:r>
              <a:rPr lang="en-US" sz="1730" dirty="0">
                <a:solidFill>
                  <a:srgbClr val="111827"/>
                </a:solidFill>
              </a:rPr>
              <a:t>Eylemler L, R ve S olarak gösterilmiştir.</a:t>
            </a:r>
            <a:endParaRPr lang="en-US" sz="1730" dirty="0"/>
          </a:p>
        </p:txBody>
      </p:sp>
      <p:sp>
        <p:nvSpPr>
          <p:cNvPr id="12" name="Text 9"/>
          <p:cNvSpPr/>
          <p:nvPr/>
        </p:nvSpPr>
        <p:spPr>
          <a:xfrm>
            <a:off x="6812280" y="5074920"/>
            <a:ext cx="4389120" cy="777240"/>
          </a:xfrm>
          <a:prstGeom prst="rect">
            <a:avLst/>
          </a:prstGeom>
          <a:solidFill>
            <a:srgbClr val="FFF7ED"/>
          </a:solidFill>
          <a:ln w="15240">
            <a:solidFill>
              <a:srgbClr val="C2410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Pruning fikri: Bir plan büyük belief state için çalışıyorsa onun her alt kümesi için de çalışır.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 Kısmi gözlemlerle arama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Gözlem eklenince: predict → observe → update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Prediction genişletebilir, observation daraltır.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UPDATE</a:t>
            </a:r>
            <a:endParaRPr lang="en-US" sz="1050" dirty="0"/>
          </a:p>
        </p:txBody>
      </p:sp>
      <p:pic>
        <p:nvPicPr>
          <p:cNvPr id="9" name="Image 0" descr="/mnt/data/image(20261006-12384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628" y="1143000"/>
            <a:ext cx="4746504" cy="4572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5760720"/>
            <a:ext cx="58521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Figure 4.15: local-sensing vacuum world geçişleri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720840" y="1325880"/>
            <a:ext cx="45720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11827"/>
                </a:solidFill>
              </a:rPr>
              <a:t>Prediction: b̂ = PREDICT(b,a)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11827"/>
                </a:solidFill>
              </a:rPr>
              <a:t>Observation prediction: olası percept’leri bul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11827"/>
                </a:solidFill>
              </a:rPr>
              <a:t>Update: gelen percept ile uyumsuz state’leri ele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629400" y="3383280"/>
            <a:ext cx="4663440" cy="59436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b′ = UPDATE(PREDICT(b,a), o)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629400" y="4343400"/>
            <a:ext cx="4663440" cy="914400"/>
          </a:xfrm>
          <a:prstGeom prst="rect">
            <a:avLst/>
          </a:prstGeom>
          <a:solidFill>
            <a:srgbClr val="F0FDF4"/>
          </a:solidFill>
          <a:ln w="15240">
            <a:solidFill>
              <a:srgbClr val="16653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</a:rPr>
              <a:t>Örnek: {1,3} durumunda Right sonrası {2,4}; [B,Dirty] gözlemi gelirse yalnız {2} kalır.</a:t>
            </a:r>
            <a:endParaRPr lang="en-US" sz="17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 Kısmi gözlemlerle arama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Belief state daralması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Gözlem işe yararsa belirsizlik azalır.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GRAFİK</a:t>
            </a:r>
            <a:endParaRPr lang="en-US" sz="1050" dirty="0"/>
          </a:p>
        </p:txBody>
      </p:sp>
      <p:pic>
        <p:nvPicPr>
          <p:cNvPr id="9" name="Image 0" descr="/mnt/data/chapter4_assets/belief_state_re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720" y="1371600"/>
            <a:ext cx="5334000" cy="3200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4617720"/>
            <a:ext cx="53949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Prediction genişletir, update daraltır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29400" y="1417320"/>
            <a:ext cx="457200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İlk gözlem, çok büyük olasılık kümesini küçük bir kümeye indirir.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Nondeterministik hareket tekrar olasılıkları artırabilir.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Yeni gözlem tekrar eleme yapar.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Robotik localization problemleri bu mantıkla çalışır.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629400" y="4434840"/>
            <a:ext cx="4572000" cy="86868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Akılda kalacak cümle: “Hareket belirsizliği büyütür; algı, doğruysa belirsizliği küçültür.”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 Kısmi gözlemlerle arama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Belief space içinde AND–OR search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Koşullu plan gerçek state değil, belief state üzerinden karar verir.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AND–OR</a:t>
            </a:r>
            <a:endParaRPr lang="en-US" sz="1050" dirty="0"/>
          </a:p>
        </p:txBody>
      </p:sp>
      <p:pic>
        <p:nvPicPr>
          <p:cNvPr id="9" name="Image 0" descr="/mnt/data/image(20261006-12385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03344"/>
            <a:ext cx="5486400" cy="27711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4297680"/>
            <a:ext cx="54864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Figure 4.16: local-sensing vacuum world için AND–OR ağacının ilk seviyesi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83680" y="1371600"/>
            <a:ext cx="47091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Başlangıç belief state: {1,3}.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Suck çözümün ilk adımıdır.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Right yapılırsa farklı percept’lere göre dallanma gerekir.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Plan, “actual state” değil “belief state” testi yapmalıdır.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46520" y="4343400"/>
            <a:ext cx="4892040" cy="82296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[Suck, Right, if Bstate={6} then Suck else []]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 Kısmi gözlemlerle arama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Belief-state maintenance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Ajan hareket ettikçe belief state’i güncel tutmalıdır.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MONITORING</a:t>
            </a:r>
            <a:endParaRPr lang="en-US" sz="1050" dirty="0"/>
          </a:p>
        </p:txBody>
      </p:sp>
      <p:pic>
        <p:nvPicPr>
          <p:cNvPr id="9" name="Image 0" descr="/mnt/data/image(20261006-12390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64137"/>
            <a:ext cx="5760720" cy="234664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840480"/>
            <a:ext cx="57607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Figure 4.17: iki prediction–update döngüsü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720840" y="1325880"/>
            <a:ext cx="452628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Monitoring / filtering / state estimation aynı temel fikri taşır.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Yeni belief state, önceki belief state’ten hesaplanır.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Bütün geçmişi yeniden okumaya gerek yoktur.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Bu yüzden formül recursive state estimator olarak düşünülebilir.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194560" y="4663440"/>
            <a:ext cx="7863840" cy="621792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bₜ = UPDATE(PREDICT(bₜ₋₁,aₜ), oₜ)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 Kısmi gözlemlerle arama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Robot localization örneği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Harita biliniyor; robot nerede olduğunu bilmiyor.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LOCALIZATION</a:t>
            </a:r>
            <a:endParaRPr lang="en-US" sz="1050" dirty="0"/>
          </a:p>
        </p:txBody>
      </p:sp>
      <p:pic>
        <p:nvPicPr>
          <p:cNvPr id="9" name="Image 0" descr="/mnt/data/image(20261006-123913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213" y="1143000"/>
            <a:ext cx="5205895" cy="4206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5394960"/>
            <a:ext cx="57607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Figure 4.18: iki gözlemden sonra olası konumlar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720840" y="1234440"/>
            <a:ext cx="4526280" cy="3429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20" dirty="0">
                <a:solidFill>
                  <a:srgbClr val="111827"/>
                </a:solidFill>
              </a:rPr>
              <a:t>Robot dört yönde engel algılayan sonar sensörlerine sahiptir.</a:t>
            </a:r>
            <a:endParaRPr lang="en-US" sz="1720" dirty="0"/>
          </a:p>
          <a:p>
            <a:r>
              <a:rPr lang="en-US" sz="1720" dirty="0">
                <a:solidFill>
                  <a:srgbClr val="111827"/>
                </a:solidFill>
              </a:rPr>
              <a:t>İlk gözlem E₁=NSW yalnız 4 konumla uyumludur.</a:t>
            </a:r>
            <a:endParaRPr lang="en-US" sz="1720" dirty="0"/>
          </a:p>
          <a:p>
            <a:r>
              <a:rPr lang="en-US" sz="1720" dirty="0">
                <a:solidFill>
                  <a:srgbClr val="111827"/>
                </a:solidFill>
              </a:rPr>
              <a:t>Move eylemi nondeterministic olduğu için olasılık kümesi büyüyebilir.</a:t>
            </a:r>
            <a:endParaRPr lang="en-US" sz="1720" dirty="0"/>
          </a:p>
          <a:p>
            <a:r>
              <a:rPr lang="en-US" sz="1720" dirty="0">
                <a:solidFill>
                  <a:srgbClr val="111827"/>
                </a:solidFill>
              </a:rPr>
              <a:t>İkinci gözlem E₂=NS ile tek konum kalır.</a:t>
            </a:r>
            <a:endParaRPr lang="en-US" sz="1720" dirty="0"/>
          </a:p>
          <a:p>
            <a:r>
              <a:rPr lang="en-US" sz="1720" dirty="0">
                <a:solidFill>
                  <a:srgbClr val="111827"/>
                </a:solidFill>
              </a:rPr>
              <a:t>Sensörler ayırt edici değilse localization zorlaşır.</a:t>
            </a:r>
            <a:endParaRPr lang="en-US" sz="1720" dirty="0"/>
          </a:p>
        </p:txBody>
      </p:sp>
      <p:sp>
        <p:nvSpPr>
          <p:cNvPr id="12" name="Text 9"/>
          <p:cNvSpPr/>
          <p:nvPr/>
        </p:nvSpPr>
        <p:spPr>
          <a:xfrm>
            <a:off x="6720840" y="5074920"/>
            <a:ext cx="4526280" cy="777240"/>
          </a:xfrm>
          <a:prstGeom prst="rect">
            <a:avLst/>
          </a:prstGeom>
          <a:solidFill>
            <a:srgbClr val="F0FDF4"/>
          </a:solidFill>
          <a:ln w="15240">
            <a:solidFill>
              <a:srgbClr val="16653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Bağlantı: Otonom araçlar ve robot süpürgeler sürekli olarak “ben haritanın neresindeyim?” sorusunu çözer.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 Online search ve bilinmeyen ortamlar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331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4.5 Online Search Ajanları ve Bilinmeyen Ortamlar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1005840" y="3127248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64748B"/>
                </a:solidFill>
              </a:rPr>
              <a:t>Ajan haritayı ve eylem sonuçlarını baştan bilmiyorsa, hareket ederek öğrenir.</a:t>
            </a:r>
            <a:endParaRPr lang="en-US" sz="1900" dirty="0"/>
          </a:p>
        </p:txBody>
      </p:sp>
      <p:pic>
        <p:nvPicPr>
          <p:cNvPr id="7" name="Image 0" descr="/mnt/data/chapter4_assets/offline_onlin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6467" y="3749040"/>
            <a:ext cx="4268585" cy="1783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5577840"/>
            <a:ext cx="85039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Offline planlama yerine arama ve eylem iç içe geçer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 Online search ve bilinmeyen ortamlar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Offline search vs online search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Önce planla mı, yoksa hareket ederken öğren mi?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ONLINE</a:t>
            </a:r>
            <a:endParaRPr lang="en-US" sz="1050" dirty="0"/>
          </a:p>
        </p:txBody>
      </p:sp>
      <p:pic>
        <p:nvPicPr>
          <p:cNvPr id="9" name="Image 0" descr="/mnt/data/chapter4_assets/offline_onlin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733" y="1234440"/>
            <a:ext cx="5363095" cy="2240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520440"/>
            <a:ext cx="53949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Offline/online akış karşılaştırması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92240" y="1234440"/>
            <a:ext cx="4800600" cy="3154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Offline search: tam çözüm önce hesaplanır, sonra uygulanır.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Online search: eylem, gözlem ve hesaplama sırayla tekrarlanır.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Bilinmeyen ortamlarda online search gereklidir.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Ajan eylemlerini deney gibi kullanır.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Amaç: hedefe ulaşırken toplam gerçek yol maliyetini düşük tutmak.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97280" y="4709160"/>
            <a:ext cx="10058400" cy="777240"/>
          </a:xfrm>
          <a:prstGeom prst="rect">
            <a:avLst/>
          </a:prstGeom>
          <a:solidFill>
            <a:srgbClr val="F0FDF4"/>
          </a:solidFill>
          <a:ln w="15240">
            <a:solidFill>
              <a:srgbClr val="16653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Örnek: Yeni bir binadaki robot önce koridora girer, duvarları görür, kendi haritasını günceller ve sonra yeni karar verir.</a:t>
            </a:r>
            <a:endParaRPr lang="en-US" sz="1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 Online search ve bilinmeyen ortamlar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Bilinmeyen labirent problemi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Ajan S’den başlar, G’ye ulaşmalıdır; ama çevreyi bilmiyor.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MAZE</a:t>
            </a:r>
            <a:endParaRPr lang="en-US" sz="1050" dirty="0"/>
          </a:p>
        </p:txBody>
      </p:sp>
      <p:pic>
        <p:nvPicPr>
          <p:cNvPr id="9" name="Image 0" descr="/mnt/data/image(20261006-12410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47079"/>
            <a:ext cx="4937760" cy="190644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3520440"/>
            <a:ext cx="49377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Figure 4.19: basit bilinmeyen labirent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46520" y="1325880"/>
            <a:ext cx="480060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Ajan ACTIONS(s), GOAL-TEST(s) ve hareket maliyetini bilir.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Ama RESULT(s,a) değerini önceden bilmez.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Bir eylemin sonucunu öğrenmek için o eylemi gerçekten yapmalıdır.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Hedef konumu biliniyorsa Manhattan distance gibi heuristic kullanılabilir.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92240" y="4572000"/>
            <a:ext cx="4663440" cy="59436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h(s)=|x−xG| + |y−yG|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 Online search ve bilinmeyen ortamlar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Competitive ratio ve adversary argümanı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Online ajan bazen kaçınılmaz olarak kötü seçim yapar.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SINIRLAR</a:t>
            </a:r>
            <a:endParaRPr lang="en-US" sz="1050" dirty="0"/>
          </a:p>
        </p:txBody>
      </p:sp>
      <p:pic>
        <p:nvPicPr>
          <p:cNvPr id="9" name="Image 0" descr="/mnt/data/image(20261006-12411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737" y="1143000"/>
            <a:ext cx="5533686" cy="3794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4983480"/>
            <a:ext cx="58064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Figure 4.20: çıkmaz ve keyfi kötü rota örnekleri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29400" y="1234440"/>
            <a:ext cx="466344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20" dirty="0">
                <a:solidFill>
                  <a:srgbClr val="111827"/>
                </a:solidFill>
              </a:rPr>
              <a:t>Competitive ratio = online maliyet / optimal offline maliyet.</a:t>
            </a:r>
            <a:endParaRPr lang="en-US" sz="1720" dirty="0"/>
          </a:p>
          <a:p>
            <a:r>
              <a:rPr lang="en-US" sz="1720" dirty="0">
                <a:solidFill>
                  <a:srgbClr val="111827"/>
                </a:solidFill>
              </a:rPr>
              <a:t>Geri döndürülemez eylemler dead end oluşturabilir.</a:t>
            </a:r>
            <a:endParaRPr lang="en-US" sz="1720" dirty="0"/>
          </a:p>
          <a:p>
            <a:r>
              <a:rPr lang="en-US" sz="1720" dirty="0">
                <a:solidFill>
                  <a:srgbClr val="111827"/>
                </a:solidFill>
              </a:rPr>
              <a:t>Ajan iki ortamı ayırt edemiyorsa aynı kararı verir ve birinde başarısız olabilir.</a:t>
            </a:r>
            <a:endParaRPr lang="en-US" sz="1720" dirty="0"/>
          </a:p>
          <a:p>
            <a:r>
              <a:rPr lang="en-US" sz="1720" dirty="0">
                <a:solidFill>
                  <a:srgbClr val="111827"/>
                </a:solidFill>
              </a:rPr>
              <a:t>Safely explorable: ulaşılabilir her state’ten hedefe gidilebilir.</a:t>
            </a:r>
            <a:endParaRPr lang="en-US" sz="1720" dirty="0"/>
          </a:p>
        </p:txBody>
      </p:sp>
      <p:sp>
        <p:nvSpPr>
          <p:cNvPr id="12" name="Text 9"/>
          <p:cNvSpPr/>
          <p:nvPr/>
        </p:nvSpPr>
        <p:spPr>
          <a:xfrm>
            <a:off x="6629400" y="4663440"/>
            <a:ext cx="4663440" cy="822960"/>
          </a:xfrm>
          <a:prstGeom prst="rect">
            <a:avLst/>
          </a:prstGeom>
          <a:solidFill>
            <a:srgbClr val="FFF7ED"/>
          </a:solidFill>
          <a:ln w="15240">
            <a:solidFill>
              <a:srgbClr val="C2410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Adversary fikri: Ajan hangi yolu seçerse kötü niyetli ortam hedefi veya çıkmazı ona göre konumlandırmış gibi düşünülür.</a:t>
            </a:r>
            <a:endParaRPr lang="en-US" sz="1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 Online search ve bilinmeyen ortamlar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Online DFS agent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Gerçek dünyada DFS yapmak için fiziksel backtracking gerekir.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ONLINE DFS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557784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Ajan bulunduğu state’te denenmemiş action varsa onu dener.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Sonucu result[s,a]=s′ tablosuna kaydeder.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Tüm action’lar denendiyse geldiği state’e fiziksel olarak geri döner.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Bu nedenle hareketlerin tersine çevrilebilir olması gerekir.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En kötü durumda her bağlantı iki kez geçilebilir.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1417320"/>
            <a:ext cx="4572000" cy="105156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Offline DFS: stack üzerinde geri dönmek yeterlidir.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Online DFS: robot gerçekten geri yürümek zorundadır.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3063240"/>
            <a:ext cx="4572000" cy="1051560"/>
          </a:xfrm>
          <a:prstGeom prst="rect">
            <a:avLst/>
          </a:prstGeom>
          <a:solidFill>
            <a:srgbClr val="F0FDF4"/>
          </a:solidFill>
          <a:ln w="15240">
            <a:solidFill>
              <a:srgbClr val="16653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Örnek: A→B→C gitti ve C çıkmaz. Ajan önce C→B hareketini gerçek dünyada yapar, sonra B’de başka action dener.</a:t>
            </a:r>
            <a:endParaRPr lang="en-US" sz="1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 Online search ve bilinmeyen ortamlar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walk neden yeterli değil?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Complete olabilir ama çok yavaş olabilir.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RANDOM WALK</a:t>
            </a:r>
            <a:endParaRPr lang="en-US" sz="1050" dirty="0"/>
          </a:p>
        </p:txBody>
      </p:sp>
      <p:pic>
        <p:nvPicPr>
          <p:cNvPr id="9" name="Image 0" descr="/mnt/data/image(20261006-12412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55230"/>
            <a:ext cx="5715000" cy="14329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063240"/>
            <a:ext cx="57150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Figure 4.22: random walk için zor ortam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83680" y="1325880"/>
            <a:ext cx="457200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Random walk mevcut action’lardan birini rastgele seçer.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Sonlu ortamda sonunda hedefi bulabilir.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Ancak bazı topolojilerde hedefe ulaşması üstel sayıda adım alabilir.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Çünkü her adımda geriye gitme olasılığı ileri gitme olasılığından yüksek olabilir.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43000" y="4160520"/>
            <a:ext cx="10058400" cy="868680"/>
          </a:xfrm>
          <a:prstGeom prst="rect">
            <a:avLst/>
          </a:prstGeom>
          <a:solidFill>
            <a:srgbClr val="FFF7ED"/>
          </a:solidFill>
          <a:ln w="15240">
            <a:solidFill>
              <a:srgbClr val="C2410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Örnek: P(ileri)=1/3, P(geri)=2/3 ise yol uzadıkça hedefe rastgele ulaşmak giderek zorlaşır.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 Online search ve bilinmeyen ortamlar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LRTA*: Learning Real-Time A*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Ajan hem harita hem de maliyet tahmini öğrenir.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LRTA*</a:t>
            </a:r>
            <a:endParaRPr lang="en-US" sz="1050" dirty="0"/>
          </a:p>
        </p:txBody>
      </p:sp>
      <p:pic>
        <p:nvPicPr>
          <p:cNvPr id="9" name="Image 0" descr="/mnt/data/image(20261006-12413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62162"/>
            <a:ext cx="6217920" cy="40136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5440680"/>
            <a:ext cx="62179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Figure 4.23: LRTA* yerel minimumu öğrenerek doldurur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86600" y="1234440"/>
            <a:ext cx="42976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20" dirty="0">
                <a:solidFill>
                  <a:srgbClr val="111827"/>
                </a:solidFill>
              </a:rPr>
              <a:t>Her ziyaret edilen state için H(s) tutulur.</a:t>
            </a:r>
            <a:endParaRPr lang="en-US" sz="1720" dirty="0"/>
          </a:p>
          <a:p>
            <a:r>
              <a:rPr lang="en-US" sz="1720" dirty="0">
                <a:solidFill>
                  <a:srgbClr val="111827"/>
                </a:solidFill>
              </a:rPr>
              <a:t>Başlangıçta H(s)=h(s).</a:t>
            </a:r>
            <a:endParaRPr lang="en-US" sz="1720" dirty="0"/>
          </a:p>
          <a:p>
            <a:r>
              <a:rPr lang="en-US" sz="1720" dirty="0">
                <a:solidFill>
                  <a:srgbClr val="111827"/>
                </a:solidFill>
              </a:rPr>
              <a:t>Ajan ayrıldığı state’in H değerini günceller.</a:t>
            </a:r>
            <a:endParaRPr lang="en-US" sz="1720" dirty="0"/>
          </a:p>
          <a:p>
            <a:r>
              <a:rPr lang="en-US" sz="1720" dirty="0">
                <a:solidFill>
                  <a:srgbClr val="111827"/>
                </a:solidFill>
              </a:rPr>
              <a:t>Sonra görünüşte en iyi komşuya gider.</a:t>
            </a:r>
            <a:endParaRPr lang="en-US" sz="1720" dirty="0"/>
          </a:p>
          <a:p>
            <a:r>
              <a:rPr lang="en-US" sz="1720" dirty="0">
                <a:solidFill>
                  <a:srgbClr val="111827"/>
                </a:solidFill>
              </a:rPr>
              <a:t>Yanlış iyimser tahminler zamanla düzeltilir.</a:t>
            </a:r>
            <a:endParaRPr lang="en-US" sz="1720" dirty="0"/>
          </a:p>
        </p:txBody>
      </p:sp>
      <p:sp>
        <p:nvSpPr>
          <p:cNvPr id="12" name="Text 9"/>
          <p:cNvSpPr/>
          <p:nvPr/>
        </p:nvSpPr>
        <p:spPr>
          <a:xfrm>
            <a:off x="6903720" y="4572000"/>
            <a:ext cx="4526280" cy="54864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H(s) ← minₐ [c(s,a,s′)+H(s′)]</a:t>
            </a:r>
            <a:endParaRPr lang="en-US" sz="1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 Online search ve bilinmeyen ortamlar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LRTA* sayısal mini örnek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Komşu maliyetlerini kullanarak H(s) güncellenir.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ÖRNEK</a:t>
            </a:r>
            <a:endParaRPr lang="en-US" sz="1050" dirty="0"/>
          </a:p>
        </p:txBody>
      </p:sp>
      <p:pic>
        <p:nvPicPr>
          <p:cNvPr id="9" name="Image 0" descr="/mnt/data/chapter4_assets/lrta_upd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720" y="1325880"/>
            <a:ext cx="5334000" cy="3200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4572000"/>
            <a:ext cx="53949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LRTA* maliyet tahmini güncellemesi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83680" y="1325880"/>
            <a:ext cx="457200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Mevcut state A olsun.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Komşular: B ve C.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c(A,B)=1, H(B)=5 → toplam 6.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c(A,C)=2, H(C)=3 → toplam 5.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A için en iyi tahmin 5 olur ve C yönü seçilir.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83680" y="4617720"/>
            <a:ext cx="4572000" cy="822960"/>
          </a:xfrm>
          <a:prstGeom prst="rect">
            <a:avLst/>
          </a:prstGeom>
          <a:solidFill>
            <a:srgbClr val="F0FDF4"/>
          </a:solidFill>
          <a:ln w="15240">
            <a:solidFill>
              <a:srgbClr val="16653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Henüz denenmemiş action’lar iyimser değerlendirilir. Bu, ajanın yeni yolları keşfetmesini sağlar.</a:t>
            </a:r>
            <a:endParaRPr lang="en-US" sz="1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özeti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Algoritmaları karşılaştıralım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Hangi algoritma hangi problem türüne daha uygun?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ÖZET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2011680" cy="32004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Algoritma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88920" y="1325880"/>
            <a:ext cx="2514600" cy="32004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Temel fikir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32120" y="1325880"/>
            <a:ext cx="2514600" cy="32004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Güçlü yön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75320" y="1325880"/>
            <a:ext cx="2560320" cy="32004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1719072"/>
            <a:ext cx="20116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Hill climbing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88920" y="1719072"/>
            <a:ext cx="25146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En iyi komşuya git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532120" y="1719072"/>
            <a:ext cx="25146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Basit ve hızlı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75320" y="1719072"/>
            <a:ext cx="25603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Local optimum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2377440"/>
            <a:ext cx="201168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Simulated annealing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88920" y="2377440"/>
            <a:ext cx="251460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Bazen kötü hamle kabul et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32120" y="2377440"/>
            <a:ext cx="251460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Local optimumdan kaçabilir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75320" y="2377440"/>
            <a:ext cx="256032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Soğutma hassas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035808"/>
            <a:ext cx="20116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Genetik algoritma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88920" y="3035808"/>
            <a:ext cx="25146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Popülasyon + crossover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532120" y="3035808"/>
            <a:ext cx="25146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Çeşitli adaylar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75320" y="3035808"/>
            <a:ext cx="25603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Temsil kritik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" y="3694176"/>
            <a:ext cx="201168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AND–OR search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788920" y="3694176"/>
            <a:ext cx="251460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Tüm sonuçları kapsa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532120" y="3694176"/>
            <a:ext cx="251460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Nondeterminism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75320" y="3694176"/>
            <a:ext cx="256032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Plan büyür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" y="4352544"/>
            <a:ext cx="20116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Belief-state search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788920" y="4352544"/>
            <a:ext cx="25146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Olası state kümesiyle ara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532120" y="4352544"/>
            <a:ext cx="25146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Kısmi gözlem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75320" y="4352544"/>
            <a:ext cx="25603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2ᴺ büyüme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94360" y="5010912"/>
            <a:ext cx="201168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Online DFS / LRTA*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788920" y="5010912"/>
            <a:ext cx="251460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Hareket ederken öğren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532120" y="5010912"/>
            <a:ext cx="251460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Bilinmeyen ortam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275320" y="5010912"/>
            <a:ext cx="256032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Gerçek yol maliyeti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019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özeti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 ünitede akılda kalması gerekenler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Sınav ve ders anlatımı için çekirdek fikirler.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393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KAPANIŞ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64008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Yerel arama, yol yerine son durumun önemli olduğu problemler için uygundur.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Hill climbing hızlıdır ama local optimum, ridge ve plateau problemlerine takılabilir.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Simulated annealing ve random restart takılmayı azaltmak için rastgelelik kullanır.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Genetik algoritmalar iyi çözüm parçalarını selection, crossover ve mutation ile birleştirir.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Nondeterministic problemlerde çözüm eylem dizisi değil, koşullu plandır.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Kısmi gözlemde gerçek state yerine belief state tutulur.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Online search, bilinmeyen ortamda keşif ve öğrenmeyi eylemle birleştirir.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06640" y="1508760"/>
            <a:ext cx="4023360" cy="118872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Tek cümlelik özet: Gerçek dünyada ajan çoğu zaman her şeyi bilmez; bu yüzden arama, belirsizlikle baş etme ve öğrenme birlikte düşünülmelidir.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406640" y="3246120"/>
            <a:ext cx="4023360" cy="1463040"/>
          </a:xfrm>
          <a:prstGeom prst="rect">
            <a:avLst/>
          </a:prstGeom>
          <a:solidFill>
            <a:srgbClr val="FFF7ED"/>
          </a:solidFill>
          <a:ln w="15240">
            <a:solidFill>
              <a:srgbClr val="C2410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Ders önerisi: Bu ünitede şekilleri mutlaka adım adım okut. Öğrenciler özellikle “AND node = tüm sonuçlar” ve “belief state = olası gerçek durumlar kümesi” ayrımını kavramalı.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Ünite 4 - Klasik Aramanın Ötesinde</dc:title>
  <dc:subject>Ünite 4 - Klasik Aramanın Ötesinde</dc:subject>
  <dc:creator>OpenAI</dc:creator>
  <cp:lastModifiedBy>OpenAI</cp:lastModifiedBy>
  <cp:revision>1</cp:revision>
  <dcterms:created xsi:type="dcterms:W3CDTF">2026-10-06T17:14:00Z</dcterms:created>
  <dcterms:modified xsi:type="dcterms:W3CDTF">2026-10-06T17:14:00Z</dcterms:modified>
</cp:coreProperties>
</file>